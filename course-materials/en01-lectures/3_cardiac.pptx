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handoutMasterIdLst>
    <p:handoutMasterId r:id="rId60"/>
  </p:handoutMasterIdLst>
  <p:sldIdLst>
    <p:sldId id="328" r:id="rId2"/>
    <p:sldId id="832" r:id="rId3"/>
    <p:sldId id="833" r:id="rId4"/>
    <p:sldId id="790" r:id="rId5"/>
    <p:sldId id="330" r:id="rId6"/>
    <p:sldId id="344" r:id="rId7"/>
    <p:sldId id="341" r:id="rId8"/>
    <p:sldId id="343" r:id="rId9"/>
    <p:sldId id="791" r:id="rId10"/>
    <p:sldId id="346" r:id="rId11"/>
    <p:sldId id="389" r:id="rId12"/>
    <p:sldId id="347" r:id="rId13"/>
    <p:sldId id="782" r:id="rId14"/>
    <p:sldId id="780" r:id="rId15"/>
    <p:sldId id="847" r:id="rId16"/>
    <p:sldId id="781" r:id="rId17"/>
    <p:sldId id="386" r:id="rId18"/>
    <p:sldId id="792" r:id="rId19"/>
    <p:sldId id="783" r:id="rId20"/>
    <p:sldId id="787" r:id="rId21"/>
    <p:sldId id="786" r:id="rId22"/>
    <p:sldId id="841" r:id="rId23"/>
    <p:sldId id="388" r:id="rId24"/>
    <p:sldId id="793" r:id="rId25"/>
    <p:sldId id="788" r:id="rId26"/>
    <p:sldId id="779" r:id="rId27"/>
    <p:sldId id="351" r:id="rId28"/>
    <p:sldId id="352" r:id="rId29"/>
    <p:sldId id="353" r:id="rId30"/>
    <p:sldId id="838" r:id="rId31"/>
    <p:sldId id="839" r:id="rId32"/>
    <p:sldId id="840" r:id="rId33"/>
    <p:sldId id="337" r:id="rId34"/>
    <p:sldId id="362" r:id="rId35"/>
    <p:sldId id="789" r:id="rId36"/>
    <p:sldId id="836" r:id="rId37"/>
    <p:sldId id="345" r:id="rId38"/>
    <p:sldId id="340" r:id="rId39"/>
    <p:sldId id="849" r:id="rId40"/>
    <p:sldId id="848" r:id="rId41"/>
    <p:sldId id="387" r:id="rId42"/>
    <p:sldId id="372" r:id="rId43"/>
    <p:sldId id="845" r:id="rId44"/>
    <p:sldId id="338" r:id="rId45"/>
    <p:sldId id="373" r:id="rId46"/>
    <p:sldId id="375" r:id="rId47"/>
    <p:sldId id="377" r:id="rId48"/>
    <p:sldId id="378" r:id="rId49"/>
    <p:sldId id="376" r:id="rId50"/>
    <p:sldId id="794" r:id="rId51"/>
    <p:sldId id="842" r:id="rId52"/>
    <p:sldId id="336" r:id="rId53"/>
    <p:sldId id="358" r:id="rId54"/>
    <p:sldId id="359" r:id="rId55"/>
    <p:sldId id="360" r:id="rId56"/>
    <p:sldId id="361" r:id="rId57"/>
    <p:sldId id="850" r:id="rId58"/>
  </p:sldIdLst>
  <p:sldSz cx="9144000" cy="6858000" type="screen4x3"/>
  <p:notesSz cx="9601200" cy="7315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80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84955" autoAdjust="0"/>
  </p:normalViewPr>
  <p:slideViewPr>
    <p:cSldViewPr>
      <p:cViewPr varScale="1">
        <p:scale>
          <a:sx n="77" d="100"/>
          <a:sy n="77" d="100"/>
        </p:scale>
        <p:origin x="157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4160937" cy="364067"/>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defTabSz="966842" eaLnBrk="1" hangingPunct="1">
              <a:defRPr sz="1400">
                <a:cs typeface="+mn-cs"/>
              </a:defRPr>
            </a:lvl1pPr>
          </a:lstStyle>
          <a:p>
            <a:pPr>
              <a:defRPr/>
            </a:pPr>
            <a:endParaRPr lang="en-US"/>
          </a:p>
        </p:txBody>
      </p:sp>
      <p:sp>
        <p:nvSpPr>
          <p:cNvPr id="69635" name="Rectangle 3"/>
          <p:cNvSpPr>
            <a:spLocks noGrp="1" noChangeArrowheads="1"/>
          </p:cNvSpPr>
          <p:nvPr>
            <p:ph type="dt" sz="quarter" idx="1"/>
          </p:nvPr>
        </p:nvSpPr>
        <p:spPr bwMode="auto">
          <a:xfrm>
            <a:off x="5440265" y="0"/>
            <a:ext cx="4160936" cy="364067"/>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algn="r" defTabSz="966842" eaLnBrk="1" hangingPunct="1">
              <a:defRPr sz="1400">
                <a:cs typeface="+mn-cs"/>
              </a:defRPr>
            </a:lvl1pPr>
          </a:lstStyle>
          <a:p>
            <a:pPr>
              <a:defRPr/>
            </a:pPr>
            <a:endParaRPr lang="en-US"/>
          </a:p>
        </p:txBody>
      </p:sp>
      <p:sp>
        <p:nvSpPr>
          <p:cNvPr id="69636" name="Rectangle 4"/>
          <p:cNvSpPr>
            <a:spLocks noGrp="1" noChangeArrowheads="1"/>
          </p:cNvSpPr>
          <p:nvPr>
            <p:ph type="ftr" sz="quarter" idx="2"/>
          </p:nvPr>
        </p:nvSpPr>
        <p:spPr bwMode="auto">
          <a:xfrm>
            <a:off x="0" y="6951134"/>
            <a:ext cx="4160937" cy="364066"/>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defTabSz="966842" eaLnBrk="1" hangingPunct="1">
              <a:defRPr sz="1400">
                <a:cs typeface="+mn-cs"/>
              </a:defRPr>
            </a:lvl1pPr>
          </a:lstStyle>
          <a:p>
            <a:pPr>
              <a:defRPr/>
            </a:pPr>
            <a:endParaRPr lang="en-US"/>
          </a:p>
        </p:txBody>
      </p:sp>
      <p:sp>
        <p:nvSpPr>
          <p:cNvPr id="69637" name="Rectangle 5"/>
          <p:cNvSpPr>
            <a:spLocks noGrp="1" noChangeArrowheads="1"/>
          </p:cNvSpPr>
          <p:nvPr>
            <p:ph type="sldNum" sz="quarter" idx="3"/>
          </p:nvPr>
        </p:nvSpPr>
        <p:spPr bwMode="auto">
          <a:xfrm>
            <a:off x="5440265" y="6951134"/>
            <a:ext cx="4160936" cy="364066"/>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algn="r" defTabSz="966788" eaLnBrk="1" hangingPunct="1">
              <a:defRPr sz="1400"/>
            </a:lvl1pPr>
          </a:lstStyle>
          <a:p>
            <a:pPr>
              <a:defRPr/>
            </a:pPr>
            <a:fld id="{549A7FA7-E1B8-4CDD-8F7C-1E113DA1F1E0}" type="slidenum">
              <a:rPr lang="en-US" altLang="en-US"/>
              <a:pPr>
                <a:defRPr/>
              </a:pPr>
              <a:t>‹#›</a:t>
            </a:fld>
            <a:endParaRPr lang="en-US" altLang="en-US"/>
          </a:p>
        </p:txBody>
      </p:sp>
    </p:spTree>
    <p:extLst>
      <p:ext uri="{BB962C8B-B14F-4D97-AF65-F5344CB8AC3E}">
        <p14:creationId xmlns:p14="http://schemas.microsoft.com/office/powerpoint/2010/main" val="11694395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4160937" cy="364067"/>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defTabSz="956890" eaLnBrk="1" hangingPunct="1">
              <a:defRPr sz="1400">
                <a:cs typeface="+mn-cs"/>
              </a:defRPr>
            </a:lvl1pPr>
          </a:lstStyle>
          <a:p>
            <a:pPr>
              <a:defRPr/>
            </a:pPr>
            <a:endParaRPr lang="en-US"/>
          </a:p>
        </p:txBody>
      </p:sp>
      <p:sp>
        <p:nvSpPr>
          <p:cNvPr id="124931" name="Rectangle 3"/>
          <p:cNvSpPr>
            <a:spLocks noGrp="1" noChangeArrowheads="1"/>
          </p:cNvSpPr>
          <p:nvPr>
            <p:ph type="dt" idx="1"/>
          </p:nvPr>
        </p:nvSpPr>
        <p:spPr bwMode="auto">
          <a:xfrm>
            <a:off x="5438180" y="0"/>
            <a:ext cx="4160937" cy="364067"/>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algn="r" defTabSz="956890" eaLnBrk="1" hangingPunct="1">
              <a:defRPr sz="140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2971800" y="549275"/>
            <a:ext cx="3659188" cy="27447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3" name="Rectangle 5"/>
          <p:cNvSpPr>
            <a:spLocks noGrp="1" noChangeArrowheads="1"/>
          </p:cNvSpPr>
          <p:nvPr>
            <p:ph type="body" sz="quarter" idx="3"/>
          </p:nvPr>
        </p:nvSpPr>
        <p:spPr bwMode="auto">
          <a:xfrm>
            <a:off x="960538" y="3474963"/>
            <a:ext cx="7680127" cy="3291114"/>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4934" name="Rectangle 6"/>
          <p:cNvSpPr>
            <a:spLocks noGrp="1" noChangeArrowheads="1"/>
          </p:cNvSpPr>
          <p:nvPr>
            <p:ph type="ftr" sz="quarter" idx="4"/>
          </p:nvPr>
        </p:nvSpPr>
        <p:spPr bwMode="auto">
          <a:xfrm>
            <a:off x="0" y="6947505"/>
            <a:ext cx="4160937" cy="366486"/>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defTabSz="956890" eaLnBrk="1" hangingPunct="1">
              <a:defRPr sz="1400">
                <a:cs typeface="+mn-cs"/>
              </a:defRPr>
            </a:lvl1pPr>
          </a:lstStyle>
          <a:p>
            <a:pPr>
              <a:defRPr/>
            </a:pPr>
            <a:endParaRPr lang="en-US"/>
          </a:p>
        </p:txBody>
      </p:sp>
      <p:sp>
        <p:nvSpPr>
          <p:cNvPr id="124935" name="Rectangle 7"/>
          <p:cNvSpPr>
            <a:spLocks noGrp="1" noChangeArrowheads="1"/>
          </p:cNvSpPr>
          <p:nvPr>
            <p:ph type="sldNum" sz="quarter" idx="5"/>
          </p:nvPr>
        </p:nvSpPr>
        <p:spPr bwMode="auto">
          <a:xfrm>
            <a:off x="5438180" y="6947505"/>
            <a:ext cx="4160937" cy="366486"/>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algn="r" defTabSz="955675" eaLnBrk="1" hangingPunct="1">
              <a:defRPr sz="1400"/>
            </a:lvl1pPr>
          </a:lstStyle>
          <a:p>
            <a:pPr>
              <a:defRPr/>
            </a:pPr>
            <a:fld id="{5B598F11-C2C5-40D4-B32B-C1AF9DA155A1}" type="slidenum">
              <a:rPr lang="en-US" altLang="en-US"/>
              <a:pPr>
                <a:defRPr/>
              </a:pPr>
              <a:t>‹#›</a:t>
            </a:fld>
            <a:endParaRPr lang="en-US" altLang="en-US"/>
          </a:p>
        </p:txBody>
      </p:sp>
    </p:spTree>
    <p:extLst>
      <p:ext uri="{BB962C8B-B14F-4D97-AF65-F5344CB8AC3E}">
        <p14:creationId xmlns:p14="http://schemas.microsoft.com/office/powerpoint/2010/main" val="19907104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disease” actually includes all cardiovascular diseases.</a:t>
            </a:r>
          </a:p>
          <a:p>
            <a:r>
              <a:rPr lang="en-US" dirty="0"/>
              <a:t>But “stroke” is counted as a cerebrovascular disease, so it’s separate from heart disease!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a:t>
            </a:fld>
            <a:endParaRPr lang="en-US" altLang="en-US"/>
          </a:p>
        </p:txBody>
      </p:sp>
    </p:spTree>
    <p:extLst>
      <p:ext uri="{BB962C8B-B14F-4D97-AF65-F5344CB8AC3E}">
        <p14:creationId xmlns:p14="http://schemas.microsoft.com/office/powerpoint/2010/main" val="2107143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Galen’s experiment, we conclude that the brain is not the source of the heartbeat – if it were, the heart would stop beating as soon as we removed it from the body</a:t>
            </a:r>
          </a:p>
          <a:p>
            <a:r>
              <a:rPr lang="en-US" dirty="0"/>
              <a:t>Keith and Flack first found the SA node on a mole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8</a:t>
            </a:fld>
            <a:endParaRPr lang="en-US" altLang="en-US"/>
          </a:p>
        </p:txBody>
      </p:sp>
    </p:spTree>
    <p:extLst>
      <p:ext uri="{BB962C8B-B14F-4D97-AF65-F5344CB8AC3E}">
        <p14:creationId xmlns:p14="http://schemas.microsoft.com/office/powerpoint/2010/main" val="4087376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“stronger muscles in ventricles” for when we talk about ECGs shortly!</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10</a:t>
            </a:fld>
            <a:endParaRPr lang="en-US" altLang="en-US"/>
          </a:p>
        </p:txBody>
      </p:sp>
    </p:spTree>
    <p:extLst>
      <p:ext uri="{BB962C8B-B14F-4D97-AF65-F5344CB8AC3E}">
        <p14:creationId xmlns:p14="http://schemas.microsoft.com/office/powerpoint/2010/main" val="3374362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in this case the electrical signals are coming from an oscillator rather than from the brain</a:t>
            </a:r>
          </a:p>
          <a:p>
            <a:r>
              <a:rPr lang="en-US" dirty="0"/>
              <a:t>Note the timing – both atria contract at once, and both ventricles contract at once.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11</a:t>
            </a:fld>
            <a:endParaRPr lang="en-US" altLang="en-US"/>
          </a:p>
        </p:txBody>
      </p:sp>
    </p:spTree>
    <p:extLst>
      <p:ext uri="{BB962C8B-B14F-4D97-AF65-F5344CB8AC3E}">
        <p14:creationId xmlns:p14="http://schemas.microsoft.com/office/powerpoint/2010/main" val="1394565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atrial conduction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13</a:t>
            </a:fld>
            <a:endParaRPr lang="en-US" altLang="en-US"/>
          </a:p>
        </p:txBody>
      </p:sp>
    </p:spTree>
    <p:extLst>
      <p:ext uri="{BB962C8B-B14F-4D97-AF65-F5344CB8AC3E}">
        <p14:creationId xmlns:p14="http://schemas.microsoft.com/office/powerpoint/2010/main" val="784957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atrial conduction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14</a:t>
            </a:fld>
            <a:endParaRPr lang="en-US" altLang="en-US"/>
          </a:p>
        </p:txBody>
      </p:sp>
    </p:spTree>
    <p:extLst>
      <p:ext uri="{BB962C8B-B14F-4D97-AF65-F5344CB8AC3E}">
        <p14:creationId xmlns:p14="http://schemas.microsoft.com/office/powerpoint/2010/main" val="1683302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atrial conduction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15</a:t>
            </a:fld>
            <a:endParaRPr lang="en-US" altLang="en-US"/>
          </a:p>
        </p:txBody>
      </p:sp>
    </p:spTree>
    <p:extLst>
      <p:ext uri="{BB962C8B-B14F-4D97-AF65-F5344CB8AC3E}">
        <p14:creationId xmlns:p14="http://schemas.microsoft.com/office/powerpoint/2010/main" val="2350314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ventricular conduction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16</a:t>
            </a:fld>
            <a:endParaRPr lang="en-US" altLang="en-US"/>
          </a:p>
        </p:txBody>
      </p:sp>
    </p:spTree>
    <p:extLst>
      <p:ext uri="{BB962C8B-B14F-4D97-AF65-F5344CB8AC3E}">
        <p14:creationId xmlns:p14="http://schemas.microsoft.com/office/powerpoint/2010/main" val="2587021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17</a:t>
            </a:fld>
            <a:endParaRPr lang="en-US" altLang="en-US"/>
          </a:p>
        </p:txBody>
      </p:sp>
    </p:spTree>
    <p:extLst>
      <p:ext uri="{BB962C8B-B14F-4D97-AF65-F5344CB8AC3E}">
        <p14:creationId xmlns:p14="http://schemas.microsoft.com/office/powerpoint/2010/main" val="2031744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atrial contraction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20</a:t>
            </a:fld>
            <a:endParaRPr lang="en-US" altLang="en-US"/>
          </a:p>
        </p:txBody>
      </p:sp>
    </p:spTree>
    <p:extLst>
      <p:ext uri="{BB962C8B-B14F-4D97-AF65-F5344CB8AC3E}">
        <p14:creationId xmlns:p14="http://schemas.microsoft.com/office/powerpoint/2010/main" val="3024911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ventricular contraction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21</a:t>
            </a:fld>
            <a:endParaRPr lang="en-US" altLang="en-US"/>
          </a:p>
        </p:txBody>
      </p:sp>
    </p:spTree>
    <p:extLst>
      <p:ext uri="{BB962C8B-B14F-4D97-AF65-F5344CB8AC3E}">
        <p14:creationId xmlns:p14="http://schemas.microsoft.com/office/powerpoint/2010/main" val="3067760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ventricular contraction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22</a:t>
            </a:fld>
            <a:endParaRPr lang="en-US" altLang="en-US"/>
          </a:p>
        </p:txBody>
      </p:sp>
    </p:spTree>
    <p:extLst>
      <p:ext uri="{BB962C8B-B14F-4D97-AF65-F5344CB8AC3E}">
        <p14:creationId xmlns:p14="http://schemas.microsoft.com/office/powerpoint/2010/main" val="2067065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 = distance from any feature on 1</a:t>
            </a:r>
            <a:r>
              <a:rPr lang="en-US" baseline="30000" dirty="0"/>
              <a:t>st</a:t>
            </a:r>
            <a:r>
              <a:rPr lang="en-US" dirty="0"/>
              <a:t> wave to 2</a:t>
            </a:r>
            <a:r>
              <a:rPr lang="en-US" baseline="30000" dirty="0"/>
              <a:t>nd</a:t>
            </a:r>
            <a:r>
              <a:rPr lang="en-US" dirty="0"/>
              <a:t> wave</a:t>
            </a:r>
          </a:p>
          <a:p>
            <a:r>
              <a:rPr lang="en-US" dirty="0"/>
              <a:t>PR interval = start of P to start of QRS</a:t>
            </a:r>
          </a:p>
          <a:p>
            <a:r>
              <a:rPr lang="en-US" dirty="0"/>
              <a:t>PR segment = end of P to start of QRS</a:t>
            </a:r>
          </a:p>
          <a:p>
            <a:r>
              <a:rPr lang="en-US" dirty="0"/>
              <a:t>QT interval = start of QRS to end of 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23</a:t>
            </a:fld>
            <a:endParaRPr lang="en-US" altLang="en-US"/>
          </a:p>
        </p:txBody>
      </p:sp>
    </p:spTree>
    <p:extLst>
      <p:ext uri="{BB962C8B-B14F-4D97-AF65-F5344CB8AC3E}">
        <p14:creationId xmlns:p14="http://schemas.microsoft.com/office/powerpoint/2010/main" val="4156032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atrial conduction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25</a:t>
            </a:fld>
            <a:endParaRPr lang="en-US" altLang="en-US"/>
          </a:p>
        </p:txBody>
      </p:sp>
    </p:spTree>
    <p:extLst>
      <p:ext uri="{BB962C8B-B14F-4D97-AF65-F5344CB8AC3E}">
        <p14:creationId xmlns:p14="http://schemas.microsoft.com/office/powerpoint/2010/main" val="1334052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26</a:t>
            </a:fld>
            <a:endParaRPr lang="en-US" altLang="en-US"/>
          </a:p>
        </p:txBody>
      </p:sp>
    </p:spTree>
    <p:extLst>
      <p:ext uri="{BB962C8B-B14F-4D97-AF65-F5344CB8AC3E}">
        <p14:creationId xmlns:p14="http://schemas.microsoft.com/office/powerpoint/2010/main" val="6563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of *why* it requires a one-way path will be on the quiz</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28</a:t>
            </a:fld>
            <a:endParaRPr lang="en-US" altLang="en-US"/>
          </a:p>
        </p:txBody>
      </p:sp>
    </p:spTree>
    <p:extLst>
      <p:ext uri="{BB962C8B-B14F-4D97-AF65-F5344CB8AC3E}">
        <p14:creationId xmlns:p14="http://schemas.microsoft.com/office/powerpoint/2010/main" val="2854221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30</a:t>
            </a:fld>
            <a:endParaRPr lang="en-US" altLang="en-US"/>
          </a:p>
        </p:txBody>
      </p:sp>
    </p:spTree>
    <p:extLst>
      <p:ext uri="{BB962C8B-B14F-4D97-AF65-F5344CB8AC3E}">
        <p14:creationId xmlns:p14="http://schemas.microsoft.com/office/powerpoint/2010/main" val="3040487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31</a:t>
            </a:fld>
            <a:endParaRPr lang="en-US" altLang="en-US"/>
          </a:p>
        </p:txBody>
      </p:sp>
    </p:spTree>
    <p:extLst>
      <p:ext uri="{BB962C8B-B14F-4D97-AF65-F5344CB8AC3E}">
        <p14:creationId xmlns:p14="http://schemas.microsoft.com/office/powerpoint/2010/main" val="415540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32</a:t>
            </a:fld>
            <a:endParaRPr lang="en-US" altLang="en-US"/>
          </a:p>
        </p:txBody>
      </p:sp>
    </p:spTree>
    <p:extLst>
      <p:ext uri="{BB962C8B-B14F-4D97-AF65-F5344CB8AC3E}">
        <p14:creationId xmlns:p14="http://schemas.microsoft.com/office/powerpoint/2010/main" val="3691097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math – there are 5x5=25 squares per second, so each square is .04 sec.</a:t>
            </a:r>
          </a:p>
          <a:p>
            <a:r>
              <a:rPr lang="en-US" dirty="0"/>
              <a:t>So I would call this about .12s – right on the border between partial and full. However, note that it has been </a:t>
            </a:r>
            <a:r>
              <a:rPr lang="en-US"/>
              <a:t>separately read at .144 sec.</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34</a:t>
            </a:fld>
            <a:endParaRPr lang="en-US" altLang="en-US"/>
          </a:p>
        </p:txBody>
      </p:sp>
    </p:spTree>
    <p:extLst>
      <p:ext uri="{BB962C8B-B14F-4D97-AF65-F5344CB8AC3E}">
        <p14:creationId xmlns:p14="http://schemas.microsoft.com/office/powerpoint/2010/main" val="10433485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atrial conduction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35</a:t>
            </a:fld>
            <a:endParaRPr lang="en-US" altLang="en-US"/>
          </a:p>
        </p:txBody>
      </p:sp>
    </p:spTree>
    <p:extLst>
      <p:ext uri="{BB962C8B-B14F-4D97-AF65-F5344CB8AC3E}">
        <p14:creationId xmlns:p14="http://schemas.microsoft.com/office/powerpoint/2010/main" val="9367585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36</a:t>
            </a:fld>
            <a:endParaRPr lang="en-US" altLang="en-US"/>
          </a:p>
        </p:txBody>
      </p:sp>
    </p:spTree>
    <p:extLst>
      <p:ext uri="{BB962C8B-B14F-4D97-AF65-F5344CB8AC3E}">
        <p14:creationId xmlns:p14="http://schemas.microsoft.com/office/powerpoint/2010/main" val="1215030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 SA firing, atrial depolarization</a:t>
            </a:r>
          </a:p>
          <a:p>
            <a:r>
              <a:rPr lang="en-US" dirty="0"/>
              <a:t>PR = delay through the AV node (even though it’s really from P to Q)!</a:t>
            </a:r>
          </a:p>
          <a:p>
            <a:r>
              <a:rPr lang="en-US" dirty="0"/>
              <a:t>QRS = ventricular depolarization (and hidden atrial repolarization)</a:t>
            </a:r>
          </a:p>
          <a:p>
            <a:r>
              <a:rPr lang="en-US" dirty="0"/>
              <a:t>T = ventricular repolarization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41</a:t>
            </a:fld>
            <a:endParaRPr lang="en-US" altLang="en-US"/>
          </a:p>
        </p:txBody>
      </p:sp>
    </p:spTree>
    <p:extLst>
      <p:ext uri="{BB962C8B-B14F-4D97-AF65-F5344CB8AC3E}">
        <p14:creationId xmlns:p14="http://schemas.microsoft.com/office/powerpoint/2010/main" val="8952233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42</a:t>
            </a:fld>
            <a:endParaRPr lang="en-US" altLang="en-US"/>
          </a:p>
        </p:txBody>
      </p:sp>
    </p:spTree>
    <p:extLst>
      <p:ext uri="{BB962C8B-B14F-4D97-AF65-F5344CB8AC3E}">
        <p14:creationId xmlns:p14="http://schemas.microsoft.com/office/powerpoint/2010/main" val="13257443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zone is where an ectopic focus could cause a PVC. Really, we’re showing the ventricular APs; but it’s the SA oscillators controlling the rhythm. This really has nothing to do with the </a:t>
            </a:r>
            <a:r>
              <a:rPr lang="en-US"/>
              <a:t>redundancy system!</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43</a:t>
            </a:fld>
            <a:endParaRPr lang="en-US" altLang="en-US"/>
          </a:p>
        </p:txBody>
      </p:sp>
    </p:spTree>
    <p:extLst>
      <p:ext uri="{BB962C8B-B14F-4D97-AF65-F5344CB8AC3E}">
        <p14:creationId xmlns:p14="http://schemas.microsoft.com/office/powerpoint/2010/main" val="14967528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55</a:t>
            </a:fld>
            <a:endParaRPr lang="en-US" altLang="en-US"/>
          </a:p>
        </p:txBody>
      </p:sp>
    </p:spTree>
    <p:extLst>
      <p:ext uri="{BB962C8B-B14F-4D97-AF65-F5344CB8AC3E}">
        <p14:creationId xmlns:p14="http://schemas.microsoft.com/office/powerpoint/2010/main" val="2985521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205376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400800"/>
            <a:ext cx="2895600" cy="304800"/>
          </a:xfrm>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346669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193104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2150550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658962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1521762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1053858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876898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1421476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241151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EN1 EIY-- Bioelectricity</a:t>
            </a:r>
          </a:p>
        </p:txBody>
      </p:sp>
    </p:spTree>
    <p:extLst>
      <p:ext uri="{BB962C8B-B14F-4D97-AF65-F5344CB8AC3E}">
        <p14:creationId xmlns:p14="http://schemas.microsoft.com/office/powerpoint/2010/main" val="1876934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smtClean="0">
                <a:cs typeface="+mn-cs"/>
              </a:defRPr>
            </a:lvl1pPr>
          </a:lstStyle>
          <a:p>
            <a:pPr>
              <a:defRPr/>
            </a:pPr>
            <a:r>
              <a:rPr lang="en-US" dirty="0"/>
              <a:t>EN1 EIY-- Bioelectricity</a:t>
            </a:r>
          </a:p>
        </p:txBody>
      </p:sp>
      <p:sp>
        <p:nvSpPr>
          <p:cNvPr id="1033" name="Rectangle 9"/>
          <p:cNvSpPr>
            <a:spLocks noChangeArrowheads="1"/>
          </p:cNvSpPr>
          <p:nvPr/>
        </p:nvSpPr>
        <p:spPr bwMode="auto">
          <a:xfrm>
            <a:off x="5715000" y="6248400"/>
            <a:ext cx="2895600" cy="457200"/>
          </a:xfrm>
          <a:prstGeom prst="rect">
            <a:avLst/>
          </a:prstGeom>
          <a:noFill/>
          <a:ln w="9525">
            <a:noFill/>
            <a:miter lim="800000"/>
            <a:headEnd/>
            <a:tailEnd/>
          </a:ln>
          <a:effec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defRPr/>
            </a:pPr>
            <a:fld id="{2ECDC20A-2A00-44F3-B6D9-A07784439C41}" type="slidenum">
              <a:rPr lang="en-US" altLang="en-US" sz="1400" smtClean="0"/>
              <a:pPr algn="r" eaLnBrk="1" hangingPunct="1">
                <a:defRPr/>
              </a:pPr>
              <a:t>‹#›</a:t>
            </a:fld>
            <a:endParaRPr lang="en-US" altLang="en-US"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Times New Roman" pitchFamily="18" charset="0"/>
        </a:defRPr>
      </a:lvl2pPr>
      <a:lvl3pPr algn="ctr" rtl="0" eaLnBrk="0" fontAlgn="base" hangingPunct="0">
        <a:spcBef>
          <a:spcPct val="0"/>
        </a:spcBef>
        <a:spcAft>
          <a:spcPct val="0"/>
        </a:spcAft>
        <a:defRPr sz="4400">
          <a:solidFill>
            <a:schemeClr val="accent2"/>
          </a:solidFill>
          <a:latin typeface="Times New Roman" pitchFamily="18" charset="0"/>
        </a:defRPr>
      </a:lvl3pPr>
      <a:lvl4pPr algn="ctr" rtl="0" eaLnBrk="0" fontAlgn="base" hangingPunct="0">
        <a:spcBef>
          <a:spcPct val="0"/>
        </a:spcBef>
        <a:spcAft>
          <a:spcPct val="0"/>
        </a:spcAft>
        <a:defRPr sz="4400">
          <a:solidFill>
            <a:schemeClr val="accent2"/>
          </a:solidFill>
          <a:latin typeface="Times New Roman" pitchFamily="18" charset="0"/>
        </a:defRPr>
      </a:lvl4pPr>
      <a:lvl5pPr algn="ctr" rtl="0" eaLnBrk="0" fontAlgn="base" hangingPunct="0">
        <a:spcBef>
          <a:spcPct val="0"/>
        </a:spcBef>
        <a:spcAft>
          <a:spcPct val="0"/>
        </a:spcAft>
        <a:defRPr sz="4400">
          <a:solidFill>
            <a:schemeClr val="accent2"/>
          </a:solidFill>
          <a:latin typeface="Times New Roman" pitchFamily="18" charset="0"/>
        </a:defRPr>
      </a:lvl5pPr>
      <a:lvl6pPr marL="457200" algn="ctr" rtl="0" fontAlgn="base">
        <a:spcBef>
          <a:spcPct val="0"/>
        </a:spcBef>
        <a:spcAft>
          <a:spcPct val="0"/>
        </a:spcAft>
        <a:defRPr sz="4400">
          <a:solidFill>
            <a:schemeClr val="accent2"/>
          </a:solidFill>
          <a:latin typeface="Times New Roman" pitchFamily="18" charset="0"/>
        </a:defRPr>
      </a:lvl6pPr>
      <a:lvl7pPr marL="914400" algn="ctr" rtl="0" fontAlgn="base">
        <a:spcBef>
          <a:spcPct val="0"/>
        </a:spcBef>
        <a:spcAft>
          <a:spcPct val="0"/>
        </a:spcAft>
        <a:defRPr sz="4400">
          <a:solidFill>
            <a:schemeClr val="accent2"/>
          </a:solidFill>
          <a:latin typeface="Times New Roman" pitchFamily="18" charset="0"/>
        </a:defRPr>
      </a:lvl7pPr>
      <a:lvl8pPr marL="1371600" algn="ctr" rtl="0" fontAlgn="base">
        <a:spcBef>
          <a:spcPct val="0"/>
        </a:spcBef>
        <a:spcAft>
          <a:spcPct val="0"/>
        </a:spcAft>
        <a:defRPr sz="4400">
          <a:solidFill>
            <a:schemeClr val="accent2"/>
          </a:solidFill>
          <a:latin typeface="Times New Roman" pitchFamily="18" charset="0"/>
        </a:defRPr>
      </a:lvl8pPr>
      <a:lvl9pPr marL="1828800" algn="ctr" rtl="0" fontAlgn="base">
        <a:spcBef>
          <a:spcPct val="0"/>
        </a:spcBef>
        <a:spcAft>
          <a:spcPct val="0"/>
        </a:spcAft>
        <a:defRPr sz="44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oel.grodstein@tufts.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edium.com/s/story/im-a-heart-doctor-heres-why-im-wary-of-the-new-apple-watch-2b1999f2d942" TargetMode="External"/><Relationship Id="rId2" Type="http://schemas.openxmlformats.org/officeDocument/2006/relationships/hyperlink" Target="https://www.drjohnm.org/2011/03/the-best-tool-for-treating-atrial-fibrillation" TargetMode="External"/><Relationship Id="rId1" Type="http://schemas.openxmlformats.org/officeDocument/2006/relationships/slideLayout" Target="../slideLayouts/slideLayout2.xml"/><Relationship Id="rId4" Type="http://schemas.openxmlformats.org/officeDocument/2006/relationships/hyperlink" Target="https://www.nytimes.com/2021/05/20/well/live/smartwatch-heart-rate-monitor.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s5iCoCaofc" TargetMode="External"/><Relationship Id="rId2" Type="http://schemas.openxmlformats.org/officeDocument/2006/relationships/hyperlink" Target="https://www.youtube.com/watch?v=CWFyxn0qDEU"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atchlearnlive.heart.org/index.php?moduleSelect=atrfib"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www.barostimtherapy.com/en-gb/node/86" TargetMode="External"/><Relationship Id="rId2" Type="http://schemas.openxmlformats.org/officeDocument/2006/relationships/hyperlink" Target="https://axontherapies.co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drjohnm.org/2015/08/on-pvcs-think-anew-but-think-slowly/" TargetMode="External"/><Relationship Id="rId2" Type="http://schemas.openxmlformats.org/officeDocument/2006/relationships/hyperlink" Target="https://www.drjohnm.org/2013/06/benign-pvcs-a-heart-rhythm-doctors-approach/"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381000"/>
            <a:ext cx="7772400" cy="1752600"/>
          </a:xfrm>
        </p:spPr>
        <p:txBody>
          <a:bodyPr/>
          <a:lstStyle/>
          <a:p>
            <a:pPr eaLnBrk="1" hangingPunct="1"/>
            <a:r>
              <a:rPr lang="en-US" altLang="en-US" dirty="0"/>
              <a:t>EN1 EIY</a:t>
            </a:r>
          </a:p>
        </p:txBody>
      </p:sp>
      <p:sp>
        <p:nvSpPr>
          <p:cNvPr id="4099" name="Rectangle 3"/>
          <p:cNvSpPr>
            <a:spLocks noGrp="1" noChangeArrowheads="1"/>
          </p:cNvSpPr>
          <p:nvPr>
            <p:ph type="subTitle" idx="1"/>
          </p:nvPr>
        </p:nvSpPr>
        <p:spPr>
          <a:xfrm>
            <a:off x="381000" y="2514599"/>
            <a:ext cx="8382000" cy="3750733"/>
          </a:xfrm>
        </p:spPr>
        <p:txBody>
          <a:bodyPr/>
          <a:lstStyle/>
          <a:p>
            <a:pPr eaLnBrk="1" hangingPunct="1"/>
            <a:r>
              <a:rPr lang="en-US" altLang="en-US" dirty="0"/>
              <a:t>Fall 2022</a:t>
            </a:r>
          </a:p>
          <a:p>
            <a:pPr eaLnBrk="1" hangingPunct="1"/>
            <a:r>
              <a:rPr lang="en-US" altLang="en-US" dirty="0"/>
              <a:t>Tufts University</a:t>
            </a:r>
          </a:p>
          <a:p>
            <a:pPr eaLnBrk="1" hangingPunct="1"/>
            <a:endParaRPr lang="en-US" altLang="en-US" dirty="0"/>
          </a:p>
          <a:p>
            <a:pPr eaLnBrk="1" hangingPunct="1"/>
            <a:r>
              <a:rPr lang="en-US" altLang="en-US" dirty="0"/>
              <a:t>Instructor: Joel Grodstein</a:t>
            </a:r>
          </a:p>
          <a:p>
            <a:pPr eaLnBrk="1" hangingPunct="1"/>
            <a:r>
              <a:rPr lang="en-US" altLang="en-US" dirty="0">
                <a:solidFill>
                  <a:schemeClr val="accent2"/>
                </a:solidFill>
                <a:hlinkClick r:id="rId2"/>
              </a:rPr>
              <a:t>joel.grodstein@tufts.edu</a:t>
            </a:r>
            <a:endParaRPr lang="en-US" altLang="en-US" dirty="0">
              <a:solidFill>
                <a:schemeClr val="accent2"/>
              </a:solidFill>
            </a:endParaRPr>
          </a:p>
          <a:p>
            <a:pPr eaLnBrk="1" hangingPunct="1"/>
            <a:endParaRPr lang="en-US" altLang="en-US" dirty="0"/>
          </a:p>
          <a:p>
            <a:pPr eaLnBrk="1" hangingPunct="1"/>
            <a:r>
              <a:rPr lang="it-IT" altLang="en-US" dirty="0"/>
              <a:t>3 – cardiac bioelectricity</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41EA2-E5A1-440A-BBF7-FB047BEE8DC4}"/>
              </a:ext>
            </a:extLst>
          </p:cNvPr>
          <p:cNvSpPr>
            <a:spLocks noGrp="1"/>
          </p:cNvSpPr>
          <p:nvPr>
            <p:ph type="title"/>
          </p:nvPr>
        </p:nvSpPr>
        <p:spPr/>
        <p:txBody>
          <a:bodyPr/>
          <a:lstStyle/>
          <a:p>
            <a:r>
              <a:rPr lang="en-US" dirty="0"/>
              <a:t>Big picture of the course</a:t>
            </a:r>
          </a:p>
        </p:txBody>
      </p:sp>
      <p:sp>
        <p:nvSpPr>
          <p:cNvPr id="3" name="Content Placeholder 2">
            <a:extLst>
              <a:ext uri="{FF2B5EF4-FFF2-40B4-BE49-F238E27FC236}">
                <a16:creationId xmlns:a16="http://schemas.microsoft.com/office/drawing/2014/main" id="{EBFCE431-A316-4FC0-8AF3-D404C161E888}"/>
              </a:ext>
            </a:extLst>
          </p:cNvPr>
          <p:cNvSpPr>
            <a:spLocks noGrp="1"/>
          </p:cNvSpPr>
          <p:nvPr>
            <p:ph idx="1"/>
          </p:nvPr>
        </p:nvSpPr>
        <p:spPr/>
        <p:txBody>
          <a:bodyPr/>
          <a:lstStyle/>
          <a:p>
            <a:r>
              <a:rPr lang="en-US" dirty="0"/>
              <a:t>Where does bioelectricity come from?</a:t>
            </a:r>
          </a:p>
          <a:p>
            <a:r>
              <a:rPr lang="en-US" dirty="0"/>
              <a:t>Neurons and working with the nervous system</a:t>
            </a:r>
          </a:p>
          <a:p>
            <a:r>
              <a:rPr lang="en-US" dirty="0"/>
              <a:t>Cardiac bioelectricity</a:t>
            </a:r>
          </a:p>
          <a:p>
            <a:r>
              <a:rPr lang="en-US" dirty="0"/>
              <a:t>Worms</a:t>
            </a:r>
          </a:p>
        </p:txBody>
      </p:sp>
      <p:sp>
        <p:nvSpPr>
          <p:cNvPr id="4" name="Footer Placeholder 3">
            <a:extLst>
              <a:ext uri="{FF2B5EF4-FFF2-40B4-BE49-F238E27FC236}">
                <a16:creationId xmlns:a16="http://schemas.microsoft.com/office/drawing/2014/main" id="{14E3BD7B-8458-45C8-871C-FBDAA3E4015E}"/>
              </a:ext>
            </a:extLst>
          </p:cNvPr>
          <p:cNvSpPr>
            <a:spLocks noGrp="1"/>
          </p:cNvSpPr>
          <p:nvPr>
            <p:ph type="ftr" sz="quarter" idx="11"/>
          </p:nvPr>
        </p:nvSpPr>
        <p:spPr/>
        <p:txBody>
          <a:bodyPr/>
          <a:lstStyle/>
          <a:p>
            <a:pPr>
              <a:defRPr/>
            </a:pPr>
            <a:r>
              <a:rPr lang="en-US" dirty="0"/>
              <a:t>EN1 EIY Joel Grodstein</a:t>
            </a:r>
          </a:p>
        </p:txBody>
      </p:sp>
      <p:sp>
        <p:nvSpPr>
          <p:cNvPr id="5" name="Rectangle 4">
            <a:extLst>
              <a:ext uri="{FF2B5EF4-FFF2-40B4-BE49-F238E27FC236}">
                <a16:creationId xmlns:a16="http://schemas.microsoft.com/office/drawing/2014/main" id="{041E2B69-E4B6-4750-B290-80ED5391C427}"/>
              </a:ext>
            </a:extLst>
          </p:cNvPr>
          <p:cNvSpPr/>
          <p:nvPr/>
        </p:nvSpPr>
        <p:spPr>
          <a:xfrm>
            <a:off x="566928" y="2693583"/>
            <a:ext cx="3928872" cy="554736"/>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836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57E9-6834-4293-BDA3-C30ED2CEBD22}"/>
              </a:ext>
            </a:extLst>
          </p:cNvPr>
          <p:cNvSpPr>
            <a:spLocks noGrp="1"/>
          </p:cNvSpPr>
          <p:nvPr>
            <p:ph type="title"/>
          </p:nvPr>
        </p:nvSpPr>
        <p:spPr/>
        <p:txBody>
          <a:bodyPr/>
          <a:lstStyle/>
          <a:p>
            <a:r>
              <a:rPr lang="en-US" dirty="0"/>
              <a:t>The heart in the news</a:t>
            </a:r>
          </a:p>
        </p:txBody>
      </p:sp>
      <p:sp>
        <p:nvSpPr>
          <p:cNvPr id="3" name="Content Placeholder 2">
            <a:extLst>
              <a:ext uri="{FF2B5EF4-FFF2-40B4-BE49-F238E27FC236}">
                <a16:creationId xmlns:a16="http://schemas.microsoft.com/office/drawing/2014/main" id="{5FC2010D-C2AE-4EFA-BB02-4374880E85DD}"/>
              </a:ext>
            </a:extLst>
          </p:cNvPr>
          <p:cNvSpPr>
            <a:spLocks noGrp="1"/>
          </p:cNvSpPr>
          <p:nvPr>
            <p:ph idx="1"/>
          </p:nvPr>
        </p:nvSpPr>
        <p:spPr>
          <a:xfrm>
            <a:off x="685800" y="2057400"/>
            <a:ext cx="7772400" cy="4267200"/>
          </a:xfrm>
        </p:spPr>
        <p:txBody>
          <a:bodyPr/>
          <a:lstStyle/>
          <a:p>
            <a:r>
              <a:rPr lang="en-US" dirty="0"/>
              <a:t>Atrial fib: surgery or not?</a:t>
            </a:r>
            <a:endParaRPr lang="en-US" dirty="0">
              <a:hlinkClick r:id="rId2"/>
            </a:endParaRPr>
          </a:p>
          <a:p>
            <a:pPr lvl="1">
              <a:spcBef>
                <a:spcPts val="0"/>
              </a:spcBef>
            </a:pPr>
            <a:r>
              <a:rPr lang="en-US" dirty="0">
                <a:hlinkClick r:id="rId2"/>
              </a:rPr>
              <a:t>https://www.medscape.com/viewarticle/919228 </a:t>
            </a:r>
          </a:p>
          <a:p>
            <a:pPr lvl="1">
              <a:spcBef>
                <a:spcPts val="0"/>
              </a:spcBef>
            </a:pPr>
            <a:r>
              <a:rPr lang="en-US" dirty="0">
                <a:hlinkClick r:id="rId2"/>
              </a:rPr>
              <a:t>https://www.drjohnm.org/2011/03/the-best-tool-for-treating-atrial-fibrillation</a:t>
            </a:r>
            <a:r>
              <a:rPr lang="en-US" dirty="0"/>
              <a:t> </a:t>
            </a:r>
          </a:p>
          <a:p>
            <a:pPr>
              <a:spcBef>
                <a:spcPts val="0"/>
              </a:spcBef>
            </a:pPr>
            <a:r>
              <a:rPr lang="en-US" dirty="0"/>
              <a:t>Detecting atrial fib with the Apple watch</a:t>
            </a:r>
          </a:p>
          <a:p>
            <a:pPr lvl="1">
              <a:spcBef>
                <a:spcPts val="0"/>
              </a:spcBef>
            </a:pPr>
            <a:r>
              <a:rPr lang="en-US" dirty="0">
                <a:hlinkClick r:id="rId3"/>
              </a:rPr>
              <a:t>https://medium.com/s/story/im-a-heart-doctor-heres-why-im-wary-of-the-new-apple-watch-2b1999f2d942</a:t>
            </a:r>
            <a:endParaRPr lang="en-US" dirty="0"/>
          </a:p>
          <a:p>
            <a:pPr lvl="1">
              <a:spcBef>
                <a:spcPts val="0"/>
              </a:spcBef>
            </a:pPr>
            <a:r>
              <a:rPr lang="en-US" b="0" i="0" u="sng" strike="noStrike" dirty="0">
                <a:solidFill>
                  <a:srgbClr val="1155CC"/>
                </a:solidFill>
                <a:effectLst/>
                <a:hlinkClick r:id="rId4"/>
              </a:rPr>
              <a:t>https://www.nytimes.com/2021/05/20/well/live/smartwatch-heart-rate-monitor.html</a:t>
            </a:r>
            <a:r>
              <a:rPr lang="en-US" b="0" i="0" u="none" strike="noStrike" dirty="0">
                <a:solidFill>
                  <a:srgbClr val="000000"/>
                </a:solidFill>
                <a:effectLst/>
              </a:rPr>
              <a:t> </a:t>
            </a:r>
            <a:endParaRPr lang="en-US" dirty="0"/>
          </a:p>
          <a:p>
            <a:pPr lvl="1">
              <a:spcBef>
                <a:spcPts val="0"/>
              </a:spcBef>
            </a:pPr>
            <a:endParaRPr lang="en-US" dirty="0"/>
          </a:p>
          <a:p>
            <a:endParaRPr lang="en-US" dirty="0"/>
          </a:p>
        </p:txBody>
      </p:sp>
      <p:sp>
        <p:nvSpPr>
          <p:cNvPr id="4" name="Footer Placeholder 3">
            <a:extLst>
              <a:ext uri="{FF2B5EF4-FFF2-40B4-BE49-F238E27FC236}">
                <a16:creationId xmlns:a16="http://schemas.microsoft.com/office/drawing/2014/main" id="{F4D2E014-A618-4A06-BA6D-44F1C4289A71}"/>
              </a:ext>
            </a:extLst>
          </p:cNvPr>
          <p:cNvSpPr>
            <a:spLocks noGrp="1"/>
          </p:cNvSpPr>
          <p:nvPr>
            <p:ph type="ftr" sz="quarter" idx="11"/>
          </p:nvPr>
        </p:nvSpPr>
        <p:spPr/>
        <p:txBody>
          <a:bodyPr/>
          <a:lstStyle/>
          <a:p>
            <a:pPr>
              <a:defRPr/>
            </a:pPr>
            <a:r>
              <a:rPr lang="en-US" dirty="0"/>
              <a:t>EN1 EIY-- Bioelectricity</a:t>
            </a:r>
          </a:p>
        </p:txBody>
      </p:sp>
      <p:sp>
        <p:nvSpPr>
          <p:cNvPr id="5" name="TextBox 4">
            <a:extLst>
              <a:ext uri="{FF2B5EF4-FFF2-40B4-BE49-F238E27FC236}">
                <a16:creationId xmlns:a16="http://schemas.microsoft.com/office/drawing/2014/main" id="{B825D149-7A17-4AEE-AAA1-3DF9D3E0C1EC}"/>
              </a:ext>
            </a:extLst>
          </p:cNvPr>
          <p:cNvSpPr txBox="1"/>
          <p:nvPr/>
        </p:nvSpPr>
        <p:spPr>
          <a:xfrm>
            <a:off x="5638800" y="1219200"/>
            <a:ext cx="3200400" cy="1200329"/>
          </a:xfrm>
          <a:prstGeom prst="rect">
            <a:avLst/>
          </a:prstGeom>
          <a:noFill/>
          <a:ln w="28575">
            <a:solidFill>
              <a:schemeClr val="accent2"/>
            </a:solidFill>
          </a:ln>
        </p:spPr>
        <p:txBody>
          <a:bodyPr wrap="square" rtlCol="0">
            <a:spAutoFit/>
          </a:bodyPr>
          <a:lstStyle/>
          <a:p>
            <a:r>
              <a:rPr lang="en-US" dirty="0"/>
              <a:t>Check them out now; cover them for a final project </a:t>
            </a:r>
            <a:r>
              <a:rPr lang="en-US"/>
              <a:t>if you like</a:t>
            </a:r>
            <a:endParaRPr lang="en-US" dirty="0"/>
          </a:p>
        </p:txBody>
      </p:sp>
    </p:spTree>
    <p:extLst>
      <p:ext uri="{BB962C8B-B14F-4D97-AF65-F5344CB8AC3E}">
        <p14:creationId xmlns:p14="http://schemas.microsoft.com/office/powerpoint/2010/main" val="3253609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4A92-0AE1-418F-98C6-8738AD0D48CE}"/>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0E944ED5-3D23-45D1-ACC3-736ECD603F53}"/>
              </a:ext>
            </a:extLst>
          </p:cNvPr>
          <p:cNvSpPr>
            <a:spLocks noGrp="1"/>
          </p:cNvSpPr>
          <p:nvPr>
            <p:ph idx="1"/>
          </p:nvPr>
        </p:nvSpPr>
        <p:spPr/>
        <p:txBody>
          <a:bodyPr/>
          <a:lstStyle/>
          <a:p>
            <a:r>
              <a:rPr lang="en-US" dirty="0">
                <a:highlight>
                  <a:srgbClr val="FFFF00"/>
                </a:highlight>
              </a:rPr>
              <a:t>Cool cardiac facts &amp; why we care</a:t>
            </a:r>
          </a:p>
          <a:p>
            <a:r>
              <a:rPr lang="en-US" dirty="0"/>
              <a:t>Cardiac plumbing and electricals</a:t>
            </a:r>
          </a:p>
          <a:p>
            <a:r>
              <a:rPr lang="en-US" dirty="0"/>
              <a:t>Electrocardiograms</a:t>
            </a:r>
          </a:p>
          <a:p>
            <a:r>
              <a:rPr lang="en-US" dirty="0"/>
              <a:t>Arrhythmias</a:t>
            </a:r>
          </a:p>
          <a:p>
            <a:endParaRPr lang="en-US" dirty="0"/>
          </a:p>
        </p:txBody>
      </p:sp>
      <p:sp>
        <p:nvSpPr>
          <p:cNvPr id="4" name="Footer Placeholder 3">
            <a:extLst>
              <a:ext uri="{FF2B5EF4-FFF2-40B4-BE49-F238E27FC236}">
                <a16:creationId xmlns:a16="http://schemas.microsoft.com/office/drawing/2014/main" id="{E374EE35-380B-4ECA-A2BB-ED4C3312E805}"/>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141667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6F47-4758-44E3-B351-535B164F19EE}"/>
              </a:ext>
            </a:extLst>
          </p:cNvPr>
          <p:cNvSpPr>
            <a:spLocks noGrp="1"/>
          </p:cNvSpPr>
          <p:nvPr>
            <p:ph type="title"/>
          </p:nvPr>
        </p:nvSpPr>
        <p:spPr/>
        <p:txBody>
          <a:bodyPr/>
          <a:lstStyle/>
          <a:p>
            <a:r>
              <a:rPr lang="en-US" dirty="0"/>
              <a:t>Deaths/year in U.S.</a:t>
            </a:r>
          </a:p>
        </p:txBody>
      </p:sp>
      <p:sp>
        <p:nvSpPr>
          <p:cNvPr id="3" name="Content Placeholder 2">
            <a:extLst>
              <a:ext uri="{FF2B5EF4-FFF2-40B4-BE49-F238E27FC236}">
                <a16:creationId xmlns:a16="http://schemas.microsoft.com/office/drawing/2014/main" id="{7D9E3DAA-271B-438B-8286-57DEF344ADDD}"/>
              </a:ext>
            </a:extLst>
          </p:cNvPr>
          <p:cNvSpPr>
            <a:spLocks noGrp="1"/>
          </p:cNvSpPr>
          <p:nvPr>
            <p:ph idx="1"/>
          </p:nvPr>
        </p:nvSpPr>
        <p:spPr>
          <a:xfrm>
            <a:off x="685800" y="1524000"/>
            <a:ext cx="7772400" cy="4419600"/>
          </a:xfrm>
        </p:spPr>
        <p:txBody>
          <a:bodyPr/>
          <a:lstStyle/>
          <a:p>
            <a:r>
              <a:rPr lang="en-US" sz="3200" dirty="0"/>
              <a:t>2.8M deaths/year total (.9 / 100 people)</a:t>
            </a:r>
          </a:p>
          <a:p>
            <a:pPr lvl="1">
              <a:spcBef>
                <a:spcPts val="0"/>
              </a:spcBef>
            </a:pPr>
            <a:r>
              <a:rPr lang="en-US" dirty="0"/>
              <a:t>Heart disease = 650K</a:t>
            </a:r>
          </a:p>
          <a:p>
            <a:pPr lvl="1">
              <a:spcBef>
                <a:spcPts val="0"/>
              </a:spcBef>
            </a:pPr>
            <a:r>
              <a:rPr lang="en-US" dirty="0"/>
              <a:t>Cancer = 600K</a:t>
            </a:r>
          </a:p>
          <a:p>
            <a:pPr lvl="1">
              <a:spcBef>
                <a:spcPts val="0"/>
              </a:spcBef>
            </a:pPr>
            <a:r>
              <a:rPr lang="en-US" dirty="0"/>
              <a:t>Coronavirus = 470K (700K / 1.5 years at 10/2021) </a:t>
            </a:r>
          </a:p>
          <a:p>
            <a:pPr lvl="1">
              <a:spcBef>
                <a:spcPts val="0"/>
              </a:spcBef>
            </a:pPr>
            <a:r>
              <a:rPr lang="en-US" dirty="0"/>
              <a:t>Accidents = 170K</a:t>
            </a:r>
          </a:p>
          <a:p>
            <a:pPr lvl="1">
              <a:spcBef>
                <a:spcPts val="0"/>
              </a:spcBef>
            </a:pPr>
            <a:r>
              <a:rPr lang="en-US" dirty="0"/>
              <a:t>Chronic lower respiratory diseases: 160K</a:t>
            </a:r>
          </a:p>
          <a:p>
            <a:pPr lvl="1">
              <a:spcBef>
                <a:spcPts val="0"/>
              </a:spcBef>
            </a:pPr>
            <a:r>
              <a:rPr lang="en-US" dirty="0"/>
              <a:t>Stroke = 150K</a:t>
            </a:r>
          </a:p>
          <a:p>
            <a:pPr lvl="1">
              <a:spcBef>
                <a:spcPts val="0"/>
              </a:spcBef>
            </a:pPr>
            <a:r>
              <a:rPr lang="en-US" dirty="0"/>
              <a:t>Alzheimer’s = 120K</a:t>
            </a:r>
          </a:p>
          <a:p>
            <a:pPr lvl="1">
              <a:spcBef>
                <a:spcPts val="0"/>
              </a:spcBef>
            </a:pPr>
            <a:r>
              <a:rPr lang="en-US" dirty="0"/>
              <a:t>Diabetes = 80K</a:t>
            </a:r>
          </a:p>
          <a:p>
            <a:pPr lvl="1">
              <a:spcBef>
                <a:spcPts val="0"/>
              </a:spcBef>
            </a:pPr>
            <a:endParaRPr lang="en-US" sz="4000" dirty="0"/>
          </a:p>
        </p:txBody>
      </p:sp>
      <p:sp>
        <p:nvSpPr>
          <p:cNvPr id="4" name="Footer Placeholder 3">
            <a:extLst>
              <a:ext uri="{FF2B5EF4-FFF2-40B4-BE49-F238E27FC236}">
                <a16:creationId xmlns:a16="http://schemas.microsoft.com/office/drawing/2014/main" id="{992E666A-A935-4C87-A597-A3DDFADD674F}"/>
              </a:ext>
            </a:extLst>
          </p:cNvPr>
          <p:cNvSpPr>
            <a:spLocks noGrp="1"/>
          </p:cNvSpPr>
          <p:nvPr>
            <p:ph type="ftr" sz="quarter" idx="11"/>
          </p:nvPr>
        </p:nvSpPr>
        <p:spPr/>
        <p:txBody>
          <a:bodyPr/>
          <a:lstStyle/>
          <a:p>
            <a:pPr>
              <a:defRPr/>
            </a:pPr>
            <a:r>
              <a:rPr lang="en-US" dirty="0"/>
              <a:t>EN1 EIY-- Bioelectricity</a:t>
            </a:r>
          </a:p>
        </p:txBody>
      </p:sp>
      <p:sp>
        <p:nvSpPr>
          <p:cNvPr id="8" name="TextBox 7">
            <a:extLst>
              <a:ext uri="{FF2B5EF4-FFF2-40B4-BE49-F238E27FC236}">
                <a16:creationId xmlns:a16="http://schemas.microsoft.com/office/drawing/2014/main" id="{ABA34D41-0A78-4294-96AC-F9EFD8531C33}"/>
              </a:ext>
            </a:extLst>
          </p:cNvPr>
          <p:cNvSpPr txBox="1"/>
          <p:nvPr/>
        </p:nvSpPr>
        <p:spPr>
          <a:xfrm>
            <a:off x="6096000" y="2286000"/>
            <a:ext cx="2743200" cy="461665"/>
          </a:xfrm>
          <a:prstGeom prst="rect">
            <a:avLst/>
          </a:prstGeom>
          <a:noFill/>
        </p:spPr>
        <p:txBody>
          <a:bodyPr wrap="square" rtlCol="0">
            <a:spAutoFit/>
          </a:bodyPr>
          <a:lstStyle/>
          <a:p>
            <a:r>
              <a:rPr lang="en-US" dirty="0"/>
              <a:t>Mostly heart attacks</a:t>
            </a:r>
          </a:p>
        </p:txBody>
      </p:sp>
      <p:cxnSp>
        <p:nvCxnSpPr>
          <p:cNvPr id="10" name="Straight Arrow Connector 9">
            <a:extLst>
              <a:ext uri="{FF2B5EF4-FFF2-40B4-BE49-F238E27FC236}">
                <a16:creationId xmlns:a16="http://schemas.microsoft.com/office/drawing/2014/main" id="{0FB2D69D-31B4-4058-A697-42900EBEB190}"/>
              </a:ext>
            </a:extLst>
          </p:cNvPr>
          <p:cNvCxnSpPr/>
          <p:nvPr/>
        </p:nvCxnSpPr>
        <p:spPr>
          <a:xfrm flipH="1" flipV="1">
            <a:off x="4267200" y="2286000"/>
            <a:ext cx="1828800" cy="2286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8D9A938-802B-4B32-BF3B-5026EFEAE0A6}"/>
              </a:ext>
            </a:extLst>
          </p:cNvPr>
          <p:cNvSpPr txBox="1"/>
          <p:nvPr/>
        </p:nvSpPr>
        <p:spPr>
          <a:xfrm>
            <a:off x="304800" y="6096000"/>
            <a:ext cx="6096000" cy="369332"/>
          </a:xfrm>
          <a:prstGeom prst="rect">
            <a:avLst/>
          </a:prstGeom>
          <a:noFill/>
        </p:spPr>
        <p:txBody>
          <a:bodyPr wrap="square" rtlCol="0">
            <a:spAutoFit/>
          </a:bodyPr>
          <a:lstStyle/>
          <a:p>
            <a:r>
              <a:rPr lang="en-US" sz="1800" dirty="0"/>
              <a:t>(from https://www.cdc.gov/nchs/products/databriefs/db328.htm)</a:t>
            </a:r>
          </a:p>
        </p:txBody>
      </p:sp>
    </p:spTree>
    <p:extLst>
      <p:ext uri="{BB962C8B-B14F-4D97-AF65-F5344CB8AC3E}">
        <p14:creationId xmlns:p14="http://schemas.microsoft.com/office/powerpoint/2010/main" val="63577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564D-078D-4A4F-9A3A-6977B53EAFF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E6E4B6A-AC41-4B4A-9F3A-09BD1E4F8449}"/>
              </a:ext>
            </a:extLst>
          </p:cNvPr>
          <p:cNvSpPr>
            <a:spLocks noGrp="1"/>
          </p:cNvSpPr>
          <p:nvPr>
            <p:ph idx="1"/>
          </p:nvPr>
        </p:nvSpPr>
        <p:spPr/>
        <p:txBody>
          <a:bodyPr/>
          <a:lstStyle/>
          <a:p>
            <a:r>
              <a:rPr lang="en-US" dirty="0"/>
              <a:t>Heart attack</a:t>
            </a:r>
          </a:p>
          <a:p>
            <a:pPr lvl="1">
              <a:spcBef>
                <a:spcPts val="0"/>
              </a:spcBef>
            </a:pPr>
            <a:r>
              <a:rPr lang="en-US" dirty="0"/>
              <a:t>Blocked artery starves heart muscle</a:t>
            </a:r>
          </a:p>
          <a:p>
            <a:pPr lvl="1"/>
            <a:r>
              <a:rPr lang="en-US" dirty="0"/>
              <a:t>Plumbing problem</a:t>
            </a:r>
          </a:p>
          <a:p>
            <a:pPr lvl="1"/>
            <a:r>
              <a:rPr lang="en-US" dirty="0"/>
              <a:t>Heart dies over hours to weeks</a:t>
            </a:r>
          </a:p>
          <a:p>
            <a:r>
              <a:rPr lang="en-US" dirty="0"/>
              <a:t>Cardiac arrest</a:t>
            </a:r>
          </a:p>
          <a:p>
            <a:pPr lvl="1">
              <a:spcBef>
                <a:spcPts val="0"/>
              </a:spcBef>
            </a:pPr>
            <a:r>
              <a:rPr lang="en-US" dirty="0"/>
              <a:t>Heart stops beating (electrical problem)</a:t>
            </a:r>
          </a:p>
          <a:p>
            <a:pPr lvl="1"/>
            <a:r>
              <a:rPr lang="en-US" dirty="0"/>
              <a:t>Lose consciousness in seconds; die in minutes</a:t>
            </a:r>
          </a:p>
          <a:p>
            <a:pPr lvl="1"/>
            <a:r>
              <a:rPr lang="en-US" dirty="0"/>
              <a:t>530K cases/year; 8% survival rate</a:t>
            </a:r>
          </a:p>
          <a:p>
            <a:pPr lvl="1"/>
            <a:r>
              <a:rPr lang="en-US" dirty="0"/>
              <a:t>CPR, AED save lives. PSA – learn how to use one!</a:t>
            </a:r>
          </a:p>
          <a:p>
            <a:pPr lvl="1"/>
            <a:endParaRPr lang="en-US" dirty="0"/>
          </a:p>
        </p:txBody>
      </p:sp>
      <p:sp>
        <p:nvSpPr>
          <p:cNvPr id="4" name="Footer Placeholder 3">
            <a:extLst>
              <a:ext uri="{FF2B5EF4-FFF2-40B4-BE49-F238E27FC236}">
                <a16:creationId xmlns:a16="http://schemas.microsoft.com/office/drawing/2014/main" id="{997950AF-D2F0-4439-BB04-F581E6084952}"/>
              </a:ext>
            </a:extLst>
          </p:cNvPr>
          <p:cNvSpPr>
            <a:spLocks noGrp="1"/>
          </p:cNvSpPr>
          <p:nvPr>
            <p:ph type="ftr" sz="quarter" idx="11"/>
          </p:nvPr>
        </p:nvSpPr>
        <p:spPr/>
        <p:txBody>
          <a:bodyPr/>
          <a:lstStyle/>
          <a:p>
            <a:pPr>
              <a:defRPr/>
            </a:pPr>
            <a:r>
              <a:rPr lang="en-US" dirty="0"/>
              <a:t>EN1 EIY-- Bioelectricity</a:t>
            </a:r>
          </a:p>
        </p:txBody>
      </p:sp>
      <p:sp>
        <p:nvSpPr>
          <p:cNvPr id="5" name="Arrow: Down 4">
            <a:extLst>
              <a:ext uri="{FF2B5EF4-FFF2-40B4-BE49-F238E27FC236}">
                <a16:creationId xmlns:a16="http://schemas.microsoft.com/office/drawing/2014/main" id="{0C1D302D-6F93-4A22-AE40-0D2400158BE7}"/>
              </a:ext>
            </a:extLst>
          </p:cNvPr>
          <p:cNvSpPr/>
          <p:nvPr/>
        </p:nvSpPr>
        <p:spPr>
          <a:xfrm>
            <a:off x="5715000" y="3048000"/>
            <a:ext cx="762000" cy="990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5774840-E087-434E-B779-D0091B3B9FBD}"/>
              </a:ext>
            </a:extLst>
          </p:cNvPr>
          <p:cNvSpPr txBox="1"/>
          <p:nvPr/>
        </p:nvSpPr>
        <p:spPr>
          <a:xfrm>
            <a:off x="6248400" y="3124200"/>
            <a:ext cx="1600200" cy="461665"/>
          </a:xfrm>
          <a:prstGeom prst="rect">
            <a:avLst/>
          </a:prstGeom>
          <a:noFill/>
        </p:spPr>
        <p:txBody>
          <a:bodyPr wrap="square" rtlCol="0">
            <a:spAutoFit/>
          </a:bodyPr>
          <a:lstStyle/>
          <a:p>
            <a:r>
              <a:rPr lang="en-US" dirty="0"/>
              <a:t>one cause</a:t>
            </a:r>
          </a:p>
        </p:txBody>
      </p:sp>
    </p:spTree>
    <p:extLst>
      <p:ext uri="{BB962C8B-B14F-4D97-AF65-F5344CB8AC3E}">
        <p14:creationId xmlns:p14="http://schemas.microsoft.com/office/powerpoint/2010/main" val="175911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6F47-4758-44E3-B351-535B164F19EE}"/>
              </a:ext>
            </a:extLst>
          </p:cNvPr>
          <p:cNvSpPr>
            <a:spLocks noGrp="1"/>
          </p:cNvSpPr>
          <p:nvPr>
            <p:ph type="title"/>
          </p:nvPr>
        </p:nvSpPr>
        <p:spPr/>
        <p:txBody>
          <a:bodyPr/>
          <a:lstStyle/>
          <a:p>
            <a:r>
              <a:rPr lang="en-US" dirty="0"/>
              <a:t>A miracle of engineering</a:t>
            </a:r>
          </a:p>
        </p:txBody>
      </p:sp>
      <p:sp>
        <p:nvSpPr>
          <p:cNvPr id="3" name="Content Placeholder 2">
            <a:extLst>
              <a:ext uri="{FF2B5EF4-FFF2-40B4-BE49-F238E27FC236}">
                <a16:creationId xmlns:a16="http://schemas.microsoft.com/office/drawing/2014/main" id="{7D9E3DAA-271B-438B-8286-57DEF344ADDD}"/>
              </a:ext>
            </a:extLst>
          </p:cNvPr>
          <p:cNvSpPr>
            <a:spLocks noGrp="1"/>
          </p:cNvSpPr>
          <p:nvPr>
            <p:ph idx="1"/>
          </p:nvPr>
        </p:nvSpPr>
        <p:spPr>
          <a:xfrm>
            <a:off x="685800" y="1524000"/>
            <a:ext cx="7772400" cy="4419600"/>
          </a:xfrm>
        </p:spPr>
        <p:txBody>
          <a:bodyPr/>
          <a:lstStyle/>
          <a:p>
            <a:r>
              <a:rPr lang="en-US" dirty="0"/>
              <a:t>The heart contains 2-3 billion independent cells</a:t>
            </a:r>
          </a:p>
          <a:p>
            <a:pPr lvl="1"/>
            <a:r>
              <a:rPr lang="en-US" sz="2000" dirty="0"/>
              <a:t>Cells have high variability</a:t>
            </a:r>
          </a:p>
          <a:p>
            <a:pPr lvl="1"/>
            <a:r>
              <a:rPr lang="en-US" sz="2000" dirty="0"/>
              <a:t>Cells are quite failure prone</a:t>
            </a:r>
          </a:p>
          <a:p>
            <a:r>
              <a:rPr lang="en-US" dirty="0"/>
              <a:t>They somehow link together</a:t>
            </a:r>
          </a:p>
          <a:p>
            <a:pPr lvl="1"/>
            <a:r>
              <a:rPr lang="en-US" sz="2000" dirty="0"/>
              <a:t>to produce a coordinated, durable, and adaptable whole!</a:t>
            </a:r>
          </a:p>
          <a:p>
            <a:pPr lvl="1"/>
            <a:r>
              <a:rPr lang="en-US" sz="2000" dirty="0"/>
              <a:t>The heart is really </a:t>
            </a:r>
            <a:r>
              <a:rPr lang="en-US" sz="2000" dirty="0" err="1"/>
              <a:t>really</a:t>
            </a:r>
            <a:r>
              <a:rPr lang="en-US" sz="2000" dirty="0"/>
              <a:t> </a:t>
            </a:r>
            <a:r>
              <a:rPr lang="en-US" sz="2000" dirty="0" err="1"/>
              <a:t>really</a:t>
            </a:r>
            <a:r>
              <a:rPr lang="en-US" sz="2000" dirty="0"/>
              <a:t> robust – a miracle of fail-safe engineering</a:t>
            </a:r>
          </a:p>
          <a:p>
            <a:pPr lvl="1"/>
            <a:r>
              <a:rPr lang="en-US" sz="2000" dirty="0"/>
              <a:t>Multiple backup subsystems</a:t>
            </a:r>
          </a:p>
          <a:p>
            <a:pPr lvl="1"/>
            <a:r>
              <a:rPr lang="en-US" sz="2000" dirty="0"/>
              <a:t>It’s really robust! Keeps beating and never stops</a:t>
            </a:r>
          </a:p>
          <a:p>
            <a:r>
              <a:rPr lang="en-US" dirty="0"/>
              <a:t>Except for the 99 varieties of heart disease…</a:t>
            </a:r>
          </a:p>
          <a:p>
            <a:pPr marL="0" indent="0">
              <a:buNone/>
            </a:pPr>
            <a:endParaRPr lang="en-US" dirty="0"/>
          </a:p>
        </p:txBody>
      </p:sp>
      <p:sp>
        <p:nvSpPr>
          <p:cNvPr id="4" name="Footer Placeholder 3">
            <a:extLst>
              <a:ext uri="{FF2B5EF4-FFF2-40B4-BE49-F238E27FC236}">
                <a16:creationId xmlns:a16="http://schemas.microsoft.com/office/drawing/2014/main" id="{992E666A-A935-4C87-A597-A3DDFADD674F}"/>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122228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1331-AEB8-4B7C-AD00-EC8ED042EB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759104-3D0A-4C5A-A568-5974C9C249CD}"/>
              </a:ext>
            </a:extLst>
          </p:cNvPr>
          <p:cNvSpPr>
            <a:spLocks noGrp="1"/>
          </p:cNvSpPr>
          <p:nvPr>
            <p:ph idx="1"/>
          </p:nvPr>
        </p:nvSpPr>
        <p:spPr/>
        <p:txBody>
          <a:bodyPr/>
          <a:lstStyle/>
          <a:p>
            <a:r>
              <a:rPr lang="en-US" dirty="0"/>
              <a:t>Galen of Pergamum, 130-200AD</a:t>
            </a:r>
          </a:p>
          <a:p>
            <a:pPr lvl="1">
              <a:spcBef>
                <a:spcPts val="0"/>
              </a:spcBef>
            </a:pPr>
            <a:r>
              <a:rPr lang="en-US" dirty="0"/>
              <a:t>extracted heart keeps beating for a long period</a:t>
            </a:r>
          </a:p>
          <a:p>
            <a:pPr lvl="1">
              <a:spcBef>
                <a:spcPts val="0"/>
              </a:spcBef>
            </a:pPr>
            <a:r>
              <a:rPr lang="en-US" dirty="0"/>
              <a:t>nobody knew why</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0F037F50-9F91-4BBA-A5FC-D1A20550C8E3}"/>
              </a:ext>
            </a:extLst>
          </p:cNvPr>
          <p:cNvSpPr>
            <a:spLocks noGrp="1"/>
          </p:cNvSpPr>
          <p:nvPr>
            <p:ph type="ftr" sz="quarter" idx="11"/>
          </p:nvPr>
        </p:nvSpPr>
        <p:spPr/>
        <p:txBody>
          <a:bodyPr/>
          <a:lstStyle/>
          <a:p>
            <a:pPr>
              <a:defRPr/>
            </a:pPr>
            <a:r>
              <a:rPr lang="en-US" dirty="0"/>
              <a:t>EN1 EIY-- Bioelectricity</a:t>
            </a:r>
          </a:p>
        </p:txBody>
      </p:sp>
      <p:pic>
        <p:nvPicPr>
          <p:cNvPr id="2050" name="Picture 2">
            <a:extLst>
              <a:ext uri="{FF2B5EF4-FFF2-40B4-BE49-F238E27FC236}">
                <a16:creationId xmlns:a16="http://schemas.microsoft.com/office/drawing/2014/main" id="{4DFFEAC1-CFC1-417D-94A0-DF27D4C90C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802636"/>
            <a:ext cx="1905000" cy="240030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4BE3F5C4-CEDC-4692-9055-23122AFE68EF}"/>
              </a:ext>
            </a:extLst>
          </p:cNvPr>
          <p:cNvSpPr txBox="1">
            <a:spLocks/>
          </p:cNvSpPr>
          <p:nvPr/>
        </p:nvSpPr>
        <p:spPr bwMode="auto">
          <a:xfrm>
            <a:off x="694944" y="3048000"/>
            <a:ext cx="5020056"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Question: does your heartbeat originate in the brain and get sent to the heart via neurons?</a:t>
            </a:r>
          </a:p>
          <a:p>
            <a:r>
              <a:rPr lang="en-US" kern="0" dirty="0"/>
              <a:t>Keith and Flack (1907)</a:t>
            </a:r>
          </a:p>
          <a:p>
            <a:pPr lvl="1">
              <a:spcBef>
                <a:spcPts val="0"/>
              </a:spcBef>
            </a:pPr>
            <a:r>
              <a:rPr lang="en-US" kern="0" dirty="0"/>
              <a:t>sinoatrial node initiates the heartbeat</a:t>
            </a:r>
          </a:p>
          <a:p>
            <a:endParaRPr lang="en-US" kern="0" dirty="0"/>
          </a:p>
        </p:txBody>
      </p:sp>
    </p:spTree>
    <p:extLst>
      <p:ext uri="{BB962C8B-B14F-4D97-AF65-F5344CB8AC3E}">
        <p14:creationId xmlns:p14="http://schemas.microsoft.com/office/powerpoint/2010/main" val="323688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4A92-0AE1-418F-98C6-8738AD0D48CE}"/>
              </a:ext>
            </a:extLst>
          </p:cNvPr>
          <p:cNvSpPr>
            <a:spLocks noGrp="1"/>
          </p:cNvSpPr>
          <p:nvPr>
            <p:ph type="title"/>
          </p:nvPr>
        </p:nvSpPr>
        <p:spPr/>
        <p:txBody>
          <a:bodyPr/>
          <a:lstStyle/>
          <a:p>
            <a:r>
              <a:rPr lang="en-US" dirty="0"/>
              <a:t>Table of contents – this unit</a:t>
            </a:r>
          </a:p>
        </p:txBody>
      </p:sp>
      <p:sp>
        <p:nvSpPr>
          <p:cNvPr id="3" name="Content Placeholder 2">
            <a:extLst>
              <a:ext uri="{FF2B5EF4-FFF2-40B4-BE49-F238E27FC236}">
                <a16:creationId xmlns:a16="http://schemas.microsoft.com/office/drawing/2014/main" id="{0E944ED5-3D23-45D1-ACC3-736ECD603F53}"/>
              </a:ext>
            </a:extLst>
          </p:cNvPr>
          <p:cNvSpPr>
            <a:spLocks noGrp="1"/>
          </p:cNvSpPr>
          <p:nvPr>
            <p:ph idx="1"/>
          </p:nvPr>
        </p:nvSpPr>
        <p:spPr/>
        <p:txBody>
          <a:bodyPr/>
          <a:lstStyle/>
          <a:p>
            <a:r>
              <a:rPr lang="en-US" dirty="0"/>
              <a:t>Cool cardiac facts &amp; why we care</a:t>
            </a:r>
          </a:p>
          <a:p>
            <a:r>
              <a:rPr lang="en-US" dirty="0">
                <a:highlight>
                  <a:srgbClr val="FFFF00"/>
                </a:highlight>
              </a:rPr>
              <a:t>Cardiac plumbing and electricals</a:t>
            </a:r>
          </a:p>
          <a:p>
            <a:r>
              <a:rPr lang="en-US" dirty="0"/>
              <a:t>Electrocardiograms</a:t>
            </a:r>
          </a:p>
          <a:p>
            <a:r>
              <a:rPr lang="en-US" dirty="0"/>
              <a:t>Arrhythmias</a:t>
            </a:r>
          </a:p>
        </p:txBody>
      </p:sp>
      <p:sp>
        <p:nvSpPr>
          <p:cNvPr id="4" name="Footer Placeholder 3">
            <a:extLst>
              <a:ext uri="{FF2B5EF4-FFF2-40B4-BE49-F238E27FC236}">
                <a16:creationId xmlns:a16="http://schemas.microsoft.com/office/drawing/2014/main" id="{E374EE35-380B-4ECA-A2BB-ED4C3312E805}"/>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3428361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A805C-B571-4A87-B6D5-37F8E958432D}"/>
              </a:ext>
            </a:extLst>
          </p:cNvPr>
          <p:cNvSpPr>
            <a:spLocks noGrp="1"/>
          </p:cNvSpPr>
          <p:nvPr>
            <p:ph type="title"/>
          </p:nvPr>
        </p:nvSpPr>
        <p:spPr/>
        <p:txBody>
          <a:bodyPr/>
          <a:lstStyle/>
          <a:p>
            <a:r>
              <a:rPr lang="en-US" dirty="0"/>
              <a:t>Plumbing – the big picture</a:t>
            </a:r>
          </a:p>
        </p:txBody>
      </p:sp>
      <p:sp>
        <p:nvSpPr>
          <p:cNvPr id="3" name="Content Placeholder 2">
            <a:extLst>
              <a:ext uri="{FF2B5EF4-FFF2-40B4-BE49-F238E27FC236}">
                <a16:creationId xmlns:a16="http://schemas.microsoft.com/office/drawing/2014/main" id="{E754E44A-88BE-4023-9BC0-15DB24B746B8}"/>
              </a:ext>
            </a:extLst>
          </p:cNvPr>
          <p:cNvSpPr>
            <a:spLocks noGrp="1"/>
          </p:cNvSpPr>
          <p:nvPr>
            <p:ph idx="1"/>
          </p:nvPr>
        </p:nvSpPr>
        <p:spPr>
          <a:xfrm>
            <a:off x="5791200" y="2209801"/>
            <a:ext cx="3124200" cy="3505200"/>
          </a:xfrm>
        </p:spPr>
        <p:txBody>
          <a:bodyPr/>
          <a:lstStyle/>
          <a:p>
            <a:r>
              <a:rPr lang="en-US" sz="2400" dirty="0"/>
              <a:t>Two separate two-chambered pumps</a:t>
            </a:r>
          </a:p>
          <a:p>
            <a:r>
              <a:rPr lang="en-US" sz="2400" dirty="0"/>
              <a:t>Red = oxygenated</a:t>
            </a:r>
          </a:p>
          <a:p>
            <a:r>
              <a:rPr lang="en-US" sz="2400" dirty="0"/>
              <a:t>Blue = not</a:t>
            </a:r>
          </a:p>
          <a:p>
            <a:r>
              <a:rPr lang="en-US" sz="2400" dirty="0"/>
              <a:t>Two chambers = more efficient</a:t>
            </a:r>
          </a:p>
          <a:p>
            <a:r>
              <a:rPr lang="en-US" sz="2400" dirty="0"/>
              <a:t>Stronger muscles</a:t>
            </a:r>
          </a:p>
          <a:p>
            <a:pPr lvl="1">
              <a:spcBef>
                <a:spcPts val="0"/>
              </a:spcBef>
            </a:pPr>
            <a:r>
              <a:rPr lang="en-US" sz="2000" dirty="0"/>
              <a:t>on left than right</a:t>
            </a:r>
          </a:p>
          <a:p>
            <a:pPr lvl="1">
              <a:spcBef>
                <a:spcPts val="0"/>
              </a:spcBef>
            </a:pPr>
            <a:r>
              <a:rPr lang="en-US" sz="2000" dirty="0"/>
              <a:t>in </a:t>
            </a:r>
            <a:r>
              <a:rPr lang="en-US" sz="2000" dirty="0" err="1"/>
              <a:t>ventricals</a:t>
            </a:r>
            <a:r>
              <a:rPr lang="en-US" sz="2000" dirty="0"/>
              <a:t> vs. atria</a:t>
            </a:r>
            <a:endParaRPr lang="en-US" dirty="0"/>
          </a:p>
        </p:txBody>
      </p:sp>
      <p:sp>
        <p:nvSpPr>
          <p:cNvPr id="4" name="Footer Placeholder 3">
            <a:extLst>
              <a:ext uri="{FF2B5EF4-FFF2-40B4-BE49-F238E27FC236}">
                <a16:creationId xmlns:a16="http://schemas.microsoft.com/office/drawing/2014/main" id="{CC239627-8DCA-4827-B871-CE50E8431000}"/>
              </a:ext>
            </a:extLst>
          </p:cNvPr>
          <p:cNvSpPr>
            <a:spLocks noGrp="1"/>
          </p:cNvSpPr>
          <p:nvPr>
            <p:ph type="ftr" sz="quarter" idx="11"/>
          </p:nvPr>
        </p:nvSpPr>
        <p:spPr/>
        <p:txBody>
          <a:bodyPr/>
          <a:lstStyle/>
          <a:p>
            <a:pPr>
              <a:defRPr/>
            </a:pPr>
            <a:r>
              <a:rPr lang="en-US" dirty="0"/>
              <a:t>EN1 EIY– Bioelectricity</a:t>
            </a:r>
          </a:p>
        </p:txBody>
      </p:sp>
      <p:pic>
        <p:nvPicPr>
          <p:cNvPr id="3074" name="Picture 2">
            <a:extLst>
              <a:ext uri="{FF2B5EF4-FFF2-40B4-BE49-F238E27FC236}">
                <a16:creationId xmlns:a16="http://schemas.microsoft.com/office/drawing/2014/main" id="{5F5ACD5F-B31B-493D-9D35-4A1B22342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795463"/>
            <a:ext cx="5775506" cy="3843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37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A805C-B571-4A87-B6D5-37F8E958432D}"/>
              </a:ext>
            </a:extLst>
          </p:cNvPr>
          <p:cNvSpPr>
            <a:spLocks noGrp="1"/>
          </p:cNvSpPr>
          <p:nvPr>
            <p:ph type="title"/>
          </p:nvPr>
        </p:nvSpPr>
        <p:spPr/>
        <p:txBody>
          <a:bodyPr/>
          <a:lstStyle/>
          <a:p>
            <a:r>
              <a:rPr lang="en-US" dirty="0"/>
              <a:t>What does electricity do?</a:t>
            </a:r>
          </a:p>
        </p:txBody>
      </p:sp>
      <p:sp>
        <p:nvSpPr>
          <p:cNvPr id="3" name="Content Placeholder 2">
            <a:extLst>
              <a:ext uri="{FF2B5EF4-FFF2-40B4-BE49-F238E27FC236}">
                <a16:creationId xmlns:a16="http://schemas.microsoft.com/office/drawing/2014/main" id="{E754E44A-88BE-4023-9BC0-15DB24B746B8}"/>
              </a:ext>
            </a:extLst>
          </p:cNvPr>
          <p:cNvSpPr>
            <a:spLocks noGrp="1"/>
          </p:cNvSpPr>
          <p:nvPr>
            <p:ph idx="1"/>
          </p:nvPr>
        </p:nvSpPr>
        <p:spPr>
          <a:xfrm>
            <a:off x="5791200" y="1676400"/>
            <a:ext cx="3276600" cy="3886200"/>
          </a:xfrm>
        </p:spPr>
        <p:txBody>
          <a:bodyPr/>
          <a:lstStyle/>
          <a:p>
            <a:r>
              <a:rPr lang="en-US" sz="2400" dirty="0"/>
              <a:t>Electricity drives the muscles</a:t>
            </a:r>
          </a:p>
          <a:p>
            <a:r>
              <a:rPr lang="en-US" sz="2400" dirty="0"/>
              <a:t>Muscles drive the plumbing</a:t>
            </a:r>
          </a:p>
          <a:p>
            <a:r>
              <a:rPr lang="en-US" sz="2400" dirty="0"/>
              <a:t>Similar to the rest of your body</a:t>
            </a:r>
          </a:p>
          <a:p>
            <a:r>
              <a:rPr lang="en-US" sz="2400" dirty="0"/>
              <a:t>Do you think these muscles get their signals from neurons from the brain?</a:t>
            </a:r>
          </a:p>
        </p:txBody>
      </p:sp>
      <p:sp>
        <p:nvSpPr>
          <p:cNvPr id="4" name="Footer Placeholder 3">
            <a:extLst>
              <a:ext uri="{FF2B5EF4-FFF2-40B4-BE49-F238E27FC236}">
                <a16:creationId xmlns:a16="http://schemas.microsoft.com/office/drawing/2014/main" id="{CC239627-8DCA-4827-B871-CE50E8431000}"/>
              </a:ext>
            </a:extLst>
          </p:cNvPr>
          <p:cNvSpPr>
            <a:spLocks noGrp="1"/>
          </p:cNvSpPr>
          <p:nvPr>
            <p:ph type="ftr" sz="quarter" idx="11"/>
          </p:nvPr>
        </p:nvSpPr>
        <p:spPr/>
        <p:txBody>
          <a:bodyPr/>
          <a:lstStyle/>
          <a:p>
            <a:pPr>
              <a:defRPr/>
            </a:pPr>
            <a:r>
              <a:rPr lang="en-US" dirty="0"/>
              <a:t>EN1 EIY– Bioelectricity</a:t>
            </a:r>
          </a:p>
        </p:txBody>
      </p:sp>
      <p:pic>
        <p:nvPicPr>
          <p:cNvPr id="3074" name="Picture 2">
            <a:extLst>
              <a:ext uri="{FF2B5EF4-FFF2-40B4-BE49-F238E27FC236}">
                <a16:creationId xmlns:a16="http://schemas.microsoft.com/office/drawing/2014/main" id="{5F5ACD5F-B31B-493D-9D35-4A1B22342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795463"/>
            <a:ext cx="5775506" cy="3843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0549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53DB-87A1-49D2-93F7-679F170D1BC9}"/>
              </a:ext>
            </a:extLst>
          </p:cNvPr>
          <p:cNvSpPr>
            <a:spLocks noGrp="1"/>
          </p:cNvSpPr>
          <p:nvPr>
            <p:ph type="title"/>
          </p:nvPr>
        </p:nvSpPr>
        <p:spPr/>
        <p:txBody>
          <a:bodyPr/>
          <a:lstStyle/>
          <a:p>
            <a:r>
              <a:rPr lang="en-US" dirty="0"/>
              <a:t>The pumps in operation</a:t>
            </a:r>
          </a:p>
        </p:txBody>
      </p:sp>
      <p:sp>
        <p:nvSpPr>
          <p:cNvPr id="3" name="Content Placeholder 2">
            <a:extLst>
              <a:ext uri="{FF2B5EF4-FFF2-40B4-BE49-F238E27FC236}">
                <a16:creationId xmlns:a16="http://schemas.microsoft.com/office/drawing/2014/main" id="{5E89A70D-1951-4CFC-9B1D-EC57C4CD91A3}"/>
              </a:ext>
            </a:extLst>
          </p:cNvPr>
          <p:cNvSpPr>
            <a:spLocks noGrp="1"/>
          </p:cNvSpPr>
          <p:nvPr>
            <p:ph idx="1"/>
          </p:nvPr>
        </p:nvSpPr>
        <p:spPr/>
        <p:txBody>
          <a:bodyPr/>
          <a:lstStyle/>
          <a:p>
            <a:r>
              <a:rPr lang="en-US" dirty="0">
                <a:hlinkClick r:id="rId2"/>
              </a:rPr>
              <a:t>https://www.youtube.com/watch?v=CWFyxn0qDEU</a:t>
            </a:r>
            <a:r>
              <a:rPr lang="en-US" dirty="0"/>
              <a:t> </a:t>
            </a:r>
          </a:p>
          <a:p>
            <a:pPr lvl="1"/>
            <a:r>
              <a:rPr lang="en-US" dirty="0"/>
              <a:t>Mayo Clinic</a:t>
            </a:r>
          </a:p>
          <a:p>
            <a:r>
              <a:rPr lang="en-US" dirty="0">
                <a:hlinkClick r:id="rId3"/>
              </a:rPr>
              <a:t>https://www.youtube.com/watch?v=-s5iCoCaofc</a:t>
            </a:r>
            <a:endParaRPr lang="en-US" dirty="0"/>
          </a:p>
          <a:p>
            <a:pPr lvl="1"/>
            <a:r>
              <a:rPr lang="en-US" dirty="0"/>
              <a:t>Suitable for younger than college age </a:t>
            </a:r>
            <a:r>
              <a:rPr lang="en-US" dirty="0">
                <a:sym typeface="Wingdings" panose="05000000000000000000" pitchFamily="2" charset="2"/>
              </a:rPr>
              <a:t></a:t>
            </a:r>
            <a:endParaRPr lang="en-US" dirty="0"/>
          </a:p>
        </p:txBody>
      </p:sp>
      <p:sp>
        <p:nvSpPr>
          <p:cNvPr id="4" name="Footer Placeholder 3">
            <a:extLst>
              <a:ext uri="{FF2B5EF4-FFF2-40B4-BE49-F238E27FC236}">
                <a16:creationId xmlns:a16="http://schemas.microsoft.com/office/drawing/2014/main" id="{3C48ADA4-1AA3-4242-8255-4A1A16D8BD96}"/>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78595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Atrial conduction</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36675" y="1219200"/>
            <a:ext cx="4811650" cy="5257800"/>
          </a:xfrm>
        </p:spPr>
        <p:txBody>
          <a:bodyPr/>
          <a:lstStyle/>
          <a:p>
            <a:r>
              <a:rPr lang="en-US" sz="2400" dirty="0"/>
              <a:t>Sinoatrial (SA) node is the oscillator</a:t>
            </a:r>
          </a:p>
          <a:p>
            <a:r>
              <a:rPr lang="en-US" sz="2400" dirty="0"/>
              <a:t>Signal spreads over the atria at 1 m/s (100ms total)</a:t>
            </a:r>
          </a:p>
          <a:p>
            <a:pPr lvl="1">
              <a:spcBef>
                <a:spcPts val="0"/>
              </a:spcBef>
            </a:pPr>
            <a:r>
              <a:rPr lang="en-US" sz="2000" dirty="0"/>
              <a:t>Atrial muscles contract</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cxnSp>
        <p:nvCxnSpPr>
          <p:cNvPr id="15" name="Straight Arrow Connector 14">
            <a:extLst>
              <a:ext uri="{FF2B5EF4-FFF2-40B4-BE49-F238E27FC236}">
                <a16:creationId xmlns:a16="http://schemas.microsoft.com/office/drawing/2014/main" id="{6F6B7238-6C9D-4B5C-8179-E59CC3828588}"/>
              </a:ext>
            </a:extLst>
          </p:cNvPr>
          <p:cNvCxnSpPr>
            <a:cxnSpLocks/>
            <a:stCxn id="14" idx="6"/>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AEC175F-A66F-4AE7-A729-0404CBE0EEEC}"/>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6C2190E-9B61-4EDD-A390-784E67B02F6D}"/>
              </a:ext>
            </a:extLst>
          </p:cNvPr>
          <p:cNvCxnSpPr>
            <a:cxnSpLocks/>
            <a:stCxn id="14" idx="6"/>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DBE62C6-DB88-4B74-A590-012251EC7164}"/>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5EB2F5D-164A-43A9-95BF-257270CC3736}"/>
              </a:ext>
            </a:extLst>
          </p:cNvPr>
          <p:cNvCxnSpPr>
            <a:cxnSpLocks/>
          </p:cNvCxnSpPr>
          <p:nvPr/>
        </p:nvCxnSpPr>
        <p:spPr>
          <a:xfrm flipH="1">
            <a:off x="685800" y="3454399"/>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388F061-7419-4F42-94E4-A3CA17846261}"/>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B3CB1D5-E6D3-401E-A2C6-9EFE55669FFA}"/>
              </a:ext>
            </a:extLst>
          </p:cNvPr>
          <p:cNvCxnSpPr>
            <a:cxnSpLocks/>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D2C7338-58B5-4F82-84C2-520E9063A4E8}"/>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862F42F-1045-4DD1-9992-7A2792451EE6}"/>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5662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par>
                                <p:cTn id="30" presetID="10" presetClass="entr" presetSubtype="0" fill="hold"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par>
                          <p:cTn id="33" fill="hold">
                            <p:stCondLst>
                              <p:cond delay="500"/>
                            </p:stCondLst>
                            <p:childTnLst>
                              <p:par>
                                <p:cTn id="34" presetID="10" presetClass="entr" presetSubtype="0" fill="hold"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par>
                                <p:cTn id="44" presetID="10" presetClass="entr" presetSubtype="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fade">
                                      <p:cBhvr>
                                        <p:cTn id="4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Conduction on the highways</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66887" y="1752038"/>
            <a:ext cx="4811650" cy="3962961"/>
          </a:xfrm>
        </p:spPr>
        <p:txBody>
          <a:bodyPr/>
          <a:lstStyle/>
          <a:p>
            <a:r>
              <a:rPr lang="en-US" sz="2400" dirty="0"/>
              <a:t>Through the AV node (slowly)</a:t>
            </a:r>
          </a:p>
          <a:p>
            <a:r>
              <a:rPr lang="en-US" sz="2400" dirty="0"/>
              <a:t>Zoom through the bundle of HIS, left/right bundle branches</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30" name="Straight Arrow Connector 29">
            <a:extLst>
              <a:ext uri="{FF2B5EF4-FFF2-40B4-BE49-F238E27FC236}">
                <a16:creationId xmlns:a16="http://schemas.microsoft.com/office/drawing/2014/main" id="{3DBE62C6-DB88-4B74-A590-012251EC7164}"/>
              </a:ext>
            </a:extLst>
          </p:cNvPr>
          <p:cNvCxnSpPr>
            <a:cxnSpLocks/>
            <a:stCxn id="17" idx="0"/>
          </p:cNvCxnSpPr>
          <p:nvPr/>
        </p:nvCxnSpPr>
        <p:spPr>
          <a:xfrm>
            <a:off x="1892298" y="3505200"/>
            <a:ext cx="0" cy="32289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5692F76-075B-4BA6-9104-0CD6B3C4C978}"/>
              </a:ext>
            </a:extLst>
          </p:cNvPr>
          <p:cNvCxnSpPr>
            <a:cxnSpLocks/>
          </p:cNvCxnSpPr>
          <p:nvPr/>
        </p:nvCxnSpPr>
        <p:spPr>
          <a:xfrm>
            <a:off x="1892298" y="3810000"/>
            <a:ext cx="211398" cy="5663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137894A-B24F-422E-92B1-36E7C8DE8C41}"/>
              </a:ext>
            </a:extLst>
          </p:cNvPr>
          <p:cNvCxnSpPr>
            <a:cxnSpLocks/>
          </p:cNvCxnSpPr>
          <p:nvPr/>
        </p:nvCxnSpPr>
        <p:spPr>
          <a:xfrm>
            <a:off x="1828800" y="4343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3697DF0-E375-4AA7-8027-EBD18640A4EA}"/>
              </a:ext>
            </a:extLst>
          </p:cNvPr>
          <p:cNvCxnSpPr>
            <a:cxnSpLocks/>
          </p:cNvCxnSpPr>
          <p:nvPr/>
        </p:nvCxnSpPr>
        <p:spPr>
          <a:xfrm>
            <a:off x="2275170" y="43014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3F3C01FA-EECD-42A4-9DE5-334BE39F1E6A}"/>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cxnSp>
        <p:nvCxnSpPr>
          <p:cNvPr id="18" name="Straight Arrow Connector 17">
            <a:extLst>
              <a:ext uri="{FF2B5EF4-FFF2-40B4-BE49-F238E27FC236}">
                <a16:creationId xmlns:a16="http://schemas.microsoft.com/office/drawing/2014/main" id="{56A2E9A1-D465-4ED1-99DC-D73CF06F19CC}"/>
              </a:ext>
            </a:extLst>
          </p:cNvPr>
          <p:cNvCxnSpPr>
            <a:cxnSpLocks/>
            <a:stCxn id="16" idx="6"/>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9408039-A1E1-437A-B371-AB80803E59EE}"/>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D861DB3-2524-449E-85F7-BD3494BA0EED}"/>
              </a:ext>
            </a:extLst>
          </p:cNvPr>
          <p:cNvCxnSpPr>
            <a:cxnSpLocks/>
            <a:stCxn id="16" idx="6"/>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D51CBC6-3145-4FFC-A9EC-05335BE19541}"/>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FC7F845-08C0-46AF-B208-2B64892C7A8A}"/>
              </a:ext>
            </a:extLst>
          </p:cNvPr>
          <p:cNvCxnSpPr>
            <a:cxnSpLocks/>
          </p:cNvCxnSpPr>
          <p:nvPr/>
        </p:nvCxnSpPr>
        <p:spPr>
          <a:xfrm flipH="1">
            <a:off x="685800" y="3454399"/>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5C1A96B-B14A-4B61-A8C7-688C55833EC4}"/>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F094670-F4EF-4E64-A6CB-34E730E14B81}"/>
              </a:ext>
            </a:extLst>
          </p:cNvPr>
          <p:cNvCxnSpPr>
            <a:cxnSpLocks/>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438ECCE-E90F-4456-84D8-94EB49FD47C5}"/>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B72E565-BCB7-45A5-9885-93BBD06F2C14}"/>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690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Conduction on the highways</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66887" y="1752038"/>
            <a:ext cx="4811650" cy="3962961"/>
          </a:xfrm>
        </p:spPr>
        <p:txBody>
          <a:bodyPr/>
          <a:lstStyle/>
          <a:p>
            <a:r>
              <a:rPr lang="en-US" sz="2400" dirty="0"/>
              <a:t>Then the Purkinje fibers</a:t>
            </a:r>
            <a:endParaRPr lang="en-US" sz="2000" dirty="0"/>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30" name="Straight Arrow Connector 29">
            <a:extLst>
              <a:ext uri="{FF2B5EF4-FFF2-40B4-BE49-F238E27FC236}">
                <a16:creationId xmlns:a16="http://schemas.microsoft.com/office/drawing/2014/main" id="{3DBE62C6-DB88-4B74-A590-012251EC7164}"/>
              </a:ext>
            </a:extLst>
          </p:cNvPr>
          <p:cNvCxnSpPr>
            <a:cxnSpLocks/>
            <a:stCxn id="17" idx="0"/>
          </p:cNvCxnSpPr>
          <p:nvPr/>
        </p:nvCxnSpPr>
        <p:spPr>
          <a:xfrm>
            <a:off x="1892298" y="3505200"/>
            <a:ext cx="0" cy="32289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137894A-B24F-422E-92B1-36E7C8DE8C41}"/>
              </a:ext>
            </a:extLst>
          </p:cNvPr>
          <p:cNvCxnSpPr>
            <a:cxnSpLocks/>
          </p:cNvCxnSpPr>
          <p:nvPr/>
        </p:nvCxnSpPr>
        <p:spPr>
          <a:xfrm>
            <a:off x="1828800" y="4343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6D09A61-FF5E-4840-AECD-53092225083E}"/>
              </a:ext>
            </a:extLst>
          </p:cNvPr>
          <p:cNvCxnSpPr>
            <a:cxnSpLocks/>
          </p:cNvCxnSpPr>
          <p:nvPr/>
        </p:nvCxnSpPr>
        <p:spPr>
          <a:xfrm>
            <a:off x="1905000" y="4724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A6DC73C-A0B3-4216-8231-761841D5F27C}"/>
              </a:ext>
            </a:extLst>
          </p:cNvPr>
          <p:cNvCxnSpPr>
            <a:cxnSpLocks/>
          </p:cNvCxnSpPr>
          <p:nvPr/>
        </p:nvCxnSpPr>
        <p:spPr>
          <a:xfrm>
            <a:off x="1600200" y="46482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AD85BB6-A6E8-4411-99B7-DE744A963FC2}"/>
              </a:ext>
            </a:extLst>
          </p:cNvPr>
          <p:cNvCxnSpPr>
            <a:cxnSpLocks/>
          </p:cNvCxnSpPr>
          <p:nvPr/>
        </p:nvCxnSpPr>
        <p:spPr>
          <a:xfrm>
            <a:off x="2590800" y="44538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ABCAC90-228A-4761-8D72-E0FC7C5F2077}"/>
              </a:ext>
            </a:extLst>
          </p:cNvPr>
          <p:cNvCxnSpPr>
            <a:cxnSpLocks/>
          </p:cNvCxnSpPr>
          <p:nvPr/>
        </p:nvCxnSpPr>
        <p:spPr>
          <a:xfrm>
            <a:off x="2656170" y="4192361"/>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3F3C01FA-EECD-42A4-9DE5-334BE39F1E6A}"/>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cxnSp>
        <p:nvCxnSpPr>
          <p:cNvPr id="18" name="Straight Arrow Connector 17">
            <a:extLst>
              <a:ext uri="{FF2B5EF4-FFF2-40B4-BE49-F238E27FC236}">
                <a16:creationId xmlns:a16="http://schemas.microsoft.com/office/drawing/2014/main" id="{56A2E9A1-D465-4ED1-99DC-D73CF06F19CC}"/>
              </a:ext>
            </a:extLst>
          </p:cNvPr>
          <p:cNvCxnSpPr>
            <a:cxnSpLocks/>
            <a:stCxn id="16" idx="6"/>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9408039-A1E1-437A-B371-AB80803E59EE}"/>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D861DB3-2524-449E-85F7-BD3494BA0EED}"/>
              </a:ext>
            </a:extLst>
          </p:cNvPr>
          <p:cNvCxnSpPr>
            <a:cxnSpLocks/>
            <a:stCxn id="16" idx="6"/>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D51CBC6-3145-4FFC-A9EC-05335BE19541}"/>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FC7F845-08C0-46AF-B208-2B64892C7A8A}"/>
              </a:ext>
            </a:extLst>
          </p:cNvPr>
          <p:cNvCxnSpPr>
            <a:cxnSpLocks/>
          </p:cNvCxnSpPr>
          <p:nvPr/>
        </p:nvCxnSpPr>
        <p:spPr>
          <a:xfrm flipH="1">
            <a:off x="685800" y="3454399"/>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5C1A96B-B14A-4B61-A8C7-688C55833EC4}"/>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F094670-F4EF-4E64-A6CB-34E730E14B81}"/>
              </a:ext>
            </a:extLst>
          </p:cNvPr>
          <p:cNvCxnSpPr>
            <a:cxnSpLocks/>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438ECCE-E90F-4456-84D8-94EB49FD47C5}"/>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B72E565-BCB7-45A5-9885-93BBD06F2C14}"/>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26E32F5-8580-4F43-AC43-3643EDA1CB70}"/>
              </a:ext>
            </a:extLst>
          </p:cNvPr>
          <p:cNvCxnSpPr>
            <a:cxnSpLocks/>
          </p:cNvCxnSpPr>
          <p:nvPr/>
        </p:nvCxnSpPr>
        <p:spPr>
          <a:xfrm>
            <a:off x="1892298" y="3810000"/>
            <a:ext cx="211398" cy="5663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3CC2B3C-5E22-4BE2-82EB-03FD8B6FA151}"/>
              </a:ext>
            </a:extLst>
          </p:cNvPr>
          <p:cNvCxnSpPr>
            <a:cxnSpLocks/>
          </p:cNvCxnSpPr>
          <p:nvPr/>
        </p:nvCxnSpPr>
        <p:spPr>
          <a:xfrm>
            <a:off x="1828800" y="4343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5A95687-B69A-4649-B67E-2652CD2B75FC}"/>
              </a:ext>
            </a:extLst>
          </p:cNvPr>
          <p:cNvCxnSpPr>
            <a:cxnSpLocks/>
          </p:cNvCxnSpPr>
          <p:nvPr/>
        </p:nvCxnSpPr>
        <p:spPr>
          <a:xfrm>
            <a:off x="2275170" y="43014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954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Ventricular conduction</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31" name="Straight Arrow Connector 30">
            <a:extLst>
              <a:ext uri="{FF2B5EF4-FFF2-40B4-BE49-F238E27FC236}">
                <a16:creationId xmlns:a16="http://schemas.microsoft.com/office/drawing/2014/main" id="{26D09A61-FF5E-4840-AECD-53092225083E}"/>
              </a:ext>
            </a:extLst>
          </p:cNvPr>
          <p:cNvCxnSpPr>
            <a:cxnSpLocks/>
          </p:cNvCxnSpPr>
          <p:nvPr/>
        </p:nvCxnSpPr>
        <p:spPr>
          <a:xfrm>
            <a:off x="1905000" y="4724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A6DC73C-A0B3-4216-8231-761841D5F27C}"/>
              </a:ext>
            </a:extLst>
          </p:cNvPr>
          <p:cNvCxnSpPr>
            <a:cxnSpLocks/>
          </p:cNvCxnSpPr>
          <p:nvPr/>
        </p:nvCxnSpPr>
        <p:spPr>
          <a:xfrm>
            <a:off x="1600200" y="46482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AD85BB6-A6E8-4411-99B7-DE744A963FC2}"/>
              </a:ext>
            </a:extLst>
          </p:cNvPr>
          <p:cNvCxnSpPr>
            <a:cxnSpLocks/>
          </p:cNvCxnSpPr>
          <p:nvPr/>
        </p:nvCxnSpPr>
        <p:spPr>
          <a:xfrm>
            <a:off x="2590800" y="44538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ABCAC90-228A-4761-8D72-E0FC7C5F2077}"/>
              </a:ext>
            </a:extLst>
          </p:cNvPr>
          <p:cNvCxnSpPr>
            <a:cxnSpLocks/>
          </p:cNvCxnSpPr>
          <p:nvPr/>
        </p:nvCxnSpPr>
        <p:spPr>
          <a:xfrm>
            <a:off x="2656170" y="4192361"/>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DA1CBC2-97D8-4902-BF87-FA728BBFA803}"/>
              </a:ext>
            </a:extLst>
          </p:cNvPr>
          <p:cNvCxnSpPr>
            <a:cxnSpLocks/>
          </p:cNvCxnSpPr>
          <p:nvPr/>
        </p:nvCxnSpPr>
        <p:spPr>
          <a:xfrm flipH="1" flipV="1">
            <a:off x="2656170" y="3886200"/>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524197F-31A1-4814-B890-E863E29EBF0D}"/>
              </a:ext>
            </a:extLst>
          </p:cNvPr>
          <p:cNvCxnSpPr>
            <a:cxnSpLocks/>
          </p:cNvCxnSpPr>
          <p:nvPr/>
        </p:nvCxnSpPr>
        <p:spPr>
          <a:xfrm flipH="1" flipV="1">
            <a:off x="2808570" y="3886200"/>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57003FA-56D6-48C8-AA42-442FEEF7AEF3}"/>
              </a:ext>
            </a:extLst>
          </p:cNvPr>
          <p:cNvCxnSpPr>
            <a:cxnSpLocks/>
          </p:cNvCxnSpPr>
          <p:nvPr/>
        </p:nvCxnSpPr>
        <p:spPr>
          <a:xfrm flipH="1" flipV="1">
            <a:off x="2960970" y="3962400"/>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C6B2F4B-59B6-4751-A5E9-113B9270AE2E}"/>
              </a:ext>
            </a:extLst>
          </p:cNvPr>
          <p:cNvCxnSpPr>
            <a:cxnSpLocks/>
          </p:cNvCxnSpPr>
          <p:nvPr/>
        </p:nvCxnSpPr>
        <p:spPr>
          <a:xfrm flipH="1" flipV="1">
            <a:off x="3105150" y="3962400"/>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223C536-D521-4183-B08D-2CD18A489616}"/>
              </a:ext>
            </a:extLst>
          </p:cNvPr>
          <p:cNvCxnSpPr>
            <a:cxnSpLocks/>
          </p:cNvCxnSpPr>
          <p:nvPr/>
        </p:nvCxnSpPr>
        <p:spPr>
          <a:xfrm flipV="1">
            <a:off x="3200400" y="4074205"/>
            <a:ext cx="154952" cy="18800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5FD914A-9EB6-4C64-9522-A8E065C26696}"/>
              </a:ext>
            </a:extLst>
          </p:cNvPr>
          <p:cNvCxnSpPr>
            <a:cxnSpLocks/>
          </p:cNvCxnSpPr>
          <p:nvPr/>
        </p:nvCxnSpPr>
        <p:spPr>
          <a:xfrm>
            <a:off x="3054944" y="4343400"/>
            <a:ext cx="297856" cy="329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F1D6E35-A7F5-41F5-AE94-667B95229919}"/>
              </a:ext>
            </a:extLst>
          </p:cNvPr>
          <p:cNvCxnSpPr>
            <a:cxnSpLocks/>
          </p:cNvCxnSpPr>
          <p:nvPr/>
        </p:nvCxnSpPr>
        <p:spPr>
          <a:xfrm flipH="1">
            <a:off x="2786968" y="4419601"/>
            <a:ext cx="32432" cy="3047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67C7091-DB06-4BD4-B901-A92F970A9CFA}"/>
              </a:ext>
            </a:extLst>
          </p:cNvPr>
          <p:cNvCxnSpPr>
            <a:cxnSpLocks/>
          </p:cNvCxnSpPr>
          <p:nvPr/>
        </p:nvCxnSpPr>
        <p:spPr>
          <a:xfrm flipH="1" flipV="1">
            <a:off x="3124200" y="4424589"/>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ADA9842-D996-4C93-9DFF-9F8A2B5910DB}"/>
              </a:ext>
            </a:extLst>
          </p:cNvPr>
          <p:cNvCxnSpPr>
            <a:cxnSpLocks/>
          </p:cNvCxnSpPr>
          <p:nvPr/>
        </p:nvCxnSpPr>
        <p:spPr>
          <a:xfrm flipH="1" flipV="1">
            <a:off x="1295400" y="4606272"/>
            <a:ext cx="261032" cy="11812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29D3892-063F-4A3E-815F-C29063DDB780}"/>
              </a:ext>
            </a:extLst>
          </p:cNvPr>
          <p:cNvCxnSpPr>
            <a:cxnSpLocks/>
          </p:cNvCxnSpPr>
          <p:nvPr/>
        </p:nvCxnSpPr>
        <p:spPr>
          <a:xfrm flipH="1" flipV="1">
            <a:off x="1295400" y="4724400"/>
            <a:ext cx="261032" cy="11812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DEA3A55-ADCE-4566-B00B-BE883D32F4E7}"/>
              </a:ext>
            </a:extLst>
          </p:cNvPr>
          <p:cNvCxnSpPr>
            <a:cxnSpLocks/>
          </p:cNvCxnSpPr>
          <p:nvPr/>
        </p:nvCxnSpPr>
        <p:spPr>
          <a:xfrm flipH="1" flipV="1">
            <a:off x="1339168" y="4834872"/>
            <a:ext cx="261032" cy="11812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817B340-7300-4D70-947D-6960A31B0C5A}"/>
              </a:ext>
            </a:extLst>
          </p:cNvPr>
          <p:cNvCxnSpPr>
            <a:cxnSpLocks/>
          </p:cNvCxnSpPr>
          <p:nvPr/>
        </p:nvCxnSpPr>
        <p:spPr>
          <a:xfrm flipH="1" flipV="1">
            <a:off x="1295400" y="4953000"/>
            <a:ext cx="261032" cy="11812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7A574EF-6FF7-485D-9226-FDACB39372C2}"/>
              </a:ext>
            </a:extLst>
          </p:cNvPr>
          <p:cNvCxnSpPr>
            <a:cxnSpLocks/>
          </p:cNvCxnSpPr>
          <p:nvPr/>
        </p:nvCxnSpPr>
        <p:spPr>
          <a:xfrm flipV="1">
            <a:off x="1912034" y="4530073"/>
            <a:ext cx="267633" cy="1943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43FAD23-5416-41A5-ADC6-AEA660742024}"/>
              </a:ext>
            </a:extLst>
          </p:cNvPr>
          <p:cNvCxnSpPr>
            <a:cxnSpLocks/>
          </p:cNvCxnSpPr>
          <p:nvPr/>
        </p:nvCxnSpPr>
        <p:spPr>
          <a:xfrm>
            <a:off x="1905000" y="4994928"/>
            <a:ext cx="304800" cy="11047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666C6AE-03BA-4172-A52D-A3E3153A122B}"/>
              </a:ext>
            </a:extLst>
          </p:cNvPr>
          <p:cNvCxnSpPr>
            <a:cxnSpLocks/>
          </p:cNvCxnSpPr>
          <p:nvPr/>
        </p:nvCxnSpPr>
        <p:spPr>
          <a:xfrm flipV="1">
            <a:off x="1708832" y="4528712"/>
            <a:ext cx="40001" cy="237616"/>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692B2B4-65C6-4C03-B7DE-970704CE6E10}"/>
              </a:ext>
            </a:extLst>
          </p:cNvPr>
          <p:cNvCxnSpPr>
            <a:cxnSpLocks/>
          </p:cNvCxnSpPr>
          <p:nvPr/>
        </p:nvCxnSpPr>
        <p:spPr>
          <a:xfrm>
            <a:off x="1708832" y="5105400"/>
            <a:ext cx="152399" cy="26287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EBE13DF5-0931-4D33-B74E-75CF8585BF44}"/>
              </a:ext>
            </a:extLst>
          </p:cNvPr>
          <p:cNvSpPr txBox="1">
            <a:spLocks/>
          </p:cNvSpPr>
          <p:nvPr/>
        </p:nvSpPr>
        <p:spPr bwMode="auto">
          <a:xfrm>
            <a:off x="4567646" y="1447800"/>
            <a:ext cx="4158569"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800" dirty="0"/>
              <a:t>Purkinje fibers have seeded the AP on much of the ventricular surface</a:t>
            </a:r>
          </a:p>
          <a:p>
            <a:r>
              <a:rPr lang="en-US" sz="2800" dirty="0"/>
              <a:t>Now it squeezes the entire muscle all at once</a:t>
            </a:r>
          </a:p>
          <a:p>
            <a:pPr marL="0" indent="0">
              <a:buNone/>
            </a:pPr>
            <a:endParaRPr lang="en-US" sz="2800" dirty="0"/>
          </a:p>
        </p:txBody>
      </p:sp>
      <p:cxnSp>
        <p:nvCxnSpPr>
          <p:cNvPr id="30" name="Straight Arrow Connector 29">
            <a:extLst>
              <a:ext uri="{FF2B5EF4-FFF2-40B4-BE49-F238E27FC236}">
                <a16:creationId xmlns:a16="http://schemas.microsoft.com/office/drawing/2014/main" id="{EC561A07-2154-4208-8A5C-3E754D635C76}"/>
              </a:ext>
            </a:extLst>
          </p:cNvPr>
          <p:cNvCxnSpPr>
            <a:cxnSpLocks/>
          </p:cNvCxnSpPr>
          <p:nvPr/>
        </p:nvCxnSpPr>
        <p:spPr>
          <a:xfrm>
            <a:off x="1828800" y="4343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49E600B-7F8D-489E-B398-68A0C806C465}"/>
              </a:ext>
            </a:extLst>
          </p:cNvPr>
          <p:cNvCxnSpPr>
            <a:cxnSpLocks/>
          </p:cNvCxnSpPr>
          <p:nvPr/>
        </p:nvCxnSpPr>
        <p:spPr>
          <a:xfrm>
            <a:off x="2275170" y="43014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3146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par>
                                <p:cTn id="32" presetID="10" presetClass="entr" presetSubtype="0"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500"/>
                                        <p:tgtEl>
                                          <p:spTgt spid="33"/>
                                        </p:tgtEl>
                                      </p:cBhvr>
                                    </p:animEffect>
                                  </p:childTnLst>
                                </p:cTn>
                              </p:par>
                              <p:par>
                                <p:cTn id="35" presetID="10"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par>
                                <p:cTn id="41" presetID="10"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par>
                                <p:cTn id="44" presetID="10" presetClass="entr" presetSubtype="0" fill="hold"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par>
                                <p:cTn id="47" presetID="10"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par>
                                <p:cTn id="50" presetID="10" presetClass="entr" presetSubtype="0" fill="hold"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9">
                                            <p:txEl>
                                              <p:pRg st="1" end="1"/>
                                            </p:txEl>
                                          </p:spTgt>
                                        </p:tgtEl>
                                        <p:attrNameLst>
                                          <p:attrName>style.visibility</p:attrName>
                                        </p:attrNameLst>
                                      </p:cBhvr>
                                      <p:to>
                                        <p:strVal val="visible"/>
                                      </p:to>
                                    </p:set>
                                    <p:animEffect transition="in" filter="fade">
                                      <p:cBhvr>
                                        <p:cTn id="57" dur="500"/>
                                        <p:tgtEl>
                                          <p:spTgt spid="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F8CCC-CAC6-4703-A171-2FB76F5BBD0E}"/>
              </a:ext>
            </a:extLst>
          </p:cNvPr>
          <p:cNvSpPr>
            <a:spLocks noGrp="1"/>
          </p:cNvSpPr>
          <p:nvPr>
            <p:ph type="title"/>
          </p:nvPr>
        </p:nvSpPr>
        <p:spPr/>
        <p:txBody>
          <a:bodyPr/>
          <a:lstStyle/>
          <a:p>
            <a:r>
              <a:rPr lang="en-US" dirty="0"/>
              <a:t>Entrainment</a:t>
            </a:r>
          </a:p>
        </p:txBody>
      </p:sp>
      <p:sp>
        <p:nvSpPr>
          <p:cNvPr id="3" name="Content Placeholder 2">
            <a:extLst>
              <a:ext uri="{FF2B5EF4-FFF2-40B4-BE49-F238E27FC236}">
                <a16:creationId xmlns:a16="http://schemas.microsoft.com/office/drawing/2014/main" id="{0F15FA36-E670-4D48-B445-60D69B224377}"/>
              </a:ext>
            </a:extLst>
          </p:cNvPr>
          <p:cNvSpPr>
            <a:spLocks noGrp="1"/>
          </p:cNvSpPr>
          <p:nvPr>
            <p:ph idx="1"/>
          </p:nvPr>
        </p:nvSpPr>
        <p:spPr>
          <a:xfrm>
            <a:off x="685800" y="1676400"/>
            <a:ext cx="7772400" cy="2971800"/>
          </a:xfrm>
        </p:spPr>
        <p:txBody>
          <a:bodyPr/>
          <a:lstStyle/>
          <a:p>
            <a:r>
              <a:rPr lang="en-US" dirty="0"/>
              <a:t>Sinoatrial node has ≈ 500K cells</a:t>
            </a:r>
          </a:p>
          <a:p>
            <a:pPr lvl="1">
              <a:spcBef>
                <a:spcPts val="0"/>
              </a:spcBef>
            </a:pPr>
            <a:r>
              <a:rPr lang="en-US" dirty="0"/>
              <a:t>Each one oscillates </a:t>
            </a:r>
            <a:r>
              <a:rPr lang="en-US" i="1" dirty="0"/>
              <a:t>independently</a:t>
            </a:r>
          </a:p>
          <a:p>
            <a:pPr lvl="1">
              <a:spcBef>
                <a:spcPts val="0"/>
              </a:spcBef>
            </a:pPr>
            <a:r>
              <a:rPr lang="en-US" dirty="0"/>
              <a:t>Potentially a slightly different frequency, phase</a:t>
            </a:r>
          </a:p>
          <a:p>
            <a:pPr lvl="1">
              <a:spcBef>
                <a:spcPts val="0"/>
              </a:spcBef>
            </a:pPr>
            <a:r>
              <a:rPr lang="en-US" dirty="0"/>
              <a:t>How can your heart have a single unified beat?</a:t>
            </a:r>
          </a:p>
          <a:p>
            <a:r>
              <a:rPr lang="en-US" i="1" dirty="0"/>
              <a:t>Entrainment</a:t>
            </a:r>
            <a:r>
              <a:rPr lang="en-US" dirty="0"/>
              <a:t> is the process of all the oscillators talking to each other and agreeing on a frequency</a:t>
            </a:r>
          </a:p>
          <a:p>
            <a:pPr lvl="1">
              <a:spcBef>
                <a:spcPts val="0"/>
              </a:spcBef>
            </a:pPr>
            <a:r>
              <a:rPr lang="en-US" dirty="0"/>
              <a:t>More on this in EE 123</a:t>
            </a:r>
          </a:p>
        </p:txBody>
      </p:sp>
      <p:sp>
        <p:nvSpPr>
          <p:cNvPr id="4" name="Footer Placeholder 3">
            <a:extLst>
              <a:ext uri="{FF2B5EF4-FFF2-40B4-BE49-F238E27FC236}">
                <a16:creationId xmlns:a16="http://schemas.microsoft.com/office/drawing/2014/main" id="{AA2EA7BA-9F0D-4BD8-BB30-F060681A5252}"/>
              </a:ext>
            </a:extLst>
          </p:cNvPr>
          <p:cNvSpPr>
            <a:spLocks noGrp="1"/>
          </p:cNvSpPr>
          <p:nvPr>
            <p:ph type="ftr" sz="quarter" idx="11"/>
          </p:nvPr>
        </p:nvSpPr>
        <p:spPr/>
        <p:txBody>
          <a:bodyPr/>
          <a:lstStyle/>
          <a:p>
            <a:pPr>
              <a:defRPr/>
            </a:pPr>
            <a:r>
              <a:rPr lang="en-US" dirty="0"/>
              <a:t>EN1 EIY-- Bioelectricity</a:t>
            </a:r>
          </a:p>
        </p:txBody>
      </p:sp>
      <p:sp>
        <p:nvSpPr>
          <p:cNvPr id="5" name="Oval 4">
            <a:extLst>
              <a:ext uri="{FF2B5EF4-FFF2-40B4-BE49-F238E27FC236}">
                <a16:creationId xmlns:a16="http://schemas.microsoft.com/office/drawing/2014/main" id="{1552AAEF-9856-EC7D-82FF-645B2CC1EBA9}"/>
              </a:ext>
            </a:extLst>
          </p:cNvPr>
          <p:cNvSpPr/>
          <p:nvPr/>
        </p:nvSpPr>
        <p:spPr>
          <a:xfrm>
            <a:off x="21336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D30ADF0-DD2C-5CB2-7609-B76FC1CA5195}"/>
              </a:ext>
            </a:extLst>
          </p:cNvPr>
          <p:cNvSpPr/>
          <p:nvPr/>
        </p:nvSpPr>
        <p:spPr>
          <a:xfrm>
            <a:off x="21336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60B4C95-617F-8B40-684F-F8DE2C27B65B}"/>
              </a:ext>
            </a:extLst>
          </p:cNvPr>
          <p:cNvSpPr/>
          <p:nvPr/>
        </p:nvSpPr>
        <p:spPr>
          <a:xfrm>
            <a:off x="21336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14F95E2-F3E6-263F-6523-C6282CAAB114}"/>
              </a:ext>
            </a:extLst>
          </p:cNvPr>
          <p:cNvSpPr/>
          <p:nvPr/>
        </p:nvSpPr>
        <p:spPr>
          <a:xfrm>
            <a:off x="21336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21B8418-3CEE-5BA2-6476-665B9C3A2CD9}"/>
              </a:ext>
            </a:extLst>
          </p:cNvPr>
          <p:cNvSpPr/>
          <p:nvPr/>
        </p:nvSpPr>
        <p:spPr>
          <a:xfrm>
            <a:off x="21336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05B0F94-871B-2C58-634C-DEC0B10A6D54}"/>
              </a:ext>
            </a:extLst>
          </p:cNvPr>
          <p:cNvSpPr/>
          <p:nvPr/>
        </p:nvSpPr>
        <p:spPr>
          <a:xfrm>
            <a:off x="21336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93C5D68-A0E3-36CE-A280-D0B796204FF5}"/>
              </a:ext>
            </a:extLst>
          </p:cNvPr>
          <p:cNvSpPr/>
          <p:nvPr/>
        </p:nvSpPr>
        <p:spPr>
          <a:xfrm>
            <a:off x="21336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A569205-5DDF-4046-AF19-529913F14964}"/>
              </a:ext>
            </a:extLst>
          </p:cNvPr>
          <p:cNvSpPr/>
          <p:nvPr/>
        </p:nvSpPr>
        <p:spPr>
          <a:xfrm>
            <a:off x="21336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2566E7A-8789-21BD-1212-DE3E2E4225B8}"/>
              </a:ext>
            </a:extLst>
          </p:cNvPr>
          <p:cNvSpPr/>
          <p:nvPr/>
        </p:nvSpPr>
        <p:spPr>
          <a:xfrm>
            <a:off x="22860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84E4AD1-7973-BC78-186B-C07D042E015C}"/>
              </a:ext>
            </a:extLst>
          </p:cNvPr>
          <p:cNvSpPr/>
          <p:nvPr/>
        </p:nvSpPr>
        <p:spPr>
          <a:xfrm>
            <a:off x="22860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80B05F5-E894-6FCB-8731-7551687B72AD}"/>
              </a:ext>
            </a:extLst>
          </p:cNvPr>
          <p:cNvSpPr/>
          <p:nvPr/>
        </p:nvSpPr>
        <p:spPr>
          <a:xfrm>
            <a:off x="22860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9F500A0-4C97-7DF3-36BD-7EB68A0436D6}"/>
              </a:ext>
            </a:extLst>
          </p:cNvPr>
          <p:cNvSpPr/>
          <p:nvPr/>
        </p:nvSpPr>
        <p:spPr>
          <a:xfrm>
            <a:off x="22860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7997B26-56A9-D296-801E-E48F5AA777B4}"/>
              </a:ext>
            </a:extLst>
          </p:cNvPr>
          <p:cNvSpPr/>
          <p:nvPr/>
        </p:nvSpPr>
        <p:spPr>
          <a:xfrm>
            <a:off x="22860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41E543B-02BF-A369-3454-568A21370CB3}"/>
              </a:ext>
            </a:extLst>
          </p:cNvPr>
          <p:cNvSpPr/>
          <p:nvPr/>
        </p:nvSpPr>
        <p:spPr>
          <a:xfrm>
            <a:off x="22860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3D4F82D-952C-C05A-133C-EC32462B42F2}"/>
              </a:ext>
            </a:extLst>
          </p:cNvPr>
          <p:cNvSpPr/>
          <p:nvPr/>
        </p:nvSpPr>
        <p:spPr>
          <a:xfrm>
            <a:off x="22860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4A92792-0FF3-62E4-7CDC-53769D7D6B9A}"/>
              </a:ext>
            </a:extLst>
          </p:cNvPr>
          <p:cNvSpPr/>
          <p:nvPr/>
        </p:nvSpPr>
        <p:spPr>
          <a:xfrm>
            <a:off x="22860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0759A3C-64DE-27A0-553E-EA075AC91547}"/>
              </a:ext>
            </a:extLst>
          </p:cNvPr>
          <p:cNvSpPr/>
          <p:nvPr/>
        </p:nvSpPr>
        <p:spPr>
          <a:xfrm>
            <a:off x="24384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8FF6B1B-50B0-953C-1E64-17125A893CEC}"/>
              </a:ext>
            </a:extLst>
          </p:cNvPr>
          <p:cNvSpPr/>
          <p:nvPr/>
        </p:nvSpPr>
        <p:spPr>
          <a:xfrm>
            <a:off x="24384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A69CB78-73EE-65D7-D787-29952A3310F6}"/>
              </a:ext>
            </a:extLst>
          </p:cNvPr>
          <p:cNvSpPr/>
          <p:nvPr/>
        </p:nvSpPr>
        <p:spPr>
          <a:xfrm>
            <a:off x="24384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DB4BAD1-CCF3-F170-05A7-9D06BB945383}"/>
              </a:ext>
            </a:extLst>
          </p:cNvPr>
          <p:cNvSpPr/>
          <p:nvPr/>
        </p:nvSpPr>
        <p:spPr>
          <a:xfrm>
            <a:off x="24384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AB8B051-340C-339F-13A3-1BE8BC63F163}"/>
              </a:ext>
            </a:extLst>
          </p:cNvPr>
          <p:cNvSpPr/>
          <p:nvPr/>
        </p:nvSpPr>
        <p:spPr>
          <a:xfrm>
            <a:off x="24384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A86EAC4-A3F6-E59C-4EB6-A3BAD0601C48}"/>
              </a:ext>
            </a:extLst>
          </p:cNvPr>
          <p:cNvSpPr/>
          <p:nvPr/>
        </p:nvSpPr>
        <p:spPr>
          <a:xfrm>
            <a:off x="24384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EC9F8A4-53B9-B40C-1483-9386EB967489}"/>
              </a:ext>
            </a:extLst>
          </p:cNvPr>
          <p:cNvSpPr/>
          <p:nvPr/>
        </p:nvSpPr>
        <p:spPr>
          <a:xfrm>
            <a:off x="24384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361D2A5-6FD1-97D7-45FB-0775FAE990A2}"/>
              </a:ext>
            </a:extLst>
          </p:cNvPr>
          <p:cNvSpPr/>
          <p:nvPr/>
        </p:nvSpPr>
        <p:spPr>
          <a:xfrm>
            <a:off x="24384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206335B2-52A3-08CC-6A9C-281CB1345D75}"/>
              </a:ext>
            </a:extLst>
          </p:cNvPr>
          <p:cNvSpPr/>
          <p:nvPr/>
        </p:nvSpPr>
        <p:spPr>
          <a:xfrm>
            <a:off x="25908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89AEB91-9DAB-3550-949D-094F1E1C28AC}"/>
              </a:ext>
            </a:extLst>
          </p:cNvPr>
          <p:cNvSpPr/>
          <p:nvPr/>
        </p:nvSpPr>
        <p:spPr>
          <a:xfrm>
            <a:off x="25908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27D405F-95DD-385A-918A-38C24D3791CC}"/>
              </a:ext>
            </a:extLst>
          </p:cNvPr>
          <p:cNvSpPr/>
          <p:nvPr/>
        </p:nvSpPr>
        <p:spPr>
          <a:xfrm>
            <a:off x="25908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52EAFE04-C238-DC01-10D3-620A1FD07A43}"/>
              </a:ext>
            </a:extLst>
          </p:cNvPr>
          <p:cNvSpPr/>
          <p:nvPr/>
        </p:nvSpPr>
        <p:spPr>
          <a:xfrm>
            <a:off x="25908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1AE1246-CF3A-802D-E597-724626183550}"/>
              </a:ext>
            </a:extLst>
          </p:cNvPr>
          <p:cNvSpPr/>
          <p:nvPr/>
        </p:nvSpPr>
        <p:spPr>
          <a:xfrm>
            <a:off x="25908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C8C3F23-404D-FE3C-A2DB-67E5C7E70D93}"/>
              </a:ext>
            </a:extLst>
          </p:cNvPr>
          <p:cNvSpPr/>
          <p:nvPr/>
        </p:nvSpPr>
        <p:spPr>
          <a:xfrm>
            <a:off x="25908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9CF6135-2922-B5E2-AE6A-40F1185F0EAF}"/>
              </a:ext>
            </a:extLst>
          </p:cNvPr>
          <p:cNvSpPr/>
          <p:nvPr/>
        </p:nvSpPr>
        <p:spPr>
          <a:xfrm>
            <a:off x="25908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459932C-7DAF-2CBC-9B20-755CDDB48A52}"/>
              </a:ext>
            </a:extLst>
          </p:cNvPr>
          <p:cNvSpPr/>
          <p:nvPr/>
        </p:nvSpPr>
        <p:spPr>
          <a:xfrm>
            <a:off x="25908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5447ED5-D35B-45E2-2870-1582E1F02A8A}"/>
              </a:ext>
            </a:extLst>
          </p:cNvPr>
          <p:cNvSpPr/>
          <p:nvPr/>
        </p:nvSpPr>
        <p:spPr>
          <a:xfrm>
            <a:off x="15240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3E70EF3-2996-F65F-10D5-9F3CE5763E90}"/>
              </a:ext>
            </a:extLst>
          </p:cNvPr>
          <p:cNvSpPr/>
          <p:nvPr/>
        </p:nvSpPr>
        <p:spPr>
          <a:xfrm>
            <a:off x="15240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B8AA8028-5CA5-8B6A-6726-FF1733CBA655}"/>
              </a:ext>
            </a:extLst>
          </p:cNvPr>
          <p:cNvSpPr/>
          <p:nvPr/>
        </p:nvSpPr>
        <p:spPr>
          <a:xfrm>
            <a:off x="15240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E5C5AFFA-0F28-E0BB-A24D-155F11D7C66D}"/>
              </a:ext>
            </a:extLst>
          </p:cNvPr>
          <p:cNvSpPr/>
          <p:nvPr/>
        </p:nvSpPr>
        <p:spPr>
          <a:xfrm>
            <a:off x="15240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2143CBCF-6C4B-FFD0-32E4-9F5A83D76B3C}"/>
              </a:ext>
            </a:extLst>
          </p:cNvPr>
          <p:cNvSpPr/>
          <p:nvPr/>
        </p:nvSpPr>
        <p:spPr>
          <a:xfrm>
            <a:off x="15240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970BB7C-5D32-CA5B-4E13-39A4C3EDC2D1}"/>
              </a:ext>
            </a:extLst>
          </p:cNvPr>
          <p:cNvSpPr/>
          <p:nvPr/>
        </p:nvSpPr>
        <p:spPr>
          <a:xfrm>
            <a:off x="15240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B9E8A5A-BEB9-E8C3-EB7E-BF40CA029B9F}"/>
              </a:ext>
            </a:extLst>
          </p:cNvPr>
          <p:cNvSpPr/>
          <p:nvPr/>
        </p:nvSpPr>
        <p:spPr>
          <a:xfrm>
            <a:off x="15240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F135D736-9B9F-C25E-B767-6AD095DE2FDD}"/>
              </a:ext>
            </a:extLst>
          </p:cNvPr>
          <p:cNvSpPr/>
          <p:nvPr/>
        </p:nvSpPr>
        <p:spPr>
          <a:xfrm>
            <a:off x="15240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33FAE46-F49F-FB01-0AEB-5705101E3B94}"/>
              </a:ext>
            </a:extLst>
          </p:cNvPr>
          <p:cNvSpPr/>
          <p:nvPr/>
        </p:nvSpPr>
        <p:spPr>
          <a:xfrm>
            <a:off x="16764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0979BBEB-D999-61AC-41AB-6390502D8CF2}"/>
              </a:ext>
            </a:extLst>
          </p:cNvPr>
          <p:cNvSpPr/>
          <p:nvPr/>
        </p:nvSpPr>
        <p:spPr>
          <a:xfrm>
            <a:off x="16764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E48A3D9F-5148-90C0-90B3-92729C766ADF}"/>
              </a:ext>
            </a:extLst>
          </p:cNvPr>
          <p:cNvSpPr/>
          <p:nvPr/>
        </p:nvSpPr>
        <p:spPr>
          <a:xfrm>
            <a:off x="16764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25847FE1-3D93-49BE-696E-192703C20066}"/>
              </a:ext>
            </a:extLst>
          </p:cNvPr>
          <p:cNvSpPr/>
          <p:nvPr/>
        </p:nvSpPr>
        <p:spPr>
          <a:xfrm>
            <a:off x="16764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8B4C3A5-E03B-7B43-EC4D-523B3F134D02}"/>
              </a:ext>
            </a:extLst>
          </p:cNvPr>
          <p:cNvSpPr/>
          <p:nvPr/>
        </p:nvSpPr>
        <p:spPr>
          <a:xfrm>
            <a:off x="16764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F31C76F-4829-DA98-2312-F3357983D53F}"/>
              </a:ext>
            </a:extLst>
          </p:cNvPr>
          <p:cNvSpPr/>
          <p:nvPr/>
        </p:nvSpPr>
        <p:spPr>
          <a:xfrm>
            <a:off x="16764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33FB0BA-865E-CA0A-5764-77747003DBCA}"/>
              </a:ext>
            </a:extLst>
          </p:cNvPr>
          <p:cNvSpPr/>
          <p:nvPr/>
        </p:nvSpPr>
        <p:spPr>
          <a:xfrm>
            <a:off x="16764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01E18C7-979A-25AD-C9B4-9230726180E0}"/>
              </a:ext>
            </a:extLst>
          </p:cNvPr>
          <p:cNvSpPr/>
          <p:nvPr/>
        </p:nvSpPr>
        <p:spPr>
          <a:xfrm>
            <a:off x="16764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7C57980-9CFD-7F00-8C80-B6C3EA41CF85}"/>
              </a:ext>
            </a:extLst>
          </p:cNvPr>
          <p:cNvSpPr/>
          <p:nvPr/>
        </p:nvSpPr>
        <p:spPr>
          <a:xfrm>
            <a:off x="18288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2C5C0A43-6935-F2ED-5D89-CC6FAF2C2D0D}"/>
              </a:ext>
            </a:extLst>
          </p:cNvPr>
          <p:cNvSpPr/>
          <p:nvPr/>
        </p:nvSpPr>
        <p:spPr>
          <a:xfrm>
            <a:off x="18288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A12905FA-2597-BC60-D343-763A5B13F777}"/>
              </a:ext>
            </a:extLst>
          </p:cNvPr>
          <p:cNvSpPr/>
          <p:nvPr/>
        </p:nvSpPr>
        <p:spPr>
          <a:xfrm>
            <a:off x="18288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B0C5CB6B-A1F4-8631-452D-17E777B5AB25}"/>
              </a:ext>
            </a:extLst>
          </p:cNvPr>
          <p:cNvSpPr/>
          <p:nvPr/>
        </p:nvSpPr>
        <p:spPr>
          <a:xfrm>
            <a:off x="18288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6D8CAEAD-DD39-E258-3399-A074301363EC}"/>
              </a:ext>
            </a:extLst>
          </p:cNvPr>
          <p:cNvSpPr/>
          <p:nvPr/>
        </p:nvSpPr>
        <p:spPr>
          <a:xfrm>
            <a:off x="18288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0BB9E1EB-DAB3-09DD-BDA7-F5A143863120}"/>
              </a:ext>
            </a:extLst>
          </p:cNvPr>
          <p:cNvSpPr/>
          <p:nvPr/>
        </p:nvSpPr>
        <p:spPr>
          <a:xfrm>
            <a:off x="18288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13A0B06E-BBB6-A77A-53EA-1CC5EBCCA2C2}"/>
              </a:ext>
            </a:extLst>
          </p:cNvPr>
          <p:cNvSpPr/>
          <p:nvPr/>
        </p:nvSpPr>
        <p:spPr>
          <a:xfrm>
            <a:off x="18288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09BD80B-55EA-A988-49D1-8CB7180AD40E}"/>
              </a:ext>
            </a:extLst>
          </p:cNvPr>
          <p:cNvSpPr/>
          <p:nvPr/>
        </p:nvSpPr>
        <p:spPr>
          <a:xfrm>
            <a:off x="18288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6B013CBB-4ED7-C184-7F73-6EDE4F935CB2}"/>
              </a:ext>
            </a:extLst>
          </p:cNvPr>
          <p:cNvSpPr/>
          <p:nvPr/>
        </p:nvSpPr>
        <p:spPr>
          <a:xfrm>
            <a:off x="19812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7DE788BD-4B4F-93CF-09A8-05CFE1B0302F}"/>
              </a:ext>
            </a:extLst>
          </p:cNvPr>
          <p:cNvSpPr/>
          <p:nvPr/>
        </p:nvSpPr>
        <p:spPr>
          <a:xfrm>
            <a:off x="19812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7F05690E-A339-79EC-BC3A-9E94BAD0EE49}"/>
              </a:ext>
            </a:extLst>
          </p:cNvPr>
          <p:cNvSpPr/>
          <p:nvPr/>
        </p:nvSpPr>
        <p:spPr>
          <a:xfrm>
            <a:off x="19812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1C70E728-A94C-0013-B103-1EE53614E67E}"/>
              </a:ext>
            </a:extLst>
          </p:cNvPr>
          <p:cNvSpPr/>
          <p:nvPr/>
        </p:nvSpPr>
        <p:spPr>
          <a:xfrm>
            <a:off x="19812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549FA0A-C98D-00B2-8809-7390D4BF0E22}"/>
              </a:ext>
            </a:extLst>
          </p:cNvPr>
          <p:cNvSpPr/>
          <p:nvPr/>
        </p:nvSpPr>
        <p:spPr>
          <a:xfrm>
            <a:off x="19812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E257D08-5C55-9E94-7A19-EECD88C7A1D7}"/>
              </a:ext>
            </a:extLst>
          </p:cNvPr>
          <p:cNvSpPr/>
          <p:nvPr/>
        </p:nvSpPr>
        <p:spPr>
          <a:xfrm>
            <a:off x="19812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718419AE-9251-3E5E-2537-3FFB2687DB53}"/>
              </a:ext>
            </a:extLst>
          </p:cNvPr>
          <p:cNvSpPr/>
          <p:nvPr/>
        </p:nvSpPr>
        <p:spPr>
          <a:xfrm>
            <a:off x="19812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AE284F66-2A4F-4CC4-2123-EB820AC588C2}"/>
              </a:ext>
            </a:extLst>
          </p:cNvPr>
          <p:cNvSpPr/>
          <p:nvPr/>
        </p:nvSpPr>
        <p:spPr>
          <a:xfrm>
            <a:off x="19812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1EB9BBBA-15EC-55BC-D1B2-27E5740C4E46}"/>
              </a:ext>
            </a:extLst>
          </p:cNvPr>
          <p:cNvSpPr/>
          <p:nvPr/>
        </p:nvSpPr>
        <p:spPr>
          <a:xfrm>
            <a:off x="33528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AC73DE05-9D91-0AFC-1F8C-47BDE9191F45}"/>
              </a:ext>
            </a:extLst>
          </p:cNvPr>
          <p:cNvSpPr/>
          <p:nvPr/>
        </p:nvSpPr>
        <p:spPr>
          <a:xfrm>
            <a:off x="33528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AA1DFE55-E75C-ED45-FBC3-FA592B637688}"/>
              </a:ext>
            </a:extLst>
          </p:cNvPr>
          <p:cNvSpPr/>
          <p:nvPr/>
        </p:nvSpPr>
        <p:spPr>
          <a:xfrm>
            <a:off x="35052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5AA9763E-54D7-886F-410C-17A256D5244B}"/>
              </a:ext>
            </a:extLst>
          </p:cNvPr>
          <p:cNvSpPr/>
          <p:nvPr/>
        </p:nvSpPr>
        <p:spPr>
          <a:xfrm>
            <a:off x="35052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A83638EB-14DC-96AC-7833-C7245FA96534}"/>
              </a:ext>
            </a:extLst>
          </p:cNvPr>
          <p:cNvSpPr/>
          <p:nvPr/>
        </p:nvSpPr>
        <p:spPr>
          <a:xfrm>
            <a:off x="36576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CE3B732-B988-A2E5-B7FC-FE3F47C96AC5}"/>
              </a:ext>
            </a:extLst>
          </p:cNvPr>
          <p:cNvSpPr/>
          <p:nvPr/>
        </p:nvSpPr>
        <p:spPr>
          <a:xfrm>
            <a:off x="36576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E97DA92D-BADE-806A-2F29-563EFFAB0B64}"/>
              </a:ext>
            </a:extLst>
          </p:cNvPr>
          <p:cNvSpPr/>
          <p:nvPr/>
        </p:nvSpPr>
        <p:spPr>
          <a:xfrm>
            <a:off x="38100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2C166AF3-A9A0-7178-7CAF-8CCBCAB6E322}"/>
              </a:ext>
            </a:extLst>
          </p:cNvPr>
          <p:cNvSpPr/>
          <p:nvPr/>
        </p:nvSpPr>
        <p:spPr>
          <a:xfrm>
            <a:off x="38100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BDEF43A8-D9DA-7173-0494-53B714E37A39}"/>
              </a:ext>
            </a:extLst>
          </p:cNvPr>
          <p:cNvSpPr/>
          <p:nvPr/>
        </p:nvSpPr>
        <p:spPr>
          <a:xfrm>
            <a:off x="27432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232A8B49-AD9E-F54D-EDC0-38CD8221483F}"/>
              </a:ext>
            </a:extLst>
          </p:cNvPr>
          <p:cNvSpPr/>
          <p:nvPr/>
        </p:nvSpPr>
        <p:spPr>
          <a:xfrm>
            <a:off x="27432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E421B7E5-C9A6-4A38-D1DA-4147988B7BF2}"/>
              </a:ext>
            </a:extLst>
          </p:cNvPr>
          <p:cNvSpPr/>
          <p:nvPr/>
        </p:nvSpPr>
        <p:spPr>
          <a:xfrm>
            <a:off x="28956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3BA6E959-95DF-80A2-F456-E09E05A11A60}"/>
              </a:ext>
            </a:extLst>
          </p:cNvPr>
          <p:cNvSpPr/>
          <p:nvPr/>
        </p:nvSpPr>
        <p:spPr>
          <a:xfrm>
            <a:off x="28956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AB90D310-779B-7E7C-21C0-76BE9C323CAF}"/>
              </a:ext>
            </a:extLst>
          </p:cNvPr>
          <p:cNvSpPr/>
          <p:nvPr/>
        </p:nvSpPr>
        <p:spPr>
          <a:xfrm>
            <a:off x="30480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355AE551-1232-861C-2F89-472C737C4001}"/>
              </a:ext>
            </a:extLst>
          </p:cNvPr>
          <p:cNvSpPr/>
          <p:nvPr/>
        </p:nvSpPr>
        <p:spPr>
          <a:xfrm>
            <a:off x="30480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F6C80035-984E-23E0-A63F-C0BCC3E01DA4}"/>
              </a:ext>
            </a:extLst>
          </p:cNvPr>
          <p:cNvSpPr/>
          <p:nvPr/>
        </p:nvSpPr>
        <p:spPr>
          <a:xfrm>
            <a:off x="32004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B76C7AF2-E2E4-E1F7-192D-C045514ED768}"/>
              </a:ext>
            </a:extLst>
          </p:cNvPr>
          <p:cNvSpPr/>
          <p:nvPr/>
        </p:nvSpPr>
        <p:spPr>
          <a:xfrm>
            <a:off x="32004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034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4A92-0AE1-418F-98C6-8738AD0D48CE}"/>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0E944ED5-3D23-45D1-ACC3-736ECD603F53}"/>
              </a:ext>
            </a:extLst>
          </p:cNvPr>
          <p:cNvSpPr>
            <a:spLocks noGrp="1"/>
          </p:cNvSpPr>
          <p:nvPr>
            <p:ph idx="1"/>
          </p:nvPr>
        </p:nvSpPr>
        <p:spPr/>
        <p:txBody>
          <a:bodyPr/>
          <a:lstStyle/>
          <a:p>
            <a:r>
              <a:rPr lang="en-US" dirty="0"/>
              <a:t>Cool cardiac facts &amp; why we care</a:t>
            </a:r>
          </a:p>
          <a:p>
            <a:r>
              <a:rPr lang="en-US" dirty="0"/>
              <a:t>Cardiac plumbing and electricals</a:t>
            </a:r>
          </a:p>
          <a:p>
            <a:r>
              <a:rPr lang="en-US" dirty="0">
                <a:highlight>
                  <a:srgbClr val="FFFF00"/>
                </a:highlight>
              </a:rPr>
              <a:t>Electrocardiograms</a:t>
            </a:r>
          </a:p>
          <a:p>
            <a:r>
              <a:rPr lang="en-US" dirty="0"/>
              <a:t>Arrhythmias</a:t>
            </a:r>
          </a:p>
        </p:txBody>
      </p:sp>
      <p:sp>
        <p:nvSpPr>
          <p:cNvPr id="4" name="Footer Placeholder 3">
            <a:extLst>
              <a:ext uri="{FF2B5EF4-FFF2-40B4-BE49-F238E27FC236}">
                <a16:creationId xmlns:a16="http://schemas.microsoft.com/office/drawing/2014/main" id="{E374EE35-380B-4ECA-A2BB-ED4C3312E805}"/>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1212886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F2A7-19EA-4AEF-B22E-62A29AFC8A07}"/>
              </a:ext>
            </a:extLst>
          </p:cNvPr>
          <p:cNvSpPr>
            <a:spLocks noGrp="1"/>
          </p:cNvSpPr>
          <p:nvPr>
            <p:ph type="title"/>
          </p:nvPr>
        </p:nvSpPr>
        <p:spPr/>
        <p:txBody>
          <a:bodyPr/>
          <a:lstStyle/>
          <a:p>
            <a:r>
              <a:rPr lang="en-US" dirty="0"/>
              <a:t>What is an ECG?</a:t>
            </a:r>
          </a:p>
        </p:txBody>
      </p:sp>
      <p:sp>
        <p:nvSpPr>
          <p:cNvPr id="3" name="Content Placeholder 2">
            <a:extLst>
              <a:ext uri="{FF2B5EF4-FFF2-40B4-BE49-F238E27FC236}">
                <a16:creationId xmlns:a16="http://schemas.microsoft.com/office/drawing/2014/main" id="{64A37BBD-3CA2-4C3C-BA5E-44889CECF931}"/>
              </a:ext>
            </a:extLst>
          </p:cNvPr>
          <p:cNvSpPr>
            <a:spLocks noGrp="1"/>
          </p:cNvSpPr>
          <p:nvPr>
            <p:ph idx="1"/>
          </p:nvPr>
        </p:nvSpPr>
        <p:spPr/>
        <p:txBody>
          <a:bodyPr/>
          <a:lstStyle/>
          <a:p>
            <a:r>
              <a:rPr lang="en-US" dirty="0"/>
              <a:t>An electrocardiogram (ECG, EKG) measures the heart’s “summed” action potential</a:t>
            </a:r>
          </a:p>
          <a:p>
            <a:pPr lvl="1"/>
            <a:r>
              <a:rPr lang="en-US" dirty="0"/>
              <a:t>Each AP in the cardiac wave </a:t>
            </a:r>
            <a:r>
              <a:rPr lang="en-US" dirty="0">
                <a:latin typeface="Times New Roman" panose="02020603050405020304" pitchFamily="18" charset="0"/>
                <a:cs typeface="Times New Roman" panose="02020603050405020304" pitchFamily="18" charset="0"/>
              </a:rPr>
              <a:t>→ small current travels through the body to the ECG electrodes (EE 123)</a:t>
            </a:r>
          </a:p>
          <a:p>
            <a:pPr lvl="1"/>
            <a:r>
              <a:rPr lang="en-US" dirty="0">
                <a:latin typeface="Times New Roman" panose="02020603050405020304" pitchFamily="18" charset="0"/>
                <a:cs typeface="Times New Roman" panose="02020603050405020304" pitchFamily="18" charset="0"/>
              </a:rPr>
              <a:t>Different heart cells are oriented in different directions; vector dot products cause different results depending on where electrodes are attached</a:t>
            </a:r>
          </a:p>
          <a:p>
            <a:r>
              <a:rPr lang="en-US" dirty="0">
                <a:latin typeface="Times New Roman" panose="02020603050405020304" pitchFamily="18" charset="0"/>
                <a:cs typeface="Times New Roman" panose="02020603050405020304" pitchFamily="18" charset="0"/>
              </a:rPr>
              <a:t>Physics is very similar to </a:t>
            </a:r>
            <a:r>
              <a:rPr lang="en-US" dirty="0" err="1">
                <a:latin typeface="Times New Roman" panose="02020603050405020304" pitchFamily="18" charset="0"/>
                <a:cs typeface="Times New Roman" panose="02020603050405020304" pitchFamily="18" charset="0"/>
              </a:rPr>
              <a:t>sEMG</a:t>
            </a:r>
            <a:endParaRPr lang="en-US" dirty="0">
              <a:latin typeface="Times New Roman" panose="02020603050405020304" pitchFamily="18" charset="0"/>
              <a:cs typeface="Times New Roman" panose="02020603050405020304" pitchFamily="18" charset="0"/>
            </a:endParaRPr>
          </a:p>
          <a:p>
            <a:pPr lvl="1">
              <a:spcBef>
                <a:spcPts val="0"/>
              </a:spcBef>
            </a:pPr>
            <a:r>
              <a:rPr lang="en-US" dirty="0">
                <a:latin typeface="Times New Roman" panose="02020603050405020304" pitchFamily="18" charset="0"/>
                <a:cs typeface="Times New Roman" panose="02020603050405020304" pitchFamily="18" charset="0"/>
              </a:rPr>
              <a:t>but now, lots of cells firing in sync</a:t>
            </a:r>
          </a:p>
          <a:p>
            <a:r>
              <a:rPr lang="en-US" dirty="0">
                <a:latin typeface="Times New Roman" panose="02020603050405020304" pitchFamily="18" charset="0"/>
                <a:cs typeface="Times New Roman" panose="02020603050405020304" pitchFamily="18" charset="0"/>
              </a:rPr>
              <a:t>More details in the ECG lab!</a:t>
            </a:r>
          </a:p>
          <a:p>
            <a:pPr lvl="1"/>
            <a:endParaRPr lang="en-US" dirty="0"/>
          </a:p>
        </p:txBody>
      </p:sp>
      <p:sp>
        <p:nvSpPr>
          <p:cNvPr id="4" name="Footer Placeholder 3">
            <a:extLst>
              <a:ext uri="{FF2B5EF4-FFF2-40B4-BE49-F238E27FC236}">
                <a16:creationId xmlns:a16="http://schemas.microsoft.com/office/drawing/2014/main" id="{A6393DDC-8F13-4E62-AB53-066A62015C47}"/>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355106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Atrial conduction</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36675" y="1219200"/>
            <a:ext cx="4811650" cy="995064"/>
          </a:xfrm>
        </p:spPr>
        <p:txBody>
          <a:bodyPr/>
          <a:lstStyle/>
          <a:p>
            <a:r>
              <a:rPr lang="en-US" sz="2400" dirty="0"/>
              <a:t>P wave= atrial APs</a:t>
            </a:r>
            <a:endParaRPr lang="en-US" sz="2000" dirty="0"/>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a:stCxn id="14" idx="6"/>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AEC175F-A66F-4AE7-A729-0404CBE0EEEC}"/>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6C2190E-9B61-4EDD-A390-784E67B02F6D}"/>
              </a:ext>
            </a:extLst>
          </p:cNvPr>
          <p:cNvCxnSpPr>
            <a:cxnSpLocks/>
            <a:stCxn id="14" idx="6"/>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DBE62C6-DB88-4B74-A590-012251EC7164}"/>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5EB2F5D-164A-43A9-95BF-257270CC3736}"/>
              </a:ext>
            </a:extLst>
          </p:cNvPr>
          <p:cNvCxnSpPr>
            <a:cxnSpLocks/>
          </p:cNvCxnSpPr>
          <p:nvPr/>
        </p:nvCxnSpPr>
        <p:spPr>
          <a:xfrm flipH="1">
            <a:off x="685800" y="3454399"/>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388F061-7419-4F42-94E4-A3CA17846261}"/>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B3CB1D5-E6D3-401E-A2C6-9EFE55669FFA}"/>
              </a:ext>
            </a:extLst>
          </p:cNvPr>
          <p:cNvCxnSpPr>
            <a:cxnSpLocks/>
            <a:endCxn id="17" idx="1"/>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D2C7338-58B5-4F82-84C2-520E9063A4E8}"/>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862F42F-1045-4DD1-9992-7A2792451EE6}"/>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367DB4ED-CD61-48BA-8968-115B73EFFFA4}"/>
              </a:ext>
            </a:extLst>
          </p:cNvPr>
          <p:cNvSpPr/>
          <p:nvPr/>
        </p:nvSpPr>
        <p:spPr>
          <a:xfrm>
            <a:off x="5029200" y="5210665"/>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F718454-FE6D-461C-8C76-36B6CC813AE2}"/>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47D7D75-C0D9-41C7-B577-8EDE90FBF478}"/>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E045FEF-1BDE-4369-A345-7F96AA22AC8A}"/>
              </a:ext>
            </a:extLst>
          </p:cNvPr>
          <p:cNvSpPr txBox="1"/>
          <p:nvPr/>
        </p:nvSpPr>
        <p:spPr>
          <a:xfrm>
            <a:off x="5105400" y="5223180"/>
            <a:ext cx="304800" cy="461665"/>
          </a:xfrm>
          <a:prstGeom prst="rect">
            <a:avLst/>
          </a:prstGeom>
          <a:noFill/>
        </p:spPr>
        <p:txBody>
          <a:bodyPr wrap="square" rtlCol="0">
            <a:spAutoFit/>
          </a:bodyPr>
          <a:lstStyle/>
          <a:p>
            <a:r>
              <a:rPr lang="en-US" dirty="0">
                <a:solidFill>
                  <a:srgbClr val="FF0000"/>
                </a:solidFill>
              </a:rPr>
              <a:t>P</a:t>
            </a:r>
          </a:p>
        </p:txBody>
      </p:sp>
      <p:sp>
        <p:nvSpPr>
          <p:cNvPr id="22" name="TextBox 21">
            <a:extLst>
              <a:ext uri="{FF2B5EF4-FFF2-40B4-BE49-F238E27FC236}">
                <a16:creationId xmlns:a16="http://schemas.microsoft.com/office/drawing/2014/main" id="{89625466-0817-4ABD-BD1A-9BB227ABEDD7}"/>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23" name="TextBox 22">
            <a:extLst>
              <a:ext uri="{FF2B5EF4-FFF2-40B4-BE49-F238E27FC236}">
                <a16:creationId xmlns:a16="http://schemas.microsoft.com/office/drawing/2014/main" id="{352DDA8F-94F3-48C5-9D73-35056F21E3FD}"/>
              </a:ext>
            </a:extLst>
          </p:cNvPr>
          <p:cNvSpPr txBox="1"/>
          <p:nvPr/>
        </p:nvSpPr>
        <p:spPr>
          <a:xfrm>
            <a:off x="6028329" y="3587634"/>
            <a:ext cx="304800" cy="461665"/>
          </a:xfrm>
          <a:prstGeom prst="rect">
            <a:avLst/>
          </a:prstGeom>
          <a:noFill/>
        </p:spPr>
        <p:txBody>
          <a:bodyPr wrap="square" rtlCol="0">
            <a:spAutoFit/>
          </a:bodyPr>
          <a:lstStyle/>
          <a:p>
            <a:r>
              <a:rPr lang="en-US" dirty="0">
                <a:solidFill>
                  <a:schemeClr val="accent2"/>
                </a:solidFill>
              </a:rPr>
              <a:t>R</a:t>
            </a:r>
          </a:p>
        </p:txBody>
      </p:sp>
      <p:sp>
        <p:nvSpPr>
          <p:cNvPr id="24" name="TextBox 23">
            <a:extLst>
              <a:ext uri="{FF2B5EF4-FFF2-40B4-BE49-F238E27FC236}">
                <a16:creationId xmlns:a16="http://schemas.microsoft.com/office/drawing/2014/main" id="{279CF002-560B-41F1-91E9-805DAEB59D88}"/>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
        <p:nvSpPr>
          <p:cNvPr id="25" name="TextBox 24">
            <a:extLst>
              <a:ext uri="{FF2B5EF4-FFF2-40B4-BE49-F238E27FC236}">
                <a16:creationId xmlns:a16="http://schemas.microsoft.com/office/drawing/2014/main" id="{29827C04-25D6-419E-AE80-F74079B18BB7}"/>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Tree>
    <p:extLst>
      <p:ext uri="{BB962C8B-B14F-4D97-AF65-F5344CB8AC3E}">
        <p14:creationId xmlns:p14="http://schemas.microsoft.com/office/powerpoint/2010/main" val="167577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par>
                                <p:cTn id="31" presetID="10"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500"/>
                                        <p:tgtEl>
                                          <p:spTgt spid="42"/>
                                        </p:tgtEl>
                                      </p:cBhvr>
                                    </p:animEffect>
                                  </p:childTnLst>
                                </p:cTn>
                              </p:par>
                            </p:childTnLst>
                          </p:cTn>
                        </p:par>
                        <p:par>
                          <p:cTn id="34" fill="hold">
                            <p:stCondLst>
                              <p:cond delay="1500"/>
                            </p:stCondLst>
                            <p:childTnLst>
                              <p:par>
                                <p:cTn id="35" presetID="10" presetClass="exit" presetSubtype="0" fill="hold" nodeType="afterEffect">
                                  <p:stCondLst>
                                    <p:cond delay="0"/>
                                  </p:stCondLst>
                                  <p:childTnLst>
                                    <p:animEffect transition="out" filter="fad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27"/>
                                        </p:tgtEl>
                                      </p:cBhvr>
                                    </p:animEffect>
                                    <p:set>
                                      <p:cBhvr>
                                        <p:cTn id="40" dur="1" fill="hold">
                                          <p:stCondLst>
                                            <p:cond delay="499"/>
                                          </p:stCondLst>
                                        </p:cTn>
                                        <p:tgtEl>
                                          <p:spTgt spid="27"/>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30"/>
                                        </p:tgtEl>
                                      </p:cBhvr>
                                    </p:animEffect>
                                    <p:set>
                                      <p:cBhvr>
                                        <p:cTn id="43" dur="1" fill="hold">
                                          <p:stCondLst>
                                            <p:cond delay="499"/>
                                          </p:stCondLst>
                                        </p:cTn>
                                        <p:tgtEl>
                                          <p:spTgt spid="30"/>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33"/>
                                        </p:tgtEl>
                                      </p:cBhvr>
                                    </p:animEffect>
                                    <p:set>
                                      <p:cBhvr>
                                        <p:cTn id="46" dur="1" fill="hold">
                                          <p:stCondLst>
                                            <p:cond delay="499"/>
                                          </p:stCondLst>
                                        </p:cTn>
                                        <p:tgtEl>
                                          <p:spTgt spid="3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35"/>
                                        </p:tgtEl>
                                      </p:cBhvr>
                                    </p:animEffect>
                                    <p:set>
                                      <p:cBhvr>
                                        <p:cTn id="49" dur="1" fill="hold">
                                          <p:stCondLst>
                                            <p:cond delay="499"/>
                                          </p:stCondLst>
                                        </p:cTn>
                                        <p:tgtEl>
                                          <p:spTgt spid="35"/>
                                        </p:tgtEl>
                                        <p:attrNameLst>
                                          <p:attrName>style.visibility</p:attrName>
                                        </p:attrNameLst>
                                      </p:cBhvr>
                                      <p:to>
                                        <p:strVal val="hidden"/>
                                      </p:to>
                                    </p:set>
                                  </p:childTnLst>
                                </p:cTn>
                              </p:par>
                            </p:childTnLst>
                          </p:cTn>
                        </p:par>
                        <p:par>
                          <p:cTn id="50" fill="hold">
                            <p:stCondLst>
                              <p:cond delay="2000"/>
                            </p:stCondLst>
                            <p:childTnLst>
                              <p:par>
                                <p:cTn id="51" presetID="10" presetClass="exit" presetSubtype="0" fill="hold" nodeType="afterEffect">
                                  <p:stCondLst>
                                    <p:cond delay="0"/>
                                  </p:stCondLst>
                                  <p:childTnLst>
                                    <p:animEffect transition="out" filter="fade">
                                      <p:cBhvr>
                                        <p:cTn id="52" dur="500"/>
                                        <p:tgtEl>
                                          <p:spTgt spid="34"/>
                                        </p:tgtEl>
                                      </p:cBhvr>
                                    </p:animEffect>
                                    <p:set>
                                      <p:cBhvr>
                                        <p:cTn id="53" dur="1" fill="hold">
                                          <p:stCondLst>
                                            <p:cond delay="499"/>
                                          </p:stCondLst>
                                        </p:cTn>
                                        <p:tgtEl>
                                          <p:spTgt spid="34"/>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500"/>
                                        <p:tgtEl>
                                          <p:spTgt spid="26"/>
                                        </p:tgtEl>
                                      </p:cBhvr>
                                    </p:animEffect>
                                    <p:set>
                                      <p:cBhvr>
                                        <p:cTn id="56" dur="1" fill="hold">
                                          <p:stCondLst>
                                            <p:cond delay="499"/>
                                          </p:stCondLst>
                                        </p:cTn>
                                        <p:tgtEl>
                                          <p:spTgt spid="26"/>
                                        </p:tgtEl>
                                        <p:attrNameLst>
                                          <p:attrName>style.visibility</p:attrName>
                                        </p:attrNameLst>
                                      </p:cBhvr>
                                      <p:to>
                                        <p:strVal val="hidden"/>
                                      </p:to>
                                    </p:set>
                                  </p:childTnLst>
                                </p:cTn>
                              </p:par>
                            </p:childTnLst>
                          </p:cTn>
                        </p:par>
                        <p:par>
                          <p:cTn id="57" fill="hold">
                            <p:stCondLst>
                              <p:cond delay="2500"/>
                            </p:stCondLst>
                            <p:childTnLst>
                              <p:par>
                                <p:cTn id="58" presetID="10" presetClass="exit" presetSubtype="0" fill="hold" nodeType="afterEffect">
                                  <p:stCondLst>
                                    <p:cond delay="0"/>
                                  </p:stCondLst>
                                  <p:childTnLst>
                                    <p:animEffect transition="out" filter="fade">
                                      <p:cBhvr>
                                        <p:cTn id="59" dur="500"/>
                                        <p:tgtEl>
                                          <p:spTgt spid="41"/>
                                        </p:tgtEl>
                                      </p:cBhvr>
                                    </p:animEffect>
                                    <p:set>
                                      <p:cBhvr>
                                        <p:cTn id="60" dur="1" fill="hold">
                                          <p:stCondLst>
                                            <p:cond delay="499"/>
                                          </p:stCondLst>
                                        </p:cTn>
                                        <p:tgtEl>
                                          <p:spTgt spid="41"/>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42"/>
                                        </p:tgtEl>
                                      </p:cBhvr>
                                    </p:animEffect>
                                    <p:set>
                                      <p:cBhvr>
                                        <p:cTn id="63" dur="1" fill="hold">
                                          <p:stCondLst>
                                            <p:cond delay="4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Ventricular conduction</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31" name="Straight Arrow Connector 30">
            <a:extLst>
              <a:ext uri="{FF2B5EF4-FFF2-40B4-BE49-F238E27FC236}">
                <a16:creationId xmlns:a16="http://schemas.microsoft.com/office/drawing/2014/main" id="{26D09A61-FF5E-4840-AECD-53092225083E}"/>
              </a:ext>
            </a:extLst>
          </p:cNvPr>
          <p:cNvCxnSpPr>
            <a:cxnSpLocks/>
          </p:cNvCxnSpPr>
          <p:nvPr/>
        </p:nvCxnSpPr>
        <p:spPr>
          <a:xfrm>
            <a:off x="1905000" y="4724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A6DC73C-A0B3-4216-8231-761841D5F27C}"/>
              </a:ext>
            </a:extLst>
          </p:cNvPr>
          <p:cNvCxnSpPr>
            <a:cxnSpLocks/>
          </p:cNvCxnSpPr>
          <p:nvPr/>
        </p:nvCxnSpPr>
        <p:spPr>
          <a:xfrm>
            <a:off x="1600200" y="46482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AD85BB6-A6E8-4411-99B7-DE744A963FC2}"/>
              </a:ext>
            </a:extLst>
          </p:cNvPr>
          <p:cNvCxnSpPr>
            <a:cxnSpLocks/>
          </p:cNvCxnSpPr>
          <p:nvPr/>
        </p:nvCxnSpPr>
        <p:spPr>
          <a:xfrm>
            <a:off x="2590800" y="44538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ABCAC90-228A-4761-8D72-E0FC7C5F2077}"/>
              </a:ext>
            </a:extLst>
          </p:cNvPr>
          <p:cNvCxnSpPr>
            <a:cxnSpLocks/>
          </p:cNvCxnSpPr>
          <p:nvPr/>
        </p:nvCxnSpPr>
        <p:spPr>
          <a:xfrm>
            <a:off x="2656170" y="4192361"/>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DA1CBC2-97D8-4902-BF87-FA728BBFA803}"/>
              </a:ext>
            </a:extLst>
          </p:cNvPr>
          <p:cNvCxnSpPr>
            <a:cxnSpLocks/>
          </p:cNvCxnSpPr>
          <p:nvPr/>
        </p:nvCxnSpPr>
        <p:spPr>
          <a:xfrm flipH="1" flipV="1">
            <a:off x="2656170" y="3886200"/>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524197F-31A1-4814-B890-E863E29EBF0D}"/>
              </a:ext>
            </a:extLst>
          </p:cNvPr>
          <p:cNvCxnSpPr>
            <a:cxnSpLocks/>
          </p:cNvCxnSpPr>
          <p:nvPr/>
        </p:nvCxnSpPr>
        <p:spPr>
          <a:xfrm flipH="1" flipV="1">
            <a:off x="2808570" y="3886200"/>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57003FA-56D6-48C8-AA42-442FEEF7AEF3}"/>
              </a:ext>
            </a:extLst>
          </p:cNvPr>
          <p:cNvCxnSpPr>
            <a:cxnSpLocks/>
          </p:cNvCxnSpPr>
          <p:nvPr/>
        </p:nvCxnSpPr>
        <p:spPr>
          <a:xfrm flipH="1" flipV="1">
            <a:off x="2960970" y="3962400"/>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C6B2F4B-59B6-4751-A5E9-113B9270AE2E}"/>
              </a:ext>
            </a:extLst>
          </p:cNvPr>
          <p:cNvCxnSpPr>
            <a:cxnSpLocks/>
          </p:cNvCxnSpPr>
          <p:nvPr/>
        </p:nvCxnSpPr>
        <p:spPr>
          <a:xfrm flipH="1" flipV="1">
            <a:off x="3105150" y="3962400"/>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223C536-D521-4183-B08D-2CD18A489616}"/>
              </a:ext>
            </a:extLst>
          </p:cNvPr>
          <p:cNvCxnSpPr>
            <a:cxnSpLocks/>
          </p:cNvCxnSpPr>
          <p:nvPr/>
        </p:nvCxnSpPr>
        <p:spPr>
          <a:xfrm flipV="1">
            <a:off x="3200400" y="4074205"/>
            <a:ext cx="154952" cy="18800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5FD914A-9EB6-4C64-9522-A8E065C26696}"/>
              </a:ext>
            </a:extLst>
          </p:cNvPr>
          <p:cNvCxnSpPr>
            <a:cxnSpLocks/>
          </p:cNvCxnSpPr>
          <p:nvPr/>
        </p:nvCxnSpPr>
        <p:spPr>
          <a:xfrm>
            <a:off x="3054944" y="4343400"/>
            <a:ext cx="297856" cy="329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F1D6E35-A7F5-41F5-AE94-667B95229919}"/>
              </a:ext>
            </a:extLst>
          </p:cNvPr>
          <p:cNvCxnSpPr>
            <a:cxnSpLocks/>
          </p:cNvCxnSpPr>
          <p:nvPr/>
        </p:nvCxnSpPr>
        <p:spPr>
          <a:xfrm flipH="1">
            <a:off x="2786968" y="4419601"/>
            <a:ext cx="32432" cy="3047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67C7091-DB06-4BD4-B901-A92F970A9CFA}"/>
              </a:ext>
            </a:extLst>
          </p:cNvPr>
          <p:cNvCxnSpPr>
            <a:cxnSpLocks/>
          </p:cNvCxnSpPr>
          <p:nvPr/>
        </p:nvCxnSpPr>
        <p:spPr>
          <a:xfrm flipH="1" flipV="1">
            <a:off x="3124200" y="4424589"/>
            <a:ext cx="19050" cy="2236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ADA9842-D996-4C93-9DFF-9F8A2B5910DB}"/>
              </a:ext>
            </a:extLst>
          </p:cNvPr>
          <p:cNvCxnSpPr>
            <a:cxnSpLocks/>
          </p:cNvCxnSpPr>
          <p:nvPr/>
        </p:nvCxnSpPr>
        <p:spPr>
          <a:xfrm flipH="1" flipV="1">
            <a:off x="1295400" y="4606272"/>
            <a:ext cx="261032" cy="11812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29D3892-063F-4A3E-815F-C29063DDB780}"/>
              </a:ext>
            </a:extLst>
          </p:cNvPr>
          <p:cNvCxnSpPr>
            <a:cxnSpLocks/>
          </p:cNvCxnSpPr>
          <p:nvPr/>
        </p:nvCxnSpPr>
        <p:spPr>
          <a:xfrm flipH="1" flipV="1">
            <a:off x="1295400" y="4724400"/>
            <a:ext cx="261032" cy="11812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DEA3A55-ADCE-4566-B00B-BE883D32F4E7}"/>
              </a:ext>
            </a:extLst>
          </p:cNvPr>
          <p:cNvCxnSpPr>
            <a:cxnSpLocks/>
          </p:cNvCxnSpPr>
          <p:nvPr/>
        </p:nvCxnSpPr>
        <p:spPr>
          <a:xfrm flipH="1" flipV="1">
            <a:off x="1339168" y="4834872"/>
            <a:ext cx="261032" cy="11812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817B340-7300-4D70-947D-6960A31B0C5A}"/>
              </a:ext>
            </a:extLst>
          </p:cNvPr>
          <p:cNvCxnSpPr>
            <a:cxnSpLocks/>
          </p:cNvCxnSpPr>
          <p:nvPr/>
        </p:nvCxnSpPr>
        <p:spPr>
          <a:xfrm flipH="1" flipV="1">
            <a:off x="1295400" y="4953000"/>
            <a:ext cx="261032" cy="11812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7A574EF-6FF7-485D-9226-FDACB39372C2}"/>
              </a:ext>
            </a:extLst>
          </p:cNvPr>
          <p:cNvCxnSpPr>
            <a:cxnSpLocks/>
          </p:cNvCxnSpPr>
          <p:nvPr/>
        </p:nvCxnSpPr>
        <p:spPr>
          <a:xfrm flipV="1">
            <a:off x="1912034" y="4530073"/>
            <a:ext cx="267633" cy="1943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43FAD23-5416-41A5-ADC6-AEA660742024}"/>
              </a:ext>
            </a:extLst>
          </p:cNvPr>
          <p:cNvCxnSpPr>
            <a:cxnSpLocks/>
          </p:cNvCxnSpPr>
          <p:nvPr/>
        </p:nvCxnSpPr>
        <p:spPr>
          <a:xfrm>
            <a:off x="1905000" y="4994928"/>
            <a:ext cx="304800" cy="11047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666C6AE-03BA-4172-A52D-A3E3153A122B}"/>
              </a:ext>
            </a:extLst>
          </p:cNvPr>
          <p:cNvCxnSpPr>
            <a:cxnSpLocks/>
          </p:cNvCxnSpPr>
          <p:nvPr/>
        </p:nvCxnSpPr>
        <p:spPr>
          <a:xfrm flipV="1">
            <a:off x="1708832" y="4528712"/>
            <a:ext cx="40001" cy="237616"/>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692B2B4-65C6-4C03-B7DE-970704CE6E10}"/>
              </a:ext>
            </a:extLst>
          </p:cNvPr>
          <p:cNvCxnSpPr>
            <a:cxnSpLocks/>
          </p:cNvCxnSpPr>
          <p:nvPr/>
        </p:nvCxnSpPr>
        <p:spPr>
          <a:xfrm>
            <a:off x="1708832" y="5105400"/>
            <a:ext cx="152399" cy="26287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EBE13DF5-0931-4D33-B74E-75CF8585BF44}"/>
              </a:ext>
            </a:extLst>
          </p:cNvPr>
          <p:cNvSpPr txBox="1">
            <a:spLocks/>
          </p:cNvSpPr>
          <p:nvPr/>
        </p:nvSpPr>
        <p:spPr bwMode="auto">
          <a:xfrm>
            <a:off x="4027770" y="1295401"/>
            <a:ext cx="4849530" cy="2459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dirty="0"/>
              <a:t>Purkinje fibers have seeded the AP on much of the ventricular surface</a:t>
            </a:r>
          </a:p>
          <a:p>
            <a:r>
              <a:rPr lang="en-US" sz="2400" dirty="0"/>
              <a:t>Now it squeezes the entire muscle all at once</a:t>
            </a:r>
          </a:p>
          <a:p>
            <a:r>
              <a:rPr lang="en-US" sz="2400" dirty="0"/>
              <a:t>Why is QRS complex taller than the P wave?</a:t>
            </a:r>
          </a:p>
          <a:p>
            <a:pPr marL="0" indent="0">
              <a:buNone/>
            </a:pPr>
            <a:endParaRPr lang="en-US" sz="2800" dirty="0"/>
          </a:p>
        </p:txBody>
      </p:sp>
      <p:sp>
        <p:nvSpPr>
          <p:cNvPr id="30" name="Freeform: Shape 29">
            <a:extLst>
              <a:ext uri="{FF2B5EF4-FFF2-40B4-BE49-F238E27FC236}">
                <a16:creationId xmlns:a16="http://schemas.microsoft.com/office/drawing/2014/main" id="{22AA4E4E-42E9-4773-BDD9-FE0299A950F2}"/>
              </a:ext>
            </a:extLst>
          </p:cNvPr>
          <p:cNvSpPr/>
          <p:nvPr/>
        </p:nvSpPr>
        <p:spPr>
          <a:xfrm>
            <a:off x="5029200" y="5210665"/>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56A9731E-2A03-401A-BD3A-010AAEDBB73A}"/>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3F6E7409-67BC-4831-885E-E660482883B4}"/>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4F6696D-D3AA-48B8-81D5-DADCDC0E0888}"/>
              </a:ext>
            </a:extLst>
          </p:cNvPr>
          <p:cNvSpPr txBox="1"/>
          <p:nvPr/>
        </p:nvSpPr>
        <p:spPr>
          <a:xfrm>
            <a:off x="5105400" y="5223180"/>
            <a:ext cx="304800" cy="461665"/>
          </a:xfrm>
          <a:prstGeom prst="rect">
            <a:avLst/>
          </a:prstGeom>
          <a:noFill/>
        </p:spPr>
        <p:txBody>
          <a:bodyPr wrap="square" rtlCol="0">
            <a:spAutoFit/>
          </a:bodyPr>
          <a:lstStyle/>
          <a:p>
            <a:r>
              <a:rPr lang="en-US" dirty="0">
                <a:solidFill>
                  <a:schemeClr val="accent2"/>
                </a:solidFill>
              </a:rPr>
              <a:t>P</a:t>
            </a:r>
          </a:p>
        </p:txBody>
      </p:sp>
      <p:sp>
        <p:nvSpPr>
          <p:cNvPr id="45" name="TextBox 44">
            <a:extLst>
              <a:ext uri="{FF2B5EF4-FFF2-40B4-BE49-F238E27FC236}">
                <a16:creationId xmlns:a16="http://schemas.microsoft.com/office/drawing/2014/main" id="{C9AA2B5E-A345-4C5B-AAEA-C6922C75B11C}"/>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46" name="TextBox 45">
            <a:extLst>
              <a:ext uri="{FF2B5EF4-FFF2-40B4-BE49-F238E27FC236}">
                <a16:creationId xmlns:a16="http://schemas.microsoft.com/office/drawing/2014/main" id="{82887BD9-86F6-4858-A89F-59471775074F}"/>
              </a:ext>
            </a:extLst>
          </p:cNvPr>
          <p:cNvSpPr txBox="1"/>
          <p:nvPr/>
        </p:nvSpPr>
        <p:spPr>
          <a:xfrm>
            <a:off x="6028329" y="3587634"/>
            <a:ext cx="304800" cy="461665"/>
          </a:xfrm>
          <a:prstGeom prst="rect">
            <a:avLst/>
          </a:prstGeom>
          <a:noFill/>
        </p:spPr>
        <p:txBody>
          <a:bodyPr wrap="square" rtlCol="0">
            <a:spAutoFit/>
          </a:bodyPr>
          <a:lstStyle/>
          <a:p>
            <a:r>
              <a:rPr lang="en-US" dirty="0">
                <a:solidFill>
                  <a:schemeClr val="accent2"/>
                </a:solidFill>
              </a:rPr>
              <a:t>R</a:t>
            </a:r>
          </a:p>
        </p:txBody>
      </p:sp>
      <p:sp>
        <p:nvSpPr>
          <p:cNvPr id="48" name="TextBox 47">
            <a:extLst>
              <a:ext uri="{FF2B5EF4-FFF2-40B4-BE49-F238E27FC236}">
                <a16:creationId xmlns:a16="http://schemas.microsoft.com/office/drawing/2014/main" id="{6FF2F58F-BA6A-4E94-B5B2-1D61D8F4B2C1}"/>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
        <p:nvSpPr>
          <p:cNvPr id="49" name="TextBox 48">
            <a:extLst>
              <a:ext uri="{FF2B5EF4-FFF2-40B4-BE49-F238E27FC236}">
                <a16:creationId xmlns:a16="http://schemas.microsoft.com/office/drawing/2014/main" id="{F7C056B6-E332-486F-B728-14BF86FD6CF7}"/>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Tree>
    <p:extLst>
      <p:ext uri="{BB962C8B-B14F-4D97-AF65-F5344CB8AC3E}">
        <p14:creationId xmlns:p14="http://schemas.microsoft.com/office/powerpoint/2010/main" val="3556120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2"/>
                                        </p:tgtEl>
                                      </p:cBhvr>
                                    </p:animEffect>
                                    <p:set>
                                      <p:cBhvr>
                                        <p:cTn id="7" dur="1" fill="hold">
                                          <p:stCondLst>
                                            <p:cond delay="499"/>
                                          </p:stCondLst>
                                        </p:cTn>
                                        <p:tgtEl>
                                          <p:spTgt spid="32"/>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1"/>
                                        </p:tgtEl>
                                      </p:cBhvr>
                                    </p:animEffect>
                                    <p:set>
                                      <p:cBhvr>
                                        <p:cTn id="10" dur="1" fill="hold">
                                          <p:stCondLst>
                                            <p:cond delay="499"/>
                                          </p:stCondLst>
                                        </p:cTn>
                                        <p:tgtEl>
                                          <p:spTgt spid="31"/>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37"/>
                                        </p:tgtEl>
                                      </p:cBhvr>
                                    </p:animEffect>
                                    <p:set>
                                      <p:cBhvr>
                                        <p:cTn id="13" dur="1" fill="hold">
                                          <p:stCondLst>
                                            <p:cond delay="499"/>
                                          </p:stCondLst>
                                        </p:cTn>
                                        <p:tgtEl>
                                          <p:spTgt spid="37"/>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36"/>
                                        </p:tgtEl>
                                      </p:cBhvr>
                                    </p:animEffect>
                                    <p:set>
                                      <p:cBhvr>
                                        <p:cTn id="16" dur="1" fill="hold">
                                          <p:stCondLst>
                                            <p:cond delay="499"/>
                                          </p:stCondLst>
                                        </p:cTn>
                                        <p:tgtEl>
                                          <p:spTgt spid="36"/>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par>
                                <p:cTn id="47" presetID="10"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par>
                                <p:cTn id="50" presetID="10" presetClass="entr" presetSubtype="0" fill="hold"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500"/>
                                        <p:tgtEl>
                                          <p:spTgt spid="35"/>
                                        </p:tgtEl>
                                      </p:cBhvr>
                                    </p:animEffect>
                                  </p:childTnLst>
                                </p:cTn>
                              </p:par>
                              <p:par>
                                <p:cTn id="53" presetID="10"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500"/>
                                        <p:tgtEl>
                                          <p:spTgt spid="38"/>
                                        </p:tgtEl>
                                      </p:cBhvr>
                                    </p:animEffect>
                                  </p:childTnLst>
                                </p:cTn>
                              </p:par>
                              <p:par>
                                <p:cTn id="56" presetID="10" presetClass="entr" presetSubtype="0" fill="hold"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500"/>
                                        <p:tgtEl>
                                          <p:spTgt spid="39"/>
                                        </p:tgtEl>
                                      </p:cBhvr>
                                    </p:animEffect>
                                  </p:childTnLst>
                                </p:cTn>
                              </p:par>
                              <p:par>
                                <p:cTn id="59" presetID="10" presetClass="entr" presetSubtype="0" fill="hold"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500"/>
                                        <p:tgtEl>
                                          <p:spTgt spid="40"/>
                                        </p:tgtEl>
                                      </p:cBhvr>
                                    </p:animEffect>
                                  </p:childTnLst>
                                </p:cTn>
                              </p:par>
                              <p:par>
                                <p:cTn id="62" presetID="10" presetClass="entr" presetSubtype="0" fill="hold" nodeType="with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50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nodeType="clickEffect">
                                  <p:stCondLst>
                                    <p:cond delay="0"/>
                                  </p:stCondLst>
                                  <p:childTnLst>
                                    <p:animEffect transition="out" filter="fade">
                                      <p:cBhvr>
                                        <p:cTn id="68" dur="500"/>
                                        <p:tgtEl>
                                          <p:spTgt spid="16"/>
                                        </p:tgtEl>
                                      </p:cBhvr>
                                    </p:animEffect>
                                    <p:set>
                                      <p:cBhvr>
                                        <p:cTn id="69" dur="1" fill="hold">
                                          <p:stCondLst>
                                            <p:cond delay="499"/>
                                          </p:stCondLst>
                                        </p:cTn>
                                        <p:tgtEl>
                                          <p:spTgt spid="16"/>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500"/>
                                        <p:tgtEl>
                                          <p:spTgt spid="18"/>
                                        </p:tgtEl>
                                      </p:cBhvr>
                                    </p:animEffect>
                                    <p:set>
                                      <p:cBhvr>
                                        <p:cTn id="72" dur="1" fill="hold">
                                          <p:stCondLst>
                                            <p:cond delay="499"/>
                                          </p:stCondLst>
                                        </p:cTn>
                                        <p:tgtEl>
                                          <p:spTgt spid="18"/>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500"/>
                                        <p:tgtEl>
                                          <p:spTgt spid="19"/>
                                        </p:tgtEl>
                                      </p:cBhvr>
                                    </p:animEffect>
                                    <p:set>
                                      <p:cBhvr>
                                        <p:cTn id="75" dur="1" fill="hold">
                                          <p:stCondLst>
                                            <p:cond delay="499"/>
                                          </p:stCondLst>
                                        </p:cTn>
                                        <p:tgtEl>
                                          <p:spTgt spid="19"/>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500"/>
                                        <p:tgtEl>
                                          <p:spTgt spid="21"/>
                                        </p:tgtEl>
                                      </p:cBhvr>
                                    </p:animEffect>
                                    <p:set>
                                      <p:cBhvr>
                                        <p:cTn id="78" dur="1" fill="hold">
                                          <p:stCondLst>
                                            <p:cond delay="499"/>
                                          </p:stCondLst>
                                        </p:cTn>
                                        <p:tgtEl>
                                          <p:spTgt spid="21"/>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500"/>
                                        <p:tgtEl>
                                          <p:spTgt spid="22"/>
                                        </p:tgtEl>
                                      </p:cBhvr>
                                    </p:animEffect>
                                    <p:set>
                                      <p:cBhvr>
                                        <p:cTn id="81" dur="1" fill="hold">
                                          <p:stCondLst>
                                            <p:cond delay="499"/>
                                          </p:stCondLst>
                                        </p:cTn>
                                        <p:tgtEl>
                                          <p:spTgt spid="22"/>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500"/>
                                        <p:tgtEl>
                                          <p:spTgt spid="23"/>
                                        </p:tgtEl>
                                      </p:cBhvr>
                                    </p:animEffect>
                                    <p:set>
                                      <p:cBhvr>
                                        <p:cTn id="84" dur="1" fill="hold">
                                          <p:stCondLst>
                                            <p:cond delay="499"/>
                                          </p:stCondLst>
                                        </p:cTn>
                                        <p:tgtEl>
                                          <p:spTgt spid="23"/>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500"/>
                                        <p:tgtEl>
                                          <p:spTgt spid="25"/>
                                        </p:tgtEl>
                                      </p:cBhvr>
                                    </p:animEffect>
                                    <p:set>
                                      <p:cBhvr>
                                        <p:cTn id="87" dur="1" fill="hold">
                                          <p:stCondLst>
                                            <p:cond delay="499"/>
                                          </p:stCondLst>
                                        </p:cTn>
                                        <p:tgtEl>
                                          <p:spTgt spid="25"/>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500"/>
                                        <p:tgtEl>
                                          <p:spTgt spid="27"/>
                                        </p:tgtEl>
                                      </p:cBhvr>
                                    </p:animEffect>
                                    <p:set>
                                      <p:cBhvr>
                                        <p:cTn id="90" dur="1" fill="hold">
                                          <p:stCondLst>
                                            <p:cond delay="499"/>
                                          </p:stCondLst>
                                        </p:cTn>
                                        <p:tgtEl>
                                          <p:spTgt spid="27"/>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500"/>
                                        <p:tgtEl>
                                          <p:spTgt spid="28"/>
                                        </p:tgtEl>
                                      </p:cBhvr>
                                    </p:animEffect>
                                    <p:set>
                                      <p:cBhvr>
                                        <p:cTn id="93" dur="1" fill="hold">
                                          <p:stCondLst>
                                            <p:cond delay="499"/>
                                          </p:stCondLst>
                                        </p:cTn>
                                        <p:tgtEl>
                                          <p:spTgt spid="28"/>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500"/>
                                        <p:tgtEl>
                                          <p:spTgt spid="33"/>
                                        </p:tgtEl>
                                      </p:cBhvr>
                                    </p:animEffect>
                                    <p:set>
                                      <p:cBhvr>
                                        <p:cTn id="96" dur="1" fill="hold">
                                          <p:stCondLst>
                                            <p:cond delay="499"/>
                                          </p:stCondLst>
                                        </p:cTn>
                                        <p:tgtEl>
                                          <p:spTgt spid="33"/>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500"/>
                                        <p:tgtEl>
                                          <p:spTgt spid="34"/>
                                        </p:tgtEl>
                                      </p:cBhvr>
                                    </p:animEffect>
                                    <p:set>
                                      <p:cBhvr>
                                        <p:cTn id="99" dur="1" fill="hold">
                                          <p:stCondLst>
                                            <p:cond delay="499"/>
                                          </p:stCondLst>
                                        </p:cTn>
                                        <p:tgtEl>
                                          <p:spTgt spid="34"/>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500"/>
                                        <p:tgtEl>
                                          <p:spTgt spid="35"/>
                                        </p:tgtEl>
                                      </p:cBhvr>
                                    </p:animEffect>
                                    <p:set>
                                      <p:cBhvr>
                                        <p:cTn id="102" dur="1" fill="hold">
                                          <p:stCondLst>
                                            <p:cond delay="499"/>
                                          </p:stCondLst>
                                        </p:cTn>
                                        <p:tgtEl>
                                          <p:spTgt spid="35"/>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500"/>
                                        <p:tgtEl>
                                          <p:spTgt spid="38"/>
                                        </p:tgtEl>
                                      </p:cBhvr>
                                    </p:animEffect>
                                    <p:set>
                                      <p:cBhvr>
                                        <p:cTn id="105" dur="1" fill="hold">
                                          <p:stCondLst>
                                            <p:cond delay="499"/>
                                          </p:stCondLst>
                                        </p:cTn>
                                        <p:tgtEl>
                                          <p:spTgt spid="38"/>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500"/>
                                        <p:tgtEl>
                                          <p:spTgt spid="39"/>
                                        </p:tgtEl>
                                      </p:cBhvr>
                                    </p:animEffect>
                                    <p:set>
                                      <p:cBhvr>
                                        <p:cTn id="108" dur="1" fill="hold">
                                          <p:stCondLst>
                                            <p:cond delay="499"/>
                                          </p:stCondLst>
                                        </p:cTn>
                                        <p:tgtEl>
                                          <p:spTgt spid="39"/>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500"/>
                                        <p:tgtEl>
                                          <p:spTgt spid="40"/>
                                        </p:tgtEl>
                                      </p:cBhvr>
                                    </p:animEffect>
                                    <p:set>
                                      <p:cBhvr>
                                        <p:cTn id="111" dur="1" fill="hold">
                                          <p:stCondLst>
                                            <p:cond delay="499"/>
                                          </p:stCondLst>
                                        </p:cTn>
                                        <p:tgtEl>
                                          <p:spTgt spid="40"/>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500"/>
                                        <p:tgtEl>
                                          <p:spTgt spid="41"/>
                                        </p:tgtEl>
                                      </p:cBhvr>
                                    </p:animEffect>
                                    <p:set>
                                      <p:cBhvr>
                                        <p:cTn id="114" dur="1" fill="hold">
                                          <p:stCondLst>
                                            <p:cond delay="499"/>
                                          </p:stCondLst>
                                        </p:cTn>
                                        <p:tgtEl>
                                          <p:spTgt spid="41"/>
                                        </p:tgtEl>
                                        <p:attrNameLst>
                                          <p:attrName>style.visibility</p:attrName>
                                        </p:attrNameLst>
                                      </p:cBhvr>
                                      <p:to>
                                        <p:strVal val="hidden"/>
                                      </p:to>
                                    </p:set>
                                  </p:childTnLst>
                                </p:cTn>
                              </p:par>
                              <p:par>
                                <p:cTn id="115" presetID="7" presetClass="emph" presetSubtype="2" fill="hold" nodeType="withEffect">
                                  <p:stCondLst>
                                    <p:cond delay="0"/>
                                  </p:stCondLst>
                                  <p:childTnLst>
                                    <p:animClr clrSpc="rgb" dir="cw">
                                      <p:cBhvr>
                                        <p:cTn id="116" dur="2000" fill="hold"/>
                                        <p:tgtEl>
                                          <p:spTgt spid="43"/>
                                        </p:tgtEl>
                                        <p:attrNameLst>
                                          <p:attrName>stroke.color</p:attrName>
                                        </p:attrNameLst>
                                      </p:cBhvr>
                                      <p:to>
                                        <a:schemeClr val="accent2"/>
                                      </p:to>
                                    </p:animClr>
                                    <p:set>
                                      <p:cBhvr>
                                        <p:cTn id="117" dur="2000" fill="hold"/>
                                        <p:tgtEl>
                                          <p:spTgt spid="43"/>
                                        </p:tgtEl>
                                        <p:attrNameLst>
                                          <p:attrName>stroke.on</p:attrName>
                                        </p:attrNameLst>
                                      </p:cBhvr>
                                      <p:to>
                                        <p:strVal val="true"/>
                                      </p:to>
                                    </p:set>
                                  </p:childTnLst>
                                </p:cTn>
                              </p:par>
                              <p:par>
                                <p:cTn id="118" presetID="7" presetClass="emph" presetSubtype="2" fill="hold" nodeType="withEffect">
                                  <p:stCondLst>
                                    <p:cond delay="0"/>
                                  </p:stCondLst>
                                  <p:childTnLst>
                                    <p:animClr clrSpc="rgb" dir="cw">
                                      <p:cBhvr>
                                        <p:cTn id="119" dur="2000" fill="hold"/>
                                        <p:tgtEl>
                                          <p:spTgt spid="42"/>
                                        </p:tgtEl>
                                        <p:attrNameLst>
                                          <p:attrName>stroke.color</p:attrName>
                                        </p:attrNameLst>
                                      </p:cBhvr>
                                      <p:to>
                                        <a:srgbClr val="FF0000"/>
                                      </p:to>
                                    </p:animClr>
                                    <p:set>
                                      <p:cBhvr>
                                        <p:cTn id="120" dur="2000" fill="hold"/>
                                        <p:tgtEl>
                                          <p:spTgt spid="42"/>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Ventricular conduction</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sp>
        <p:nvSpPr>
          <p:cNvPr id="29" name="Content Placeholder 2">
            <a:extLst>
              <a:ext uri="{FF2B5EF4-FFF2-40B4-BE49-F238E27FC236}">
                <a16:creationId xmlns:a16="http://schemas.microsoft.com/office/drawing/2014/main" id="{EBE13DF5-0931-4D33-B74E-75CF8585BF44}"/>
              </a:ext>
            </a:extLst>
          </p:cNvPr>
          <p:cNvSpPr txBox="1">
            <a:spLocks/>
          </p:cNvSpPr>
          <p:nvPr/>
        </p:nvSpPr>
        <p:spPr bwMode="auto">
          <a:xfrm>
            <a:off x="4027770" y="1295401"/>
            <a:ext cx="4849530" cy="144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dirty="0"/>
              <a:t>Ventricular repolarization</a:t>
            </a:r>
          </a:p>
          <a:p>
            <a:pPr lvl="1">
              <a:spcBef>
                <a:spcPts val="0"/>
              </a:spcBef>
            </a:pPr>
            <a:r>
              <a:rPr lang="en-US" sz="2000" dirty="0"/>
              <a:t>It takes current to make the cells recover from APs, also</a:t>
            </a:r>
          </a:p>
          <a:p>
            <a:r>
              <a:rPr lang="en-US" sz="2400" dirty="0"/>
              <a:t>T wave</a:t>
            </a:r>
          </a:p>
          <a:p>
            <a:pPr marL="0" indent="0">
              <a:buNone/>
            </a:pPr>
            <a:endParaRPr lang="en-US" sz="2800" dirty="0"/>
          </a:p>
        </p:txBody>
      </p:sp>
      <p:sp>
        <p:nvSpPr>
          <p:cNvPr id="30" name="Freeform: Shape 29">
            <a:extLst>
              <a:ext uri="{FF2B5EF4-FFF2-40B4-BE49-F238E27FC236}">
                <a16:creationId xmlns:a16="http://schemas.microsoft.com/office/drawing/2014/main" id="{22AA4E4E-42E9-4773-BDD9-FE0299A950F2}"/>
              </a:ext>
            </a:extLst>
          </p:cNvPr>
          <p:cNvSpPr/>
          <p:nvPr/>
        </p:nvSpPr>
        <p:spPr>
          <a:xfrm>
            <a:off x="5029200" y="5210665"/>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56A9731E-2A03-401A-BD3A-010AAEDBB73A}"/>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3F6E7409-67BC-4831-885E-E660482883B4}"/>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4F6696D-D3AA-48B8-81D5-DADCDC0E0888}"/>
              </a:ext>
            </a:extLst>
          </p:cNvPr>
          <p:cNvSpPr txBox="1"/>
          <p:nvPr/>
        </p:nvSpPr>
        <p:spPr>
          <a:xfrm>
            <a:off x="5105400" y="5223180"/>
            <a:ext cx="304800" cy="461665"/>
          </a:xfrm>
          <a:prstGeom prst="rect">
            <a:avLst/>
          </a:prstGeom>
          <a:noFill/>
        </p:spPr>
        <p:txBody>
          <a:bodyPr wrap="square" rtlCol="0">
            <a:spAutoFit/>
          </a:bodyPr>
          <a:lstStyle/>
          <a:p>
            <a:r>
              <a:rPr lang="en-US" dirty="0">
                <a:solidFill>
                  <a:schemeClr val="accent2"/>
                </a:solidFill>
              </a:rPr>
              <a:t>P</a:t>
            </a:r>
          </a:p>
        </p:txBody>
      </p:sp>
      <p:sp>
        <p:nvSpPr>
          <p:cNvPr id="45" name="TextBox 44">
            <a:extLst>
              <a:ext uri="{FF2B5EF4-FFF2-40B4-BE49-F238E27FC236}">
                <a16:creationId xmlns:a16="http://schemas.microsoft.com/office/drawing/2014/main" id="{C9AA2B5E-A345-4C5B-AAEA-C6922C75B11C}"/>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46" name="TextBox 45">
            <a:extLst>
              <a:ext uri="{FF2B5EF4-FFF2-40B4-BE49-F238E27FC236}">
                <a16:creationId xmlns:a16="http://schemas.microsoft.com/office/drawing/2014/main" id="{82887BD9-86F6-4858-A89F-59471775074F}"/>
              </a:ext>
            </a:extLst>
          </p:cNvPr>
          <p:cNvSpPr txBox="1"/>
          <p:nvPr/>
        </p:nvSpPr>
        <p:spPr>
          <a:xfrm>
            <a:off x="6028329" y="3587634"/>
            <a:ext cx="304800" cy="461665"/>
          </a:xfrm>
          <a:prstGeom prst="rect">
            <a:avLst/>
          </a:prstGeom>
          <a:noFill/>
        </p:spPr>
        <p:txBody>
          <a:bodyPr wrap="square" rtlCol="0">
            <a:spAutoFit/>
          </a:bodyPr>
          <a:lstStyle/>
          <a:p>
            <a:r>
              <a:rPr lang="en-US" dirty="0">
                <a:solidFill>
                  <a:schemeClr val="accent2"/>
                </a:solidFill>
              </a:rPr>
              <a:t>R</a:t>
            </a:r>
          </a:p>
        </p:txBody>
      </p:sp>
      <p:sp>
        <p:nvSpPr>
          <p:cNvPr id="48" name="TextBox 47">
            <a:extLst>
              <a:ext uri="{FF2B5EF4-FFF2-40B4-BE49-F238E27FC236}">
                <a16:creationId xmlns:a16="http://schemas.microsoft.com/office/drawing/2014/main" id="{6FF2F58F-BA6A-4E94-B5B2-1D61D8F4B2C1}"/>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
        <p:nvSpPr>
          <p:cNvPr id="16" name="TextBox 15">
            <a:extLst>
              <a:ext uri="{FF2B5EF4-FFF2-40B4-BE49-F238E27FC236}">
                <a16:creationId xmlns:a16="http://schemas.microsoft.com/office/drawing/2014/main" id="{78E5E89C-1BB3-4367-83DF-02D84E3693EA}"/>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Tree>
    <p:extLst>
      <p:ext uri="{BB962C8B-B14F-4D97-AF65-F5344CB8AC3E}">
        <p14:creationId xmlns:p14="http://schemas.microsoft.com/office/powerpoint/2010/main" val="2221304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9332F-15D7-484C-B1DD-459510FE2701}"/>
              </a:ext>
            </a:extLst>
          </p:cNvPr>
          <p:cNvSpPr>
            <a:spLocks noGrp="1"/>
          </p:cNvSpPr>
          <p:nvPr>
            <p:ph type="title"/>
          </p:nvPr>
        </p:nvSpPr>
        <p:spPr/>
        <p:txBody>
          <a:bodyPr/>
          <a:lstStyle/>
          <a:p>
            <a:r>
              <a:rPr lang="en-US" dirty="0"/>
              <a:t>Electrocardiogram</a:t>
            </a:r>
          </a:p>
        </p:txBody>
      </p:sp>
      <p:sp>
        <p:nvSpPr>
          <p:cNvPr id="3" name="Content Placeholder 2">
            <a:extLst>
              <a:ext uri="{FF2B5EF4-FFF2-40B4-BE49-F238E27FC236}">
                <a16:creationId xmlns:a16="http://schemas.microsoft.com/office/drawing/2014/main" id="{036FC569-E95E-4533-A3B2-F121D601FCF2}"/>
              </a:ext>
            </a:extLst>
          </p:cNvPr>
          <p:cNvSpPr>
            <a:spLocks noGrp="1"/>
          </p:cNvSpPr>
          <p:nvPr>
            <p:ph idx="1"/>
          </p:nvPr>
        </p:nvSpPr>
        <p:spPr>
          <a:xfrm>
            <a:off x="838326" y="3755617"/>
            <a:ext cx="8000874" cy="2662113"/>
          </a:xfrm>
        </p:spPr>
        <p:txBody>
          <a:bodyPr/>
          <a:lstStyle/>
          <a:p>
            <a:r>
              <a:rPr lang="en-US" dirty="0"/>
              <a:t>Show the following intervals:</a:t>
            </a:r>
          </a:p>
          <a:p>
            <a:pPr lvl="1">
              <a:spcBef>
                <a:spcPts val="0"/>
              </a:spcBef>
            </a:pPr>
            <a:r>
              <a:rPr lang="en-US" dirty="0"/>
              <a:t>Heart rate</a:t>
            </a:r>
          </a:p>
          <a:p>
            <a:pPr lvl="1">
              <a:spcBef>
                <a:spcPts val="0"/>
              </a:spcBef>
            </a:pPr>
            <a:r>
              <a:rPr lang="en-US" dirty="0"/>
              <a:t>Traverse the atria and AV node (a.k.a. the “PR interval”!)</a:t>
            </a:r>
          </a:p>
          <a:p>
            <a:pPr lvl="1">
              <a:spcBef>
                <a:spcPts val="0"/>
              </a:spcBef>
            </a:pPr>
            <a:r>
              <a:rPr lang="en-US" dirty="0"/>
              <a:t>how long it takes for the wave to traverse the AV node (a.k.a. the PR segment)</a:t>
            </a:r>
          </a:p>
          <a:p>
            <a:pPr marL="457200" lvl="1" indent="0">
              <a:spcBef>
                <a:spcPts val="0"/>
              </a:spcBef>
              <a:buNone/>
            </a:pPr>
            <a:endParaRPr lang="en-US" dirty="0"/>
          </a:p>
          <a:p>
            <a:endParaRPr lang="en-US" dirty="0"/>
          </a:p>
        </p:txBody>
      </p:sp>
      <p:sp>
        <p:nvSpPr>
          <p:cNvPr id="4" name="Footer Placeholder 3">
            <a:extLst>
              <a:ext uri="{FF2B5EF4-FFF2-40B4-BE49-F238E27FC236}">
                <a16:creationId xmlns:a16="http://schemas.microsoft.com/office/drawing/2014/main" id="{29085EBB-3DEE-45A4-9CEE-B347DE2E2345}"/>
              </a:ext>
            </a:extLst>
          </p:cNvPr>
          <p:cNvSpPr>
            <a:spLocks noGrp="1"/>
          </p:cNvSpPr>
          <p:nvPr>
            <p:ph type="ftr" sz="quarter" idx="11"/>
          </p:nvPr>
        </p:nvSpPr>
        <p:spPr/>
        <p:txBody>
          <a:bodyPr/>
          <a:lstStyle/>
          <a:p>
            <a:pPr>
              <a:defRPr/>
            </a:pPr>
            <a:r>
              <a:rPr lang="en-US" dirty="0"/>
              <a:t>EN1 EIY-- Bioelectricity</a:t>
            </a:r>
          </a:p>
        </p:txBody>
      </p:sp>
      <p:grpSp>
        <p:nvGrpSpPr>
          <p:cNvPr id="24" name="Group 23">
            <a:extLst>
              <a:ext uri="{FF2B5EF4-FFF2-40B4-BE49-F238E27FC236}">
                <a16:creationId xmlns:a16="http://schemas.microsoft.com/office/drawing/2014/main" id="{0CD9E6D3-2763-4886-8475-C7A5F278DAED}"/>
              </a:ext>
            </a:extLst>
          </p:cNvPr>
          <p:cNvGrpSpPr/>
          <p:nvPr/>
        </p:nvGrpSpPr>
        <p:grpSpPr>
          <a:xfrm>
            <a:off x="914401" y="1295400"/>
            <a:ext cx="2286000" cy="1942914"/>
            <a:chOff x="1989667" y="1227667"/>
            <a:chExt cx="5190066" cy="4411133"/>
          </a:xfrm>
        </p:grpSpPr>
        <p:sp>
          <p:nvSpPr>
            <p:cNvPr id="21" name="Freeform: Shape 20">
              <a:extLst>
                <a:ext uri="{FF2B5EF4-FFF2-40B4-BE49-F238E27FC236}">
                  <a16:creationId xmlns:a16="http://schemas.microsoft.com/office/drawing/2014/main" id="{F5327CF0-5812-44AB-AB33-635C84898C3C}"/>
                </a:ext>
              </a:extLst>
            </p:cNvPr>
            <p:cNvSpPr/>
            <p:nvPr/>
          </p:nvSpPr>
          <p:spPr>
            <a:xfrm>
              <a:off x="1989667" y="4320771"/>
              <a:ext cx="1219200" cy="403629"/>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884F669D-0EEA-47FF-8806-0C0255682ECE}"/>
                </a:ext>
              </a:extLst>
            </p:cNvPr>
            <p:cNvSpPr/>
            <p:nvPr/>
          </p:nvSpPr>
          <p:spPr>
            <a:xfrm>
              <a:off x="5952067" y="4114800"/>
              <a:ext cx="1227666" cy="661116"/>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97C02CB2-63BA-4406-B4A6-13AA1B4A9CCF}"/>
                </a:ext>
              </a:extLst>
            </p:cNvPr>
            <p:cNvSpPr/>
            <p:nvPr/>
          </p:nvSpPr>
          <p:spPr>
            <a:xfrm>
              <a:off x="3217333" y="1227667"/>
              <a:ext cx="2751667" cy="4411133"/>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9CFB950-7CBA-4E78-8A10-6809D5E029D6}"/>
              </a:ext>
            </a:extLst>
          </p:cNvPr>
          <p:cNvGrpSpPr/>
          <p:nvPr/>
        </p:nvGrpSpPr>
        <p:grpSpPr>
          <a:xfrm>
            <a:off x="4089399" y="1312334"/>
            <a:ext cx="2286000" cy="1942914"/>
            <a:chOff x="1989667" y="1227667"/>
            <a:chExt cx="5190066" cy="4411133"/>
          </a:xfrm>
        </p:grpSpPr>
        <p:sp>
          <p:nvSpPr>
            <p:cNvPr id="26" name="Freeform: Shape 25">
              <a:extLst>
                <a:ext uri="{FF2B5EF4-FFF2-40B4-BE49-F238E27FC236}">
                  <a16:creationId xmlns:a16="http://schemas.microsoft.com/office/drawing/2014/main" id="{028DC182-1543-4564-BF24-83A669225F1F}"/>
                </a:ext>
              </a:extLst>
            </p:cNvPr>
            <p:cNvSpPr/>
            <p:nvPr/>
          </p:nvSpPr>
          <p:spPr>
            <a:xfrm>
              <a:off x="1989667" y="4320771"/>
              <a:ext cx="1219200" cy="403629"/>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D190197-8065-4967-B0A2-C71A164612A0}"/>
                </a:ext>
              </a:extLst>
            </p:cNvPr>
            <p:cNvSpPr/>
            <p:nvPr/>
          </p:nvSpPr>
          <p:spPr>
            <a:xfrm>
              <a:off x="5952067" y="4114800"/>
              <a:ext cx="1227666" cy="661116"/>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192F3577-776E-4B89-993B-66393671BB2C}"/>
                </a:ext>
              </a:extLst>
            </p:cNvPr>
            <p:cNvSpPr/>
            <p:nvPr/>
          </p:nvSpPr>
          <p:spPr>
            <a:xfrm>
              <a:off x="3217333" y="1227667"/>
              <a:ext cx="2751667" cy="4411133"/>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0" name="Straight Connector 29">
            <a:extLst>
              <a:ext uri="{FF2B5EF4-FFF2-40B4-BE49-F238E27FC236}">
                <a16:creationId xmlns:a16="http://schemas.microsoft.com/office/drawing/2014/main" id="{DEB88B04-9201-4D79-A3C2-76C5D3AE6CE0}"/>
              </a:ext>
            </a:extLst>
          </p:cNvPr>
          <p:cNvCxnSpPr/>
          <p:nvPr/>
        </p:nvCxnSpPr>
        <p:spPr>
          <a:xfrm>
            <a:off x="3200400" y="2857187"/>
            <a:ext cx="914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A54CB18-CBE5-41D0-AA45-84AE84D739D3}"/>
              </a:ext>
            </a:extLst>
          </p:cNvPr>
          <p:cNvSpPr txBox="1"/>
          <p:nvPr/>
        </p:nvSpPr>
        <p:spPr>
          <a:xfrm>
            <a:off x="1011202" y="2700113"/>
            <a:ext cx="304800" cy="461665"/>
          </a:xfrm>
          <a:prstGeom prst="rect">
            <a:avLst/>
          </a:prstGeom>
          <a:noFill/>
        </p:spPr>
        <p:txBody>
          <a:bodyPr wrap="square" rtlCol="0">
            <a:spAutoFit/>
          </a:bodyPr>
          <a:lstStyle/>
          <a:p>
            <a:r>
              <a:rPr lang="en-US" dirty="0">
                <a:solidFill>
                  <a:schemeClr val="accent2"/>
                </a:solidFill>
              </a:rPr>
              <a:t>P</a:t>
            </a:r>
          </a:p>
        </p:txBody>
      </p:sp>
      <p:sp>
        <p:nvSpPr>
          <p:cNvPr id="32" name="TextBox 31">
            <a:extLst>
              <a:ext uri="{FF2B5EF4-FFF2-40B4-BE49-F238E27FC236}">
                <a16:creationId xmlns:a16="http://schemas.microsoft.com/office/drawing/2014/main" id="{DD09B825-6CC4-4036-BC70-E47B91E2A7A9}"/>
              </a:ext>
            </a:extLst>
          </p:cNvPr>
          <p:cNvSpPr txBox="1"/>
          <p:nvPr/>
        </p:nvSpPr>
        <p:spPr>
          <a:xfrm>
            <a:off x="1718732" y="2899602"/>
            <a:ext cx="304800" cy="461665"/>
          </a:xfrm>
          <a:prstGeom prst="rect">
            <a:avLst/>
          </a:prstGeom>
          <a:noFill/>
        </p:spPr>
        <p:txBody>
          <a:bodyPr wrap="square" rtlCol="0">
            <a:spAutoFit/>
          </a:bodyPr>
          <a:lstStyle/>
          <a:p>
            <a:r>
              <a:rPr lang="en-US" dirty="0">
                <a:solidFill>
                  <a:schemeClr val="accent2"/>
                </a:solidFill>
              </a:rPr>
              <a:t>Q</a:t>
            </a:r>
          </a:p>
        </p:txBody>
      </p:sp>
      <p:sp>
        <p:nvSpPr>
          <p:cNvPr id="33" name="TextBox 32">
            <a:extLst>
              <a:ext uri="{FF2B5EF4-FFF2-40B4-BE49-F238E27FC236}">
                <a16:creationId xmlns:a16="http://schemas.microsoft.com/office/drawing/2014/main" id="{8CC258FD-21BB-4433-B307-89E436F297AB}"/>
              </a:ext>
            </a:extLst>
          </p:cNvPr>
          <p:cNvSpPr txBox="1"/>
          <p:nvPr/>
        </p:nvSpPr>
        <p:spPr>
          <a:xfrm>
            <a:off x="1934131" y="1064567"/>
            <a:ext cx="304800" cy="461665"/>
          </a:xfrm>
          <a:prstGeom prst="rect">
            <a:avLst/>
          </a:prstGeom>
          <a:noFill/>
        </p:spPr>
        <p:txBody>
          <a:bodyPr wrap="square" rtlCol="0">
            <a:spAutoFit/>
          </a:bodyPr>
          <a:lstStyle/>
          <a:p>
            <a:r>
              <a:rPr lang="en-US" dirty="0">
                <a:solidFill>
                  <a:schemeClr val="accent2"/>
                </a:solidFill>
              </a:rPr>
              <a:t>R</a:t>
            </a:r>
          </a:p>
        </p:txBody>
      </p:sp>
      <p:sp>
        <p:nvSpPr>
          <p:cNvPr id="34" name="TextBox 33">
            <a:extLst>
              <a:ext uri="{FF2B5EF4-FFF2-40B4-BE49-F238E27FC236}">
                <a16:creationId xmlns:a16="http://schemas.microsoft.com/office/drawing/2014/main" id="{CA8ADA5E-4A92-4A01-AD84-22895A9B0A4D}"/>
              </a:ext>
            </a:extLst>
          </p:cNvPr>
          <p:cNvSpPr txBox="1"/>
          <p:nvPr/>
        </p:nvSpPr>
        <p:spPr>
          <a:xfrm>
            <a:off x="1972730" y="3111268"/>
            <a:ext cx="304800" cy="461665"/>
          </a:xfrm>
          <a:prstGeom prst="rect">
            <a:avLst/>
          </a:prstGeom>
          <a:noFill/>
        </p:spPr>
        <p:txBody>
          <a:bodyPr wrap="square" rtlCol="0">
            <a:spAutoFit/>
          </a:bodyPr>
          <a:lstStyle/>
          <a:p>
            <a:r>
              <a:rPr lang="en-US" dirty="0">
                <a:solidFill>
                  <a:schemeClr val="accent2"/>
                </a:solidFill>
              </a:rPr>
              <a:t>S</a:t>
            </a:r>
          </a:p>
        </p:txBody>
      </p:sp>
      <p:sp>
        <p:nvSpPr>
          <p:cNvPr id="35" name="TextBox 34">
            <a:extLst>
              <a:ext uri="{FF2B5EF4-FFF2-40B4-BE49-F238E27FC236}">
                <a16:creationId xmlns:a16="http://schemas.microsoft.com/office/drawing/2014/main" id="{D04776AA-CEBA-4666-8309-575D611E6A19}"/>
              </a:ext>
            </a:extLst>
          </p:cNvPr>
          <p:cNvSpPr txBox="1"/>
          <p:nvPr/>
        </p:nvSpPr>
        <p:spPr>
          <a:xfrm>
            <a:off x="2819400" y="2590800"/>
            <a:ext cx="304800" cy="461665"/>
          </a:xfrm>
          <a:prstGeom prst="rect">
            <a:avLst/>
          </a:prstGeom>
          <a:noFill/>
        </p:spPr>
        <p:txBody>
          <a:bodyPr wrap="square" rtlCol="0">
            <a:spAutoFit/>
          </a:bodyPr>
          <a:lstStyle/>
          <a:p>
            <a:r>
              <a:rPr lang="en-US" dirty="0">
                <a:solidFill>
                  <a:schemeClr val="accent2"/>
                </a:solidFill>
              </a:rPr>
              <a:t>T</a:t>
            </a:r>
          </a:p>
        </p:txBody>
      </p:sp>
    </p:spTree>
    <p:extLst>
      <p:ext uri="{BB962C8B-B14F-4D97-AF65-F5344CB8AC3E}">
        <p14:creationId xmlns:p14="http://schemas.microsoft.com/office/powerpoint/2010/main" val="22913310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4A92-0AE1-418F-98C6-8738AD0D48CE}"/>
              </a:ext>
            </a:extLst>
          </p:cNvPr>
          <p:cNvSpPr>
            <a:spLocks noGrp="1"/>
          </p:cNvSpPr>
          <p:nvPr>
            <p:ph type="title"/>
          </p:nvPr>
        </p:nvSpPr>
        <p:spPr/>
        <p:txBody>
          <a:bodyPr/>
          <a:lstStyle/>
          <a:p>
            <a:r>
              <a:rPr lang="en-US" dirty="0"/>
              <a:t>Table of contents – this unit</a:t>
            </a:r>
          </a:p>
        </p:txBody>
      </p:sp>
      <p:sp>
        <p:nvSpPr>
          <p:cNvPr id="3" name="Content Placeholder 2">
            <a:extLst>
              <a:ext uri="{FF2B5EF4-FFF2-40B4-BE49-F238E27FC236}">
                <a16:creationId xmlns:a16="http://schemas.microsoft.com/office/drawing/2014/main" id="{0E944ED5-3D23-45D1-ACC3-736ECD603F53}"/>
              </a:ext>
            </a:extLst>
          </p:cNvPr>
          <p:cNvSpPr>
            <a:spLocks noGrp="1"/>
          </p:cNvSpPr>
          <p:nvPr>
            <p:ph idx="1"/>
          </p:nvPr>
        </p:nvSpPr>
        <p:spPr/>
        <p:txBody>
          <a:bodyPr/>
          <a:lstStyle/>
          <a:p>
            <a:r>
              <a:rPr lang="en-US" dirty="0"/>
              <a:t>Cool cardiac facts &amp; why we care</a:t>
            </a:r>
          </a:p>
          <a:p>
            <a:r>
              <a:rPr lang="en-US" dirty="0"/>
              <a:t>Cardiac plumbing and electricals</a:t>
            </a:r>
          </a:p>
          <a:p>
            <a:r>
              <a:rPr lang="en-US" dirty="0"/>
              <a:t>Electrocardiograms</a:t>
            </a:r>
          </a:p>
          <a:p>
            <a:r>
              <a:rPr lang="en-US" dirty="0">
                <a:highlight>
                  <a:srgbClr val="FFFF00"/>
                </a:highlight>
              </a:rPr>
              <a:t>Arrhythmias</a:t>
            </a:r>
            <a:endParaRPr lang="en-US" dirty="0"/>
          </a:p>
          <a:p>
            <a:pPr lvl="1">
              <a:spcBef>
                <a:spcPts val="0"/>
              </a:spcBef>
            </a:pPr>
            <a:r>
              <a:rPr lang="en-US" dirty="0"/>
              <a:t>so many things can go wrong </a:t>
            </a:r>
            <a:r>
              <a:rPr lang="en-US" dirty="0">
                <a:sym typeface="Wingdings" panose="05000000000000000000" pitchFamily="2" charset="2"/>
              </a:rPr>
              <a:t></a:t>
            </a:r>
            <a:endParaRPr lang="en-US" dirty="0">
              <a:highlight>
                <a:srgbClr val="FFFF00"/>
              </a:highlight>
            </a:endParaRPr>
          </a:p>
        </p:txBody>
      </p:sp>
      <p:sp>
        <p:nvSpPr>
          <p:cNvPr id="4" name="Footer Placeholder 3">
            <a:extLst>
              <a:ext uri="{FF2B5EF4-FFF2-40B4-BE49-F238E27FC236}">
                <a16:creationId xmlns:a16="http://schemas.microsoft.com/office/drawing/2014/main" id="{E374EE35-380B-4ECA-A2BB-ED4C3312E805}"/>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3028076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Atrial conduction – review</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36675" y="1219200"/>
            <a:ext cx="4811650" cy="995064"/>
          </a:xfrm>
        </p:spPr>
        <p:txBody>
          <a:bodyPr/>
          <a:lstStyle/>
          <a:p>
            <a:r>
              <a:rPr lang="en-US" sz="2400" dirty="0"/>
              <a:t>Sinoatrial (SA) node is the oscillator</a:t>
            </a:r>
          </a:p>
          <a:p>
            <a:r>
              <a:rPr lang="en-US" sz="2400" dirty="0"/>
              <a:t>Signal spreads over the atria at 1 m/s (100ms total)</a:t>
            </a:r>
          </a:p>
          <a:p>
            <a:pPr lvl="1">
              <a:spcBef>
                <a:spcPts val="0"/>
              </a:spcBef>
            </a:pPr>
            <a:r>
              <a:rPr lang="en-US" sz="2000" dirty="0"/>
              <a:t>Atrial muscles contract</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a:stCxn id="14" idx="6"/>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AEC175F-A66F-4AE7-A729-0404CBE0EEEC}"/>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6C2190E-9B61-4EDD-A390-784E67B02F6D}"/>
              </a:ext>
            </a:extLst>
          </p:cNvPr>
          <p:cNvCxnSpPr>
            <a:cxnSpLocks/>
            <a:stCxn id="14" idx="6"/>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DBE62C6-DB88-4B74-A590-012251EC7164}"/>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5EB2F5D-164A-43A9-95BF-257270CC3736}"/>
              </a:ext>
            </a:extLst>
          </p:cNvPr>
          <p:cNvCxnSpPr>
            <a:cxnSpLocks/>
          </p:cNvCxnSpPr>
          <p:nvPr/>
        </p:nvCxnSpPr>
        <p:spPr>
          <a:xfrm flipH="1">
            <a:off x="685800" y="3454399"/>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388F061-7419-4F42-94E4-A3CA17846261}"/>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B3CB1D5-E6D3-401E-A2C6-9EFE55669FFA}"/>
              </a:ext>
            </a:extLst>
          </p:cNvPr>
          <p:cNvCxnSpPr>
            <a:cxnSpLocks/>
            <a:endCxn id="17" idx="1"/>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D2C7338-58B5-4F82-84C2-520E9063A4E8}"/>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862F42F-1045-4DD1-9992-7A2792451EE6}"/>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160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par>
                                <p:cTn id="31" presetID="10"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500"/>
                                        <p:tgtEl>
                                          <p:spTgt spid="42"/>
                                        </p:tgtEl>
                                      </p:cBhvr>
                                    </p:animEffect>
                                  </p:childTnLst>
                                </p:cTn>
                              </p:par>
                            </p:childTnLst>
                          </p:cTn>
                        </p:par>
                        <p:par>
                          <p:cTn id="34" fill="hold">
                            <p:stCondLst>
                              <p:cond delay="1500"/>
                            </p:stCondLst>
                            <p:childTnLst>
                              <p:par>
                                <p:cTn id="35" presetID="10" presetClass="exit" presetSubtype="0" fill="hold" nodeType="afterEffect">
                                  <p:stCondLst>
                                    <p:cond delay="0"/>
                                  </p:stCondLst>
                                  <p:childTnLst>
                                    <p:animEffect transition="out" filter="fad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27"/>
                                        </p:tgtEl>
                                      </p:cBhvr>
                                    </p:animEffect>
                                    <p:set>
                                      <p:cBhvr>
                                        <p:cTn id="40" dur="1" fill="hold">
                                          <p:stCondLst>
                                            <p:cond delay="499"/>
                                          </p:stCondLst>
                                        </p:cTn>
                                        <p:tgtEl>
                                          <p:spTgt spid="27"/>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30"/>
                                        </p:tgtEl>
                                      </p:cBhvr>
                                    </p:animEffect>
                                    <p:set>
                                      <p:cBhvr>
                                        <p:cTn id="43" dur="1" fill="hold">
                                          <p:stCondLst>
                                            <p:cond delay="499"/>
                                          </p:stCondLst>
                                        </p:cTn>
                                        <p:tgtEl>
                                          <p:spTgt spid="30"/>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33"/>
                                        </p:tgtEl>
                                      </p:cBhvr>
                                    </p:animEffect>
                                    <p:set>
                                      <p:cBhvr>
                                        <p:cTn id="46" dur="1" fill="hold">
                                          <p:stCondLst>
                                            <p:cond delay="499"/>
                                          </p:stCondLst>
                                        </p:cTn>
                                        <p:tgtEl>
                                          <p:spTgt spid="3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35"/>
                                        </p:tgtEl>
                                      </p:cBhvr>
                                    </p:animEffect>
                                    <p:set>
                                      <p:cBhvr>
                                        <p:cTn id="49" dur="1" fill="hold">
                                          <p:stCondLst>
                                            <p:cond delay="499"/>
                                          </p:stCondLst>
                                        </p:cTn>
                                        <p:tgtEl>
                                          <p:spTgt spid="35"/>
                                        </p:tgtEl>
                                        <p:attrNameLst>
                                          <p:attrName>style.visibility</p:attrName>
                                        </p:attrNameLst>
                                      </p:cBhvr>
                                      <p:to>
                                        <p:strVal val="hidden"/>
                                      </p:to>
                                    </p:set>
                                  </p:childTnLst>
                                </p:cTn>
                              </p:par>
                            </p:childTnLst>
                          </p:cTn>
                        </p:par>
                        <p:par>
                          <p:cTn id="50" fill="hold">
                            <p:stCondLst>
                              <p:cond delay="2000"/>
                            </p:stCondLst>
                            <p:childTnLst>
                              <p:par>
                                <p:cTn id="51" presetID="10" presetClass="exit" presetSubtype="0" fill="hold" nodeType="afterEffect">
                                  <p:stCondLst>
                                    <p:cond delay="0"/>
                                  </p:stCondLst>
                                  <p:childTnLst>
                                    <p:animEffect transition="out" filter="fade">
                                      <p:cBhvr>
                                        <p:cTn id="52" dur="500"/>
                                        <p:tgtEl>
                                          <p:spTgt spid="34"/>
                                        </p:tgtEl>
                                      </p:cBhvr>
                                    </p:animEffect>
                                    <p:set>
                                      <p:cBhvr>
                                        <p:cTn id="53" dur="1" fill="hold">
                                          <p:stCondLst>
                                            <p:cond delay="499"/>
                                          </p:stCondLst>
                                        </p:cTn>
                                        <p:tgtEl>
                                          <p:spTgt spid="34"/>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500"/>
                                        <p:tgtEl>
                                          <p:spTgt spid="26"/>
                                        </p:tgtEl>
                                      </p:cBhvr>
                                    </p:animEffect>
                                    <p:set>
                                      <p:cBhvr>
                                        <p:cTn id="56" dur="1" fill="hold">
                                          <p:stCondLst>
                                            <p:cond delay="499"/>
                                          </p:stCondLst>
                                        </p:cTn>
                                        <p:tgtEl>
                                          <p:spTgt spid="26"/>
                                        </p:tgtEl>
                                        <p:attrNameLst>
                                          <p:attrName>style.visibility</p:attrName>
                                        </p:attrNameLst>
                                      </p:cBhvr>
                                      <p:to>
                                        <p:strVal val="hidden"/>
                                      </p:to>
                                    </p:set>
                                  </p:childTnLst>
                                </p:cTn>
                              </p:par>
                            </p:childTnLst>
                          </p:cTn>
                        </p:par>
                        <p:par>
                          <p:cTn id="57" fill="hold">
                            <p:stCondLst>
                              <p:cond delay="2500"/>
                            </p:stCondLst>
                            <p:childTnLst>
                              <p:par>
                                <p:cTn id="58" presetID="10" presetClass="exit" presetSubtype="0" fill="hold" nodeType="afterEffect">
                                  <p:stCondLst>
                                    <p:cond delay="0"/>
                                  </p:stCondLst>
                                  <p:childTnLst>
                                    <p:animEffect transition="out" filter="fade">
                                      <p:cBhvr>
                                        <p:cTn id="59" dur="500"/>
                                        <p:tgtEl>
                                          <p:spTgt spid="41"/>
                                        </p:tgtEl>
                                      </p:cBhvr>
                                    </p:animEffect>
                                    <p:set>
                                      <p:cBhvr>
                                        <p:cTn id="60" dur="1" fill="hold">
                                          <p:stCondLst>
                                            <p:cond delay="499"/>
                                          </p:stCondLst>
                                        </p:cTn>
                                        <p:tgtEl>
                                          <p:spTgt spid="41"/>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42"/>
                                        </p:tgtEl>
                                      </p:cBhvr>
                                    </p:animEffect>
                                    <p:set>
                                      <p:cBhvr>
                                        <p:cTn id="63" dur="1" fill="hold">
                                          <p:stCondLst>
                                            <p:cond delay="4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Your heart, on </a:t>
            </a:r>
            <a:r>
              <a:rPr lang="en-US" dirty="0" err="1"/>
              <a:t>AFib</a:t>
            </a:r>
            <a:endParaRPr lang="en-US" dirty="0"/>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57949" y="1974848"/>
            <a:ext cx="4811650" cy="3740151"/>
          </a:xfrm>
        </p:spPr>
        <p:txBody>
          <a:bodyPr/>
          <a:lstStyle/>
          <a:p>
            <a:r>
              <a:rPr lang="en-US" sz="2400" dirty="0"/>
              <a:t>Loop starts at an </a:t>
            </a:r>
            <a:r>
              <a:rPr lang="en-US" sz="2400" i="1" dirty="0"/>
              <a:t>ectopic pacemaker</a:t>
            </a:r>
          </a:p>
          <a:p>
            <a:r>
              <a:rPr lang="en-US" sz="2400" dirty="0"/>
              <a:t>Goes round and round with no input from SA node</a:t>
            </a:r>
          </a:p>
          <a:p>
            <a:pPr lvl="1">
              <a:spcBef>
                <a:spcPts val="0"/>
              </a:spcBef>
            </a:pPr>
            <a:r>
              <a:rPr lang="en-US" dirty="0"/>
              <a:t>Called a </a:t>
            </a:r>
            <a:r>
              <a:rPr lang="en-US" i="1" dirty="0"/>
              <a:t>reentrant</a:t>
            </a:r>
            <a:r>
              <a:rPr lang="en-US" dirty="0"/>
              <a:t> arrhythmia</a:t>
            </a:r>
          </a:p>
          <a:p>
            <a:pPr lvl="1">
              <a:spcBef>
                <a:spcPts val="0"/>
              </a:spcBef>
            </a:pPr>
            <a:r>
              <a:rPr lang="en-US" dirty="0"/>
              <a:t>May take a slightly different path each time</a:t>
            </a:r>
          </a:p>
          <a:p>
            <a:pPr lvl="1">
              <a:spcBef>
                <a:spcPts val="0"/>
              </a:spcBef>
            </a:pPr>
            <a:r>
              <a:rPr lang="en-US" dirty="0"/>
              <a:t>Waves spread out from the loop, some go through AV node and trigger ventricles</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p:cNvCxnSpPr>
          <p:nvPr/>
        </p:nvCxnSpPr>
        <p:spPr>
          <a:xfrm flipV="1">
            <a:off x="2057400" y="3073399"/>
            <a:ext cx="6096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B3F5BD-EC04-45C3-B2C3-C522768BFAF8}"/>
              </a:ext>
            </a:extLst>
          </p:cNvPr>
          <p:cNvCxnSpPr>
            <a:cxnSpLocks/>
          </p:cNvCxnSpPr>
          <p:nvPr/>
        </p:nvCxnSpPr>
        <p:spPr>
          <a:xfrm flipV="1">
            <a:off x="2667000" y="2880990"/>
            <a:ext cx="457200" cy="16701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A9F81C-4851-4908-B81B-19E558CAD1B6}"/>
              </a:ext>
            </a:extLst>
          </p:cNvPr>
          <p:cNvCxnSpPr>
            <a:cxnSpLocks/>
          </p:cNvCxnSpPr>
          <p:nvPr/>
        </p:nvCxnSpPr>
        <p:spPr>
          <a:xfrm flipH="1">
            <a:off x="2252949" y="2852451"/>
            <a:ext cx="860075" cy="2349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6F06D6-E376-4E19-B353-808217CD69DE}"/>
              </a:ext>
            </a:extLst>
          </p:cNvPr>
          <p:cNvCxnSpPr>
            <a:cxnSpLocks/>
          </p:cNvCxnSpPr>
          <p:nvPr/>
        </p:nvCxnSpPr>
        <p:spPr>
          <a:xfrm flipH="1">
            <a:off x="1469675" y="2895600"/>
            <a:ext cx="609601" cy="3682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A6089B-51E9-4A03-BAF5-B523E295CC7F}"/>
              </a:ext>
            </a:extLst>
          </p:cNvPr>
          <p:cNvCxnSpPr>
            <a:cxnSpLocks/>
          </p:cNvCxnSpPr>
          <p:nvPr/>
        </p:nvCxnSpPr>
        <p:spPr>
          <a:xfrm flipH="1">
            <a:off x="533400" y="3213101"/>
            <a:ext cx="914402"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49C68D-1549-4C6B-983A-2F61A403E48C}"/>
              </a:ext>
            </a:extLst>
          </p:cNvPr>
          <p:cNvCxnSpPr>
            <a:cxnSpLocks/>
          </p:cNvCxnSpPr>
          <p:nvPr/>
        </p:nvCxnSpPr>
        <p:spPr>
          <a:xfrm flipV="1">
            <a:off x="610681" y="3263899"/>
            <a:ext cx="1446719" cy="36830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74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par>
                          <p:cTn id="15" fill="hold">
                            <p:stCondLst>
                              <p:cond delay="1000"/>
                            </p:stCondLst>
                            <p:childTnLst>
                              <p:par>
                                <p:cTn id="16" presetID="10" presetClass="exit" presetSubtype="0" fill="hold" nodeType="afterEffect">
                                  <p:stCondLst>
                                    <p:cond delay="0"/>
                                  </p:stCondLst>
                                  <p:childTnLst>
                                    <p:animEffect transition="out" filter="fade">
                                      <p:cBhvr>
                                        <p:cTn id="17" dur="500"/>
                                        <p:tgtEl>
                                          <p:spTgt spid="18"/>
                                        </p:tgtEl>
                                      </p:cBhvr>
                                    </p:animEffect>
                                    <p:set>
                                      <p:cBhvr>
                                        <p:cTn id="18" dur="1" fill="hold">
                                          <p:stCondLst>
                                            <p:cond delay="499"/>
                                          </p:stCondLst>
                                        </p:cTn>
                                        <p:tgtEl>
                                          <p:spTgt spid="18"/>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1500"/>
                            </p:stCondLst>
                            <p:childTnLst>
                              <p:par>
                                <p:cTn id="23" presetID="10" presetClass="exit" presetSubtype="0" fill="hold" nodeType="after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2500"/>
                            </p:stCondLst>
                            <p:childTnLst>
                              <p:par>
                                <p:cTn id="37" presetID="10" presetClass="exit" presetSubtype="0" fill="hold" nodeType="afterEffect">
                                  <p:stCondLst>
                                    <p:cond delay="0"/>
                                  </p:stCondLst>
                                  <p:childTnLst>
                                    <p:animEffect transition="out" filter="fade">
                                      <p:cBhvr>
                                        <p:cTn id="38" dur="500"/>
                                        <p:tgtEl>
                                          <p:spTgt spid="24"/>
                                        </p:tgtEl>
                                      </p:cBhvr>
                                    </p:animEffect>
                                    <p:set>
                                      <p:cBhvr>
                                        <p:cTn id="39" dur="1" fill="hold">
                                          <p:stCondLst>
                                            <p:cond delay="499"/>
                                          </p:stCondLst>
                                        </p:cTn>
                                        <p:tgtEl>
                                          <p:spTgt spid="24"/>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3000"/>
                            </p:stCondLst>
                            <p:childTnLst>
                              <p:par>
                                <p:cTn id="44" presetID="10" presetClass="exit" presetSubtype="0" fill="hold" nodeType="afterEffect">
                                  <p:stCondLst>
                                    <p:cond delay="0"/>
                                  </p:stCondLst>
                                  <p:childTnLst>
                                    <p:animEffect transition="out" filter="fade">
                                      <p:cBhvr>
                                        <p:cTn id="45" dur="500"/>
                                        <p:tgtEl>
                                          <p:spTgt spid="28"/>
                                        </p:tgtEl>
                                      </p:cBhvr>
                                    </p:animEffect>
                                    <p:set>
                                      <p:cBhvr>
                                        <p:cTn id="46"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DF640-0000-4C30-80F1-366C6BA0C05F}"/>
              </a:ext>
            </a:extLst>
          </p:cNvPr>
          <p:cNvSpPr>
            <a:spLocks noGrp="1"/>
          </p:cNvSpPr>
          <p:nvPr>
            <p:ph type="title"/>
          </p:nvPr>
        </p:nvSpPr>
        <p:spPr/>
        <p:txBody>
          <a:bodyPr/>
          <a:lstStyle/>
          <a:p>
            <a:r>
              <a:rPr lang="en-US" dirty="0"/>
              <a:t>Atrial fibrillation</a:t>
            </a:r>
          </a:p>
        </p:txBody>
      </p:sp>
      <p:sp>
        <p:nvSpPr>
          <p:cNvPr id="3" name="Content Placeholder 2">
            <a:extLst>
              <a:ext uri="{FF2B5EF4-FFF2-40B4-BE49-F238E27FC236}">
                <a16:creationId xmlns:a16="http://schemas.microsoft.com/office/drawing/2014/main" id="{F731FDAC-049E-4FB0-89A1-CC0AF37ECAA1}"/>
              </a:ext>
            </a:extLst>
          </p:cNvPr>
          <p:cNvSpPr>
            <a:spLocks noGrp="1"/>
          </p:cNvSpPr>
          <p:nvPr>
            <p:ph idx="1"/>
          </p:nvPr>
        </p:nvSpPr>
        <p:spPr>
          <a:xfrm>
            <a:off x="685800" y="3505200"/>
            <a:ext cx="7772400" cy="2727432"/>
          </a:xfrm>
        </p:spPr>
        <p:txBody>
          <a:bodyPr/>
          <a:lstStyle/>
          <a:p>
            <a:r>
              <a:rPr lang="en-US" sz="2400" dirty="0"/>
              <a:t>No P wave – why?</a:t>
            </a:r>
          </a:p>
          <a:p>
            <a:r>
              <a:rPr lang="en-US" sz="2400" dirty="0"/>
              <a:t>HR is irregular – why?</a:t>
            </a:r>
          </a:p>
          <a:p>
            <a:r>
              <a:rPr lang="en-US" sz="2400" dirty="0"/>
              <a:t>Frequency usually about 150 bpm</a:t>
            </a:r>
          </a:p>
          <a:p>
            <a:pPr lvl="1"/>
            <a:r>
              <a:rPr lang="en-US" sz="2000" dirty="0"/>
              <a:t>Ventricles pumping inefficiently but still pumping – why?</a:t>
            </a:r>
          </a:p>
          <a:p>
            <a:pPr lvl="1">
              <a:spcBef>
                <a:spcPts val="0"/>
              </a:spcBef>
            </a:pPr>
            <a:r>
              <a:rPr lang="en-US" sz="2000" dirty="0"/>
              <a:t>You can limp to the phone to call 911</a:t>
            </a:r>
          </a:p>
        </p:txBody>
      </p:sp>
      <p:sp>
        <p:nvSpPr>
          <p:cNvPr id="4" name="Footer Placeholder 3">
            <a:extLst>
              <a:ext uri="{FF2B5EF4-FFF2-40B4-BE49-F238E27FC236}">
                <a16:creationId xmlns:a16="http://schemas.microsoft.com/office/drawing/2014/main" id="{54F1D98E-FCDB-49FC-AA10-526151C1F6D4}"/>
              </a:ext>
            </a:extLst>
          </p:cNvPr>
          <p:cNvSpPr>
            <a:spLocks noGrp="1"/>
          </p:cNvSpPr>
          <p:nvPr>
            <p:ph type="ftr" sz="quarter" idx="11"/>
          </p:nvPr>
        </p:nvSpPr>
        <p:spPr/>
        <p:txBody>
          <a:bodyPr/>
          <a:lstStyle/>
          <a:p>
            <a:pPr>
              <a:defRPr/>
            </a:pPr>
            <a:r>
              <a:rPr lang="en-US" dirty="0"/>
              <a:t>EN1 EIY-- Bioelectricity</a:t>
            </a:r>
          </a:p>
        </p:txBody>
      </p:sp>
      <p:sp>
        <p:nvSpPr>
          <p:cNvPr id="9" name="Freeform: Shape 8">
            <a:extLst>
              <a:ext uri="{FF2B5EF4-FFF2-40B4-BE49-F238E27FC236}">
                <a16:creationId xmlns:a16="http://schemas.microsoft.com/office/drawing/2014/main" id="{B359908D-B449-4290-A9B1-DC490982919E}"/>
              </a:ext>
            </a:extLst>
          </p:cNvPr>
          <p:cNvSpPr/>
          <p:nvPr/>
        </p:nvSpPr>
        <p:spPr>
          <a:xfrm>
            <a:off x="914401" y="2736212"/>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796025D-0DF7-4162-AC47-6E37B92ADD5C}"/>
              </a:ext>
            </a:extLst>
          </p:cNvPr>
          <p:cNvSpPr/>
          <p:nvPr/>
        </p:nvSpPr>
        <p:spPr>
          <a:xfrm>
            <a:off x="2659667" y="2645491"/>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CFFBBBC-1F73-4B7D-8714-4D1C3A2E5E57}"/>
              </a:ext>
            </a:extLst>
          </p:cNvPr>
          <p:cNvSpPr/>
          <p:nvPr/>
        </p:nvSpPr>
        <p:spPr>
          <a:xfrm>
            <a:off x="1455135" y="1373833"/>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56558A4-1546-47C8-9B8B-73AED6E58052}"/>
              </a:ext>
            </a:extLst>
          </p:cNvPr>
          <p:cNvSpPr/>
          <p:nvPr/>
        </p:nvSpPr>
        <p:spPr>
          <a:xfrm>
            <a:off x="4089399" y="2753146"/>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8D53B2E-4805-4026-8B9E-53761C2C5047}"/>
              </a:ext>
            </a:extLst>
          </p:cNvPr>
          <p:cNvSpPr/>
          <p:nvPr/>
        </p:nvSpPr>
        <p:spPr>
          <a:xfrm>
            <a:off x="5834665" y="2662425"/>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89DE1FF-1F7C-477B-A2CE-615897BE124F}"/>
              </a:ext>
            </a:extLst>
          </p:cNvPr>
          <p:cNvSpPr/>
          <p:nvPr/>
        </p:nvSpPr>
        <p:spPr>
          <a:xfrm>
            <a:off x="4630133" y="1390767"/>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3E0AB5A9-9DD0-425A-978B-EC0D6F322C21}"/>
              </a:ext>
            </a:extLst>
          </p:cNvPr>
          <p:cNvCxnSpPr/>
          <p:nvPr/>
        </p:nvCxnSpPr>
        <p:spPr>
          <a:xfrm>
            <a:off x="3200400" y="2935620"/>
            <a:ext cx="914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A681A71-9037-4827-B9B1-5460C11606A2}"/>
              </a:ext>
            </a:extLst>
          </p:cNvPr>
          <p:cNvSpPr txBox="1"/>
          <p:nvPr/>
        </p:nvSpPr>
        <p:spPr>
          <a:xfrm>
            <a:off x="1011202" y="2778546"/>
            <a:ext cx="304800" cy="461665"/>
          </a:xfrm>
          <a:prstGeom prst="rect">
            <a:avLst/>
          </a:prstGeom>
          <a:noFill/>
        </p:spPr>
        <p:txBody>
          <a:bodyPr wrap="square" rtlCol="0">
            <a:spAutoFit/>
          </a:bodyPr>
          <a:lstStyle/>
          <a:p>
            <a:r>
              <a:rPr lang="en-US" dirty="0">
                <a:solidFill>
                  <a:schemeClr val="accent2"/>
                </a:solidFill>
              </a:rPr>
              <a:t>P</a:t>
            </a:r>
          </a:p>
        </p:txBody>
      </p:sp>
      <p:sp>
        <p:nvSpPr>
          <p:cNvPr id="18" name="TextBox 17">
            <a:extLst>
              <a:ext uri="{FF2B5EF4-FFF2-40B4-BE49-F238E27FC236}">
                <a16:creationId xmlns:a16="http://schemas.microsoft.com/office/drawing/2014/main" id="{9EFBBC4E-C401-43C7-9C1A-C619CCFCCB63}"/>
              </a:ext>
            </a:extLst>
          </p:cNvPr>
          <p:cNvSpPr txBox="1"/>
          <p:nvPr/>
        </p:nvSpPr>
        <p:spPr>
          <a:xfrm>
            <a:off x="1718732" y="2978035"/>
            <a:ext cx="304800" cy="461665"/>
          </a:xfrm>
          <a:prstGeom prst="rect">
            <a:avLst/>
          </a:prstGeom>
          <a:noFill/>
        </p:spPr>
        <p:txBody>
          <a:bodyPr wrap="square" rtlCol="0">
            <a:spAutoFit/>
          </a:bodyPr>
          <a:lstStyle/>
          <a:p>
            <a:r>
              <a:rPr lang="en-US" dirty="0">
                <a:solidFill>
                  <a:schemeClr val="accent2"/>
                </a:solidFill>
              </a:rPr>
              <a:t>Q</a:t>
            </a:r>
          </a:p>
        </p:txBody>
      </p:sp>
      <p:sp>
        <p:nvSpPr>
          <p:cNvPr id="19" name="TextBox 18">
            <a:extLst>
              <a:ext uri="{FF2B5EF4-FFF2-40B4-BE49-F238E27FC236}">
                <a16:creationId xmlns:a16="http://schemas.microsoft.com/office/drawing/2014/main" id="{F6949310-039A-409E-9F1F-DD1279C7AB50}"/>
              </a:ext>
            </a:extLst>
          </p:cNvPr>
          <p:cNvSpPr txBox="1"/>
          <p:nvPr/>
        </p:nvSpPr>
        <p:spPr>
          <a:xfrm>
            <a:off x="1934131" y="1143000"/>
            <a:ext cx="304800" cy="461665"/>
          </a:xfrm>
          <a:prstGeom prst="rect">
            <a:avLst/>
          </a:prstGeom>
          <a:noFill/>
        </p:spPr>
        <p:txBody>
          <a:bodyPr wrap="square" rtlCol="0">
            <a:spAutoFit/>
          </a:bodyPr>
          <a:lstStyle/>
          <a:p>
            <a:r>
              <a:rPr lang="en-US" dirty="0">
                <a:solidFill>
                  <a:schemeClr val="accent2"/>
                </a:solidFill>
              </a:rPr>
              <a:t>R</a:t>
            </a:r>
          </a:p>
        </p:txBody>
      </p:sp>
      <p:sp>
        <p:nvSpPr>
          <p:cNvPr id="20" name="TextBox 19">
            <a:extLst>
              <a:ext uri="{FF2B5EF4-FFF2-40B4-BE49-F238E27FC236}">
                <a16:creationId xmlns:a16="http://schemas.microsoft.com/office/drawing/2014/main" id="{BB21C198-802F-4BFB-BD20-3E4BA029D540}"/>
              </a:ext>
            </a:extLst>
          </p:cNvPr>
          <p:cNvSpPr txBox="1"/>
          <p:nvPr/>
        </p:nvSpPr>
        <p:spPr>
          <a:xfrm>
            <a:off x="1972730" y="3189701"/>
            <a:ext cx="304800" cy="461665"/>
          </a:xfrm>
          <a:prstGeom prst="rect">
            <a:avLst/>
          </a:prstGeom>
          <a:noFill/>
        </p:spPr>
        <p:txBody>
          <a:bodyPr wrap="square" rtlCol="0">
            <a:spAutoFit/>
          </a:bodyPr>
          <a:lstStyle/>
          <a:p>
            <a:r>
              <a:rPr lang="en-US" dirty="0">
                <a:solidFill>
                  <a:schemeClr val="accent2"/>
                </a:solidFill>
              </a:rPr>
              <a:t>S</a:t>
            </a:r>
          </a:p>
        </p:txBody>
      </p:sp>
      <p:sp>
        <p:nvSpPr>
          <p:cNvPr id="21" name="TextBox 20">
            <a:extLst>
              <a:ext uri="{FF2B5EF4-FFF2-40B4-BE49-F238E27FC236}">
                <a16:creationId xmlns:a16="http://schemas.microsoft.com/office/drawing/2014/main" id="{EB077E3C-F17A-4A34-8CF1-E27E9990BD80}"/>
              </a:ext>
            </a:extLst>
          </p:cNvPr>
          <p:cNvSpPr txBox="1"/>
          <p:nvPr/>
        </p:nvSpPr>
        <p:spPr>
          <a:xfrm>
            <a:off x="2819400" y="2669233"/>
            <a:ext cx="304800" cy="461665"/>
          </a:xfrm>
          <a:prstGeom prst="rect">
            <a:avLst/>
          </a:prstGeom>
          <a:noFill/>
        </p:spPr>
        <p:txBody>
          <a:bodyPr wrap="square" rtlCol="0">
            <a:spAutoFit/>
          </a:bodyPr>
          <a:lstStyle/>
          <a:p>
            <a:r>
              <a:rPr lang="en-US" dirty="0">
                <a:solidFill>
                  <a:schemeClr val="accent2"/>
                </a:solidFill>
              </a:rPr>
              <a:t>T</a:t>
            </a:r>
          </a:p>
        </p:txBody>
      </p:sp>
      <p:sp>
        <p:nvSpPr>
          <p:cNvPr id="23" name="Freeform: Shape 22">
            <a:extLst>
              <a:ext uri="{FF2B5EF4-FFF2-40B4-BE49-F238E27FC236}">
                <a16:creationId xmlns:a16="http://schemas.microsoft.com/office/drawing/2014/main" id="{D2D95718-D10C-4FC5-B17F-294F1108F5B2}"/>
              </a:ext>
            </a:extLst>
          </p:cNvPr>
          <p:cNvSpPr/>
          <p:nvPr/>
        </p:nvSpPr>
        <p:spPr>
          <a:xfrm>
            <a:off x="6363876" y="2762260"/>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DE4C5F88-DBBA-45E8-AFE2-38B1ABE4DEAF}"/>
              </a:ext>
            </a:extLst>
          </p:cNvPr>
          <p:cNvSpPr/>
          <p:nvPr/>
        </p:nvSpPr>
        <p:spPr>
          <a:xfrm>
            <a:off x="8109142" y="2671539"/>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C220B51B-DAB6-4735-9770-B05F3B40AB6A}"/>
              </a:ext>
            </a:extLst>
          </p:cNvPr>
          <p:cNvSpPr/>
          <p:nvPr/>
        </p:nvSpPr>
        <p:spPr>
          <a:xfrm>
            <a:off x="6904610" y="1399881"/>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50E8F5FB-BDAC-4788-9800-F9E0842F920D}"/>
              </a:ext>
            </a:extLst>
          </p:cNvPr>
          <p:cNvCxnSpPr/>
          <p:nvPr/>
        </p:nvCxnSpPr>
        <p:spPr>
          <a:xfrm>
            <a:off x="914400" y="2923881"/>
            <a:ext cx="613206"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854EFC2-A43D-43F7-A4E4-48656A52A9F0}"/>
              </a:ext>
            </a:extLst>
          </p:cNvPr>
          <p:cNvCxnSpPr/>
          <p:nvPr/>
        </p:nvCxnSpPr>
        <p:spPr>
          <a:xfrm>
            <a:off x="6377556" y="2942735"/>
            <a:ext cx="613206"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E874CFC-3C8D-43D7-8217-6EB8CD45945F}"/>
              </a:ext>
            </a:extLst>
          </p:cNvPr>
          <p:cNvCxnSpPr/>
          <p:nvPr/>
        </p:nvCxnSpPr>
        <p:spPr>
          <a:xfrm>
            <a:off x="4048027" y="2933308"/>
            <a:ext cx="613206"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84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3"/>
                                        </p:tgtEl>
                                      </p:cBhvr>
                                    </p:animEffect>
                                    <p:set>
                                      <p:cBhvr>
                                        <p:cTn id="10" dur="1" fill="hold">
                                          <p:stCondLst>
                                            <p:cond delay="499"/>
                                          </p:stCondLst>
                                        </p:cTn>
                                        <p:tgtEl>
                                          <p:spTgt spid="13"/>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xit" presetSubtype="0" fill="hold" grpId="0" nodeType="withEffect">
                                  <p:stCondLst>
                                    <p:cond delay="0"/>
                                  </p:stCondLst>
                                  <p:childTnLst>
                                    <p:animEffect transition="out" filter="fade">
                                      <p:cBhvr>
                                        <p:cTn id="24" dur="500"/>
                                        <p:tgtEl>
                                          <p:spTgt spid="17"/>
                                        </p:tgtEl>
                                      </p:cBhvr>
                                    </p:animEffect>
                                    <p:set>
                                      <p:cBhvr>
                                        <p:cTn id="25" dur="1" fill="hold">
                                          <p:stCondLst>
                                            <p:cond delay="499"/>
                                          </p:stCondLst>
                                        </p:cTn>
                                        <p:tgtEl>
                                          <p:spTgt spid="1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500"/>
                                        <p:tgtEl>
                                          <p:spTgt spid="3">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500"/>
                                        <p:tgtEl>
                                          <p:spTgt spid="3">
                                            <p:txEl>
                                              <p:pRg st="3" end="3"/>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p:bldP spid="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0C23-7906-4FC0-BEEA-2CDD89897A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3E9989-7C88-424C-87BC-3E667569C0C6}"/>
              </a:ext>
            </a:extLst>
          </p:cNvPr>
          <p:cNvSpPr>
            <a:spLocks noGrp="1"/>
          </p:cNvSpPr>
          <p:nvPr>
            <p:ph idx="1"/>
          </p:nvPr>
        </p:nvSpPr>
        <p:spPr>
          <a:xfrm>
            <a:off x="3733800" y="1981200"/>
            <a:ext cx="5181600" cy="2133600"/>
          </a:xfrm>
        </p:spPr>
        <p:txBody>
          <a:bodyPr/>
          <a:lstStyle/>
          <a:p>
            <a:r>
              <a:rPr lang="en-US" dirty="0">
                <a:hlinkClick r:id="rId3"/>
              </a:rPr>
              <a:t>https://watchlearnlive.heart.org/index.php?moduleSelect=atrfib</a:t>
            </a:r>
            <a:endParaRPr lang="en-US" dirty="0"/>
          </a:p>
          <a:p>
            <a:r>
              <a:rPr lang="en-US" dirty="0"/>
              <a:t>Traditionally requires a one-way path (again, see EE 123)</a:t>
            </a:r>
          </a:p>
        </p:txBody>
      </p:sp>
      <p:sp>
        <p:nvSpPr>
          <p:cNvPr id="4" name="Footer Placeholder 3">
            <a:extLst>
              <a:ext uri="{FF2B5EF4-FFF2-40B4-BE49-F238E27FC236}">
                <a16:creationId xmlns:a16="http://schemas.microsoft.com/office/drawing/2014/main" id="{862954D8-786E-4347-9A64-EC213F87499F}"/>
              </a:ext>
            </a:extLst>
          </p:cNvPr>
          <p:cNvSpPr>
            <a:spLocks noGrp="1"/>
          </p:cNvSpPr>
          <p:nvPr>
            <p:ph type="ftr" sz="quarter" idx="11"/>
          </p:nvPr>
        </p:nvSpPr>
        <p:spPr/>
        <p:txBody>
          <a:bodyPr/>
          <a:lstStyle/>
          <a:p>
            <a:pPr>
              <a:defRPr/>
            </a:pPr>
            <a:r>
              <a:rPr lang="en-US" dirty="0"/>
              <a:t>EN1 EIY-- Bioelectricity</a:t>
            </a:r>
          </a:p>
        </p:txBody>
      </p:sp>
      <p:pic>
        <p:nvPicPr>
          <p:cNvPr id="5" name="Picture 4">
            <a:extLst>
              <a:ext uri="{FF2B5EF4-FFF2-40B4-BE49-F238E27FC236}">
                <a16:creationId xmlns:a16="http://schemas.microsoft.com/office/drawing/2014/main" id="{677F4509-F394-40BB-961F-ED56CA3F26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1734094"/>
            <a:ext cx="3581400" cy="4474297"/>
          </a:xfrm>
          <a:prstGeom prst="rect">
            <a:avLst/>
          </a:prstGeom>
        </p:spPr>
      </p:pic>
      <p:sp>
        <p:nvSpPr>
          <p:cNvPr id="7" name="Oval 6">
            <a:extLst>
              <a:ext uri="{FF2B5EF4-FFF2-40B4-BE49-F238E27FC236}">
                <a16:creationId xmlns:a16="http://schemas.microsoft.com/office/drawing/2014/main" id="{2F1B1936-3F91-410F-B014-C1110AF03053}"/>
              </a:ext>
            </a:extLst>
          </p:cNvPr>
          <p:cNvSpPr/>
          <p:nvPr/>
        </p:nvSpPr>
        <p:spPr>
          <a:xfrm>
            <a:off x="1447800" y="3657600"/>
            <a:ext cx="152400" cy="1524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670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3000" fill="hold" grpId="0" nodeType="clickEffect">
                                  <p:stCondLst>
                                    <p:cond delay="0"/>
                                  </p:stCondLst>
                                  <p:childTnLst>
                                    <p:animMotion origin="layout" path="M 0.00139 -0.00092 C 0.021 -0.0155 0.04253 -0.01342 0.04965 0.00325 C 0.0559 0.01875 0.04548 0.04399 0.02639 0.0588 C 0.00659 0.07315 -0.01493 0.0713 -0.02153 0.05533 C -0.02813 0.03936 -0.01806 0.01436 0.00139 -0.00092 Z " pathEditMode="relative" rAng="19860000" ptsTypes="AAAAA">
                                      <p:cBhvr>
                                        <p:cTn id="6" dur="2000" fill="hold"/>
                                        <p:tgtEl>
                                          <p:spTgt spid="7"/>
                                        </p:tgtEl>
                                        <p:attrNameLst>
                                          <p:attrName>ppt_x</p:attrName>
                                          <p:attrName>ppt_y</p:attrName>
                                        </p:attrNameLst>
                                      </p:cBhvr>
                                      <p:rCtr x="1250" y="298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2A18D-69D1-48F8-9E6C-F12413F6E084}"/>
              </a:ext>
            </a:extLst>
          </p:cNvPr>
          <p:cNvSpPr>
            <a:spLocks noGrp="1"/>
          </p:cNvSpPr>
          <p:nvPr>
            <p:ph type="title"/>
          </p:nvPr>
        </p:nvSpPr>
        <p:spPr/>
        <p:txBody>
          <a:bodyPr/>
          <a:lstStyle/>
          <a:p>
            <a:r>
              <a:rPr lang="en-US" dirty="0"/>
              <a:t>Atrial fib causes</a:t>
            </a:r>
          </a:p>
        </p:txBody>
      </p:sp>
      <p:sp>
        <p:nvSpPr>
          <p:cNvPr id="3" name="Content Placeholder 2">
            <a:extLst>
              <a:ext uri="{FF2B5EF4-FFF2-40B4-BE49-F238E27FC236}">
                <a16:creationId xmlns:a16="http://schemas.microsoft.com/office/drawing/2014/main" id="{CACF3809-8EDA-49AD-A0A5-00EA391A595B}"/>
              </a:ext>
            </a:extLst>
          </p:cNvPr>
          <p:cNvSpPr>
            <a:spLocks noGrp="1"/>
          </p:cNvSpPr>
          <p:nvPr>
            <p:ph idx="1"/>
          </p:nvPr>
        </p:nvSpPr>
        <p:spPr/>
        <p:txBody>
          <a:bodyPr/>
          <a:lstStyle/>
          <a:p>
            <a:r>
              <a:rPr lang="en-US" dirty="0"/>
              <a:t>Causes:</a:t>
            </a:r>
          </a:p>
          <a:p>
            <a:pPr lvl="1">
              <a:spcBef>
                <a:spcPts val="0"/>
              </a:spcBef>
            </a:pPr>
            <a:r>
              <a:rPr lang="en-US" dirty="0"/>
              <a:t>Congenital heart disease of many types</a:t>
            </a:r>
          </a:p>
          <a:p>
            <a:pPr lvl="1">
              <a:spcBef>
                <a:spcPts val="0"/>
              </a:spcBef>
            </a:pPr>
            <a:r>
              <a:rPr lang="en-US" dirty="0"/>
              <a:t>Sedentary lifestyle (via diabetes, obesity, high blood pressure)</a:t>
            </a:r>
          </a:p>
          <a:p>
            <a:pPr lvl="1">
              <a:spcBef>
                <a:spcPts val="0"/>
              </a:spcBef>
            </a:pPr>
            <a:r>
              <a:rPr lang="en-US" dirty="0"/>
              <a:t>“Excessive” endurance exercise!</a:t>
            </a:r>
          </a:p>
          <a:p>
            <a:pPr lvl="1">
              <a:spcBef>
                <a:spcPts val="0"/>
              </a:spcBef>
            </a:pPr>
            <a:r>
              <a:rPr lang="en-US" dirty="0"/>
              <a:t>Exercise is a powerful drug, with a dose</a:t>
            </a:r>
            <a:r>
              <a:rPr lang="en-US"/>
              <a:t>/response curve</a:t>
            </a:r>
            <a:endParaRPr lang="en-US" dirty="0"/>
          </a:p>
          <a:p>
            <a:r>
              <a:rPr lang="en-US" dirty="0"/>
              <a:t>Cures</a:t>
            </a:r>
          </a:p>
          <a:p>
            <a:pPr lvl="1">
              <a:spcBef>
                <a:spcPts val="0"/>
              </a:spcBef>
            </a:pPr>
            <a:r>
              <a:rPr lang="en-US" dirty="0"/>
              <a:t>Various drugs</a:t>
            </a:r>
          </a:p>
          <a:p>
            <a:pPr lvl="1">
              <a:spcBef>
                <a:spcPts val="0"/>
              </a:spcBef>
            </a:pPr>
            <a:r>
              <a:rPr lang="en-US" dirty="0"/>
              <a:t>Ablation</a:t>
            </a:r>
          </a:p>
          <a:p>
            <a:pPr lvl="1">
              <a:spcBef>
                <a:spcPts val="0"/>
              </a:spcBef>
            </a:pPr>
            <a:r>
              <a:rPr lang="en-US" dirty="0"/>
              <a:t>Rest, sleep or time</a:t>
            </a:r>
          </a:p>
        </p:txBody>
      </p:sp>
      <p:sp>
        <p:nvSpPr>
          <p:cNvPr id="4" name="Footer Placeholder 3">
            <a:extLst>
              <a:ext uri="{FF2B5EF4-FFF2-40B4-BE49-F238E27FC236}">
                <a16:creationId xmlns:a16="http://schemas.microsoft.com/office/drawing/2014/main" id="{A5DF113E-1DB3-4260-A448-EEADF1F5447C}"/>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109271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Ablation</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57949" y="1974848"/>
            <a:ext cx="4811650" cy="2151413"/>
          </a:xfrm>
        </p:spPr>
        <p:txBody>
          <a:bodyPr/>
          <a:lstStyle/>
          <a:p>
            <a:r>
              <a:rPr lang="en-US" sz="2400" dirty="0"/>
              <a:t>Find the ectopic pacemaker</a:t>
            </a:r>
          </a:p>
          <a:p>
            <a:r>
              <a:rPr lang="en-US" sz="2400" dirty="0"/>
              <a:t>Surgically break the loop</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p:cNvCxnSpPr>
          <p:nvPr/>
        </p:nvCxnSpPr>
        <p:spPr>
          <a:xfrm flipV="1">
            <a:off x="2057400" y="3073399"/>
            <a:ext cx="6096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B3F5BD-EC04-45C3-B2C3-C522768BFAF8}"/>
              </a:ext>
            </a:extLst>
          </p:cNvPr>
          <p:cNvCxnSpPr>
            <a:cxnSpLocks/>
          </p:cNvCxnSpPr>
          <p:nvPr/>
        </p:nvCxnSpPr>
        <p:spPr>
          <a:xfrm flipV="1">
            <a:off x="2667000" y="2880990"/>
            <a:ext cx="457200" cy="16701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A9F81C-4851-4908-B81B-19E558CAD1B6}"/>
              </a:ext>
            </a:extLst>
          </p:cNvPr>
          <p:cNvCxnSpPr>
            <a:cxnSpLocks/>
          </p:cNvCxnSpPr>
          <p:nvPr/>
        </p:nvCxnSpPr>
        <p:spPr>
          <a:xfrm flipH="1">
            <a:off x="2252949" y="2852451"/>
            <a:ext cx="860075" cy="2349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6F06D6-E376-4E19-B353-808217CD69DE}"/>
              </a:ext>
            </a:extLst>
          </p:cNvPr>
          <p:cNvCxnSpPr>
            <a:cxnSpLocks/>
          </p:cNvCxnSpPr>
          <p:nvPr/>
        </p:nvCxnSpPr>
        <p:spPr>
          <a:xfrm flipH="1">
            <a:off x="1469675" y="2895600"/>
            <a:ext cx="609601" cy="3682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A6089B-51E9-4A03-BAF5-B523E295CC7F}"/>
              </a:ext>
            </a:extLst>
          </p:cNvPr>
          <p:cNvCxnSpPr>
            <a:cxnSpLocks/>
          </p:cNvCxnSpPr>
          <p:nvPr/>
        </p:nvCxnSpPr>
        <p:spPr>
          <a:xfrm flipH="1">
            <a:off x="533400" y="3213101"/>
            <a:ext cx="914402"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49C68D-1549-4C6B-983A-2F61A403E48C}"/>
              </a:ext>
            </a:extLst>
          </p:cNvPr>
          <p:cNvCxnSpPr>
            <a:cxnSpLocks/>
          </p:cNvCxnSpPr>
          <p:nvPr/>
        </p:nvCxnSpPr>
        <p:spPr>
          <a:xfrm flipV="1">
            <a:off x="610681" y="3263899"/>
            <a:ext cx="1446719" cy="36830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75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par>
                          <p:cTn id="15" fill="hold">
                            <p:stCondLst>
                              <p:cond delay="1000"/>
                            </p:stCondLst>
                            <p:childTnLst>
                              <p:par>
                                <p:cTn id="16" presetID="10" presetClass="exit" presetSubtype="0" fill="hold" nodeType="afterEffect">
                                  <p:stCondLst>
                                    <p:cond delay="0"/>
                                  </p:stCondLst>
                                  <p:childTnLst>
                                    <p:animEffect transition="out" filter="fade">
                                      <p:cBhvr>
                                        <p:cTn id="17" dur="500"/>
                                        <p:tgtEl>
                                          <p:spTgt spid="18"/>
                                        </p:tgtEl>
                                      </p:cBhvr>
                                    </p:animEffect>
                                    <p:set>
                                      <p:cBhvr>
                                        <p:cTn id="18" dur="1" fill="hold">
                                          <p:stCondLst>
                                            <p:cond delay="499"/>
                                          </p:stCondLst>
                                        </p:cTn>
                                        <p:tgtEl>
                                          <p:spTgt spid="18"/>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1500"/>
                            </p:stCondLst>
                            <p:childTnLst>
                              <p:par>
                                <p:cTn id="23" presetID="10" presetClass="exit" presetSubtype="0" fill="hold" nodeType="after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2500"/>
                            </p:stCondLst>
                            <p:childTnLst>
                              <p:par>
                                <p:cTn id="37" presetID="10" presetClass="exit" presetSubtype="0" fill="hold" nodeType="afterEffect">
                                  <p:stCondLst>
                                    <p:cond delay="0"/>
                                  </p:stCondLst>
                                  <p:childTnLst>
                                    <p:animEffect transition="out" filter="fade">
                                      <p:cBhvr>
                                        <p:cTn id="38" dur="500"/>
                                        <p:tgtEl>
                                          <p:spTgt spid="24"/>
                                        </p:tgtEl>
                                      </p:cBhvr>
                                    </p:animEffect>
                                    <p:set>
                                      <p:cBhvr>
                                        <p:cTn id="39" dur="1" fill="hold">
                                          <p:stCondLst>
                                            <p:cond delay="499"/>
                                          </p:stCondLst>
                                        </p:cTn>
                                        <p:tgtEl>
                                          <p:spTgt spid="24"/>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3000"/>
                            </p:stCondLst>
                            <p:childTnLst>
                              <p:par>
                                <p:cTn id="44" presetID="10" presetClass="exit" presetSubtype="0" fill="hold" nodeType="afterEffect">
                                  <p:stCondLst>
                                    <p:cond delay="0"/>
                                  </p:stCondLst>
                                  <p:childTnLst>
                                    <p:animEffect transition="out" filter="fade">
                                      <p:cBhvr>
                                        <p:cTn id="45" dur="500"/>
                                        <p:tgtEl>
                                          <p:spTgt spid="28"/>
                                        </p:tgtEl>
                                      </p:cBhvr>
                                    </p:animEffect>
                                    <p:set>
                                      <p:cBhvr>
                                        <p:cTn id="46" dur="1" fill="hold">
                                          <p:stCondLst>
                                            <p:cond delay="499"/>
                                          </p:stCondLst>
                                        </p:cTn>
                                        <p:tgtEl>
                                          <p:spTgt spid="2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animEffect transition="in" filter="fade">
                                      <p:cBhvr>
                                        <p:cTn id="51" dur="500"/>
                                        <p:tgtEl>
                                          <p:spTgt spid="3">
                                            <p:txEl>
                                              <p:pRg st="0" end="0"/>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1" end="1"/>
                                            </p:txEl>
                                          </p:spTgt>
                                        </p:tgtEl>
                                        <p:attrNameLst>
                                          <p:attrName>style.visibility</p:attrName>
                                        </p:attrNameLst>
                                      </p:cBhvr>
                                      <p:to>
                                        <p:strVal val="visible"/>
                                      </p:to>
                                    </p:set>
                                    <p:animEffect transition="in" filter="fade">
                                      <p:cBhvr>
                                        <p:cTn id="54"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Ablation</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57949" y="1974848"/>
            <a:ext cx="4811650" cy="2151413"/>
          </a:xfrm>
        </p:spPr>
        <p:txBody>
          <a:bodyPr/>
          <a:lstStyle/>
          <a:p>
            <a:r>
              <a:rPr lang="en-US" sz="2400" dirty="0"/>
              <a:t>Find the ectopic pacemaker</a:t>
            </a:r>
          </a:p>
          <a:p>
            <a:r>
              <a:rPr lang="en-US" sz="2400" dirty="0"/>
              <a:t>Surgically break the loop</a:t>
            </a:r>
          </a:p>
          <a:p>
            <a:pPr lvl="1"/>
            <a:r>
              <a:rPr lang="en-US" sz="2000" dirty="0"/>
              <a:t>Either burn or freeze the relevant heart tissue</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p:cNvCxnSpPr>
          <p:nvPr/>
        </p:nvCxnSpPr>
        <p:spPr>
          <a:xfrm flipV="1">
            <a:off x="2057400" y="3073399"/>
            <a:ext cx="6096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B3F5BD-EC04-45C3-B2C3-C522768BFAF8}"/>
              </a:ext>
            </a:extLst>
          </p:cNvPr>
          <p:cNvCxnSpPr>
            <a:cxnSpLocks/>
          </p:cNvCxnSpPr>
          <p:nvPr/>
        </p:nvCxnSpPr>
        <p:spPr>
          <a:xfrm flipV="1">
            <a:off x="2667000" y="2880990"/>
            <a:ext cx="457200" cy="16701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A9F81C-4851-4908-B81B-19E558CAD1B6}"/>
              </a:ext>
            </a:extLst>
          </p:cNvPr>
          <p:cNvCxnSpPr>
            <a:cxnSpLocks/>
          </p:cNvCxnSpPr>
          <p:nvPr/>
        </p:nvCxnSpPr>
        <p:spPr>
          <a:xfrm flipH="1">
            <a:off x="2252949" y="2852451"/>
            <a:ext cx="860075" cy="2349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6F06D6-E376-4E19-B353-808217CD69DE}"/>
              </a:ext>
            </a:extLst>
          </p:cNvPr>
          <p:cNvCxnSpPr>
            <a:cxnSpLocks/>
          </p:cNvCxnSpPr>
          <p:nvPr/>
        </p:nvCxnSpPr>
        <p:spPr>
          <a:xfrm flipH="1">
            <a:off x="1469675" y="2895600"/>
            <a:ext cx="609601" cy="3682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A6089B-51E9-4A03-BAF5-B523E295CC7F}"/>
              </a:ext>
            </a:extLst>
          </p:cNvPr>
          <p:cNvCxnSpPr>
            <a:cxnSpLocks/>
          </p:cNvCxnSpPr>
          <p:nvPr/>
        </p:nvCxnSpPr>
        <p:spPr>
          <a:xfrm flipH="1">
            <a:off x="533400" y="3213101"/>
            <a:ext cx="914402"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49C68D-1549-4C6B-983A-2F61A403E48C}"/>
              </a:ext>
            </a:extLst>
          </p:cNvPr>
          <p:cNvCxnSpPr>
            <a:cxnSpLocks/>
          </p:cNvCxnSpPr>
          <p:nvPr/>
        </p:nvCxnSpPr>
        <p:spPr>
          <a:xfrm flipV="1">
            <a:off x="610681" y="3263899"/>
            <a:ext cx="1446719" cy="36830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80D4E3A4-5975-43C5-A698-F2FD9F0425C1}"/>
              </a:ext>
            </a:extLst>
          </p:cNvPr>
          <p:cNvSpPr/>
          <p:nvPr/>
        </p:nvSpPr>
        <p:spPr>
          <a:xfrm>
            <a:off x="1172205" y="3367126"/>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453ADD6-46B6-4F77-8A1A-32DEE08FB95A}"/>
              </a:ext>
            </a:extLst>
          </p:cNvPr>
          <p:cNvSpPr/>
          <p:nvPr/>
        </p:nvSpPr>
        <p:spPr>
          <a:xfrm>
            <a:off x="1336190" y="3483469"/>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277297C-6AF9-4E87-BFD5-6D9B60CD7F17}"/>
              </a:ext>
            </a:extLst>
          </p:cNvPr>
          <p:cNvSpPr/>
          <p:nvPr/>
        </p:nvSpPr>
        <p:spPr>
          <a:xfrm>
            <a:off x="1164766" y="3561731"/>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5390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Ablation</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57949" y="1974848"/>
            <a:ext cx="4811650" cy="2151413"/>
          </a:xfrm>
        </p:spPr>
        <p:txBody>
          <a:bodyPr/>
          <a:lstStyle/>
          <a:p>
            <a:r>
              <a:rPr lang="en-US" sz="2400" dirty="0"/>
              <a:t>Find the ectopic pacemaker</a:t>
            </a:r>
          </a:p>
          <a:p>
            <a:r>
              <a:rPr lang="en-US" sz="2400" dirty="0"/>
              <a:t>Surgically break the loop</a:t>
            </a:r>
          </a:p>
          <a:p>
            <a:pPr lvl="1"/>
            <a:r>
              <a:rPr lang="en-US" sz="2000" dirty="0"/>
              <a:t>Either burn or freeze the relevant heart tissue</a:t>
            </a:r>
          </a:p>
          <a:p>
            <a:pPr lvl="1">
              <a:spcBef>
                <a:spcPts val="0"/>
              </a:spcBef>
            </a:pPr>
            <a:r>
              <a:rPr lang="en-US" sz="2000" dirty="0"/>
              <a:t>Like any procedure, it’s not risk free</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p:cNvCxnSpPr>
          <p:nvPr/>
        </p:nvCxnSpPr>
        <p:spPr>
          <a:xfrm flipV="1">
            <a:off x="2057400" y="3073399"/>
            <a:ext cx="6096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B3F5BD-EC04-45C3-B2C3-C522768BFAF8}"/>
              </a:ext>
            </a:extLst>
          </p:cNvPr>
          <p:cNvCxnSpPr>
            <a:cxnSpLocks/>
          </p:cNvCxnSpPr>
          <p:nvPr/>
        </p:nvCxnSpPr>
        <p:spPr>
          <a:xfrm flipV="1">
            <a:off x="2667000" y="2880990"/>
            <a:ext cx="457200" cy="16701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A9F81C-4851-4908-B81B-19E558CAD1B6}"/>
              </a:ext>
            </a:extLst>
          </p:cNvPr>
          <p:cNvCxnSpPr>
            <a:cxnSpLocks/>
          </p:cNvCxnSpPr>
          <p:nvPr/>
        </p:nvCxnSpPr>
        <p:spPr>
          <a:xfrm flipH="1">
            <a:off x="2252949" y="2852451"/>
            <a:ext cx="860075" cy="2349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6F06D6-E376-4E19-B353-808217CD69DE}"/>
              </a:ext>
            </a:extLst>
          </p:cNvPr>
          <p:cNvCxnSpPr>
            <a:cxnSpLocks/>
          </p:cNvCxnSpPr>
          <p:nvPr/>
        </p:nvCxnSpPr>
        <p:spPr>
          <a:xfrm flipH="1">
            <a:off x="1469675" y="2895600"/>
            <a:ext cx="609601" cy="3682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A6089B-51E9-4A03-BAF5-B523E295CC7F}"/>
              </a:ext>
            </a:extLst>
          </p:cNvPr>
          <p:cNvCxnSpPr>
            <a:cxnSpLocks/>
          </p:cNvCxnSpPr>
          <p:nvPr/>
        </p:nvCxnSpPr>
        <p:spPr>
          <a:xfrm flipH="1">
            <a:off x="533400" y="3213101"/>
            <a:ext cx="914402"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49C68D-1549-4C6B-983A-2F61A403E48C}"/>
              </a:ext>
            </a:extLst>
          </p:cNvPr>
          <p:cNvCxnSpPr>
            <a:cxnSpLocks/>
          </p:cNvCxnSpPr>
          <p:nvPr/>
        </p:nvCxnSpPr>
        <p:spPr>
          <a:xfrm flipV="1">
            <a:off x="610681" y="3505200"/>
            <a:ext cx="554085" cy="12700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80D4E3A4-5975-43C5-A698-F2FD9F0425C1}"/>
              </a:ext>
            </a:extLst>
          </p:cNvPr>
          <p:cNvSpPr/>
          <p:nvPr/>
        </p:nvSpPr>
        <p:spPr>
          <a:xfrm>
            <a:off x="1172205" y="3367126"/>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453ADD6-46B6-4F77-8A1A-32DEE08FB95A}"/>
              </a:ext>
            </a:extLst>
          </p:cNvPr>
          <p:cNvSpPr/>
          <p:nvPr/>
        </p:nvSpPr>
        <p:spPr>
          <a:xfrm>
            <a:off x="1336190" y="3483469"/>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277297C-6AF9-4E87-BFD5-6D9B60CD7F17}"/>
              </a:ext>
            </a:extLst>
          </p:cNvPr>
          <p:cNvSpPr/>
          <p:nvPr/>
        </p:nvSpPr>
        <p:spPr>
          <a:xfrm>
            <a:off x="1164766" y="3561731"/>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572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par>
                          <p:cTn id="15" fill="hold">
                            <p:stCondLst>
                              <p:cond delay="1000"/>
                            </p:stCondLst>
                            <p:childTnLst>
                              <p:par>
                                <p:cTn id="16" presetID="10" presetClass="exit" presetSubtype="0" fill="hold" nodeType="afterEffect">
                                  <p:stCondLst>
                                    <p:cond delay="0"/>
                                  </p:stCondLst>
                                  <p:childTnLst>
                                    <p:animEffect transition="out" filter="fade">
                                      <p:cBhvr>
                                        <p:cTn id="17" dur="500"/>
                                        <p:tgtEl>
                                          <p:spTgt spid="18"/>
                                        </p:tgtEl>
                                      </p:cBhvr>
                                    </p:animEffect>
                                    <p:set>
                                      <p:cBhvr>
                                        <p:cTn id="18" dur="1" fill="hold">
                                          <p:stCondLst>
                                            <p:cond delay="499"/>
                                          </p:stCondLst>
                                        </p:cTn>
                                        <p:tgtEl>
                                          <p:spTgt spid="18"/>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1500"/>
                            </p:stCondLst>
                            <p:childTnLst>
                              <p:par>
                                <p:cTn id="23" presetID="10" presetClass="exit" presetSubtype="0" fill="hold" nodeType="after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2500"/>
                            </p:stCondLst>
                            <p:childTnLst>
                              <p:par>
                                <p:cTn id="37" presetID="10" presetClass="exit" presetSubtype="0" fill="hold" nodeType="afterEffect">
                                  <p:stCondLst>
                                    <p:cond delay="0"/>
                                  </p:stCondLst>
                                  <p:childTnLst>
                                    <p:animEffect transition="out" filter="fade">
                                      <p:cBhvr>
                                        <p:cTn id="38" dur="500"/>
                                        <p:tgtEl>
                                          <p:spTgt spid="24"/>
                                        </p:tgtEl>
                                      </p:cBhvr>
                                    </p:animEffect>
                                    <p:set>
                                      <p:cBhvr>
                                        <p:cTn id="39" dur="1" fill="hold">
                                          <p:stCondLst>
                                            <p:cond delay="499"/>
                                          </p:stCondLst>
                                        </p:cTn>
                                        <p:tgtEl>
                                          <p:spTgt spid="24"/>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3000"/>
                            </p:stCondLst>
                            <p:childTnLst>
                              <p:par>
                                <p:cTn id="44" presetID="10" presetClass="exit" presetSubtype="0" fill="hold" nodeType="afterEffect">
                                  <p:stCondLst>
                                    <p:cond delay="0"/>
                                  </p:stCondLst>
                                  <p:childTnLst>
                                    <p:animEffect transition="out" filter="fade">
                                      <p:cBhvr>
                                        <p:cTn id="45" dur="500"/>
                                        <p:tgtEl>
                                          <p:spTgt spid="28"/>
                                        </p:tgtEl>
                                      </p:cBhvr>
                                    </p:animEffect>
                                    <p:set>
                                      <p:cBhvr>
                                        <p:cTn id="46" dur="1" fill="hold">
                                          <p:stCondLst>
                                            <p:cond delay="499"/>
                                          </p:stCondLst>
                                        </p:cTn>
                                        <p:tgtEl>
                                          <p:spTgt spid="2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animEffect transition="in" filter="fade">
                                      <p:cBhvr>
                                        <p:cTn id="5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CEA33-A432-4BE7-9798-63C86C92A29C}"/>
              </a:ext>
            </a:extLst>
          </p:cNvPr>
          <p:cNvSpPr>
            <a:spLocks noGrp="1"/>
          </p:cNvSpPr>
          <p:nvPr>
            <p:ph type="title"/>
          </p:nvPr>
        </p:nvSpPr>
        <p:spPr/>
        <p:txBody>
          <a:bodyPr/>
          <a:lstStyle/>
          <a:p>
            <a:r>
              <a:rPr lang="en-US" dirty="0"/>
              <a:t>Bundle-branch block</a:t>
            </a:r>
          </a:p>
        </p:txBody>
      </p:sp>
      <p:sp>
        <p:nvSpPr>
          <p:cNvPr id="3" name="Content Placeholder 2">
            <a:extLst>
              <a:ext uri="{FF2B5EF4-FFF2-40B4-BE49-F238E27FC236}">
                <a16:creationId xmlns:a16="http://schemas.microsoft.com/office/drawing/2014/main" id="{E710B021-CE72-4C1C-99F8-F9081EB0667B}"/>
              </a:ext>
            </a:extLst>
          </p:cNvPr>
          <p:cNvSpPr>
            <a:spLocks noGrp="1"/>
          </p:cNvSpPr>
          <p:nvPr>
            <p:ph idx="1"/>
          </p:nvPr>
        </p:nvSpPr>
        <p:spPr>
          <a:xfrm>
            <a:off x="4378408" y="1371600"/>
            <a:ext cx="4613192" cy="4724400"/>
          </a:xfrm>
        </p:spPr>
        <p:txBody>
          <a:bodyPr/>
          <a:lstStyle/>
          <a:p>
            <a:r>
              <a:rPr lang="en-US" sz="2400" dirty="0"/>
              <a:t>What it is</a:t>
            </a:r>
          </a:p>
          <a:p>
            <a:pPr lvl="1">
              <a:spcBef>
                <a:spcPts val="0"/>
              </a:spcBef>
            </a:pPr>
            <a:r>
              <a:rPr lang="en-US" sz="2000" dirty="0"/>
              <a:t>delay or blockage in left or right BB</a:t>
            </a:r>
          </a:p>
          <a:p>
            <a:r>
              <a:rPr lang="en-US" sz="2400" dirty="0"/>
              <a:t>Symptoms</a:t>
            </a:r>
          </a:p>
          <a:p>
            <a:pPr lvl="1">
              <a:spcBef>
                <a:spcPts val="0"/>
              </a:spcBef>
            </a:pPr>
            <a:r>
              <a:rPr lang="en-US" sz="2000" dirty="0"/>
              <a:t>None (majority case)</a:t>
            </a:r>
          </a:p>
          <a:p>
            <a:pPr lvl="1">
              <a:spcBef>
                <a:spcPts val="0"/>
              </a:spcBef>
            </a:pPr>
            <a:r>
              <a:rPr lang="en-US" sz="2000" dirty="0"/>
              <a:t>Fainting, </a:t>
            </a:r>
            <a:r>
              <a:rPr lang="en-US" sz="2000" dirty="0" err="1"/>
              <a:t>dizzyness</a:t>
            </a:r>
            <a:endParaRPr lang="en-US" sz="2000" dirty="0"/>
          </a:p>
          <a:p>
            <a:r>
              <a:rPr lang="en-US" sz="2400" dirty="0"/>
              <a:t>Causes</a:t>
            </a:r>
          </a:p>
          <a:p>
            <a:pPr lvl="1">
              <a:spcBef>
                <a:spcPts val="0"/>
              </a:spcBef>
            </a:pPr>
            <a:r>
              <a:rPr lang="en-US" sz="2000" dirty="0"/>
              <a:t>Prior heart attack, bacterial infection, high blood pressure, …</a:t>
            </a:r>
          </a:p>
          <a:p>
            <a:pPr lvl="1">
              <a:spcBef>
                <a:spcPts val="0"/>
              </a:spcBef>
            </a:pPr>
            <a:r>
              <a:rPr lang="en-US" sz="2000" dirty="0"/>
              <a:t>Genetic</a:t>
            </a:r>
          </a:p>
          <a:p>
            <a:pPr lvl="1">
              <a:spcBef>
                <a:spcPts val="0"/>
              </a:spcBef>
            </a:pPr>
            <a:r>
              <a:rPr lang="en-US" sz="2000" dirty="0"/>
              <a:t>Too much exercise</a:t>
            </a:r>
          </a:p>
          <a:p>
            <a:r>
              <a:rPr lang="en-US" sz="2400" dirty="0"/>
              <a:t>Consequences</a:t>
            </a:r>
          </a:p>
          <a:p>
            <a:pPr lvl="1">
              <a:spcBef>
                <a:spcPts val="0"/>
              </a:spcBef>
            </a:pPr>
            <a:r>
              <a:rPr lang="en-US" sz="2000" dirty="0"/>
              <a:t>often none</a:t>
            </a:r>
            <a:endParaRPr lang="en-US" dirty="0"/>
          </a:p>
        </p:txBody>
      </p:sp>
      <p:sp>
        <p:nvSpPr>
          <p:cNvPr id="4" name="Footer Placeholder 3">
            <a:extLst>
              <a:ext uri="{FF2B5EF4-FFF2-40B4-BE49-F238E27FC236}">
                <a16:creationId xmlns:a16="http://schemas.microsoft.com/office/drawing/2014/main" id="{F712E3E7-A4F7-4A39-85E2-107EF1056AA2}"/>
              </a:ext>
            </a:extLst>
          </p:cNvPr>
          <p:cNvSpPr>
            <a:spLocks noGrp="1"/>
          </p:cNvSpPr>
          <p:nvPr>
            <p:ph type="ftr" sz="quarter" idx="11"/>
          </p:nvPr>
        </p:nvSpPr>
        <p:spPr/>
        <p:txBody>
          <a:bodyPr/>
          <a:lstStyle/>
          <a:p>
            <a:pPr>
              <a:defRPr/>
            </a:pPr>
            <a:r>
              <a:rPr lang="en-US" dirty="0"/>
              <a:t>EN1 EIY-- Bioelectricity</a:t>
            </a:r>
          </a:p>
        </p:txBody>
      </p:sp>
      <p:pic>
        <p:nvPicPr>
          <p:cNvPr id="5" name="Picture 4">
            <a:extLst>
              <a:ext uri="{FF2B5EF4-FFF2-40B4-BE49-F238E27FC236}">
                <a16:creationId xmlns:a16="http://schemas.microsoft.com/office/drawing/2014/main" id="{A25CDE2B-8D73-4C28-8CC0-2F683E07B4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6" name="Oval 5">
            <a:extLst>
              <a:ext uri="{FF2B5EF4-FFF2-40B4-BE49-F238E27FC236}">
                <a16:creationId xmlns:a16="http://schemas.microsoft.com/office/drawing/2014/main" id="{4E51F4C9-4103-4954-976F-B2AA951265D4}"/>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7" name="Oval 6">
            <a:extLst>
              <a:ext uri="{FF2B5EF4-FFF2-40B4-BE49-F238E27FC236}">
                <a16:creationId xmlns:a16="http://schemas.microsoft.com/office/drawing/2014/main" id="{CD3B2262-32DF-449D-967D-272DA8D7B3E2}"/>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8" name="Straight Arrow Connector 7">
            <a:extLst>
              <a:ext uri="{FF2B5EF4-FFF2-40B4-BE49-F238E27FC236}">
                <a16:creationId xmlns:a16="http://schemas.microsoft.com/office/drawing/2014/main" id="{31497E0B-70F7-44C4-99D6-A67C889E9301}"/>
              </a:ext>
            </a:extLst>
          </p:cNvPr>
          <p:cNvCxnSpPr>
            <a:cxnSpLocks/>
            <a:stCxn id="7" idx="0"/>
          </p:cNvCxnSpPr>
          <p:nvPr/>
        </p:nvCxnSpPr>
        <p:spPr>
          <a:xfrm>
            <a:off x="1892298" y="3505200"/>
            <a:ext cx="0" cy="32289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78D2D35-85A1-418B-B0DD-475645FE391A}"/>
              </a:ext>
            </a:extLst>
          </p:cNvPr>
          <p:cNvCxnSpPr>
            <a:cxnSpLocks/>
          </p:cNvCxnSpPr>
          <p:nvPr/>
        </p:nvCxnSpPr>
        <p:spPr>
          <a:xfrm>
            <a:off x="1892298" y="3810000"/>
            <a:ext cx="211398" cy="5663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FC93291-EEFA-4261-9FE7-6662946CA8A6}"/>
              </a:ext>
            </a:extLst>
          </p:cNvPr>
          <p:cNvCxnSpPr>
            <a:cxnSpLocks/>
          </p:cNvCxnSpPr>
          <p:nvPr/>
        </p:nvCxnSpPr>
        <p:spPr>
          <a:xfrm>
            <a:off x="1828800" y="4343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E292E13-6F03-472A-B6C2-FF67F263AEB8}"/>
              </a:ext>
            </a:extLst>
          </p:cNvPr>
          <p:cNvCxnSpPr>
            <a:cxnSpLocks/>
          </p:cNvCxnSpPr>
          <p:nvPr/>
        </p:nvCxnSpPr>
        <p:spPr>
          <a:xfrm>
            <a:off x="2275170" y="43014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F3458C9-BED1-43D2-B954-29AB475299BD}"/>
              </a:ext>
            </a:extLst>
          </p:cNvPr>
          <p:cNvCxnSpPr>
            <a:cxnSpLocks/>
          </p:cNvCxnSpPr>
          <p:nvPr/>
        </p:nvCxnSpPr>
        <p:spPr>
          <a:xfrm>
            <a:off x="1905000" y="4724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75F8489-6CC0-42D3-9D5C-D3ECAFE29A6C}"/>
              </a:ext>
            </a:extLst>
          </p:cNvPr>
          <p:cNvCxnSpPr>
            <a:cxnSpLocks/>
          </p:cNvCxnSpPr>
          <p:nvPr/>
        </p:nvCxnSpPr>
        <p:spPr>
          <a:xfrm>
            <a:off x="1600200" y="46482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904424F-698F-493B-82A4-F0DBFF8F12C8}"/>
              </a:ext>
            </a:extLst>
          </p:cNvPr>
          <p:cNvCxnSpPr>
            <a:cxnSpLocks/>
          </p:cNvCxnSpPr>
          <p:nvPr/>
        </p:nvCxnSpPr>
        <p:spPr>
          <a:xfrm>
            <a:off x="2590800" y="44538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987D7FE-5626-4CF3-841F-9D5F4FDCD88E}"/>
              </a:ext>
            </a:extLst>
          </p:cNvPr>
          <p:cNvCxnSpPr>
            <a:cxnSpLocks/>
          </p:cNvCxnSpPr>
          <p:nvPr/>
        </p:nvCxnSpPr>
        <p:spPr>
          <a:xfrm>
            <a:off x="2656170" y="4192361"/>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972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0"/>
                                        </p:tgtEl>
                                      </p:cBhvr>
                                      <p:by x="150000" y="150000"/>
                                    </p:animScale>
                                  </p:childTnLst>
                                </p:cTn>
                              </p:par>
                              <p:par>
                                <p:cTn id="7" presetID="6" presetClass="emph" presetSubtype="0" fill="hold" nodeType="withEffect">
                                  <p:stCondLst>
                                    <p:cond delay="0"/>
                                  </p:stCondLst>
                                  <p:childTnLst>
                                    <p:animScale>
                                      <p:cBhvr>
                                        <p:cTn id="8" dur="2000" fill="hold"/>
                                        <p:tgtEl>
                                          <p:spTgt spid="11"/>
                                        </p:tgtEl>
                                      </p:cBhvr>
                                      <p:by x="150000" y="150000"/>
                                    </p:animScale>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19C22-2233-4131-A94D-6FA288BC3340}"/>
              </a:ext>
            </a:extLst>
          </p:cNvPr>
          <p:cNvSpPr>
            <a:spLocks noGrp="1"/>
          </p:cNvSpPr>
          <p:nvPr>
            <p:ph type="title"/>
          </p:nvPr>
        </p:nvSpPr>
        <p:spPr/>
        <p:txBody>
          <a:bodyPr/>
          <a:lstStyle/>
          <a:p>
            <a:r>
              <a:rPr lang="en-US" dirty="0"/>
              <a:t>RBBB example</a:t>
            </a:r>
          </a:p>
        </p:txBody>
      </p:sp>
      <p:sp>
        <p:nvSpPr>
          <p:cNvPr id="3" name="Content Placeholder 2">
            <a:extLst>
              <a:ext uri="{FF2B5EF4-FFF2-40B4-BE49-F238E27FC236}">
                <a16:creationId xmlns:a16="http://schemas.microsoft.com/office/drawing/2014/main" id="{268E4A5D-2A48-47A8-9C4C-EC09731495DF}"/>
              </a:ext>
            </a:extLst>
          </p:cNvPr>
          <p:cNvSpPr>
            <a:spLocks noGrp="1"/>
          </p:cNvSpPr>
          <p:nvPr>
            <p:ph idx="1"/>
          </p:nvPr>
        </p:nvSpPr>
        <p:spPr>
          <a:xfrm>
            <a:off x="397932" y="3733800"/>
            <a:ext cx="7374467" cy="2514600"/>
          </a:xfrm>
        </p:spPr>
        <p:txBody>
          <a:bodyPr/>
          <a:lstStyle/>
          <a:p>
            <a:r>
              <a:rPr lang="en-US" sz="2400" dirty="0"/>
              <a:t>Diagnosis: wide QRS complex</a:t>
            </a:r>
          </a:p>
          <a:p>
            <a:pPr lvl="1">
              <a:spcBef>
                <a:spcPts val="0"/>
              </a:spcBef>
            </a:pPr>
            <a:r>
              <a:rPr lang="en-US" sz="2000" dirty="0"/>
              <a:t>.1-.12s → partial block (not uncommon, especially in endurance athletes)</a:t>
            </a:r>
          </a:p>
          <a:p>
            <a:pPr lvl="1">
              <a:spcBef>
                <a:spcPts val="0"/>
              </a:spcBef>
            </a:pPr>
            <a:r>
              <a:rPr lang="en-US" sz="2000" dirty="0"/>
              <a:t>&gt;.12s → complete block (less common)</a:t>
            </a:r>
          </a:p>
          <a:p>
            <a:r>
              <a:rPr lang="en-US" sz="2400" dirty="0"/>
              <a:t>Is this ECG normal, partial RBBB or complete?</a:t>
            </a:r>
          </a:p>
        </p:txBody>
      </p:sp>
      <p:sp>
        <p:nvSpPr>
          <p:cNvPr id="4" name="Footer Placeholder 3">
            <a:extLst>
              <a:ext uri="{FF2B5EF4-FFF2-40B4-BE49-F238E27FC236}">
                <a16:creationId xmlns:a16="http://schemas.microsoft.com/office/drawing/2014/main" id="{A60DE988-66CE-4D6C-971A-64D2461019BA}"/>
              </a:ext>
            </a:extLst>
          </p:cNvPr>
          <p:cNvSpPr>
            <a:spLocks noGrp="1"/>
          </p:cNvSpPr>
          <p:nvPr>
            <p:ph type="ftr" sz="quarter" idx="11"/>
          </p:nvPr>
        </p:nvSpPr>
        <p:spPr/>
        <p:txBody>
          <a:bodyPr/>
          <a:lstStyle/>
          <a:p>
            <a:pPr>
              <a:defRPr/>
            </a:pPr>
            <a:r>
              <a:rPr lang="en-US" dirty="0"/>
              <a:t>EN1 EIY-- Bioelectricity</a:t>
            </a:r>
          </a:p>
        </p:txBody>
      </p:sp>
      <p:pic>
        <p:nvPicPr>
          <p:cNvPr id="6" name="Picture 5" descr="A picture containing text&#10;&#10;Description automatically generated">
            <a:extLst>
              <a:ext uri="{FF2B5EF4-FFF2-40B4-BE49-F238E27FC236}">
                <a16:creationId xmlns:a16="http://schemas.microsoft.com/office/drawing/2014/main" id="{0966F67E-74CB-412C-8C33-BDEC4219DB51}"/>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81000" y="1295400"/>
            <a:ext cx="7086600" cy="2209250"/>
          </a:xfrm>
          <a:prstGeom prst="rect">
            <a:avLst/>
          </a:prstGeom>
        </p:spPr>
      </p:pic>
    </p:spTree>
    <p:extLst>
      <p:ext uri="{BB962C8B-B14F-4D97-AF65-F5344CB8AC3E}">
        <p14:creationId xmlns:p14="http://schemas.microsoft.com/office/powerpoint/2010/main" val="174205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RBBB – not a big problem</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pic>
        <p:nvPicPr>
          <p:cNvPr id="12" name="Picture 11">
            <a:extLst>
              <a:ext uri="{FF2B5EF4-FFF2-40B4-BE49-F238E27FC236}">
                <a16:creationId xmlns:a16="http://schemas.microsoft.com/office/drawing/2014/main" id="{8777D692-2875-41D1-AE47-C8F4484AD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143000"/>
            <a:ext cx="4054534" cy="5065391"/>
          </a:xfrm>
          <a:prstGeom prst="rect">
            <a:avLst/>
          </a:prstGeom>
        </p:spPr>
      </p:pic>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30" name="Straight Arrow Connector 29">
            <a:extLst>
              <a:ext uri="{FF2B5EF4-FFF2-40B4-BE49-F238E27FC236}">
                <a16:creationId xmlns:a16="http://schemas.microsoft.com/office/drawing/2014/main" id="{3DBE62C6-DB88-4B74-A590-012251EC7164}"/>
              </a:ext>
            </a:extLst>
          </p:cNvPr>
          <p:cNvCxnSpPr>
            <a:cxnSpLocks/>
            <a:stCxn id="17" idx="0"/>
          </p:cNvCxnSpPr>
          <p:nvPr/>
        </p:nvCxnSpPr>
        <p:spPr>
          <a:xfrm>
            <a:off x="1892298" y="3505200"/>
            <a:ext cx="0" cy="32289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5692F76-075B-4BA6-9104-0CD6B3C4C978}"/>
              </a:ext>
            </a:extLst>
          </p:cNvPr>
          <p:cNvCxnSpPr>
            <a:cxnSpLocks/>
          </p:cNvCxnSpPr>
          <p:nvPr/>
        </p:nvCxnSpPr>
        <p:spPr>
          <a:xfrm>
            <a:off x="1892298" y="3810000"/>
            <a:ext cx="211398" cy="5663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137894A-B24F-422E-92B1-36E7C8DE8C41}"/>
              </a:ext>
            </a:extLst>
          </p:cNvPr>
          <p:cNvCxnSpPr>
            <a:cxnSpLocks/>
          </p:cNvCxnSpPr>
          <p:nvPr/>
        </p:nvCxnSpPr>
        <p:spPr>
          <a:xfrm>
            <a:off x="1828800" y="4343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3697DF0-E375-4AA7-8027-EBD18640A4EA}"/>
              </a:ext>
            </a:extLst>
          </p:cNvPr>
          <p:cNvCxnSpPr>
            <a:cxnSpLocks/>
          </p:cNvCxnSpPr>
          <p:nvPr/>
        </p:nvCxnSpPr>
        <p:spPr>
          <a:xfrm>
            <a:off x="2275170" y="43014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6D09A61-FF5E-4840-AECD-53092225083E}"/>
              </a:ext>
            </a:extLst>
          </p:cNvPr>
          <p:cNvCxnSpPr>
            <a:cxnSpLocks/>
          </p:cNvCxnSpPr>
          <p:nvPr/>
        </p:nvCxnSpPr>
        <p:spPr>
          <a:xfrm>
            <a:off x="1905000" y="47244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A6DC73C-A0B3-4216-8231-761841D5F27C}"/>
              </a:ext>
            </a:extLst>
          </p:cNvPr>
          <p:cNvCxnSpPr>
            <a:cxnSpLocks/>
          </p:cNvCxnSpPr>
          <p:nvPr/>
        </p:nvCxnSpPr>
        <p:spPr>
          <a:xfrm>
            <a:off x="1600200" y="4648200"/>
            <a:ext cx="0" cy="5334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AD85BB6-A6E8-4411-99B7-DE744A963FC2}"/>
              </a:ext>
            </a:extLst>
          </p:cNvPr>
          <p:cNvCxnSpPr>
            <a:cxnSpLocks/>
          </p:cNvCxnSpPr>
          <p:nvPr/>
        </p:nvCxnSpPr>
        <p:spPr>
          <a:xfrm>
            <a:off x="2590800" y="4453873"/>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ABCAC90-228A-4761-8D72-E0FC7C5F2077}"/>
              </a:ext>
            </a:extLst>
          </p:cNvPr>
          <p:cNvCxnSpPr>
            <a:cxnSpLocks/>
          </p:cNvCxnSpPr>
          <p:nvPr/>
        </p:nvCxnSpPr>
        <p:spPr>
          <a:xfrm>
            <a:off x="2656170" y="4192361"/>
            <a:ext cx="468030" cy="7483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6DA303D-2951-4E64-918A-E639D974A473}"/>
              </a:ext>
            </a:extLst>
          </p:cNvPr>
          <p:cNvCxnSpPr>
            <a:cxnSpLocks/>
          </p:cNvCxnSpPr>
          <p:nvPr/>
        </p:nvCxnSpPr>
        <p:spPr>
          <a:xfrm flipH="1">
            <a:off x="1905000" y="4606273"/>
            <a:ext cx="838200" cy="1181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AC54DAF-F784-457C-A2EA-22D845031A65}"/>
              </a:ext>
            </a:extLst>
          </p:cNvPr>
          <p:cNvCxnSpPr>
            <a:cxnSpLocks/>
          </p:cNvCxnSpPr>
          <p:nvPr/>
        </p:nvCxnSpPr>
        <p:spPr>
          <a:xfrm flipH="1">
            <a:off x="1981200" y="4911073"/>
            <a:ext cx="838200" cy="1181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3886200" y="1685167"/>
            <a:ext cx="5016130" cy="3269196"/>
          </a:xfrm>
        </p:spPr>
        <p:txBody>
          <a:bodyPr/>
          <a:lstStyle/>
          <a:p>
            <a:r>
              <a:rPr lang="en-US" sz="2400" dirty="0"/>
              <a:t>The RBBB is mine!</a:t>
            </a:r>
          </a:p>
          <a:p>
            <a:r>
              <a:rPr lang="en-US" sz="2400" dirty="0"/>
              <a:t>Any reason I’m still alive (and not overly concerned)?</a:t>
            </a:r>
          </a:p>
          <a:p>
            <a:r>
              <a:rPr lang="en-US" sz="2400" dirty="0"/>
              <a:t>Heart cells are quite interconnected</a:t>
            </a:r>
            <a:endParaRPr lang="en-US" dirty="0"/>
          </a:p>
          <a:p>
            <a:pPr lvl="1">
              <a:spcBef>
                <a:spcPts val="0"/>
              </a:spcBef>
            </a:pPr>
            <a:r>
              <a:rPr lang="en-US" sz="2000" dirty="0"/>
              <a:t>Left branch crosses over to drive the right side</a:t>
            </a:r>
          </a:p>
          <a:p>
            <a:pPr lvl="1">
              <a:spcBef>
                <a:spcPts val="0"/>
              </a:spcBef>
            </a:pPr>
            <a:r>
              <a:rPr lang="en-US" sz="2000" dirty="0"/>
              <a:t>Right side is “just” the lungs anyway </a:t>
            </a:r>
            <a:r>
              <a:rPr lang="en-US" sz="2000" dirty="0">
                <a:sym typeface="Wingdings" panose="05000000000000000000" pitchFamily="2" charset="2"/>
              </a:rPr>
              <a:t></a:t>
            </a:r>
            <a:endParaRPr lang="en-US" sz="2000" dirty="0"/>
          </a:p>
        </p:txBody>
      </p:sp>
    </p:spTree>
    <p:extLst>
      <p:ext uri="{BB962C8B-B14F-4D97-AF65-F5344CB8AC3E}">
        <p14:creationId xmlns:p14="http://schemas.microsoft.com/office/powerpoint/2010/main" val="1620141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30"/>
                                        </p:tgtEl>
                                      </p:cBhvr>
                                    </p:animEffect>
                                    <p:set>
                                      <p:cBhvr>
                                        <p:cTn id="12" dur="1" fill="hold">
                                          <p:stCondLst>
                                            <p:cond delay="499"/>
                                          </p:stCondLst>
                                        </p:cTn>
                                        <p:tgtEl>
                                          <p:spTgt spid="30"/>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10"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24"/>
                                        </p:tgtEl>
                                      </p:cBhvr>
                                    </p:animEffect>
                                    <p:set>
                                      <p:cBhvr>
                                        <p:cTn id="42" dur="1" fill="hold">
                                          <p:stCondLst>
                                            <p:cond delay="499"/>
                                          </p:stCondLst>
                                        </p:cTn>
                                        <p:tgtEl>
                                          <p:spTgt spid="24"/>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32"/>
                                        </p:tgtEl>
                                      </p:cBhvr>
                                    </p:animEffect>
                                    <p:set>
                                      <p:cBhvr>
                                        <p:cTn id="45" dur="1" fill="hold">
                                          <p:stCondLst>
                                            <p:cond delay="499"/>
                                          </p:stCondLst>
                                        </p:cTn>
                                        <p:tgtEl>
                                          <p:spTgt spid="32"/>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31"/>
                                        </p:tgtEl>
                                      </p:cBhvr>
                                    </p:animEffect>
                                    <p:set>
                                      <p:cBhvr>
                                        <p:cTn id="48" dur="1" fill="hold">
                                          <p:stCondLst>
                                            <p:cond delay="499"/>
                                          </p:stCondLst>
                                        </p:cTn>
                                        <p:tgtEl>
                                          <p:spTgt spid="31"/>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
                                            <p:txEl>
                                              <p:pRg st="2" end="2"/>
                                            </p:txEl>
                                          </p:spTgt>
                                        </p:tgtEl>
                                        <p:attrNameLst>
                                          <p:attrName>style.visibility</p:attrName>
                                        </p:attrNameLst>
                                      </p:cBhvr>
                                      <p:to>
                                        <p:strVal val="visible"/>
                                      </p:to>
                                    </p:set>
                                    <p:animEffect transition="in" filter="fade">
                                      <p:cBhvr>
                                        <p:cTn id="61" dur="500"/>
                                        <p:tgtEl>
                                          <p:spTgt spid="3">
                                            <p:txEl>
                                              <p:pRg st="2" end="2"/>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3">
                                            <p:txEl>
                                              <p:pRg st="3" end="3"/>
                                            </p:txEl>
                                          </p:spTgt>
                                        </p:tgtEl>
                                        <p:attrNameLst>
                                          <p:attrName>style.visibility</p:attrName>
                                        </p:attrNameLst>
                                      </p:cBhvr>
                                      <p:to>
                                        <p:strVal val="visible"/>
                                      </p:to>
                                    </p:set>
                                    <p:animEffect transition="in" filter="fade">
                                      <p:cBhvr>
                                        <p:cTn id="64" dur="500"/>
                                        <p:tgtEl>
                                          <p:spTgt spid="3">
                                            <p:txEl>
                                              <p:pRg st="3" end="3"/>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3">
                                            <p:txEl>
                                              <p:pRg st="4" end="4"/>
                                            </p:txEl>
                                          </p:spTgt>
                                        </p:tgtEl>
                                        <p:attrNameLst>
                                          <p:attrName>style.visibility</p:attrName>
                                        </p:attrNameLst>
                                      </p:cBhvr>
                                      <p:to>
                                        <p:strVal val="visible"/>
                                      </p:to>
                                    </p:set>
                                    <p:animEffect transition="in" filter="fade">
                                      <p:cBhvr>
                                        <p:cTn id="6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19C22-2233-4131-A94D-6FA288BC3340}"/>
              </a:ext>
            </a:extLst>
          </p:cNvPr>
          <p:cNvSpPr>
            <a:spLocks noGrp="1"/>
          </p:cNvSpPr>
          <p:nvPr>
            <p:ph type="title"/>
          </p:nvPr>
        </p:nvSpPr>
        <p:spPr/>
        <p:txBody>
          <a:bodyPr/>
          <a:lstStyle/>
          <a:p>
            <a:r>
              <a:rPr lang="en-US" dirty="0"/>
              <a:t>RBBB example</a:t>
            </a:r>
          </a:p>
        </p:txBody>
      </p:sp>
      <p:sp>
        <p:nvSpPr>
          <p:cNvPr id="3" name="Content Placeholder 2">
            <a:extLst>
              <a:ext uri="{FF2B5EF4-FFF2-40B4-BE49-F238E27FC236}">
                <a16:creationId xmlns:a16="http://schemas.microsoft.com/office/drawing/2014/main" id="{268E4A5D-2A48-47A8-9C4C-EC09731495DF}"/>
              </a:ext>
            </a:extLst>
          </p:cNvPr>
          <p:cNvSpPr>
            <a:spLocks noGrp="1"/>
          </p:cNvSpPr>
          <p:nvPr>
            <p:ph idx="1"/>
          </p:nvPr>
        </p:nvSpPr>
        <p:spPr>
          <a:xfrm>
            <a:off x="397932" y="3733800"/>
            <a:ext cx="7374467" cy="2514600"/>
          </a:xfrm>
        </p:spPr>
        <p:txBody>
          <a:bodyPr/>
          <a:lstStyle/>
          <a:p>
            <a:r>
              <a:rPr lang="en-US" sz="2400" dirty="0"/>
              <a:t>Why does RBBB cause wide QRS?</a:t>
            </a:r>
          </a:p>
          <a:p>
            <a:pPr lvl="1">
              <a:spcBef>
                <a:spcPts val="0"/>
              </a:spcBef>
            </a:pPr>
            <a:r>
              <a:rPr lang="en-US" sz="2000" dirty="0"/>
              <a:t>Blocked RBB </a:t>
            </a:r>
            <a:r>
              <a:rPr lang="en-US" sz="2000" dirty="0">
                <a:latin typeface="Times New Roman" panose="02020603050405020304" pitchFamily="18" charset="0"/>
                <a:cs typeface="Times New Roman" panose="02020603050405020304" pitchFamily="18" charset="0"/>
              </a:rPr>
              <a:t>→ </a:t>
            </a:r>
            <a:r>
              <a:rPr lang="en-US" sz="2000" dirty="0"/>
              <a:t> you must hit the right ventricle from a longer path that crosses from the left</a:t>
            </a:r>
          </a:p>
          <a:p>
            <a:pPr lvl="1">
              <a:spcBef>
                <a:spcPts val="0"/>
              </a:spcBef>
            </a:pPr>
            <a:r>
              <a:rPr lang="en-US" sz="2000" dirty="0"/>
              <a:t>Slow RBB </a:t>
            </a:r>
            <a:r>
              <a:rPr lang="en-US" sz="2000" dirty="0">
                <a:latin typeface="Times New Roman" panose="02020603050405020304" pitchFamily="18" charset="0"/>
                <a:cs typeface="Times New Roman" panose="02020603050405020304" pitchFamily="18" charset="0"/>
              </a:rPr>
              <a:t>→ </a:t>
            </a:r>
            <a:r>
              <a:rPr lang="en-US" sz="2000" dirty="0"/>
              <a:t>don’t seed the right ventricle as quickly (and the QRS includes </a:t>
            </a:r>
            <a:r>
              <a:rPr lang="en-US" sz="2000" i="1" dirty="0"/>
              <a:t>both</a:t>
            </a:r>
            <a:r>
              <a:rPr lang="en-US" sz="2000" dirty="0"/>
              <a:t> ventricles contracting)</a:t>
            </a:r>
          </a:p>
          <a:p>
            <a:endParaRPr lang="en-US" sz="2400" dirty="0"/>
          </a:p>
        </p:txBody>
      </p:sp>
      <p:sp>
        <p:nvSpPr>
          <p:cNvPr id="4" name="Footer Placeholder 3">
            <a:extLst>
              <a:ext uri="{FF2B5EF4-FFF2-40B4-BE49-F238E27FC236}">
                <a16:creationId xmlns:a16="http://schemas.microsoft.com/office/drawing/2014/main" id="{A60DE988-66CE-4D6C-971A-64D2461019BA}"/>
              </a:ext>
            </a:extLst>
          </p:cNvPr>
          <p:cNvSpPr>
            <a:spLocks noGrp="1"/>
          </p:cNvSpPr>
          <p:nvPr>
            <p:ph type="ftr" sz="quarter" idx="11"/>
          </p:nvPr>
        </p:nvSpPr>
        <p:spPr/>
        <p:txBody>
          <a:bodyPr/>
          <a:lstStyle/>
          <a:p>
            <a:pPr>
              <a:defRPr/>
            </a:pPr>
            <a:r>
              <a:rPr lang="en-US" dirty="0"/>
              <a:t>EN1 EIY-- Bioelectricity</a:t>
            </a:r>
          </a:p>
        </p:txBody>
      </p:sp>
      <p:pic>
        <p:nvPicPr>
          <p:cNvPr id="6" name="Picture 5" descr="A picture containing text&#10;&#10;Description automatically generated">
            <a:extLst>
              <a:ext uri="{FF2B5EF4-FFF2-40B4-BE49-F238E27FC236}">
                <a16:creationId xmlns:a16="http://schemas.microsoft.com/office/drawing/2014/main" id="{0966F67E-74CB-412C-8C33-BDEC4219DB51}"/>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81000" y="1295400"/>
            <a:ext cx="7086600" cy="2209250"/>
          </a:xfrm>
          <a:prstGeom prst="rect">
            <a:avLst/>
          </a:prstGeom>
        </p:spPr>
      </p:pic>
    </p:spTree>
    <p:extLst>
      <p:ext uri="{BB962C8B-B14F-4D97-AF65-F5344CB8AC3E}">
        <p14:creationId xmlns:p14="http://schemas.microsoft.com/office/powerpoint/2010/main" val="75918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7161F-3D3E-4692-990E-356F2439F90B}"/>
              </a:ext>
            </a:extLst>
          </p:cNvPr>
          <p:cNvSpPr>
            <a:spLocks noGrp="1"/>
          </p:cNvSpPr>
          <p:nvPr>
            <p:ph type="title"/>
          </p:nvPr>
        </p:nvSpPr>
        <p:spPr/>
        <p:txBody>
          <a:bodyPr/>
          <a:lstStyle/>
          <a:p>
            <a:r>
              <a:rPr lang="en-US" dirty="0"/>
              <a:t>Electrical control of HR, BP</a:t>
            </a:r>
          </a:p>
        </p:txBody>
      </p:sp>
      <p:sp>
        <p:nvSpPr>
          <p:cNvPr id="3" name="Content Placeholder 2">
            <a:extLst>
              <a:ext uri="{FF2B5EF4-FFF2-40B4-BE49-F238E27FC236}">
                <a16:creationId xmlns:a16="http://schemas.microsoft.com/office/drawing/2014/main" id="{7A3A7742-0068-48B2-A0C8-06AACE845587}"/>
              </a:ext>
            </a:extLst>
          </p:cNvPr>
          <p:cNvSpPr>
            <a:spLocks noGrp="1"/>
          </p:cNvSpPr>
          <p:nvPr>
            <p:ph idx="1"/>
          </p:nvPr>
        </p:nvSpPr>
        <p:spPr>
          <a:xfrm>
            <a:off x="685800" y="1295400"/>
            <a:ext cx="7772400" cy="5105400"/>
          </a:xfrm>
        </p:spPr>
        <p:txBody>
          <a:bodyPr/>
          <a:lstStyle/>
          <a:p>
            <a:r>
              <a:rPr lang="en-US" sz="2400" i="1" dirty="0"/>
              <a:t>Sympathetic</a:t>
            </a:r>
            <a:r>
              <a:rPr lang="en-US" sz="2400" dirty="0"/>
              <a:t> nervous system increases heart rate:</a:t>
            </a:r>
          </a:p>
          <a:p>
            <a:pPr lvl="1">
              <a:spcBef>
                <a:spcPts val="0"/>
              </a:spcBef>
            </a:pPr>
            <a:r>
              <a:rPr lang="en-US" sz="2000" dirty="0"/>
              <a:t>releases norepinephrine, which helps to open HCN channels and thus speed up phase 4</a:t>
            </a:r>
          </a:p>
          <a:p>
            <a:pPr lvl="1">
              <a:spcBef>
                <a:spcPts val="0"/>
              </a:spcBef>
            </a:pPr>
            <a:r>
              <a:rPr lang="en-US" sz="2000" dirty="0"/>
              <a:t>it also makes the AP triggering voltage more negative</a:t>
            </a:r>
          </a:p>
          <a:p>
            <a:r>
              <a:rPr lang="en-US" sz="2400" i="1" dirty="0"/>
              <a:t>Parasympathetic</a:t>
            </a:r>
            <a:r>
              <a:rPr lang="en-US" sz="2400" dirty="0"/>
              <a:t> nervous system slows HR:</a:t>
            </a:r>
          </a:p>
          <a:p>
            <a:pPr lvl="1">
              <a:spcBef>
                <a:spcPts val="0"/>
              </a:spcBef>
            </a:pPr>
            <a:r>
              <a:rPr lang="en-US" sz="2000" dirty="0"/>
              <a:t>releases acetylcholine, which decreases [cAMP]</a:t>
            </a:r>
          </a:p>
          <a:p>
            <a:pPr lvl="1">
              <a:spcBef>
                <a:spcPts val="0"/>
              </a:spcBef>
            </a:pPr>
            <a:r>
              <a:rPr lang="en-US" sz="2000" dirty="0"/>
              <a:t>does the opposite of the above</a:t>
            </a:r>
          </a:p>
          <a:p>
            <a:r>
              <a:rPr lang="en-US" sz="2400" i="1" dirty="0"/>
              <a:t>Baroreceptors: </a:t>
            </a:r>
            <a:r>
              <a:rPr lang="en-US" sz="2400" dirty="0"/>
              <a:t>arterial stretch receptors</a:t>
            </a:r>
          </a:p>
          <a:p>
            <a:pPr lvl="1">
              <a:spcBef>
                <a:spcPts val="0"/>
              </a:spcBef>
            </a:pPr>
            <a:r>
              <a:rPr lang="en-US" sz="2000" dirty="0"/>
              <a:t>detect changes in arterial pressure and communicate this to the medulla oblongata in the brainstem</a:t>
            </a:r>
          </a:p>
          <a:p>
            <a:pPr lvl="1">
              <a:spcBef>
                <a:spcPts val="0"/>
              </a:spcBef>
            </a:pPr>
            <a:r>
              <a:rPr lang="en-US" sz="2000" dirty="0"/>
              <a:t>… which then controls heart rate as described above, as well as changing circulatory  muscle tone</a:t>
            </a:r>
          </a:p>
          <a:p>
            <a:pPr lvl="1">
              <a:spcBef>
                <a:spcPts val="0"/>
              </a:spcBef>
            </a:pPr>
            <a:r>
              <a:rPr lang="en-US" sz="2000" dirty="0"/>
              <a:t>End goal: feedback loop controlling blood pressure</a:t>
            </a:r>
          </a:p>
          <a:p>
            <a:pPr lvl="1">
              <a:spcBef>
                <a:spcPts val="0"/>
              </a:spcBef>
            </a:pPr>
            <a:r>
              <a:rPr lang="en-US" sz="2000" dirty="0"/>
              <a:t>Salt seems to affect it; nobody knows why</a:t>
            </a:r>
          </a:p>
          <a:p>
            <a:pPr lvl="1">
              <a:spcBef>
                <a:spcPts val="0"/>
              </a:spcBef>
            </a:pPr>
            <a:r>
              <a:rPr lang="en-US" sz="2000" dirty="0"/>
              <a:t>Your brain is the mysterious box controlling it all</a:t>
            </a:r>
          </a:p>
          <a:p>
            <a:pPr marL="457200" lvl="1" indent="0">
              <a:spcBef>
                <a:spcPts val="0"/>
              </a:spcBef>
              <a:buNone/>
            </a:pPr>
            <a:endParaRPr lang="en-US" sz="2000" dirty="0"/>
          </a:p>
        </p:txBody>
      </p:sp>
      <p:sp>
        <p:nvSpPr>
          <p:cNvPr id="4" name="Footer Placeholder 3">
            <a:extLst>
              <a:ext uri="{FF2B5EF4-FFF2-40B4-BE49-F238E27FC236}">
                <a16:creationId xmlns:a16="http://schemas.microsoft.com/office/drawing/2014/main" id="{E0C00EAF-C718-4403-821F-74E921692CE6}"/>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210312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fade">
                                      <p:cBhvr>
                                        <p:cTn id="29" dur="500"/>
                                        <p:tgtEl>
                                          <p:spTgt spid="3">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fade">
                                      <p:cBhvr>
                                        <p:cTn id="35"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93D7E-3850-42B6-9B23-3067FFF37D25}"/>
              </a:ext>
            </a:extLst>
          </p:cNvPr>
          <p:cNvSpPr>
            <a:spLocks noGrp="1"/>
          </p:cNvSpPr>
          <p:nvPr>
            <p:ph type="title"/>
          </p:nvPr>
        </p:nvSpPr>
        <p:spPr/>
        <p:txBody>
          <a:bodyPr/>
          <a:lstStyle/>
          <a:p>
            <a:r>
              <a:rPr lang="en-US" dirty="0" err="1"/>
              <a:t>CVRx</a:t>
            </a:r>
            <a:endParaRPr lang="en-US" dirty="0"/>
          </a:p>
        </p:txBody>
      </p:sp>
      <p:sp>
        <p:nvSpPr>
          <p:cNvPr id="3" name="Content Placeholder 2">
            <a:extLst>
              <a:ext uri="{FF2B5EF4-FFF2-40B4-BE49-F238E27FC236}">
                <a16:creationId xmlns:a16="http://schemas.microsoft.com/office/drawing/2014/main" id="{971FA3EF-C5A8-4740-B264-BE8BB61F8B2D}"/>
              </a:ext>
            </a:extLst>
          </p:cNvPr>
          <p:cNvSpPr>
            <a:spLocks noGrp="1"/>
          </p:cNvSpPr>
          <p:nvPr>
            <p:ph idx="1"/>
          </p:nvPr>
        </p:nvSpPr>
        <p:spPr>
          <a:xfrm>
            <a:off x="685800" y="1447800"/>
            <a:ext cx="7772400" cy="4419600"/>
          </a:xfrm>
        </p:spPr>
        <p:txBody>
          <a:bodyPr/>
          <a:lstStyle/>
          <a:p>
            <a:r>
              <a:rPr lang="en-US" sz="2400" dirty="0"/>
              <a:t>Change to </a:t>
            </a:r>
            <a:r>
              <a:rPr lang="en-US" sz="2400" dirty="0">
                <a:hlinkClick r:id="rId2"/>
              </a:rPr>
              <a:t>https://axontherapies.com</a:t>
            </a:r>
            <a:r>
              <a:rPr lang="en-US" sz="2400" dirty="0"/>
              <a:t> (which is Imran’s)</a:t>
            </a:r>
          </a:p>
          <a:p>
            <a:r>
              <a:rPr lang="en-US" sz="2400" dirty="0" err="1"/>
              <a:t>Barostim</a:t>
            </a:r>
            <a:r>
              <a:rPr lang="en-US" sz="2400" dirty="0"/>
              <a:t>-NEO device</a:t>
            </a:r>
          </a:p>
          <a:p>
            <a:pPr lvl="1">
              <a:spcBef>
                <a:spcPts val="0"/>
              </a:spcBef>
            </a:pPr>
            <a:r>
              <a:rPr lang="en-US" sz="2000" dirty="0"/>
              <a:t>one in three high-blood-pressure patients is resistant to drugs</a:t>
            </a:r>
          </a:p>
          <a:p>
            <a:pPr lvl="1">
              <a:spcBef>
                <a:spcPts val="0"/>
              </a:spcBef>
            </a:pPr>
            <a:r>
              <a:rPr lang="en-US" sz="2000" dirty="0"/>
              <a:t>they are the target audience</a:t>
            </a:r>
          </a:p>
          <a:p>
            <a:r>
              <a:rPr lang="en-US" sz="2400" dirty="0"/>
              <a:t>Mechanism:</a:t>
            </a:r>
          </a:p>
          <a:p>
            <a:pPr lvl="1">
              <a:spcBef>
                <a:spcPts val="0"/>
              </a:spcBef>
            </a:pPr>
            <a:r>
              <a:rPr lang="en-US" sz="2000" dirty="0"/>
              <a:t>activate baroreflex; reduces sympathetic activity and increases parasympathetic activity</a:t>
            </a:r>
          </a:p>
          <a:p>
            <a:r>
              <a:rPr lang="en-US" sz="2400" dirty="0"/>
              <a:t>Results:</a:t>
            </a:r>
          </a:p>
          <a:p>
            <a:pPr lvl="1">
              <a:spcBef>
                <a:spcPts val="0"/>
              </a:spcBef>
            </a:pPr>
            <a:r>
              <a:rPr lang="en-US" sz="2000" dirty="0">
                <a:hlinkClick r:id="rId3"/>
              </a:rPr>
              <a:t>http://www.barostimtherapy.com/en-gb/node/86</a:t>
            </a:r>
            <a:endParaRPr lang="en-US" sz="2000" dirty="0"/>
          </a:p>
          <a:p>
            <a:pPr lvl="1">
              <a:spcBef>
                <a:spcPts val="0"/>
              </a:spcBef>
            </a:pPr>
            <a:r>
              <a:rPr lang="en-US" sz="2000" dirty="0"/>
              <a:t>FDA approval Aug 2019 (implantable device)</a:t>
            </a:r>
          </a:p>
          <a:p>
            <a:r>
              <a:rPr lang="en-US" sz="2400" dirty="0"/>
              <a:t>Also used for heart-failure patients</a:t>
            </a:r>
          </a:p>
          <a:p>
            <a:pPr lvl="1">
              <a:spcBef>
                <a:spcPts val="0"/>
              </a:spcBef>
            </a:pPr>
            <a:r>
              <a:rPr lang="en-US" sz="2000" dirty="0"/>
              <a:t>Often, too much sympathetic (too little para) activity causes pathological myocardial remodeling that worsens the condition</a:t>
            </a:r>
          </a:p>
        </p:txBody>
      </p:sp>
      <p:sp>
        <p:nvSpPr>
          <p:cNvPr id="4" name="Footer Placeholder 3">
            <a:extLst>
              <a:ext uri="{FF2B5EF4-FFF2-40B4-BE49-F238E27FC236}">
                <a16:creationId xmlns:a16="http://schemas.microsoft.com/office/drawing/2014/main" id="{0130C130-898A-411F-A864-E830BD035900}"/>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37064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fade">
                                      <p:cBhvr>
                                        <p:cTn id="2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7BC82-CA7E-CB91-76BB-CC2361DB72FD}"/>
              </a:ext>
            </a:extLst>
          </p:cNvPr>
          <p:cNvSpPr>
            <a:spLocks noGrp="1"/>
          </p:cNvSpPr>
          <p:nvPr>
            <p:ph type="title"/>
          </p:nvPr>
        </p:nvSpPr>
        <p:spPr/>
        <p:txBody>
          <a:bodyPr/>
          <a:lstStyle/>
          <a:p>
            <a:r>
              <a:rPr lang="en-US" dirty="0"/>
              <a:t>What comes next?</a:t>
            </a:r>
          </a:p>
        </p:txBody>
      </p:sp>
      <p:sp>
        <p:nvSpPr>
          <p:cNvPr id="3" name="Content Placeholder 2">
            <a:extLst>
              <a:ext uri="{FF2B5EF4-FFF2-40B4-BE49-F238E27FC236}">
                <a16:creationId xmlns:a16="http://schemas.microsoft.com/office/drawing/2014/main" id="{6C4E9D5A-8DE9-1F80-1BA1-6C89FA6BBD2F}"/>
              </a:ext>
            </a:extLst>
          </p:cNvPr>
          <p:cNvSpPr>
            <a:spLocks noGrp="1"/>
          </p:cNvSpPr>
          <p:nvPr>
            <p:ph idx="1"/>
          </p:nvPr>
        </p:nvSpPr>
        <p:spPr>
          <a:xfrm>
            <a:off x="685800" y="1676400"/>
            <a:ext cx="8001000" cy="4419600"/>
          </a:xfrm>
        </p:spPr>
        <p:txBody>
          <a:bodyPr/>
          <a:lstStyle/>
          <a:p>
            <a:r>
              <a:rPr lang="en-US" dirty="0"/>
              <a:t>Cardiac bioelectricity is a </a:t>
            </a:r>
            <a:r>
              <a:rPr lang="en-US" i="1" dirty="0"/>
              <a:t>large</a:t>
            </a:r>
            <a:r>
              <a:rPr lang="en-US" dirty="0"/>
              <a:t> and important field</a:t>
            </a:r>
          </a:p>
          <a:p>
            <a:pPr lvl="1">
              <a:spcBef>
                <a:spcPts val="0"/>
              </a:spcBef>
            </a:pPr>
            <a:r>
              <a:rPr lang="en-US" dirty="0"/>
              <a:t>Cardiac electrophysiologists make it their career!</a:t>
            </a:r>
          </a:p>
          <a:p>
            <a:pPr lvl="1">
              <a:spcBef>
                <a:spcPts val="0"/>
              </a:spcBef>
            </a:pPr>
            <a:r>
              <a:rPr lang="en-US" dirty="0"/>
              <a:t>Tons of research to be done</a:t>
            </a:r>
          </a:p>
          <a:p>
            <a:r>
              <a:rPr lang="en-US" dirty="0"/>
              <a:t>Lots to be done at Tufts</a:t>
            </a:r>
          </a:p>
          <a:p>
            <a:pPr lvl="1">
              <a:spcBef>
                <a:spcPts val="0"/>
              </a:spcBef>
            </a:pPr>
            <a:r>
              <a:rPr lang="en-US" dirty="0"/>
              <a:t>EE123: covers this, plus more arrhythmias, cardiac simulation, gap junctions</a:t>
            </a:r>
          </a:p>
          <a:p>
            <a:pPr lvl="1">
              <a:spcBef>
                <a:spcPts val="0"/>
              </a:spcBef>
            </a:pPr>
            <a:r>
              <a:rPr lang="en-US" dirty="0"/>
              <a:t>BME 122 (quantitative physiology): lots of plumbing</a:t>
            </a:r>
          </a:p>
          <a:p>
            <a:pPr lvl="1">
              <a:spcBef>
                <a:spcPts val="0"/>
              </a:spcBef>
            </a:pPr>
            <a:r>
              <a:rPr lang="en-US" dirty="0"/>
              <a:t>Lauren Black: cardiac signaling research</a:t>
            </a:r>
          </a:p>
        </p:txBody>
      </p:sp>
      <p:sp>
        <p:nvSpPr>
          <p:cNvPr id="4" name="Footer Placeholder 3">
            <a:extLst>
              <a:ext uri="{FF2B5EF4-FFF2-40B4-BE49-F238E27FC236}">
                <a16:creationId xmlns:a16="http://schemas.microsoft.com/office/drawing/2014/main" id="{C6AFC753-6EC2-1495-6EBB-187BA3C1A2C1}"/>
              </a:ext>
            </a:extLst>
          </p:cNvPr>
          <p:cNvSpPr>
            <a:spLocks noGrp="1"/>
          </p:cNvSpPr>
          <p:nvPr>
            <p:ph type="ftr" sz="quarter" idx="11"/>
          </p:nvPr>
        </p:nvSpPr>
        <p:spPr/>
        <p:txBody>
          <a:bodyPr/>
          <a:lstStyle/>
          <a:p>
            <a:pPr>
              <a:defRPr/>
            </a:pPr>
            <a:r>
              <a:rPr lang="en-US"/>
              <a:t>EN1 EIY-- Bioelectricity</a:t>
            </a:r>
            <a:endParaRPr lang="en-US" dirty="0"/>
          </a:p>
        </p:txBody>
      </p:sp>
    </p:spTree>
    <p:extLst>
      <p:ext uri="{BB962C8B-B14F-4D97-AF65-F5344CB8AC3E}">
        <p14:creationId xmlns:p14="http://schemas.microsoft.com/office/powerpoint/2010/main" val="391283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BE549-E855-4CAA-FE61-ABE4A1A3C1A5}"/>
              </a:ext>
            </a:extLst>
          </p:cNvPr>
          <p:cNvSpPr>
            <a:spLocks noGrp="1"/>
          </p:cNvSpPr>
          <p:nvPr>
            <p:ph type="title"/>
          </p:nvPr>
        </p:nvSpPr>
        <p:spPr/>
        <p:txBody>
          <a:bodyPr/>
          <a:lstStyle/>
          <a:p>
            <a:r>
              <a:rPr lang="en-US" dirty="0"/>
              <a:t>BACKUP</a:t>
            </a:r>
          </a:p>
        </p:txBody>
      </p:sp>
      <p:sp>
        <p:nvSpPr>
          <p:cNvPr id="3" name="Content Placeholder 2">
            <a:extLst>
              <a:ext uri="{FF2B5EF4-FFF2-40B4-BE49-F238E27FC236}">
                <a16:creationId xmlns:a16="http://schemas.microsoft.com/office/drawing/2014/main" id="{1A10E4FB-9DE3-E9D5-F4F7-2A34328B27A9}"/>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2BDCCCFC-A627-B7E8-9AEA-99CA853D5524}"/>
              </a:ext>
            </a:extLst>
          </p:cNvPr>
          <p:cNvSpPr>
            <a:spLocks noGrp="1"/>
          </p:cNvSpPr>
          <p:nvPr>
            <p:ph type="ftr" sz="quarter" idx="11"/>
          </p:nvPr>
        </p:nvSpPr>
        <p:spPr/>
        <p:txBody>
          <a:bodyPr/>
          <a:lstStyle/>
          <a:p>
            <a:pPr>
              <a:defRPr/>
            </a:pPr>
            <a:r>
              <a:rPr lang="en-US"/>
              <a:t>EN1 EIY-- Bioelectricity</a:t>
            </a:r>
            <a:endParaRPr lang="en-US" dirty="0"/>
          </a:p>
        </p:txBody>
      </p:sp>
    </p:spTree>
    <p:extLst>
      <p:ext uri="{BB962C8B-B14F-4D97-AF65-F5344CB8AC3E}">
        <p14:creationId xmlns:p14="http://schemas.microsoft.com/office/powerpoint/2010/main" val="27470307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9332F-15D7-484C-B1DD-459510FE2701}"/>
              </a:ext>
            </a:extLst>
          </p:cNvPr>
          <p:cNvSpPr>
            <a:spLocks noGrp="1"/>
          </p:cNvSpPr>
          <p:nvPr>
            <p:ph type="title"/>
          </p:nvPr>
        </p:nvSpPr>
        <p:spPr/>
        <p:txBody>
          <a:bodyPr/>
          <a:lstStyle/>
          <a:p>
            <a:r>
              <a:rPr lang="en-US" dirty="0"/>
              <a:t>Electrocardiogram</a:t>
            </a:r>
          </a:p>
        </p:txBody>
      </p:sp>
      <p:sp>
        <p:nvSpPr>
          <p:cNvPr id="3" name="Content Placeholder 2">
            <a:extLst>
              <a:ext uri="{FF2B5EF4-FFF2-40B4-BE49-F238E27FC236}">
                <a16:creationId xmlns:a16="http://schemas.microsoft.com/office/drawing/2014/main" id="{036FC569-E95E-4533-A3B2-F121D601FCF2}"/>
              </a:ext>
            </a:extLst>
          </p:cNvPr>
          <p:cNvSpPr>
            <a:spLocks noGrp="1"/>
          </p:cNvSpPr>
          <p:nvPr>
            <p:ph idx="1"/>
          </p:nvPr>
        </p:nvSpPr>
        <p:spPr>
          <a:xfrm>
            <a:off x="838326" y="3755617"/>
            <a:ext cx="6400674" cy="2662113"/>
          </a:xfrm>
        </p:spPr>
        <p:txBody>
          <a:bodyPr/>
          <a:lstStyle/>
          <a:p>
            <a:r>
              <a:rPr lang="en-US" dirty="0"/>
              <a:t>Match the ECG features with:</a:t>
            </a:r>
          </a:p>
          <a:p>
            <a:pPr lvl="1">
              <a:spcBef>
                <a:spcPts val="0"/>
              </a:spcBef>
            </a:pPr>
            <a:r>
              <a:rPr lang="en-US" dirty="0"/>
              <a:t>SA node firing</a:t>
            </a:r>
          </a:p>
          <a:p>
            <a:pPr lvl="1">
              <a:spcBef>
                <a:spcPts val="0"/>
              </a:spcBef>
            </a:pPr>
            <a:r>
              <a:rPr lang="en-US" dirty="0"/>
              <a:t>atrial depolarization</a:t>
            </a:r>
          </a:p>
          <a:p>
            <a:pPr lvl="1">
              <a:spcBef>
                <a:spcPts val="0"/>
              </a:spcBef>
            </a:pPr>
            <a:r>
              <a:rPr lang="en-US" dirty="0"/>
              <a:t>atrial repolarization</a:t>
            </a:r>
          </a:p>
          <a:p>
            <a:pPr lvl="1">
              <a:spcBef>
                <a:spcPts val="0"/>
              </a:spcBef>
            </a:pPr>
            <a:r>
              <a:rPr lang="en-US" dirty="0"/>
              <a:t>AV-node delay</a:t>
            </a:r>
          </a:p>
          <a:p>
            <a:pPr lvl="1">
              <a:spcBef>
                <a:spcPts val="0"/>
              </a:spcBef>
            </a:pPr>
            <a:r>
              <a:rPr lang="en-US" dirty="0"/>
              <a:t>ventricular depolarization</a:t>
            </a:r>
          </a:p>
          <a:p>
            <a:pPr lvl="1">
              <a:spcBef>
                <a:spcPts val="0"/>
              </a:spcBef>
            </a:pPr>
            <a:r>
              <a:rPr lang="en-US" dirty="0"/>
              <a:t>ventricular repolarization</a:t>
            </a:r>
          </a:p>
          <a:p>
            <a:endParaRPr lang="en-US" dirty="0"/>
          </a:p>
        </p:txBody>
      </p:sp>
      <p:sp>
        <p:nvSpPr>
          <p:cNvPr id="4" name="Footer Placeholder 3">
            <a:extLst>
              <a:ext uri="{FF2B5EF4-FFF2-40B4-BE49-F238E27FC236}">
                <a16:creationId xmlns:a16="http://schemas.microsoft.com/office/drawing/2014/main" id="{29085EBB-3DEE-45A4-9CEE-B347DE2E2345}"/>
              </a:ext>
            </a:extLst>
          </p:cNvPr>
          <p:cNvSpPr>
            <a:spLocks noGrp="1"/>
          </p:cNvSpPr>
          <p:nvPr>
            <p:ph type="ftr" sz="quarter" idx="11"/>
          </p:nvPr>
        </p:nvSpPr>
        <p:spPr/>
        <p:txBody>
          <a:bodyPr/>
          <a:lstStyle/>
          <a:p>
            <a:pPr>
              <a:defRPr/>
            </a:pPr>
            <a:r>
              <a:rPr lang="en-US" dirty="0"/>
              <a:t>EN1 EIY-- Bioelectricity</a:t>
            </a:r>
          </a:p>
        </p:txBody>
      </p:sp>
      <p:grpSp>
        <p:nvGrpSpPr>
          <p:cNvPr id="24" name="Group 23">
            <a:extLst>
              <a:ext uri="{FF2B5EF4-FFF2-40B4-BE49-F238E27FC236}">
                <a16:creationId xmlns:a16="http://schemas.microsoft.com/office/drawing/2014/main" id="{0CD9E6D3-2763-4886-8475-C7A5F278DAED}"/>
              </a:ext>
            </a:extLst>
          </p:cNvPr>
          <p:cNvGrpSpPr/>
          <p:nvPr/>
        </p:nvGrpSpPr>
        <p:grpSpPr>
          <a:xfrm>
            <a:off x="914401" y="1295400"/>
            <a:ext cx="2286000" cy="1942914"/>
            <a:chOff x="1989667" y="1227667"/>
            <a:chExt cx="5190066" cy="4411133"/>
          </a:xfrm>
        </p:grpSpPr>
        <p:sp>
          <p:nvSpPr>
            <p:cNvPr id="21" name="Freeform: Shape 20">
              <a:extLst>
                <a:ext uri="{FF2B5EF4-FFF2-40B4-BE49-F238E27FC236}">
                  <a16:creationId xmlns:a16="http://schemas.microsoft.com/office/drawing/2014/main" id="{F5327CF0-5812-44AB-AB33-635C84898C3C}"/>
                </a:ext>
              </a:extLst>
            </p:cNvPr>
            <p:cNvSpPr/>
            <p:nvPr/>
          </p:nvSpPr>
          <p:spPr>
            <a:xfrm>
              <a:off x="1989667" y="4320771"/>
              <a:ext cx="1219200" cy="403629"/>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884F669D-0EEA-47FF-8806-0C0255682ECE}"/>
                </a:ext>
              </a:extLst>
            </p:cNvPr>
            <p:cNvSpPr/>
            <p:nvPr/>
          </p:nvSpPr>
          <p:spPr>
            <a:xfrm>
              <a:off x="5952067" y="4114800"/>
              <a:ext cx="1227666" cy="661116"/>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97C02CB2-63BA-4406-B4A6-13AA1B4A9CCF}"/>
                </a:ext>
              </a:extLst>
            </p:cNvPr>
            <p:cNvSpPr/>
            <p:nvPr/>
          </p:nvSpPr>
          <p:spPr>
            <a:xfrm>
              <a:off x="3217333" y="1227667"/>
              <a:ext cx="2751667" cy="4411133"/>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9CFB950-7CBA-4E78-8A10-6809D5E029D6}"/>
              </a:ext>
            </a:extLst>
          </p:cNvPr>
          <p:cNvGrpSpPr/>
          <p:nvPr/>
        </p:nvGrpSpPr>
        <p:grpSpPr>
          <a:xfrm>
            <a:off x="4089399" y="1312334"/>
            <a:ext cx="2286000" cy="1942914"/>
            <a:chOff x="1989667" y="1227667"/>
            <a:chExt cx="5190066" cy="4411133"/>
          </a:xfrm>
        </p:grpSpPr>
        <p:sp>
          <p:nvSpPr>
            <p:cNvPr id="26" name="Freeform: Shape 25">
              <a:extLst>
                <a:ext uri="{FF2B5EF4-FFF2-40B4-BE49-F238E27FC236}">
                  <a16:creationId xmlns:a16="http://schemas.microsoft.com/office/drawing/2014/main" id="{028DC182-1543-4564-BF24-83A669225F1F}"/>
                </a:ext>
              </a:extLst>
            </p:cNvPr>
            <p:cNvSpPr/>
            <p:nvPr/>
          </p:nvSpPr>
          <p:spPr>
            <a:xfrm>
              <a:off x="1989667" y="4320771"/>
              <a:ext cx="1219200" cy="403629"/>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D190197-8065-4967-B0A2-C71A164612A0}"/>
                </a:ext>
              </a:extLst>
            </p:cNvPr>
            <p:cNvSpPr/>
            <p:nvPr/>
          </p:nvSpPr>
          <p:spPr>
            <a:xfrm>
              <a:off x="5952067" y="4114800"/>
              <a:ext cx="1227666" cy="661116"/>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192F3577-776E-4B89-993B-66393671BB2C}"/>
                </a:ext>
              </a:extLst>
            </p:cNvPr>
            <p:cNvSpPr/>
            <p:nvPr/>
          </p:nvSpPr>
          <p:spPr>
            <a:xfrm>
              <a:off x="3217333" y="1227667"/>
              <a:ext cx="2751667" cy="4411133"/>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0" name="Straight Connector 29">
            <a:extLst>
              <a:ext uri="{FF2B5EF4-FFF2-40B4-BE49-F238E27FC236}">
                <a16:creationId xmlns:a16="http://schemas.microsoft.com/office/drawing/2014/main" id="{DEB88B04-9201-4D79-A3C2-76C5D3AE6CE0}"/>
              </a:ext>
            </a:extLst>
          </p:cNvPr>
          <p:cNvCxnSpPr/>
          <p:nvPr/>
        </p:nvCxnSpPr>
        <p:spPr>
          <a:xfrm>
            <a:off x="3200400" y="2857187"/>
            <a:ext cx="914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A54CB18-CBE5-41D0-AA45-84AE84D739D3}"/>
              </a:ext>
            </a:extLst>
          </p:cNvPr>
          <p:cNvSpPr txBox="1"/>
          <p:nvPr/>
        </p:nvSpPr>
        <p:spPr>
          <a:xfrm>
            <a:off x="1011202" y="2700113"/>
            <a:ext cx="304800" cy="461665"/>
          </a:xfrm>
          <a:prstGeom prst="rect">
            <a:avLst/>
          </a:prstGeom>
          <a:noFill/>
        </p:spPr>
        <p:txBody>
          <a:bodyPr wrap="square" rtlCol="0">
            <a:spAutoFit/>
          </a:bodyPr>
          <a:lstStyle/>
          <a:p>
            <a:r>
              <a:rPr lang="en-US" dirty="0">
                <a:solidFill>
                  <a:schemeClr val="accent2"/>
                </a:solidFill>
              </a:rPr>
              <a:t>P</a:t>
            </a:r>
          </a:p>
        </p:txBody>
      </p:sp>
      <p:sp>
        <p:nvSpPr>
          <p:cNvPr id="32" name="TextBox 31">
            <a:extLst>
              <a:ext uri="{FF2B5EF4-FFF2-40B4-BE49-F238E27FC236}">
                <a16:creationId xmlns:a16="http://schemas.microsoft.com/office/drawing/2014/main" id="{DD09B825-6CC4-4036-BC70-E47B91E2A7A9}"/>
              </a:ext>
            </a:extLst>
          </p:cNvPr>
          <p:cNvSpPr txBox="1"/>
          <p:nvPr/>
        </p:nvSpPr>
        <p:spPr>
          <a:xfrm>
            <a:off x="1718732" y="2899602"/>
            <a:ext cx="304800" cy="461665"/>
          </a:xfrm>
          <a:prstGeom prst="rect">
            <a:avLst/>
          </a:prstGeom>
          <a:noFill/>
        </p:spPr>
        <p:txBody>
          <a:bodyPr wrap="square" rtlCol="0">
            <a:spAutoFit/>
          </a:bodyPr>
          <a:lstStyle/>
          <a:p>
            <a:r>
              <a:rPr lang="en-US" dirty="0">
                <a:solidFill>
                  <a:schemeClr val="accent2"/>
                </a:solidFill>
              </a:rPr>
              <a:t>Q</a:t>
            </a:r>
          </a:p>
        </p:txBody>
      </p:sp>
      <p:sp>
        <p:nvSpPr>
          <p:cNvPr id="33" name="TextBox 32">
            <a:extLst>
              <a:ext uri="{FF2B5EF4-FFF2-40B4-BE49-F238E27FC236}">
                <a16:creationId xmlns:a16="http://schemas.microsoft.com/office/drawing/2014/main" id="{8CC258FD-21BB-4433-B307-89E436F297AB}"/>
              </a:ext>
            </a:extLst>
          </p:cNvPr>
          <p:cNvSpPr txBox="1"/>
          <p:nvPr/>
        </p:nvSpPr>
        <p:spPr>
          <a:xfrm>
            <a:off x="1934131" y="1064567"/>
            <a:ext cx="304800" cy="461665"/>
          </a:xfrm>
          <a:prstGeom prst="rect">
            <a:avLst/>
          </a:prstGeom>
          <a:noFill/>
        </p:spPr>
        <p:txBody>
          <a:bodyPr wrap="square" rtlCol="0">
            <a:spAutoFit/>
          </a:bodyPr>
          <a:lstStyle/>
          <a:p>
            <a:r>
              <a:rPr lang="en-US" dirty="0">
                <a:solidFill>
                  <a:schemeClr val="accent2"/>
                </a:solidFill>
              </a:rPr>
              <a:t>R</a:t>
            </a:r>
          </a:p>
        </p:txBody>
      </p:sp>
      <p:sp>
        <p:nvSpPr>
          <p:cNvPr id="34" name="TextBox 33">
            <a:extLst>
              <a:ext uri="{FF2B5EF4-FFF2-40B4-BE49-F238E27FC236}">
                <a16:creationId xmlns:a16="http://schemas.microsoft.com/office/drawing/2014/main" id="{CA8ADA5E-4A92-4A01-AD84-22895A9B0A4D}"/>
              </a:ext>
            </a:extLst>
          </p:cNvPr>
          <p:cNvSpPr txBox="1"/>
          <p:nvPr/>
        </p:nvSpPr>
        <p:spPr>
          <a:xfrm>
            <a:off x="1972730" y="3111268"/>
            <a:ext cx="304800" cy="461665"/>
          </a:xfrm>
          <a:prstGeom prst="rect">
            <a:avLst/>
          </a:prstGeom>
          <a:noFill/>
        </p:spPr>
        <p:txBody>
          <a:bodyPr wrap="square" rtlCol="0">
            <a:spAutoFit/>
          </a:bodyPr>
          <a:lstStyle/>
          <a:p>
            <a:r>
              <a:rPr lang="en-US" dirty="0">
                <a:solidFill>
                  <a:schemeClr val="accent2"/>
                </a:solidFill>
              </a:rPr>
              <a:t>S</a:t>
            </a:r>
          </a:p>
        </p:txBody>
      </p:sp>
      <p:sp>
        <p:nvSpPr>
          <p:cNvPr id="35" name="TextBox 34">
            <a:extLst>
              <a:ext uri="{FF2B5EF4-FFF2-40B4-BE49-F238E27FC236}">
                <a16:creationId xmlns:a16="http://schemas.microsoft.com/office/drawing/2014/main" id="{D04776AA-CEBA-4666-8309-575D611E6A19}"/>
              </a:ext>
            </a:extLst>
          </p:cNvPr>
          <p:cNvSpPr txBox="1"/>
          <p:nvPr/>
        </p:nvSpPr>
        <p:spPr>
          <a:xfrm>
            <a:off x="2819400" y="2590800"/>
            <a:ext cx="304800" cy="461665"/>
          </a:xfrm>
          <a:prstGeom prst="rect">
            <a:avLst/>
          </a:prstGeom>
          <a:noFill/>
        </p:spPr>
        <p:txBody>
          <a:bodyPr wrap="square" rtlCol="0">
            <a:spAutoFit/>
          </a:bodyPr>
          <a:lstStyle/>
          <a:p>
            <a:r>
              <a:rPr lang="en-US" dirty="0">
                <a:solidFill>
                  <a:schemeClr val="accent2"/>
                </a:solidFill>
              </a:rPr>
              <a:t>T</a:t>
            </a:r>
          </a:p>
        </p:txBody>
      </p:sp>
      <p:sp>
        <p:nvSpPr>
          <p:cNvPr id="5" name="TextBox 4">
            <a:extLst>
              <a:ext uri="{FF2B5EF4-FFF2-40B4-BE49-F238E27FC236}">
                <a16:creationId xmlns:a16="http://schemas.microsoft.com/office/drawing/2014/main" id="{85C45BF3-D8BA-45D7-B3A8-4EE260C66306}"/>
              </a:ext>
            </a:extLst>
          </p:cNvPr>
          <p:cNvSpPr txBox="1"/>
          <p:nvPr/>
        </p:nvSpPr>
        <p:spPr>
          <a:xfrm>
            <a:off x="5638801" y="4800600"/>
            <a:ext cx="2895599" cy="1200329"/>
          </a:xfrm>
          <a:prstGeom prst="rect">
            <a:avLst/>
          </a:prstGeom>
          <a:noFill/>
          <a:ln>
            <a:solidFill>
              <a:schemeClr val="accent2"/>
            </a:solidFill>
          </a:ln>
        </p:spPr>
        <p:txBody>
          <a:bodyPr wrap="square" rtlCol="0">
            <a:spAutoFit/>
          </a:bodyPr>
          <a:lstStyle/>
          <a:p>
            <a:pPr algn="ctr"/>
            <a:r>
              <a:rPr lang="en-US" dirty="0">
                <a:solidFill>
                  <a:srgbClr val="FF0000"/>
                </a:solidFill>
              </a:rPr>
              <a:t>Figure this out or look it up yourselves or ask me</a:t>
            </a:r>
          </a:p>
        </p:txBody>
      </p:sp>
    </p:spTree>
    <p:extLst>
      <p:ext uri="{BB962C8B-B14F-4D97-AF65-F5344CB8AC3E}">
        <p14:creationId xmlns:p14="http://schemas.microsoft.com/office/powerpoint/2010/main" val="881801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0C18-9704-4A5C-BFF9-AFA63C88C9F6}"/>
              </a:ext>
            </a:extLst>
          </p:cNvPr>
          <p:cNvSpPr>
            <a:spLocks noGrp="1"/>
          </p:cNvSpPr>
          <p:nvPr>
            <p:ph type="title"/>
          </p:nvPr>
        </p:nvSpPr>
        <p:spPr>
          <a:xfrm>
            <a:off x="685800" y="304800"/>
            <a:ext cx="7907868" cy="1143000"/>
          </a:xfrm>
        </p:spPr>
        <p:txBody>
          <a:bodyPr/>
          <a:lstStyle/>
          <a:p>
            <a:r>
              <a:rPr lang="en-US" dirty="0"/>
              <a:t>PVCs</a:t>
            </a:r>
          </a:p>
        </p:txBody>
      </p:sp>
      <p:sp>
        <p:nvSpPr>
          <p:cNvPr id="4" name="Footer Placeholder 3">
            <a:extLst>
              <a:ext uri="{FF2B5EF4-FFF2-40B4-BE49-F238E27FC236}">
                <a16:creationId xmlns:a16="http://schemas.microsoft.com/office/drawing/2014/main" id="{7CB3B4BB-EB13-42D3-B428-B6CACF3E06A4}"/>
              </a:ext>
            </a:extLst>
          </p:cNvPr>
          <p:cNvSpPr>
            <a:spLocks noGrp="1"/>
          </p:cNvSpPr>
          <p:nvPr>
            <p:ph type="ftr" sz="quarter" idx="11"/>
          </p:nvPr>
        </p:nvSpPr>
        <p:spPr/>
        <p:txBody>
          <a:bodyPr/>
          <a:lstStyle/>
          <a:p>
            <a:pPr>
              <a:defRPr/>
            </a:pPr>
            <a:r>
              <a:rPr lang="en-US" dirty="0"/>
              <a:t>EN1 EIY-- Bioelectricity</a:t>
            </a:r>
          </a:p>
        </p:txBody>
      </p:sp>
      <p:sp>
        <p:nvSpPr>
          <p:cNvPr id="5" name="Freeform: Shape 4">
            <a:extLst>
              <a:ext uri="{FF2B5EF4-FFF2-40B4-BE49-F238E27FC236}">
                <a16:creationId xmlns:a16="http://schemas.microsoft.com/office/drawing/2014/main" id="{03647CEE-49F0-49C0-B959-09D660C0AC3A}"/>
              </a:ext>
            </a:extLst>
          </p:cNvPr>
          <p:cNvSpPr/>
          <p:nvPr/>
        </p:nvSpPr>
        <p:spPr>
          <a:xfrm>
            <a:off x="1159932" y="2866746"/>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6C53DBAF-E904-4608-A0AA-535B6D613842}"/>
              </a:ext>
            </a:extLst>
          </p:cNvPr>
          <p:cNvSpPr/>
          <p:nvPr/>
        </p:nvSpPr>
        <p:spPr>
          <a:xfrm>
            <a:off x="2683932" y="2866746"/>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1BEEE9B8-110D-412E-82E7-D244BEA1479E}"/>
              </a:ext>
            </a:extLst>
          </p:cNvPr>
          <p:cNvSpPr/>
          <p:nvPr/>
        </p:nvSpPr>
        <p:spPr>
          <a:xfrm>
            <a:off x="6062133" y="2866746"/>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30DB294-8F5E-4BBD-A593-35D32429539C}"/>
              </a:ext>
            </a:extLst>
          </p:cNvPr>
          <p:cNvCxnSpPr>
            <a:cxnSpLocks/>
            <a:stCxn id="5" idx="14"/>
            <a:endCxn id="6" idx="0"/>
          </p:cNvCxnSpPr>
          <p:nvPr/>
        </p:nvCxnSpPr>
        <p:spPr>
          <a:xfrm flipV="1">
            <a:off x="2260599" y="4023216"/>
            <a:ext cx="423333" cy="1270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7D440FD-B7E6-420A-9946-E3819C4C5FBC}"/>
              </a:ext>
            </a:extLst>
          </p:cNvPr>
          <p:cNvCxnSpPr>
            <a:cxnSpLocks/>
          </p:cNvCxnSpPr>
          <p:nvPr/>
        </p:nvCxnSpPr>
        <p:spPr>
          <a:xfrm flipV="1">
            <a:off x="3750732" y="3995314"/>
            <a:ext cx="2328333" cy="1270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8727D13E-2435-4643-A0B1-5E623DE57443}"/>
              </a:ext>
            </a:extLst>
          </p:cNvPr>
          <p:cNvSpPr/>
          <p:nvPr/>
        </p:nvSpPr>
        <p:spPr>
          <a:xfrm>
            <a:off x="533400" y="144780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8007CE0-87DB-4638-B8AB-0BF3D8B52492}"/>
              </a:ext>
            </a:extLst>
          </p:cNvPr>
          <p:cNvSpPr/>
          <p:nvPr/>
        </p:nvSpPr>
        <p:spPr>
          <a:xfrm>
            <a:off x="2921000" y="144780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6712F6A-F56E-4E0C-A8B9-1D15AFCA65A4}"/>
              </a:ext>
            </a:extLst>
          </p:cNvPr>
          <p:cNvSpPr/>
          <p:nvPr/>
        </p:nvSpPr>
        <p:spPr>
          <a:xfrm>
            <a:off x="5283200" y="144780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72106F-0CB3-42B8-BB86-0830C6484923}"/>
              </a:ext>
            </a:extLst>
          </p:cNvPr>
          <p:cNvSpPr txBox="1"/>
          <p:nvPr/>
        </p:nvSpPr>
        <p:spPr>
          <a:xfrm>
            <a:off x="6172200" y="1434989"/>
            <a:ext cx="2971800" cy="461665"/>
          </a:xfrm>
          <a:prstGeom prst="rect">
            <a:avLst/>
          </a:prstGeom>
          <a:noFill/>
        </p:spPr>
        <p:txBody>
          <a:bodyPr wrap="square" rtlCol="0">
            <a:spAutoFit/>
          </a:bodyPr>
          <a:lstStyle/>
          <a:p>
            <a:r>
              <a:rPr lang="en-US" dirty="0"/>
              <a:t>SA oscillator (50bpm)</a:t>
            </a:r>
          </a:p>
        </p:txBody>
      </p:sp>
      <p:cxnSp>
        <p:nvCxnSpPr>
          <p:cNvPr id="8" name="Straight Connector 7">
            <a:extLst>
              <a:ext uri="{FF2B5EF4-FFF2-40B4-BE49-F238E27FC236}">
                <a16:creationId xmlns:a16="http://schemas.microsoft.com/office/drawing/2014/main" id="{9928A0B6-9FD6-4AA0-B46E-CFFE4D81AEE7}"/>
              </a:ext>
            </a:extLst>
          </p:cNvPr>
          <p:cNvCxnSpPr>
            <a:cxnSpLocks/>
            <a:stCxn id="13" idx="14"/>
            <a:endCxn id="14" idx="0"/>
          </p:cNvCxnSpPr>
          <p:nvPr/>
        </p:nvCxnSpPr>
        <p:spPr>
          <a:xfrm>
            <a:off x="2235200" y="2066414"/>
            <a:ext cx="6858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5F9FB2-B3BC-4EC9-81ED-6AC2BBF33CAE}"/>
              </a:ext>
            </a:extLst>
          </p:cNvPr>
          <p:cNvCxnSpPr>
            <a:cxnSpLocks/>
            <a:endCxn id="15" idx="0"/>
          </p:cNvCxnSpPr>
          <p:nvPr/>
        </p:nvCxnSpPr>
        <p:spPr>
          <a:xfrm>
            <a:off x="4622800" y="2066414"/>
            <a:ext cx="660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0C74D64-E9EC-4A61-A045-9591F10AABF6}"/>
              </a:ext>
            </a:extLst>
          </p:cNvPr>
          <p:cNvSpPr txBox="1"/>
          <p:nvPr/>
        </p:nvSpPr>
        <p:spPr>
          <a:xfrm>
            <a:off x="6781800" y="3195935"/>
            <a:ext cx="2133600" cy="461665"/>
          </a:xfrm>
          <a:prstGeom prst="rect">
            <a:avLst/>
          </a:prstGeom>
          <a:noFill/>
        </p:spPr>
        <p:txBody>
          <a:bodyPr wrap="square" rtlCol="0">
            <a:spAutoFit/>
          </a:bodyPr>
          <a:lstStyle/>
          <a:p>
            <a:r>
              <a:rPr lang="en-US" dirty="0"/>
              <a:t>Ventricular AP</a:t>
            </a:r>
          </a:p>
        </p:txBody>
      </p:sp>
      <p:sp>
        <p:nvSpPr>
          <p:cNvPr id="22" name="TextBox 21">
            <a:extLst>
              <a:ext uri="{FF2B5EF4-FFF2-40B4-BE49-F238E27FC236}">
                <a16:creationId xmlns:a16="http://schemas.microsoft.com/office/drawing/2014/main" id="{AAEFD7D9-B142-4272-A005-3A2CE3B7AE26}"/>
              </a:ext>
            </a:extLst>
          </p:cNvPr>
          <p:cNvSpPr txBox="1"/>
          <p:nvPr/>
        </p:nvSpPr>
        <p:spPr>
          <a:xfrm>
            <a:off x="384666" y="4613517"/>
            <a:ext cx="2514600" cy="1200329"/>
          </a:xfrm>
          <a:prstGeom prst="rect">
            <a:avLst/>
          </a:prstGeom>
          <a:noFill/>
          <a:ln>
            <a:solidFill>
              <a:schemeClr val="accent2"/>
            </a:solidFill>
          </a:ln>
        </p:spPr>
        <p:txBody>
          <a:bodyPr wrap="square" rtlCol="0">
            <a:spAutoFit/>
          </a:bodyPr>
          <a:lstStyle/>
          <a:p>
            <a:r>
              <a:rPr lang="en-US" i="1" dirty="0"/>
              <a:t>Ectopic</a:t>
            </a:r>
            <a:r>
              <a:rPr lang="en-US" baseline="30000" dirty="0"/>
              <a:t>*</a:t>
            </a:r>
            <a:r>
              <a:rPr lang="en-US" i="1" dirty="0"/>
              <a:t> focus</a:t>
            </a:r>
          </a:p>
          <a:p>
            <a:r>
              <a:rPr lang="en-US" dirty="0"/>
              <a:t>A random firing in the ventricles</a:t>
            </a:r>
          </a:p>
        </p:txBody>
      </p:sp>
      <p:cxnSp>
        <p:nvCxnSpPr>
          <p:cNvPr id="23" name="Straight Arrow Connector 22">
            <a:extLst>
              <a:ext uri="{FF2B5EF4-FFF2-40B4-BE49-F238E27FC236}">
                <a16:creationId xmlns:a16="http://schemas.microsoft.com/office/drawing/2014/main" id="{DEA96D64-8F2E-4027-AEF7-D1E6CEDE108C}"/>
              </a:ext>
            </a:extLst>
          </p:cNvPr>
          <p:cNvCxnSpPr/>
          <p:nvPr/>
        </p:nvCxnSpPr>
        <p:spPr>
          <a:xfrm flipV="1">
            <a:off x="2133600" y="4160103"/>
            <a:ext cx="609600" cy="711503"/>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297C756-3238-439C-9AA2-062C39F2952F}"/>
              </a:ext>
            </a:extLst>
          </p:cNvPr>
          <p:cNvSpPr txBox="1"/>
          <p:nvPr/>
        </p:nvSpPr>
        <p:spPr>
          <a:xfrm>
            <a:off x="3124200" y="4650717"/>
            <a:ext cx="2328333" cy="1200329"/>
          </a:xfrm>
          <a:prstGeom prst="rect">
            <a:avLst/>
          </a:prstGeom>
          <a:noFill/>
          <a:ln>
            <a:solidFill>
              <a:schemeClr val="accent2"/>
            </a:solidFill>
          </a:ln>
        </p:spPr>
        <p:txBody>
          <a:bodyPr wrap="square" rtlCol="0">
            <a:spAutoFit/>
          </a:bodyPr>
          <a:lstStyle/>
          <a:p>
            <a:r>
              <a:rPr lang="en-US" dirty="0"/>
              <a:t>Ventricles not full; little blood pumped</a:t>
            </a:r>
          </a:p>
        </p:txBody>
      </p:sp>
      <p:cxnSp>
        <p:nvCxnSpPr>
          <p:cNvPr id="27" name="Straight Arrow Connector 26">
            <a:extLst>
              <a:ext uri="{FF2B5EF4-FFF2-40B4-BE49-F238E27FC236}">
                <a16:creationId xmlns:a16="http://schemas.microsoft.com/office/drawing/2014/main" id="{8A14EC16-4B89-4B45-8454-4BE7EC35CC01}"/>
              </a:ext>
            </a:extLst>
          </p:cNvPr>
          <p:cNvCxnSpPr>
            <a:cxnSpLocks/>
          </p:cNvCxnSpPr>
          <p:nvPr/>
        </p:nvCxnSpPr>
        <p:spPr>
          <a:xfrm flipV="1">
            <a:off x="3276600" y="4122315"/>
            <a:ext cx="0" cy="65949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497B3D0-2B5C-4981-AC25-44FB5235B21C}"/>
              </a:ext>
            </a:extLst>
          </p:cNvPr>
          <p:cNvSpPr txBox="1"/>
          <p:nvPr/>
        </p:nvSpPr>
        <p:spPr>
          <a:xfrm>
            <a:off x="228600" y="76200"/>
            <a:ext cx="3276600" cy="1200329"/>
          </a:xfrm>
          <a:prstGeom prst="rect">
            <a:avLst/>
          </a:prstGeom>
          <a:noFill/>
          <a:ln>
            <a:solidFill>
              <a:schemeClr val="accent2"/>
            </a:solidFill>
          </a:ln>
        </p:spPr>
        <p:txBody>
          <a:bodyPr wrap="square" lIns="0" tIns="0" rIns="0" bIns="0" rtlCol="0" anchor="ctr" anchorCtr="0">
            <a:noAutofit/>
          </a:bodyPr>
          <a:lstStyle/>
          <a:p>
            <a:r>
              <a:rPr lang="en-US" dirty="0"/>
              <a:t>Doesn’t go anywhere (ventricles still refractory)</a:t>
            </a:r>
          </a:p>
        </p:txBody>
      </p:sp>
      <p:cxnSp>
        <p:nvCxnSpPr>
          <p:cNvPr id="30" name="Straight Arrow Connector 29">
            <a:extLst>
              <a:ext uri="{FF2B5EF4-FFF2-40B4-BE49-F238E27FC236}">
                <a16:creationId xmlns:a16="http://schemas.microsoft.com/office/drawing/2014/main" id="{66E20D71-F88A-43EC-8AA8-913D3530D5D6}"/>
              </a:ext>
            </a:extLst>
          </p:cNvPr>
          <p:cNvCxnSpPr>
            <a:cxnSpLocks/>
            <a:endCxn id="14" idx="3"/>
          </p:cNvCxnSpPr>
          <p:nvPr/>
        </p:nvCxnSpPr>
        <p:spPr>
          <a:xfrm>
            <a:off x="2057400" y="1044154"/>
            <a:ext cx="1397000" cy="8359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B2AE548-C152-4CC2-89F3-7B7294EC8511}"/>
              </a:ext>
            </a:extLst>
          </p:cNvPr>
          <p:cNvSpPr txBox="1"/>
          <p:nvPr/>
        </p:nvSpPr>
        <p:spPr>
          <a:xfrm>
            <a:off x="5711158" y="4447491"/>
            <a:ext cx="3048166" cy="1569660"/>
          </a:xfrm>
          <a:prstGeom prst="rect">
            <a:avLst/>
          </a:prstGeom>
          <a:noFill/>
          <a:ln>
            <a:solidFill>
              <a:schemeClr val="accent2"/>
            </a:solidFill>
          </a:ln>
        </p:spPr>
        <p:txBody>
          <a:bodyPr wrap="square" rtlCol="0">
            <a:spAutoFit/>
          </a:bodyPr>
          <a:lstStyle/>
          <a:p>
            <a:r>
              <a:rPr lang="en-US" dirty="0">
                <a:solidFill>
                  <a:srgbClr val="FF0000"/>
                </a:solidFill>
              </a:rPr>
              <a:t>Premature Ventricular Contraction (PVC) sounds like a “skipped” pulse</a:t>
            </a:r>
          </a:p>
        </p:txBody>
      </p:sp>
      <p:sp>
        <p:nvSpPr>
          <p:cNvPr id="34" name="TextBox 33">
            <a:extLst>
              <a:ext uri="{FF2B5EF4-FFF2-40B4-BE49-F238E27FC236}">
                <a16:creationId xmlns:a16="http://schemas.microsoft.com/office/drawing/2014/main" id="{01A20513-C00A-4E6A-841C-49D69EF9E330}"/>
              </a:ext>
            </a:extLst>
          </p:cNvPr>
          <p:cNvSpPr txBox="1"/>
          <p:nvPr/>
        </p:nvSpPr>
        <p:spPr>
          <a:xfrm>
            <a:off x="250114" y="6381690"/>
            <a:ext cx="3204285" cy="400110"/>
          </a:xfrm>
          <a:prstGeom prst="rect">
            <a:avLst/>
          </a:prstGeom>
          <a:noFill/>
          <a:ln>
            <a:noFill/>
          </a:ln>
        </p:spPr>
        <p:txBody>
          <a:bodyPr wrap="square" rtlCol="0">
            <a:spAutoFit/>
          </a:bodyPr>
          <a:lstStyle/>
          <a:p>
            <a:r>
              <a:rPr lang="en-US" sz="2000" i="1" baseline="30000" dirty="0"/>
              <a:t>*</a:t>
            </a:r>
            <a:r>
              <a:rPr lang="en-US" sz="2000" i="1" dirty="0"/>
              <a:t>Ectopic=</a:t>
            </a:r>
            <a:r>
              <a:rPr lang="en-US" sz="2000" dirty="0"/>
              <a:t>in the wrong place</a:t>
            </a:r>
            <a:endParaRPr lang="en-US" sz="2000" baseline="30000" dirty="0"/>
          </a:p>
        </p:txBody>
      </p:sp>
      <p:sp>
        <p:nvSpPr>
          <p:cNvPr id="3" name="Freeform: Shape 2">
            <a:extLst>
              <a:ext uri="{FF2B5EF4-FFF2-40B4-BE49-F238E27FC236}">
                <a16:creationId xmlns:a16="http://schemas.microsoft.com/office/drawing/2014/main" id="{2FB95D50-6F9B-4A23-AFE0-F1734D7007B2}"/>
              </a:ext>
            </a:extLst>
          </p:cNvPr>
          <p:cNvSpPr/>
          <p:nvPr/>
        </p:nvSpPr>
        <p:spPr>
          <a:xfrm>
            <a:off x="3810000" y="2831330"/>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59CD96F0-6374-46DA-90E9-752AD4911389}"/>
              </a:ext>
            </a:extLst>
          </p:cNvPr>
          <p:cNvCxnSpPr>
            <a:cxnSpLocks/>
            <a:endCxn id="3" idx="0"/>
          </p:cNvCxnSpPr>
          <p:nvPr/>
        </p:nvCxnSpPr>
        <p:spPr>
          <a:xfrm flipV="1">
            <a:off x="2260599" y="3987800"/>
            <a:ext cx="1549401" cy="187816"/>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0044B50-20DA-4600-A672-CD548F73FE11}"/>
              </a:ext>
            </a:extLst>
          </p:cNvPr>
          <p:cNvCxnSpPr>
            <a:cxnSpLocks/>
          </p:cNvCxnSpPr>
          <p:nvPr/>
        </p:nvCxnSpPr>
        <p:spPr>
          <a:xfrm flipV="1">
            <a:off x="4910667" y="4008120"/>
            <a:ext cx="1118277" cy="114194"/>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71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par>
                                <p:cTn id="27" presetID="10"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par>
                                <p:cTn id="35" presetID="10"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0" nodeType="clickEffect">
                                  <p:stCondLst>
                                    <p:cond delay="0"/>
                                  </p:stCondLst>
                                  <p:childTnLst>
                                    <p:animEffect transition="out" filter="fade">
                                      <p:cBhvr>
                                        <p:cTn id="41" dur="500"/>
                                        <p:tgtEl>
                                          <p:spTgt spid="3"/>
                                        </p:tgtEl>
                                      </p:cBhvr>
                                    </p:animEffect>
                                    <p:set>
                                      <p:cBhvr>
                                        <p:cTn id="42" dur="1" fill="hold">
                                          <p:stCondLst>
                                            <p:cond delay="499"/>
                                          </p:stCondLst>
                                        </p:cTn>
                                        <p:tgtEl>
                                          <p:spTgt spid="3"/>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28"/>
                                        </p:tgtEl>
                                      </p:cBhvr>
                                    </p:animEffect>
                                    <p:set>
                                      <p:cBhvr>
                                        <p:cTn id="45" dur="1" fill="hold">
                                          <p:stCondLst>
                                            <p:cond delay="499"/>
                                          </p:stCondLst>
                                        </p:cTn>
                                        <p:tgtEl>
                                          <p:spTgt spid="28"/>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31"/>
                                        </p:tgtEl>
                                      </p:cBhvr>
                                    </p:animEffect>
                                    <p:set>
                                      <p:cBhvr>
                                        <p:cTn id="48" dur="1" fill="hold">
                                          <p:stCondLst>
                                            <p:cond delay="499"/>
                                          </p:stCondLst>
                                        </p:cTn>
                                        <p:tgtEl>
                                          <p:spTgt spid="31"/>
                                        </p:tgtEl>
                                        <p:attrNameLst>
                                          <p:attrName>style.visibility</p:attrName>
                                        </p:attrNameLst>
                                      </p:cBhvr>
                                      <p:to>
                                        <p:strVal val="hidden"/>
                                      </p:to>
                                    </p:set>
                                  </p:childTnLst>
                                </p:cTn>
                              </p:par>
                              <p:par>
                                <p:cTn id="49" presetID="10" presetClass="entr" presetSubtype="0" fill="hold"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2" grpId="0" animBg="1"/>
      <p:bldP spid="26" grpId="0" animBg="1"/>
      <p:bldP spid="29" grpId="0" animBg="1"/>
      <p:bldP spid="33" grpId="0" animBg="1"/>
      <p:bldP spid="34" grpId="0"/>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FFD6C80-AC3F-4BB7-BDA3-B50052A24DCE}"/>
              </a:ext>
            </a:extLst>
          </p:cNvPr>
          <p:cNvSpPr/>
          <p:nvPr/>
        </p:nvSpPr>
        <p:spPr>
          <a:xfrm>
            <a:off x="2133600" y="2309304"/>
            <a:ext cx="685800" cy="31314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440C18-9704-4A5C-BFF9-AFA63C88C9F6}"/>
              </a:ext>
            </a:extLst>
          </p:cNvPr>
          <p:cNvSpPr>
            <a:spLocks noGrp="1"/>
          </p:cNvSpPr>
          <p:nvPr>
            <p:ph type="title"/>
          </p:nvPr>
        </p:nvSpPr>
        <p:spPr>
          <a:xfrm>
            <a:off x="685800" y="304800"/>
            <a:ext cx="7907868" cy="1143000"/>
          </a:xfrm>
        </p:spPr>
        <p:txBody>
          <a:bodyPr/>
          <a:lstStyle/>
          <a:p>
            <a:r>
              <a:rPr lang="en-US" dirty="0"/>
              <a:t>PVCs</a:t>
            </a:r>
          </a:p>
        </p:txBody>
      </p:sp>
      <p:sp>
        <p:nvSpPr>
          <p:cNvPr id="4" name="Footer Placeholder 3">
            <a:extLst>
              <a:ext uri="{FF2B5EF4-FFF2-40B4-BE49-F238E27FC236}">
                <a16:creationId xmlns:a16="http://schemas.microsoft.com/office/drawing/2014/main" id="{7CB3B4BB-EB13-42D3-B428-B6CACF3E06A4}"/>
              </a:ext>
            </a:extLst>
          </p:cNvPr>
          <p:cNvSpPr>
            <a:spLocks noGrp="1"/>
          </p:cNvSpPr>
          <p:nvPr>
            <p:ph type="ftr" sz="quarter" idx="11"/>
          </p:nvPr>
        </p:nvSpPr>
        <p:spPr/>
        <p:txBody>
          <a:bodyPr/>
          <a:lstStyle/>
          <a:p>
            <a:pPr>
              <a:defRPr/>
            </a:pPr>
            <a:r>
              <a:rPr lang="en-US" dirty="0"/>
              <a:t>EN1 EIY-- Bioelectricity</a:t>
            </a:r>
          </a:p>
        </p:txBody>
      </p:sp>
      <p:sp>
        <p:nvSpPr>
          <p:cNvPr id="13" name="Freeform: Shape 12">
            <a:extLst>
              <a:ext uri="{FF2B5EF4-FFF2-40B4-BE49-F238E27FC236}">
                <a16:creationId xmlns:a16="http://schemas.microsoft.com/office/drawing/2014/main" id="{8727D13E-2435-4643-A0B1-5E623DE57443}"/>
              </a:ext>
            </a:extLst>
          </p:cNvPr>
          <p:cNvSpPr/>
          <p:nvPr/>
        </p:nvSpPr>
        <p:spPr>
          <a:xfrm>
            <a:off x="533400" y="186045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8007CE0-87DB-4638-B8AB-0BF3D8B52492}"/>
              </a:ext>
            </a:extLst>
          </p:cNvPr>
          <p:cNvSpPr/>
          <p:nvPr/>
        </p:nvSpPr>
        <p:spPr>
          <a:xfrm>
            <a:off x="2641600" y="186045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6712F6A-F56E-4E0C-A8B9-1D15AFCA65A4}"/>
              </a:ext>
            </a:extLst>
          </p:cNvPr>
          <p:cNvSpPr/>
          <p:nvPr/>
        </p:nvSpPr>
        <p:spPr>
          <a:xfrm>
            <a:off x="4927600" y="186045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72106F-0CB3-42B8-BB86-0830C6484923}"/>
              </a:ext>
            </a:extLst>
          </p:cNvPr>
          <p:cNvSpPr txBox="1"/>
          <p:nvPr/>
        </p:nvSpPr>
        <p:spPr>
          <a:xfrm>
            <a:off x="6702552" y="1752132"/>
            <a:ext cx="2209800" cy="830997"/>
          </a:xfrm>
          <a:prstGeom prst="rect">
            <a:avLst/>
          </a:prstGeom>
          <a:noFill/>
        </p:spPr>
        <p:txBody>
          <a:bodyPr wrap="square" rtlCol="0">
            <a:spAutoFit/>
          </a:bodyPr>
          <a:lstStyle/>
          <a:p>
            <a:r>
              <a:rPr lang="en-US" dirty="0"/>
              <a:t>Ventricular APs at 80 bpm HR</a:t>
            </a:r>
          </a:p>
        </p:txBody>
      </p:sp>
      <p:cxnSp>
        <p:nvCxnSpPr>
          <p:cNvPr id="8" name="Straight Connector 7">
            <a:extLst>
              <a:ext uri="{FF2B5EF4-FFF2-40B4-BE49-F238E27FC236}">
                <a16:creationId xmlns:a16="http://schemas.microsoft.com/office/drawing/2014/main" id="{9928A0B6-9FD6-4AA0-B46E-CFFE4D81AEE7}"/>
              </a:ext>
            </a:extLst>
          </p:cNvPr>
          <p:cNvCxnSpPr>
            <a:cxnSpLocks/>
            <a:stCxn id="13" idx="14"/>
            <a:endCxn id="14" idx="0"/>
          </p:cNvCxnSpPr>
          <p:nvPr/>
        </p:nvCxnSpPr>
        <p:spPr>
          <a:xfrm>
            <a:off x="2235200" y="2479064"/>
            <a:ext cx="406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5F9FB2-B3BC-4EC9-81ED-6AC2BBF33CAE}"/>
              </a:ext>
            </a:extLst>
          </p:cNvPr>
          <p:cNvCxnSpPr>
            <a:cxnSpLocks/>
            <a:endCxn id="15" idx="0"/>
          </p:cNvCxnSpPr>
          <p:nvPr/>
        </p:nvCxnSpPr>
        <p:spPr>
          <a:xfrm>
            <a:off x="4267200" y="2479064"/>
            <a:ext cx="660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AEFD7D9-B142-4272-A005-3A2CE3B7AE26}"/>
              </a:ext>
            </a:extLst>
          </p:cNvPr>
          <p:cNvSpPr txBox="1"/>
          <p:nvPr/>
        </p:nvSpPr>
        <p:spPr>
          <a:xfrm>
            <a:off x="497442" y="207571"/>
            <a:ext cx="2514600" cy="830997"/>
          </a:xfrm>
          <a:prstGeom prst="rect">
            <a:avLst/>
          </a:prstGeom>
          <a:noFill/>
          <a:ln>
            <a:solidFill>
              <a:schemeClr val="accent2"/>
            </a:solidFill>
          </a:ln>
        </p:spPr>
        <p:txBody>
          <a:bodyPr wrap="square" rtlCol="0">
            <a:spAutoFit/>
          </a:bodyPr>
          <a:lstStyle/>
          <a:p>
            <a:r>
              <a:rPr lang="en-US" i="1" dirty="0"/>
              <a:t>Ectopic</a:t>
            </a:r>
            <a:r>
              <a:rPr lang="en-US" baseline="30000" dirty="0"/>
              <a:t>*</a:t>
            </a:r>
            <a:r>
              <a:rPr lang="en-US" i="1" dirty="0"/>
              <a:t> focus</a:t>
            </a:r>
          </a:p>
          <a:p>
            <a:r>
              <a:rPr lang="en-US" dirty="0"/>
              <a:t>could happen</a:t>
            </a:r>
          </a:p>
        </p:txBody>
      </p:sp>
      <p:cxnSp>
        <p:nvCxnSpPr>
          <p:cNvPr id="23" name="Straight Arrow Connector 22">
            <a:extLst>
              <a:ext uri="{FF2B5EF4-FFF2-40B4-BE49-F238E27FC236}">
                <a16:creationId xmlns:a16="http://schemas.microsoft.com/office/drawing/2014/main" id="{DEA96D64-8F2E-4027-AEF7-D1E6CEDE108C}"/>
              </a:ext>
            </a:extLst>
          </p:cNvPr>
          <p:cNvCxnSpPr>
            <a:cxnSpLocks/>
          </p:cNvCxnSpPr>
          <p:nvPr/>
        </p:nvCxnSpPr>
        <p:spPr>
          <a:xfrm>
            <a:off x="2285999" y="873816"/>
            <a:ext cx="279401" cy="120465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BADE72AA-F66C-4177-8AEA-2DBB4ACC4B13}"/>
              </a:ext>
            </a:extLst>
          </p:cNvPr>
          <p:cNvGrpSpPr/>
          <p:nvPr/>
        </p:nvGrpSpPr>
        <p:grpSpPr>
          <a:xfrm>
            <a:off x="533400" y="2839294"/>
            <a:ext cx="8458200" cy="697556"/>
            <a:chOff x="533400" y="2426644"/>
            <a:chExt cx="8458200" cy="697556"/>
          </a:xfrm>
        </p:grpSpPr>
        <p:sp>
          <p:nvSpPr>
            <p:cNvPr id="24" name="Freeform: Shape 23">
              <a:extLst>
                <a:ext uri="{FF2B5EF4-FFF2-40B4-BE49-F238E27FC236}">
                  <a16:creationId xmlns:a16="http://schemas.microsoft.com/office/drawing/2014/main" id="{01C676AC-B5CA-43EB-BDE4-6E1741871293}"/>
                </a:ext>
              </a:extLst>
            </p:cNvPr>
            <p:cNvSpPr/>
            <p:nvPr/>
          </p:nvSpPr>
          <p:spPr>
            <a:xfrm>
              <a:off x="533400" y="242664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FAB3E18C-8C53-46CF-8DB7-553962185A61}"/>
                </a:ext>
              </a:extLst>
            </p:cNvPr>
            <p:cNvSpPr/>
            <p:nvPr/>
          </p:nvSpPr>
          <p:spPr>
            <a:xfrm>
              <a:off x="3886200" y="242664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F692B314-858A-42B4-9E59-9E926D8C8C49}"/>
                </a:ext>
              </a:extLst>
            </p:cNvPr>
            <p:cNvSpPr/>
            <p:nvPr/>
          </p:nvSpPr>
          <p:spPr>
            <a:xfrm>
              <a:off x="7289800" y="242664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031EB964-E4B3-4D2B-B9AF-B692E09FCD15}"/>
                </a:ext>
              </a:extLst>
            </p:cNvPr>
            <p:cNvCxnSpPr>
              <a:cxnSpLocks/>
              <a:stCxn id="24" idx="14"/>
              <a:endCxn id="25" idx="0"/>
            </p:cNvCxnSpPr>
            <p:nvPr/>
          </p:nvCxnSpPr>
          <p:spPr>
            <a:xfrm>
              <a:off x="2235200" y="3045258"/>
              <a:ext cx="16510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F2C55AF-A7FC-4418-BC05-D26F8095024D}"/>
                </a:ext>
              </a:extLst>
            </p:cNvPr>
            <p:cNvCxnSpPr>
              <a:cxnSpLocks/>
              <a:stCxn id="25" idx="13"/>
              <a:endCxn id="28" idx="0"/>
            </p:cNvCxnSpPr>
            <p:nvPr/>
          </p:nvCxnSpPr>
          <p:spPr>
            <a:xfrm>
              <a:off x="5520267" y="3045258"/>
              <a:ext cx="1769533"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14F05DF8-41C6-455E-8A16-E6C7640ADC8D}"/>
              </a:ext>
            </a:extLst>
          </p:cNvPr>
          <p:cNvSpPr/>
          <p:nvPr/>
        </p:nvSpPr>
        <p:spPr>
          <a:xfrm>
            <a:off x="4419600" y="2309304"/>
            <a:ext cx="685800" cy="31314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BF34ADE-1428-4C09-940E-45A616BE09B8}"/>
              </a:ext>
            </a:extLst>
          </p:cNvPr>
          <p:cNvSpPr/>
          <p:nvPr/>
        </p:nvSpPr>
        <p:spPr>
          <a:xfrm>
            <a:off x="2285999" y="3308250"/>
            <a:ext cx="1650997" cy="31314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246E258-C7BA-4155-B107-396E0F4FD8E6}"/>
              </a:ext>
            </a:extLst>
          </p:cNvPr>
          <p:cNvSpPr/>
          <p:nvPr/>
        </p:nvSpPr>
        <p:spPr>
          <a:xfrm>
            <a:off x="5520266" y="3262682"/>
            <a:ext cx="2023533" cy="31314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EF01478-ECBF-4A29-A4A2-E6488D69F4E1}"/>
              </a:ext>
            </a:extLst>
          </p:cNvPr>
          <p:cNvSpPr txBox="1"/>
          <p:nvPr/>
        </p:nvSpPr>
        <p:spPr>
          <a:xfrm>
            <a:off x="5943600" y="3653135"/>
            <a:ext cx="2971800" cy="461665"/>
          </a:xfrm>
          <a:prstGeom prst="rect">
            <a:avLst/>
          </a:prstGeom>
          <a:noFill/>
        </p:spPr>
        <p:txBody>
          <a:bodyPr wrap="square" rtlCol="0">
            <a:spAutoFit/>
          </a:bodyPr>
          <a:lstStyle/>
          <a:p>
            <a:r>
              <a:rPr lang="en-US" dirty="0"/>
              <a:t>Now, at 50 bpm</a:t>
            </a:r>
          </a:p>
        </p:txBody>
      </p:sp>
      <p:sp>
        <p:nvSpPr>
          <p:cNvPr id="40" name="Content Placeholder 2">
            <a:extLst>
              <a:ext uri="{FF2B5EF4-FFF2-40B4-BE49-F238E27FC236}">
                <a16:creationId xmlns:a16="http://schemas.microsoft.com/office/drawing/2014/main" id="{D3C3A92C-FC96-46B8-9977-CF3FA997FD2F}"/>
              </a:ext>
            </a:extLst>
          </p:cNvPr>
          <p:cNvSpPr>
            <a:spLocks noGrp="1"/>
          </p:cNvSpPr>
          <p:nvPr>
            <p:ph idx="1"/>
          </p:nvPr>
        </p:nvSpPr>
        <p:spPr>
          <a:xfrm>
            <a:off x="533400" y="4222653"/>
            <a:ext cx="8382000" cy="2093601"/>
          </a:xfrm>
        </p:spPr>
        <p:txBody>
          <a:bodyPr/>
          <a:lstStyle/>
          <a:p>
            <a:r>
              <a:rPr lang="en-US" dirty="0"/>
              <a:t>Why are PVCs more likely with lots of endurance exercise and little sleep?</a:t>
            </a:r>
          </a:p>
          <a:p>
            <a:pPr lvl="1">
              <a:spcBef>
                <a:spcPts val="0"/>
              </a:spcBef>
            </a:pPr>
            <a:r>
              <a:rPr lang="en-US" dirty="0"/>
              <a:t>lots of exercise </a:t>
            </a:r>
            <a:r>
              <a:rPr lang="en-US" dirty="0">
                <a:latin typeface="Times New Roman" panose="02020603050405020304" pitchFamily="18" charset="0"/>
                <a:cs typeface="Times New Roman" panose="02020603050405020304" pitchFamily="18" charset="0"/>
              </a:rPr>
              <a:t>→ HR lowers (well known)</a:t>
            </a:r>
          </a:p>
          <a:p>
            <a:pPr lvl="1">
              <a:spcBef>
                <a:spcPts val="0"/>
              </a:spcBef>
            </a:pPr>
            <a:r>
              <a:rPr lang="en-US" dirty="0">
                <a:latin typeface="Times New Roman" panose="02020603050405020304" pitchFamily="18" charset="0"/>
                <a:cs typeface="Times New Roman" panose="02020603050405020304" pitchFamily="18" charset="0"/>
              </a:rPr>
              <a:t>lots of stress → more ectopic foci (hypothesized)</a:t>
            </a:r>
          </a:p>
          <a:p>
            <a:pPr lvl="1">
              <a:spcBef>
                <a:spcPts val="0"/>
              </a:spcBef>
            </a:pPr>
            <a:r>
              <a:rPr lang="en-US" dirty="0">
                <a:latin typeface="Times New Roman" panose="02020603050405020304" pitchFamily="18" charset="0"/>
                <a:cs typeface="Times New Roman" panose="02020603050405020304" pitchFamily="18" charset="0"/>
              </a:rPr>
              <a:t>benign </a:t>
            </a:r>
            <a:r>
              <a:rPr lang="en-US" i="1" dirty="0">
                <a:latin typeface="Times New Roman" panose="02020603050405020304" pitchFamily="18" charset="0"/>
                <a:cs typeface="Times New Roman" panose="02020603050405020304" pitchFamily="18" charset="0"/>
              </a:rPr>
              <a:t>except if you overdo it for a long time</a:t>
            </a:r>
            <a:endParaRPr lang="en-US" dirty="0"/>
          </a:p>
        </p:txBody>
      </p:sp>
    </p:spTree>
    <p:extLst>
      <p:ext uri="{BB962C8B-B14F-4D97-AF65-F5344CB8AC3E}">
        <p14:creationId xmlns:p14="http://schemas.microsoft.com/office/powerpoint/2010/main" val="92237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2" grpId="0" animBg="1"/>
      <p:bldP spid="35" grpId="0" animBg="1"/>
      <p:bldP spid="36" grpId="0" animBg="1"/>
      <p:bldP spid="37" grpId="0" animBg="1"/>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B6EBA-F4B5-423F-BCBE-FEE569F7FCE0}"/>
              </a:ext>
            </a:extLst>
          </p:cNvPr>
          <p:cNvSpPr>
            <a:spLocks noGrp="1"/>
          </p:cNvSpPr>
          <p:nvPr>
            <p:ph type="title"/>
          </p:nvPr>
        </p:nvSpPr>
        <p:spPr/>
        <p:txBody>
          <a:bodyPr/>
          <a:lstStyle/>
          <a:p>
            <a:r>
              <a:rPr lang="en-US" dirty="0"/>
              <a:t>PVCs</a:t>
            </a:r>
          </a:p>
        </p:txBody>
      </p:sp>
      <p:sp>
        <p:nvSpPr>
          <p:cNvPr id="3" name="Content Placeholder 2">
            <a:extLst>
              <a:ext uri="{FF2B5EF4-FFF2-40B4-BE49-F238E27FC236}">
                <a16:creationId xmlns:a16="http://schemas.microsoft.com/office/drawing/2014/main" id="{5CBD1578-CCD7-4893-BCDF-6755E23FE552}"/>
              </a:ext>
            </a:extLst>
          </p:cNvPr>
          <p:cNvSpPr>
            <a:spLocks noGrp="1"/>
          </p:cNvSpPr>
          <p:nvPr>
            <p:ph idx="1"/>
          </p:nvPr>
        </p:nvSpPr>
        <p:spPr/>
        <p:txBody>
          <a:bodyPr/>
          <a:lstStyle/>
          <a:p>
            <a:r>
              <a:rPr lang="en-US" dirty="0"/>
              <a:t>Backup circuits are great – what if they break?</a:t>
            </a:r>
          </a:p>
          <a:p>
            <a:pPr lvl="1">
              <a:spcBef>
                <a:spcPts val="0"/>
              </a:spcBef>
            </a:pPr>
            <a:r>
              <a:rPr lang="en-US" dirty="0"/>
              <a:t>Yes, you have no backup. Or...</a:t>
            </a:r>
          </a:p>
          <a:p>
            <a:r>
              <a:rPr lang="en-US" dirty="0"/>
              <a:t>Backup circuit launches when it shouldn’t</a:t>
            </a:r>
          </a:p>
          <a:p>
            <a:pPr lvl="1">
              <a:spcBef>
                <a:spcPts val="0"/>
              </a:spcBef>
            </a:pPr>
            <a:r>
              <a:rPr lang="en-US" dirty="0"/>
              <a:t>one way to make an ectopic focus</a:t>
            </a:r>
          </a:p>
          <a:p>
            <a:r>
              <a:rPr lang="en-US" dirty="0"/>
              <a:t>Too much exercise = more PVCs?</a:t>
            </a:r>
          </a:p>
          <a:p>
            <a:r>
              <a:rPr lang="en-US" dirty="0"/>
              <a:t>More info:</a:t>
            </a:r>
          </a:p>
          <a:p>
            <a:pPr lvl="1">
              <a:spcBef>
                <a:spcPts val="0"/>
              </a:spcBef>
            </a:pPr>
            <a:r>
              <a:rPr lang="en-US" dirty="0">
                <a:hlinkClick r:id="rId2"/>
              </a:rPr>
              <a:t>https://www.drjohnm.org/2013/06/benign-pvcs-a-heart-rhythm-doctors-approach/</a:t>
            </a:r>
            <a:endParaRPr lang="en-US" dirty="0"/>
          </a:p>
          <a:p>
            <a:pPr lvl="1">
              <a:spcBef>
                <a:spcPts val="0"/>
              </a:spcBef>
            </a:pPr>
            <a:r>
              <a:rPr lang="en-US" dirty="0">
                <a:hlinkClick r:id="rId3"/>
              </a:rPr>
              <a:t>https://www.drjohnm.org/2015/08/on-pvcs-think-anew-but-think-slowly/</a:t>
            </a:r>
            <a:endParaRPr lang="en-US" dirty="0"/>
          </a:p>
          <a:p>
            <a:endParaRPr lang="en-US" dirty="0"/>
          </a:p>
          <a:p>
            <a:pPr marL="0" indent="0">
              <a:buNone/>
            </a:pPr>
            <a:br>
              <a:rPr lang="en-US" dirty="0"/>
            </a:br>
            <a:endParaRPr lang="en-US" dirty="0"/>
          </a:p>
        </p:txBody>
      </p:sp>
      <p:sp>
        <p:nvSpPr>
          <p:cNvPr id="4" name="Footer Placeholder 3">
            <a:extLst>
              <a:ext uri="{FF2B5EF4-FFF2-40B4-BE49-F238E27FC236}">
                <a16:creationId xmlns:a16="http://schemas.microsoft.com/office/drawing/2014/main" id="{1F9C8EAC-6FB9-4822-8ACF-91F336FD8C65}"/>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26253264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DC957-2DE5-473B-B3B1-43EFEC8298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03AF75-E11C-4510-B2CF-D181ED4E6A29}"/>
              </a:ext>
            </a:extLst>
          </p:cNvPr>
          <p:cNvSpPr>
            <a:spLocks noGrp="1"/>
          </p:cNvSpPr>
          <p:nvPr>
            <p:ph idx="1"/>
          </p:nvPr>
        </p:nvSpPr>
        <p:spPr/>
        <p:txBody>
          <a:bodyPr/>
          <a:lstStyle/>
          <a:p>
            <a:pPr marL="0" indent="0">
              <a:buNone/>
            </a:pPr>
            <a:r>
              <a:rPr lang="en-US" sz="2000" dirty="0"/>
              <a:t>“The current record for number of dominoes toppled in one cascade is just shy of 4.5 million, a record set in the Netherlands on Domino Day 2009. It took a team of 89 builders 2 months to set up! Because a misplaced foot or finger could easily trigger the entire array, it had to be designed with breaks that were completed immediately before the competition began</a:t>
            </a:r>
          </a:p>
          <a:p>
            <a:pPr marL="0" indent="0">
              <a:buNone/>
            </a:pPr>
            <a:r>
              <a:rPr lang="en-US" sz="2000" dirty="0"/>
              <a:t>Because the myocardium does not have such safety features, every cell in the heart has the potential to become the primary pacemaker should its membrane become unstable. “Ectopic” pacemakers are responsible for common mishaps leading to premature ventricular contractions, which are typically one-off events in young, healthy hearts. In aging hearts, ectopic pacemakers may become established, posing a constant and potentially lethal threat to cardiac function.”</a:t>
            </a:r>
          </a:p>
          <a:p>
            <a:pPr marL="0" indent="0">
              <a:buNone/>
            </a:pPr>
            <a:r>
              <a:rPr lang="en-US" sz="2000" dirty="0"/>
              <a:t>Lippincott’s Physiology, 2</a:t>
            </a:r>
            <a:r>
              <a:rPr lang="en-US" sz="2000" baseline="30000" dirty="0"/>
              <a:t>nd</a:t>
            </a:r>
            <a:r>
              <a:rPr lang="en-US" sz="2000" dirty="0"/>
              <a:t> edition, Chapter 16</a:t>
            </a:r>
          </a:p>
        </p:txBody>
      </p:sp>
      <p:sp>
        <p:nvSpPr>
          <p:cNvPr id="4" name="Footer Placeholder 3">
            <a:extLst>
              <a:ext uri="{FF2B5EF4-FFF2-40B4-BE49-F238E27FC236}">
                <a16:creationId xmlns:a16="http://schemas.microsoft.com/office/drawing/2014/main" id="{9EB3CC5B-E5EE-4F13-BF9F-C408DD821C35}"/>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7134931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6BF67-5228-41C1-8970-732A8933F2FA}"/>
              </a:ext>
            </a:extLst>
          </p:cNvPr>
          <p:cNvSpPr>
            <a:spLocks noGrp="1"/>
          </p:cNvSpPr>
          <p:nvPr>
            <p:ph type="title"/>
          </p:nvPr>
        </p:nvSpPr>
        <p:spPr/>
        <p:txBody>
          <a:bodyPr/>
          <a:lstStyle/>
          <a:p>
            <a:r>
              <a:rPr lang="en-US" dirty="0"/>
              <a:t>Can you find the PVC?</a:t>
            </a:r>
          </a:p>
        </p:txBody>
      </p:sp>
      <p:sp>
        <p:nvSpPr>
          <p:cNvPr id="3" name="Content Placeholder 2">
            <a:extLst>
              <a:ext uri="{FF2B5EF4-FFF2-40B4-BE49-F238E27FC236}">
                <a16:creationId xmlns:a16="http://schemas.microsoft.com/office/drawing/2014/main" id="{F5557B6F-F4B8-48FF-8E6E-9253754CFE28}"/>
              </a:ext>
            </a:extLst>
          </p:cNvPr>
          <p:cNvSpPr>
            <a:spLocks noGrp="1"/>
          </p:cNvSpPr>
          <p:nvPr>
            <p:ph idx="1"/>
          </p:nvPr>
        </p:nvSpPr>
        <p:spPr>
          <a:xfrm>
            <a:off x="6858000" y="5410200"/>
            <a:ext cx="1600200" cy="685800"/>
          </a:xfrm>
        </p:spPr>
        <p:txBody>
          <a:bodyPr/>
          <a:lstStyle/>
          <a:p>
            <a:endParaRPr lang="en-US" dirty="0"/>
          </a:p>
        </p:txBody>
      </p:sp>
      <p:sp>
        <p:nvSpPr>
          <p:cNvPr id="4" name="Footer Placeholder 3">
            <a:extLst>
              <a:ext uri="{FF2B5EF4-FFF2-40B4-BE49-F238E27FC236}">
                <a16:creationId xmlns:a16="http://schemas.microsoft.com/office/drawing/2014/main" id="{9A4553B3-5F41-4C23-AF29-277562DE2ACA}"/>
              </a:ext>
            </a:extLst>
          </p:cNvPr>
          <p:cNvSpPr>
            <a:spLocks noGrp="1"/>
          </p:cNvSpPr>
          <p:nvPr>
            <p:ph type="ftr" sz="quarter" idx="11"/>
          </p:nvPr>
        </p:nvSpPr>
        <p:spPr/>
        <p:txBody>
          <a:bodyPr/>
          <a:lstStyle/>
          <a:p>
            <a:pPr>
              <a:defRPr/>
            </a:pPr>
            <a:r>
              <a:rPr lang="en-US" dirty="0"/>
              <a:t>EN1 EIY-- Bioelectricity</a:t>
            </a:r>
          </a:p>
        </p:txBody>
      </p:sp>
      <p:pic>
        <p:nvPicPr>
          <p:cNvPr id="5" name="Picture 4">
            <a:extLst>
              <a:ext uri="{FF2B5EF4-FFF2-40B4-BE49-F238E27FC236}">
                <a16:creationId xmlns:a16="http://schemas.microsoft.com/office/drawing/2014/main" id="{143015E4-EA80-4DE0-B9CC-81CEB4854995}"/>
              </a:ext>
            </a:extLst>
          </p:cNvPr>
          <p:cNvPicPr>
            <a:picLocks noChangeAspect="1"/>
          </p:cNvPicPr>
          <p:nvPr/>
        </p:nvPicPr>
        <p:blipFill>
          <a:blip r:embed="rId2"/>
          <a:stretch>
            <a:fillRect/>
          </a:stretch>
        </p:blipFill>
        <p:spPr>
          <a:xfrm>
            <a:off x="76200" y="1295400"/>
            <a:ext cx="8991600" cy="1654689"/>
          </a:xfrm>
          <a:prstGeom prst="rect">
            <a:avLst/>
          </a:prstGeom>
        </p:spPr>
      </p:pic>
    </p:spTree>
    <p:extLst>
      <p:ext uri="{BB962C8B-B14F-4D97-AF65-F5344CB8AC3E}">
        <p14:creationId xmlns:p14="http://schemas.microsoft.com/office/powerpoint/2010/main" val="39597137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57B6-177D-4F3D-A832-E65BB0A62F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48FAA3-85B3-4FF5-A481-8CD5BD95601D}"/>
              </a:ext>
            </a:extLst>
          </p:cNvPr>
          <p:cNvSpPr>
            <a:spLocks noGrp="1"/>
          </p:cNvSpPr>
          <p:nvPr>
            <p:ph idx="1"/>
          </p:nvPr>
        </p:nvSpPr>
        <p:spPr/>
        <p:txBody>
          <a:bodyPr/>
          <a:lstStyle/>
          <a:p>
            <a:r>
              <a:rPr lang="en-US" dirty="0"/>
              <a:t>Do you think that PVCs would get more or less frequent as HR rises?</a:t>
            </a:r>
          </a:p>
          <a:p>
            <a:pPr lvl="1"/>
            <a:r>
              <a:rPr lang="en-US" dirty="0"/>
              <a:t>More while you’re exercising?</a:t>
            </a:r>
          </a:p>
          <a:p>
            <a:pPr lvl="1"/>
            <a:r>
              <a:rPr lang="en-US" dirty="0"/>
              <a:t>Or while sleeping?</a:t>
            </a:r>
          </a:p>
        </p:txBody>
      </p:sp>
      <p:sp>
        <p:nvSpPr>
          <p:cNvPr id="4" name="Footer Placeholder 3">
            <a:extLst>
              <a:ext uri="{FF2B5EF4-FFF2-40B4-BE49-F238E27FC236}">
                <a16:creationId xmlns:a16="http://schemas.microsoft.com/office/drawing/2014/main" id="{F675DE8C-FAB5-4CB2-8E71-01FD6A4E1035}"/>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31187845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9E6E0-1908-4C46-8509-A4131A72B365}"/>
              </a:ext>
            </a:extLst>
          </p:cNvPr>
          <p:cNvSpPr>
            <a:spLocks noGrp="1"/>
          </p:cNvSpPr>
          <p:nvPr>
            <p:ph idx="1"/>
          </p:nvPr>
        </p:nvSpPr>
        <p:spPr>
          <a:xfrm>
            <a:off x="5943600" y="152400"/>
            <a:ext cx="2514600" cy="5943600"/>
          </a:xfrm>
        </p:spPr>
        <p:txBody>
          <a:bodyPr/>
          <a:lstStyle/>
          <a:p>
            <a:r>
              <a:rPr lang="en-US" dirty="0"/>
              <a:t>Bigeminy: 2 consecutive PVCs</a:t>
            </a:r>
          </a:p>
          <a:p>
            <a:r>
              <a:rPr lang="en-US" dirty="0"/>
              <a:t>Trigeminy: 3</a:t>
            </a:r>
          </a:p>
          <a:p>
            <a:r>
              <a:rPr lang="en-US" dirty="0"/>
              <a:t>Conclusions?</a:t>
            </a:r>
          </a:p>
        </p:txBody>
      </p:sp>
      <p:sp>
        <p:nvSpPr>
          <p:cNvPr id="4" name="Footer Placeholder 3">
            <a:extLst>
              <a:ext uri="{FF2B5EF4-FFF2-40B4-BE49-F238E27FC236}">
                <a16:creationId xmlns:a16="http://schemas.microsoft.com/office/drawing/2014/main" id="{1EB54642-278A-4112-AC6A-3A7884BAD313}"/>
              </a:ext>
            </a:extLst>
          </p:cNvPr>
          <p:cNvSpPr>
            <a:spLocks noGrp="1"/>
          </p:cNvSpPr>
          <p:nvPr>
            <p:ph type="ftr" sz="quarter" idx="11"/>
          </p:nvPr>
        </p:nvSpPr>
        <p:spPr>
          <a:xfrm>
            <a:off x="5943600" y="6400800"/>
            <a:ext cx="2895600" cy="304800"/>
          </a:xfrm>
        </p:spPr>
        <p:txBody>
          <a:bodyPr/>
          <a:lstStyle/>
          <a:p>
            <a:pPr>
              <a:defRPr/>
            </a:pPr>
            <a:r>
              <a:rPr lang="en-US" dirty="0"/>
              <a:t>EN1 EIY-- Bioelectricity</a:t>
            </a:r>
          </a:p>
        </p:txBody>
      </p:sp>
      <p:pic>
        <p:nvPicPr>
          <p:cNvPr id="6" name="Picture 5">
            <a:extLst>
              <a:ext uri="{FF2B5EF4-FFF2-40B4-BE49-F238E27FC236}">
                <a16:creationId xmlns:a16="http://schemas.microsoft.com/office/drawing/2014/main" id="{028D6242-5A6F-4E97-A926-912CF2E2FF78}"/>
              </a:ext>
            </a:extLst>
          </p:cNvPr>
          <p:cNvPicPr>
            <a:picLocks noChangeAspect="1"/>
          </p:cNvPicPr>
          <p:nvPr/>
        </p:nvPicPr>
        <p:blipFill>
          <a:blip r:embed="rId2"/>
          <a:stretch>
            <a:fillRect/>
          </a:stretch>
        </p:blipFill>
        <p:spPr>
          <a:xfrm>
            <a:off x="76200" y="99235"/>
            <a:ext cx="5791200" cy="6670472"/>
          </a:xfrm>
          <a:prstGeom prst="rect">
            <a:avLst/>
          </a:prstGeom>
        </p:spPr>
      </p:pic>
    </p:spTree>
    <p:extLst>
      <p:ext uri="{BB962C8B-B14F-4D97-AF65-F5344CB8AC3E}">
        <p14:creationId xmlns:p14="http://schemas.microsoft.com/office/powerpoint/2010/main" val="8465884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C477A-F8C4-419B-9039-A90941EFA0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7B6BB0-0261-478E-A151-882EA1CF9C49}"/>
              </a:ext>
            </a:extLst>
          </p:cNvPr>
          <p:cNvSpPr>
            <a:spLocks noGrp="1"/>
          </p:cNvSpPr>
          <p:nvPr>
            <p:ph idx="1"/>
          </p:nvPr>
        </p:nvSpPr>
        <p:spPr>
          <a:xfrm>
            <a:off x="990600" y="5791200"/>
            <a:ext cx="7543800" cy="609600"/>
          </a:xfrm>
        </p:spPr>
        <p:txBody>
          <a:bodyPr/>
          <a:lstStyle/>
          <a:p>
            <a:r>
              <a:rPr lang="en-US" dirty="0"/>
              <a:t>Does PR segment shorten as heart rate increases?</a:t>
            </a:r>
          </a:p>
        </p:txBody>
      </p:sp>
      <p:sp>
        <p:nvSpPr>
          <p:cNvPr id="4" name="Footer Placeholder 3">
            <a:extLst>
              <a:ext uri="{FF2B5EF4-FFF2-40B4-BE49-F238E27FC236}">
                <a16:creationId xmlns:a16="http://schemas.microsoft.com/office/drawing/2014/main" id="{CE132E9A-A3E0-47D1-AD44-0B2082E70212}"/>
              </a:ext>
            </a:extLst>
          </p:cNvPr>
          <p:cNvSpPr>
            <a:spLocks noGrp="1"/>
          </p:cNvSpPr>
          <p:nvPr>
            <p:ph type="ftr" sz="quarter" idx="11"/>
          </p:nvPr>
        </p:nvSpPr>
        <p:spPr/>
        <p:txBody>
          <a:bodyPr/>
          <a:lstStyle/>
          <a:p>
            <a:pPr>
              <a:defRPr/>
            </a:pPr>
            <a:r>
              <a:rPr lang="en-US" dirty="0"/>
              <a:t>EN1 EIY-- Bioelectricity</a:t>
            </a:r>
          </a:p>
        </p:txBody>
      </p:sp>
      <p:pic>
        <p:nvPicPr>
          <p:cNvPr id="5" name="Picture 4">
            <a:extLst>
              <a:ext uri="{FF2B5EF4-FFF2-40B4-BE49-F238E27FC236}">
                <a16:creationId xmlns:a16="http://schemas.microsoft.com/office/drawing/2014/main" id="{9AB6D9BC-9170-462C-865A-6A63668A9093}"/>
              </a:ext>
            </a:extLst>
          </p:cNvPr>
          <p:cNvPicPr>
            <a:picLocks noChangeAspect="1"/>
          </p:cNvPicPr>
          <p:nvPr/>
        </p:nvPicPr>
        <p:blipFill>
          <a:blip r:embed="rId2"/>
          <a:stretch>
            <a:fillRect/>
          </a:stretch>
        </p:blipFill>
        <p:spPr>
          <a:xfrm>
            <a:off x="228600" y="778933"/>
            <a:ext cx="8382000" cy="2171216"/>
          </a:xfrm>
          <a:prstGeom prst="rect">
            <a:avLst/>
          </a:prstGeom>
        </p:spPr>
      </p:pic>
      <p:pic>
        <p:nvPicPr>
          <p:cNvPr id="6" name="Picture 5">
            <a:extLst>
              <a:ext uri="{FF2B5EF4-FFF2-40B4-BE49-F238E27FC236}">
                <a16:creationId xmlns:a16="http://schemas.microsoft.com/office/drawing/2014/main" id="{6E3C6290-FE1E-4A48-91A3-D8970644AC21}"/>
              </a:ext>
            </a:extLst>
          </p:cNvPr>
          <p:cNvPicPr>
            <a:picLocks noChangeAspect="1"/>
          </p:cNvPicPr>
          <p:nvPr/>
        </p:nvPicPr>
        <p:blipFill>
          <a:blip r:embed="rId3"/>
          <a:stretch>
            <a:fillRect/>
          </a:stretch>
        </p:blipFill>
        <p:spPr>
          <a:xfrm>
            <a:off x="304800" y="3276600"/>
            <a:ext cx="3200400" cy="2414429"/>
          </a:xfrm>
          <a:prstGeom prst="rect">
            <a:avLst/>
          </a:prstGeom>
        </p:spPr>
      </p:pic>
      <p:pic>
        <p:nvPicPr>
          <p:cNvPr id="7" name="Picture 6">
            <a:extLst>
              <a:ext uri="{FF2B5EF4-FFF2-40B4-BE49-F238E27FC236}">
                <a16:creationId xmlns:a16="http://schemas.microsoft.com/office/drawing/2014/main" id="{210D1752-79B8-45FA-A793-EB7A5496855C}"/>
              </a:ext>
            </a:extLst>
          </p:cNvPr>
          <p:cNvPicPr>
            <a:picLocks noChangeAspect="1"/>
          </p:cNvPicPr>
          <p:nvPr/>
        </p:nvPicPr>
        <p:blipFill>
          <a:blip r:embed="rId4"/>
          <a:stretch>
            <a:fillRect/>
          </a:stretch>
        </p:blipFill>
        <p:spPr>
          <a:xfrm>
            <a:off x="3581400" y="3262362"/>
            <a:ext cx="5360721" cy="2071638"/>
          </a:xfrm>
          <a:prstGeom prst="rect">
            <a:avLst/>
          </a:prstGeom>
        </p:spPr>
      </p:pic>
    </p:spTree>
    <p:extLst>
      <p:ext uri="{BB962C8B-B14F-4D97-AF65-F5344CB8AC3E}">
        <p14:creationId xmlns:p14="http://schemas.microsoft.com/office/powerpoint/2010/main" val="30975596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4A92-0AE1-418F-98C6-8738AD0D48CE}"/>
              </a:ext>
            </a:extLst>
          </p:cNvPr>
          <p:cNvSpPr>
            <a:spLocks noGrp="1"/>
          </p:cNvSpPr>
          <p:nvPr>
            <p:ph type="title"/>
          </p:nvPr>
        </p:nvSpPr>
        <p:spPr/>
        <p:txBody>
          <a:bodyPr/>
          <a:lstStyle/>
          <a:p>
            <a:r>
              <a:rPr lang="en-US" dirty="0"/>
              <a:t>Table of contents – this unit</a:t>
            </a:r>
          </a:p>
        </p:txBody>
      </p:sp>
      <p:sp>
        <p:nvSpPr>
          <p:cNvPr id="3" name="Content Placeholder 2">
            <a:extLst>
              <a:ext uri="{FF2B5EF4-FFF2-40B4-BE49-F238E27FC236}">
                <a16:creationId xmlns:a16="http://schemas.microsoft.com/office/drawing/2014/main" id="{0E944ED5-3D23-45D1-ACC3-736ECD603F53}"/>
              </a:ext>
            </a:extLst>
          </p:cNvPr>
          <p:cNvSpPr>
            <a:spLocks noGrp="1"/>
          </p:cNvSpPr>
          <p:nvPr>
            <p:ph idx="1"/>
          </p:nvPr>
        </p:nvSpPr>
        <p:spPr/>
        <p:txBody>
          <a:bodyPr/>
          <a:lstStyle/>
          <a:p>
            <a:r>
              <a:rPr lang="en-US" dirty="0"/>
              <a:t>Cool cardiac facts &amp; why we care</a:t>
            </a:r>
          </a:p>
          <a:p>
            <a:r>
              <a:rPr lang="en-US" dirty="0"/>
              <a:t>Cardiac plumbing and electricals</a:t>
            </a:r>
          </a:p>
          <a:p>
            <a:r>
              <a:rPr lang="en-US" dirty="0"/>
              <a:t>Electrocardiograms</a:t>
            </a:r>
          </a:p>
          <a:p>
            <a:r>
              <a:rPr lang="en-US" dirty="0"/>
              <a:t>Arrhythmias</a:t>
            </a:r>
          </a:p>
          <a:p>
            <a:r>
              <a:rPr lang="en-US" dirty="0">
                <a:highlight>
                  <a:srgbClr val="FFFF00"/>
                </a:highlight>
              </a:rPr>
              <a:t>Backup-system engineering</a:t>
            </a:r>
          </a:p>
        </p:txBody>
      </p:sp>
      <p:sp>
        <p:nvSpPr>
          <p:cNvPr id="4" name="Footer Placeholder 3">
            <a:extLst>
              <a:ext uri="{FF2B5EF4-FFF2-40B4-BE49-F238E27FC236}">
                <a16:creationId xmlns:a16="http://schemas.microsoft.com/office/drawing/2014/main" id="{E374EE35-380B-4ECA-A2BB-ED4C3312E805}"/>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41132461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D5190-5A70-4AE7-B8DA-6EB86CAA7FF2}"/>
              </a:ext>
            </a:extLst>
          </p:cNvPr>
          <p:cNvSpPr>
            <a:spLocks noGrp="1"/>
          </p:cNvSpPr>
          <p:nvPr>
            <p:ph type="title"/>
          </p:nvPr>
        </p:nvSpPr>
        <p:spPr/>
        <p:txBody>
          <a:bodyPr/>
          <a:lstStyle/>
          <a:p>
            <a:r>
              <a:rPr lang="en-US" dirty="0"/>
              <a:t>Why have fail-safe circuits?</a:t>
            </a:r>
          </a:p>
        </p:txBody>
      </p:sp>
      <p:sp>
        <p:nvSpPr>
          <p:cNvPr id="3" name="Content Placeholder 2">
            <a:extLst>
              <a:ext uri="{FF2B5EF4-FFF2-40B4-BE49-F238E27FC236}">
                <a16:creationId xmlns:a16="http://schemas.microsoft.com/office/drawing/2014/main" id="{5D661B78-D791-4030-A367-94647361945B}"/>
              </a:ext>
            </a:extLst>
          </p:cNvPr>
          <p:cNvSpPr>
            <a:spLocks noGrp="1"/>
          </p:cNvSpPr>
          <p:nvPr>
            <p:ph idx="1"/>
          </p:nvPr>
        </p:nvSpPr>
        <p:spPr/>
        <p:txBody>
          <a:bodyPr/>
          <a:lstStyle/>
          <a:p>
            <a:r>
              <a:rPr lang="en-US" dirty="0"/>
              <a:t>Remember cardiac arrest vs. heart attack?</a:t>
            </a:r>
          </a:p>
          <a:p>
            <a:pPr lvl="1">
              <a:spcBef>
                <a:spcPts val="0"/>
              </a:spcBef>
            </a:pPr>
            <a:r>
              <a:rPr lang="en-US" dirty="0"/>
              <a:t>Cardiac arrest = heart stops beating</a:t>
            </a:r>
          </a:p>
          <a:p>
            <a:pPr lvl="1">
              <a:spcBef>
                <a:spcPts val="0"/>
              </a:spcBef>
            </a:pPr>
            <a:r>
              <a:rPr lang="en-US" dirty="0"/>
              <a:t>Lose consciousness in seconds; die in minutes</a:t>
            </a:r>
          </a:p>
          <a:p>
            <a:r>
              <a:rPr lang="en-US" dirty="0"/>
              <a:t>Keeping the heart beating is job #1!</a:t>
            </a:r>
          </a:p>
          <a:p>
            <a:r>
              <a:rPr lang="en-US" dirty="0"/>
              <a:t>But success seems unlikely:</a:t>
            </a:r>
          </a:p>
          <a:p>
            <a:pPr lvl="1">
              <a:spcBef>
                <a:spcPts val="0"/>
              </a:spcBef>
            </a:pPr>
            <a:r>
              <a:rPr lang="en-US" dirty="0"/>
              <a:t>Cells die all the time</a:t>
            </a:r>
          </a:p>
          <a:p>
            <a:pPr lvl="1">
              <a:spcBef>
                <a:spcPts val="0"/>
              </a:spcBef>
            </a:pPr>
            <a:r>
              <a:rPr lang="en-US" dirty="0"/>
              <a:t>We just discussed </a:t>
            </a:r>
            <a:r>
              <a:rPr lang="en-US" i="1" dirty="0"/>
              <a:t>so</a:t>
            </a:r>
            <a:r>
              <a:rPr lang="en-US" dirty="0"/>
              <a:t> many things that can go wrong</a:t>
            </a:r>
          </a:p>
          <a:p>
            <a:pPr lvl="1">
              <a:spcBef>
                <a:spcPts val="0"/>
              </a:spcBef>
            </a:pPr>
            <a:r>
              <a:rPr lang="en-US" dirty="0"/>
              <a:t>Biological cells are </a:t>
            </a:r>
            <a:r>
              <a:rPr lang="en-US" i="1" dirty="0"/>
              <a:t>unreliable</a:t>
            </a:r>
          </a:p>
          <a:p>
            <a:r>
              <a:rPr lang="en-US" dirty="0"/>
              <a:t>So why are we alive?</a:t>
            </a:r>
          </a:p>
          <a:p>
            <a:pPr lvl="1">
              <a:spcBef>
                <a:spcPts val="0"/>
              </a:spcBef>
            </a:pPr>
            <a:r>
              <a:rPr lang="en-US" dirty="0"/>
              <a:t>A miracle of beautiful system-level design</a:t>
            </a:r>
          </a:p>
          <a:p>
            <a:pPr lvl="1"/>
            <a:endParaRPr lang="en-US" dirty="0"/>
          </a:p>
        </p:txBody>
      </p:sp>
      <p:sp>
        <p:nvSpPr>
          <p:cNvPr id="4" name="Footer Placeholder 3">
            <a:extLst>
              <a:ext uri="{FF2B5EF4-FFF2-40B4-BE49-F238E27FC236}">
                <a16:creationId xmlns:a16="http://schemas.microsoft.com/office/drawing/2014/main" id="{3FA9ACFE-A1D3-4278-AD81-6CD812B6D6A6}"/>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409183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61A74-61F1-43A1-B0C8-D48FBC9A4946}"/>
              </a:ext>
            </a:extLst>
          </p:cNvPr>
          <p:cNvSpPr>
            <a:spLocks noGrp="1"/>
          </p:cNvSpPr>
          <p:nvPr>
            <p:ph type="title"/>
          </p:nvPr>
        </p:nvSpPr>
        <p:spPr/>
        <p:txBody>
          <a:bodyPr/>
          <a:lstStyle/>
          <a:p>
            <a:r>
              <a:rPr lang="en-US" dirty="0"/>
              <a:t>AV node blocks</a:t>
            </a:r>
          </a:p>
        </p:txBody>
      </p:sp>
      <p:sp>
        <p:nvSpPr>
          <p:cNvPr id="3" name="Content Placeholder 2">
            <a:extLst>
              <a:ext uri="{FF2B5EF4-FFF2-40B4-BE49-F238E27FC236}">
                <a16:creationId xmlns:a16="http://schemas.microsoft.com/office/drawing/2014/main" id="{E9E30398-CE59-40F3-8E99-B278FB578C31}"/>
              </a:ext>
            </a:extLst>
          </p:cNvPr>
          <p:cNvSpPr>
            <a:spLocks noGrp="1"/>
          </p:cNvSpPr>
          <p:nvPr>
            <p:ph idx="1"/>
          </p:nvPr>
        </p:nvSpPr>
        <p:spPr>
          <a:xfrm>
            <a:off x="228600" y="1447800"/>
            <a:ext cx="8305800" cy="4648200"/>
          </a:xfrm>
        </p:spPr>
        <p:txBody>
          <a:bodyPr/>
          <a:lstStyle/>
          <a:p>
            <a:r>
              <a:rPr lang="en-US" dirty="0"/>
              <a:t>Remember what the atrioventricular node was?</a:t>
            </a:r>
          </a:p>
          <a:p>
            <a:pPr lvl="1">
              <a:spcBef>
                <a:spcPts val="0"/>
              </a:spcBef>
            </a:pPr>
            <a:r>
              <a:rPr lang="en-US" dirty="0"/>
              <a:t>Electrical connection from atria to ventricles</a:t>
            </a:r>
          </a:p>
          <a:p>
            <a:r>
              <a:rPr lang="en-US" dirty="0"/>
              <a:t>AV node propagation is purposely quite slow</a:t>
            </a:r>
          </a:p>
          <a:p>
            <a:pPr lvl="1">
              <a:spcBef>
                <a:spcPts val="0"/>
              </a:spcBef>
            </a:pPr>
            <a:r>
              <a:rPr lang="en-US" dirty="0"/>
              <a:t>Why?</a:t>
            </a:r>
          </a:p>
          <a:p>
            <a:pPr lvl="1"/>
            <a:r>
              <a:rPr lang="en-US" dirty="0"/>
              <a:t>How?</a:t>
            </a:r>
          </a:p>
          <a:p>
            <a:r>
              <a:rPr lang="en-US" dirty="0"/>
              <a:t>Issue with purposely-slow conduction</a:t>
            </a:r>
          </a:p>
          <a:p>
            <a:pPr lvl="1">
              <a:spcBef>
                <a:spcPts val="0"/>
              </a:spcBef>
            </a:pPr>
            <a:r>
              <a:rPr lang="en-US" dirty="0"/>
              <a:t>increased likelihood of conduction failure </a:t>
            </a:r>
            <a:r>
              <a:rPr lang="en-US" dirty="0">
                <a:sym typeface="Wingdings" panose="05000000000000000000" pitchFamily="2" charset="2"/>
              </a:rPr>
              <a:t></a:t>
            </a:r>
            <a:endParaRPr lang="en-US" dirty="0"/>
          </a:p>
          <a:p>
            <a:r>
              <a:rPr lang="en-US" dirty="0"/>
              <a:t>Why don’t they kill you?</a:t>
            </a:r>
          </a:p>
          <a:p>
            <a:r>
              <a:rPr lang="en-US" dirty="0"/>
              <a:t>Backup system in place</a:t>
            </a:r>
          </a:p>
          <a:p>
            <a:pPr lvl="1">
              <a:spcBef>
                <a:spcPts val="0"/>
              </a:spcBef>
            </a:pPr>
            <a:r>
              <a:rPr lang="en-US" dirty="0"/>
              <a:t>to be discussed</a:t>
            </a:r>
          </a:p>
        </p:txBody>
      </p:sp>
      <p:sp>
        <p:nvSpPr>
          <p:cNvPr id="4" name="Footer Placeholder 3">
            <a:extLst>
              <a:ext uri="{FF2B5EF4-FFF2-40B4-BE49-F238E27FC236}">
                <a16:creationId xmlns:a16="http://schemas.microsoft.com/office/drawing/2014/main" id="{E2565582-AC88-425E-AB7F-4C34EB656DCE}"/>
              </a:ext>
            </a:extLst>
          </p:cNvPr>
          <p:cNvSpPr>
            <a:spLocks noGrp="1"/>
          </p:cNvSpPr>
          <p:nvPr>
            <p:ph type="ftr" sz="quarter" idx="11"/>
          </p:nvPr>
        </p:nvSpPr>
        <p:spPr/>
        <p:txBody>
          <a:bodyPr/>
          <a:lstStyle/>
          <a:p>
            <a:pPr>
              <a:defRPr/>
            </a:pPr>
            <a:r>
              <a:rPr lang="en-US" dirty="0"/>
              <a:t>EN1 EIY-- Bioelectricity</a:t>
            </a:r>
          </a:p>
        </p:txBody>
      </p:sp>
      <p:sp>
        <p:nvSpPr>
          <p:cNvPr id="5" name="TextBox 4">
            <a:extLst>
              <a:ext uri="{FF2B5EF4-FFF2-40B4-BE49-F238E27FC236}">
                <a16:creationId xmlns:a16="http://schemas.microsoft.com/office/drawing/2014/main" id="{E67533E3-DF13-488A-BC54-C82894AFE88C}"/>
              </a:ext>
            </a:extLst>
          </p:cNvPr>
          <p:cNvSpPr txBox="1"/>
          <p:nvPr/>
        </p:nvSpPr>
        <p:spPr>
          <a:xfrm>
            <a:off x="1905000" y="2771775"/>
            <a:ext cx="5257800" cy="461665"/>
          </a:xfrm>
          <a:prstGeom prst="rect">
            <a:avLst/>
          </a:prstGeom>
          <a:noFill/>
        </p:spPr>
        <p:txBody>
          <a:bodyPr wrap="square" rtlCol="0">
            <a:spAutoFit/>
          </a:bodyPr>
          <a:lstStyle/>
          <a:p>
            <a:r>
              <a:rPr lang="en-US" dirty="0"/>
              <a:t>Let the ventricles fill before they pump</a:t>
            </a:r>
          </a:p>
        </p:txBody>
      </p:sp>
      <p:sp>
        <p:nvSpPr>
          <p:cNvPr id="6" name="TextBox 5">
            <a:extLst>
              <a:ext uri="{FF2B5EF4-FFF2-40B4-BE49-F238E27FC236}">
                <a16:creationId xmlns:a16="http://schemas.microsoft.com/office/drawing/2014/main" id="{6DBF6CF2-039B-42F0-A1F5-AFFA45CDB1AA}"/>
              </a:ext>
            </a:extLst>
          </p:cNvPr>
          <p:cNvSpPr txBox="1"/>
          <p:nvPr/>
        </p:nvSpPr>
        <p:spPr>
          <a:xfrm>
            <a:off x="1828800" y="3124200"/>
            <a:ext cx="6400800" cy="656590"/>
          </a:xfrm>
          <a:prstGeom prst="rect">
            <a:avLst/>
          </a:prstGeom>
          <a:noFill/>
        </p:spPr>
        <p:txBody>
          <a:bodyPr wrap="square" rtlCol="0">
            <a:spAutoFit/>
          </a:bodyPr>
          <a:lstStyle/>
          <a:p>
            <a:pPr marL="342900" indent="-342900">
              <a:buFont typeface="Arial" panose="020B0604020202020204" pitchFamily="34" charset="0"/>
              <a:buChar char="•"/>
            </a:pPr>
            <a:r>
              <a:rPr lang="en-US" sz="2000" dirty="0"/>
              <a:t>decreased density of Na+ channels; slows down phase 0</a:t>
            </a:r>
          </a:p>
          <a:p>
            <a:pPr marL="342900" indent="-342900">
              <a:lnSpc>
                <a:spcPts val="2000"/>
              </a:lnSpc>
              <a:buFont typeface="Arial" panose="020B0604020202020204" pitchFamily="34" charset="0"/>
              <a:buChar char="•"/>
            </a:pPr>
            <a:r>
              <a:rPr lang="en-US" sz="2000" dirty="0"/>
              <a:t>lower GJ density</a:t>
            </a:r>
          </a:p>
        </p:txBody>
      </p:sp>
      <p:pic>
        <p:nvPicPr>
          <p:cNvPr id="8" name="Picture 7">
            <a:extLst>
              <a:ext uri="{FF2B5EF4-FFF2-40B4-BE49-F238E27FC236}">
                <a16:creationId xmlns:a16="http://schemas.microsoft.com/office/drawing/2014/main" id="{753F08D0-F873-484C-91A7-DABBD978625E}"/>
              </a:ext>
            </a:extLst>
          </p:cNvPr>
          <p:cNvPicPr>
            <a:picLocks noChangeAspect="1"/>
          </p:cNvPicPr>
          <p:nvPr/>
        </p:nvPicPr>
        <p:blipFill>
          <a:blip r:embed="rId2"/>
          <a:stretch>
            <a:fillRect/>
          </a:stretch>
        </p:blipFill>
        <p:spPr>
          <a:xfrm>
            <a:off x="5334000" y="4663636"/>
            <a:ext cx="2633601" cy="1660964"/>
          </a:xfrm>
          <a:prstGeom prst="rect">
            <a:avLst/>
          </a:prstGeom>
        </p:spPr>
      </p:pic>
    </p:spTree>
    <p:extLst>
      <p:ext uri="{BB962C8B-B14F-4D97-AF65-F5344CB8AC3E}">
        <p14:creationId xmlns:p14="http://schemas.microsoft.com/office/powerpoint/2010/main" val="225661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Triple redundancy</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36675" y="2133600"/>
            <a:ext cx="4811650" cy="2514600"/>
          </a:xfrm>
        </p:spPr>
        <p:txBody>
          <a:bodyPr/>
          <a:lstStyle/>
          <a:p>
            <a:r>
              <a:rPr lang="en-US" sz="2400" dirty="0"/>
              <a:t>The main operation is simple – SA node oscillates ≈ 60 bpm</a:t>
            </a:r>
          </a:p>
          <a:p>
            <a:r>
              <a:rPr lang="en-US" sz="2400" dirty="0"/>
              <a:t>But what if the upstream rhythm breaks?</a:t>
            </a:r>
          </a:p>
          <a:p>
            <a:pPr lvl="1">
              <a:spcBef>
                <a:spcPts val="0"/>
              </a:spcBef>
            </a:pPr>
            <a:r>
              <a:rPr lang="en-US" sz="2000" dirty="0"/>
              <a:t>Quick review: how can it break?</a:t>
            </a:r>
            <a:endParaRPr lang="en-US" sz="1600" dirty="0"/>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grpSp>
        <p:nvGrpSpPr>
          <p:cNvPr id="11" name="Group 10">
            <a:extLst>
              <a:ext uri="{FF2B5EF4-FFF2-40B4-BE49-F238E27FC236}">
                <a16:creationId xmlns:a16="http://schemas.microsoft.com/office/drawing/2014/main" id="{B3A17E64-48FD-49AE-8BA7-7C949A0A87E2}"/>
              </a:ext>
            </a:extLst>
          </p:cNvPr>
          <p:cNvGrpSpPr/>
          <p:nvPr/>
        </p:nvGrpSpPr>
        <p:grpSpPr>
          <a:xfrm>
            <a:off x="1219200" y="3505200"/>
            <a:ext cx="2157237" cy="1676400"/>
            <a:chOff x="1219200" y="3505200"/>
            <a:chExt cx="2157237" cy="1676400"/>
          </a:xfrm>
        </p:grpSpPr>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AV</a:t>
              </a:r>
            </a:p>
          </p:txBody>
        </p:sp>
        <p:sp>
          <p:nvSpPr>
            <p:cNvPr id="18" name="Arrow: Down 17">
              <a:extLst>
                <a:ext uri="{FF2B5EF4-FFF2-40B4-BE49-F238E27FC236}">
                  <a16:creationId xmlns:a16="http://schemas.microsoft.com/office/drawing/2014/main" id="{97EB7340-73F6-49FC-AF08-BEF778CFE017}"/>
                </a:ext>
              </a:extLst>
            </p:cNvPr>
            <p:cNvSpPr/>
            <p:nvPr/>
          </p:nvSpPr>
          <p:spPr>
            <a:xfrm rot="20480815">
              <a:off x="1827895" y="3856920"/>
              <a:ext cx="381000"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1" name="Arrow: Down 20">
              <a:extLst>
                <a:ext uri="{FF2B5EF4-FFF2-40B4-BE49-F238E27FC236}">
                  <a16:creationId xmlns:a16="http://schemas.microsoft.com/office/drawing/2014/main" id="{F51D4FFB-16D8-4F17-BE91-BEF015035A26}"/>
                </a:ext>
              </a:extLst>
            </p:cNvPr>
            <p:cNvSpPr/>
            <p:nvPr/>
          </p:nvSpPr>
          <p:spPr>
            <a:xfrm>
              <a:off x="1752600" y="4343400"/>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2" name="Arrow: Down 21">
              <a:extLst>
                <a:ext uri="{FF2B5EF4-FFF2-40B4-BE49-F238E27FC236}">
                  <a16:creationId xmlns:a16="http://schemas.microsoft.com/office/drawing/2014/main" id="{AE7E6EF8-6562-4E00-8DBB-E7778A3F9674}"/>
                </a:ext>
              </a:extLst>
            </p:cNvPr>
            <p:cNvSpPr/>
            <p:nvPr/>
          </p:nvSpPr>
          <p:spPr>
            <a:xfrm rot="17182029">
              <a:off x="2415924" y="4109927"/>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3" name="Arrow: Down 22">
              <a:extLst>
                <a:ext uri="{FF2B5EF4-FFF2-40B4-BE49-F238E27FC236}">
                  <a16:creationId xmlns:a16="http://schemas.microsoft.com/office/drawing/2014/main" id="{300E2AC0-3C29-4D1C-9675-56CB95B48F6B}"/>
                </a:ext>
              </a:extLst>
            </p:cNvPr>
            <p:cNvSpPr/>
            <p:nvPr/>
          </p:nvSpPr>
          <p:spPr>
            <a:xfrm rot="17182029">
              <a:off x="2446678" y="4178443"/>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4" name="Arrow: Down 23">
              <a:extLst>
                <a:ext uri="{FF2B5EF4-FFF2-40B4-BE49-F238E27FC236}">
                  <a16:creationId xmlns:a16="http://schemas.microsoft.com/office/drawing/2014/main" id="{A00D32A6-D6AF-4B95-BAD1-CB2B8DB82346}"/>
                </a:ext>
              </a:extLst>
            </p:cNvPr>
            <p:cNvSpPr/>
            <p:nvPr/>
          </p:nvSpPr>
          <p:spPr>
            <a:xfrm>
              <a:off x="1219200" y="4648200"/>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grpSp>
        <p:nvGrpSpPr>
          <p:cNvPr id="8" name="Group 7">
            <a:extLst>
              <a:ext uri="{FF2B5EF4-FFF2-40B4-BE49-F238E27FC236}">
                <a16:creationId xmlns:a16="http://schemas.microsoft.com/office/drawing/2014/main" id="{B637DCAD-B712-42BD-9494-52FFE41732D5}"/>
              </a:ext>
            </a:extLst>
          </p:cNvPr>
          <p:cNvGrpSpPr/>
          <p:nvPr/>
        </p:nvGrpSpPr>
        <p:grpSpPr>
          <a:xfrm>
            <a:off x="838200" y="3073399"/>
            <a:ext cx="998985" cy="812800"/>
            <a:chOff x="838200" y="3073399"/>
            <a:chExt cx="998985" cy="812800"/>
          </a:xfrm>
        </p:grpSpPr>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SA</a:t>
              </a:r>
            </a:p>
          </p:txBody>
        </p:sp>
        <p:cxnSp>
          <p:nvCxnSpPr>
            <p:cNvPr id="6" name="Straight Arrow Connector 5">
              <a:extLst>
                <a:ext uri="{FF2B5EF4-FFF2-40B4-BE49-F238E27FC236}">
                  <a16:creationId xmlns:a16="http://schemas.microsoft.com/office/drawing/2014/main" id="{667652D8-DDE3-40DE-B645-B6BE2F66322B}"/>
                </a:ext>
              </a:extLst>
            </p:cNvPr>
            <p:cNvCxnSpPr>
              <a:stCxn id="14" idx="6"/>
              <a:endCxn id="17" idx="1"/>
            </p:cNvCxnSpPr>
            <p:nvPr/>
          </p:nvCxnSpPr>
          <p:spPr>
            <a:xfrm>
              <a:off x="1219200" y="3263899"/>
              <a:ext cx="538394" cy="29709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Freeform: Shape 6">
              <a:extLst>
                <a:ext uri="{FF2B5EF4-FFF2-40B4-BE49-F238E27FC236}">
                  <a16:creationId xmlns:a16="http://schemas.microsoft.com/office/drawing/2014/main" id="{9C2DF04D-A83A-400A-AE10-C4852DC3214F}"/>
                </a:ext>
              </a:extLst>
            </p:cNvPr>
            <p:cNvSpPr/>
            <p:nvPr/>
          </p:nvSpPr>
          <p:spPr>
            <a:xfrm>
              <a:off x="1227438" y="3100915"/>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5F110-5A8D-425F-A4C1-9B7498BEEB3E}"/>
                </a:ext>
              </a:extLst>
            </p:cNvPr>
            <p:cNvSpPr/>
            <p:nvPr/>
          </p:nvSpPr>
          <p:spPr>
            <a:xfrm rot="14190823" flipH="1">
              <a:off x="1097010" y="3381243"/>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a:extLst>
              <a:ext uri="{FF2B5EF4-FFF2-40B4-BE49-F238E27FC236}">
                <a16:creationId xmlns:a16="http://schemas.microsoft.com/office/drawing/2014/main" id="{C002D836-5B86-4522-AF54-D6D38F7DB5E9}"/>
              </a:ext>
            </a:extLst>
          </p:cNvPr>
          <p:cNvSpPr txBox="1"/>
          <p:nvPr/>
        </p:nvSpPr>
        <p:spPr>
          <a:xfrm rot="20784863">
            <a:off x="2090301" y="5157002"/>
            <a:ext cx="1524000" cy="461665"/>
          </a:xfrm>
          <a:prstGeom prst="rect">
            <a:avLst/>
          </a:prstGeom>
          <a:noFill/>
        </p:spPr>
        <p:txBody>
          <a:bodyPr wrap="square" rtlCol="0">
            <a:spAutoFit/>
          </a:bodyPr>
          <a:lstStyle/>
          <a:p>
            <a:r>
              <a:rPr lang="en-US" dirty="0"/>
              <a:t>ventricles</a:t>
            </a:r>
          </a:p>
        </p:txBody>
      </p:sp>
    </p:spTree>
    <p:extLst>
      <p:ext uri="{BB962C8B-B14F-4D97-AF65-F5344CB8AC3E}">
        <p14:creationId xmlns:p14="http://schemas.microsoft.com/office/powerpoint/2010/main" val="158825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1000" tmFilter="0, 0; .2, .5; .8, .5; 1, 0"/>
                                        <p:tgtEl>
                                          <p:spTgt spid="8"/>
                                        </p:tgtEl>
                                      </p:cBhvr>
                                    </p:animEffect>
                                    <p:animScale>
                                      <p:cBhvr>
                                        <p:cTn id="7" dur="500" autoRev="1" fill="hold"/>
                                        <p:tgtEl>
                                          <p:spTgt spid="8"/>
                                        </p:tgtEl>
                                      </p:cBhvr>
                                      <p:by x="105000" y="105000"/>
                                    </p:animScale>
                                  </p:childTnLst>
                                </p:cTn>
                              </p:par>
                            </p:childTnLst>
                          </p:cTn>
                        </p:par>
                        <p:par>
                          <p:cTn id="8" fill="hold">
                            <p:stCondLst>
                              <p:cond delay="1000"/>
                            </p:stCondLst>
                            <p:childTnLst>
                              <p:par>
                                <p:cTn id="9" presetID="26" presetClass="emph" presetSubtype="0" repeatCount="indefinite" fill="hold" nodeType="afterEffect">
                                  <p:stCondLst>
                                    <p:cond delay="500"/>
                                  </p:stCondLst>
                                  <p:childTnLst>
                                    <p:animEffect transition="out" filter="fade">
                                      <p:cBhvr>
                                        <p:cTn id="10" dur="1000" tmFilter="0, 0; .2, .5; .8, .5; 1, 0"/>
                                        <p:tgtEl>
                                          <p:spTgt spid="11"/>
                                        </p:tgtEl>
                                      </p:cBhvr>
                                    </p:animEffect>
                                    <p:animScale>
                                      <p:cBhvr>
                                        <p:cTn id="11" dur="500" autoRev="1" fill="hold"/>
                                        <p:tgtEl>
                                          <p:spTgt spid="11"/>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Triple redundancy</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038600" y="1447800"/>
            <a:ext cx="4811650" cy="4724400"/>
          </a:xfrm>
        </p:spPr>
        <p:txBody>
          <a:bodyPr/>
          <a:lstStyle/>
          <a:p>
            <a:r>
              <a:rPr lang="en-US" sz="2400" dirty="0"/>
              <a:t>The main operation is simple – SA node oscillates ≈ 60 bpm</a:t>
            </a:r>
          </a:p>
          <a:p>
            <a:r>
              <a:rPr lang="en-US" sz="2400" dirty="0"/>
              <a:t>But what if the upstream rhythm breaks?</a:t>
            </a:r>
          </a:p>
          <a:p>
            <a:pPr lvl="1">
              <a:spcBef>
                <a:spcPts val="0"/>
              </a:spcBef>
            </a:pPr>
            <a:r>
              <a:rPr lang="en-US" sz="2000" dirty="0"/>
              <a:t>Quick review: how can it break?</a:t>
            </a:r>
          </a:p>
          <a:p>
            <a:r>
              <a:rPr lang="en-US" sz="2400" dirty="0"/>
              <a:t>The AV node can also oscillate!</a:t>
            </a:r>
          </a:p>
          <a:p>
            <a:pPr lvl="1">
              <a:spcBef>
                <a:spcPts val="0"/>
              </a:spcBef>
            </a:pPr>
            <a:r>
              <a:rPr lang="en-US" sz="2000" dirty="0"/>
              <a:t>Now we have a backup in case of atrial fib, AV blocks</a:t>
            </a:r>
          </a:p>
          <a:p>
            <a:r>
              <a:rPr lang="en-US" sz="2400" dirty="0"/>
              <a:t>But what if the bundle of HIS, or LBB &amp; RBB are both blocked?</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grpSp>
        <p:nvGrpSpPr>
          <p:cNvPr id="10" name="Group 9">
            <a:extLst>
              <a:ext uri="{FF2B5EF4-FFF2-40B4-BE49-F238E27FC236}">
                <a16:creationId xmlns:a16="http://schemas.microsoft.com/office/drawing/2014/main" id="{CDCFAD98-6F28-46E9-8A67-B203A8D03F42}"/>
              </a:ext>
            </a:extLst>
          </p:cNvPr>
          <p:cNvGrpSpPr/>
          <p:nvPr/>
        </p:nvGrpSpPr>
        <p:grpSpPr>
          <a:xfrm>
            <a:off x="1219200" y="3505200"/>
            <a:ext cx="2157237" cy="1676400"/>
            <a:chOff x="1219200" y="3505200"/>
            <a:chExt cx="2157237" cy="1676400"/>
          </a:xfrm>
        </p:grpSpPr>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AV</a:t>
              </a:r>
            </a:p>
          </p:txBody>
        </p:sp>
        <p:sp>
          <p:nvSpPr>
            <p:cNvPr id="18" name="Arrow: Down 17">
              <a:extLst>
                <a:ext uri="{FF2B5EF4-FFF2-40B4-BE49-F238E27FC236}">
                  <a16:creationId xmlns:a16="http://schemas.microsoft.com/office/drawing/2014/main" id="{97EB7340-73F6-49FC-AF08-BEF778CFE017}"/>
                </a:ext>
              </a:extLst>
            </p:cNvPr>
            <p:cNvSpPr/>
            <p:nvPr/>
          </p:nvSpPr>
          <p:spPr>
            <a:xfrm rot="20480815">
              <a:off x="1827895" y="3856920"/>
              <a:ext cx="381000"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1" name="Arrow: Down 20">
              <a:extLst>
                <a:ext uri="{FF2B5EF4-FFF2-40B4-BE49-F238E27FC236}">
                  <a16:creationId xmlns:a16="http://schemas.microsoft.com/office/drawing/2014/main" id="{F51D4FFB-16D8-4F17-BE91-BEF015035A26}"/>
                </a:ext>
              </a:extLst>
            </p:cNvPr>
            <p:cNvSpPr/>
            <p:nvPr/>
          </p:nvSpPr>
          <p:spPr>
            <a:xfrm>
              <a:off x="1752600" y="4343400"/>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2" name="Arrow: Down 21">
              <a:extLst>
                <a:ext uri="{FF2B5EF4-FFF2-40B4-BE49-F238E27FC236}">
                  <a16:creationId xmlns:a16="http://schemas.microsoft.com/office/drawing/2014/main" id="{AE7E6EF8-6562-4E00-8DBB-E7778A3F9674}"/>
                </a:ext>
              </a:extLst>
            </p:cNvPr>
            <p:cNvSpPr/>
            <p:nvPr/>
          </p:nvSpPr>
          <p:spPr>
            <a:xfrm rot="17182029">
              <a:off x="2415924" y="4109927"/>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3" name="Arrow: Down 22">
              <a:extLst>
                <a:ext uri="{FF2B5EF4-FFF2-40B4-BE49-F238E27FC236}">
                  <a16:creationId xmlns:a16="http://schemas.microsoft.com/office/drawing/2014/main" id="{300E2AC0-3C29-4D1C-9675-56CB95B48F6B}"/>
                </a:ext>
              </a:extLst>
            </p:cNvPr>
            <p:cNvSpPr/>
            <p:nvPr/>
          </p:nvSpPr>
          <p:spPr>
            <a:xfrm rot="17182029">
              <a:off x="2446678" y="4178443"/>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4" name="Arrow: Down 23">
              <a:extLst>
                <a:ext uri="{FF2B5EF4-FFF2-40B4-BE49-F238E27FC236}">
                  <a16:creationId xmlns:a16="http://schemas.microsoft.com/office/drawing/2014/main" id="{A00D32A6-D6AF-4B95-BAD1-CB2B8DB82346}"/>
                </a:ext>
              </a:extLst>
            </p:cNvPr>
            <p:cNvSpPr/>
            <p:nvPr/>
          </p:nvSpPr>
          <p:spPr>
            <a:xfrm>
              <a:off x="1219200" y="4648200"/>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SA</a:t>
            </a:r>
          </a:p>
        </p:txBody>
      </p:sp>
      <p:cxnSp>
        <p:nvCxnSpPr>
          <p:cNvPr id="6" name="Straight Arrow Connector 5">
            <a:extLst>
              <a:ext uri="{FF2B5EF4-FFF2-40B4-BE49-F238E27FC236}">
                <a16:creationId xmlns:a16="http://schemas.microsoft.com/office/drawing/2014/main" id="{667652D8-DDE3-40DE-B645-B6BE2F66322B}"/>
              </a:ext>
            </a:extLst>
          </p:cNvPr>
          <p:cNvCxnSpPr>
            <a:stCxn id="14" idx="6"/>
            <a:endCxn id="17" idx="1"/>
          </p:cNvCxnSpPr>
          <p:nvPr/>
        </p:nvCxnSpPr>
        <p:spPr>
          <a:xfrm>
            <a:off x="1219200" y="3263899"/>
            <a:ext cx="538394" cy="29709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Freeform: Shape 6">
            <a:extLst>
              <a:ext uri="{FF2B5EF4-FFF2-40B4-BE49-F238E27FC236}">
                <a16:creationId xmlns:a16="http://schemas.microsoft.com/office/drawing/2014/main" id="{9C2DF04D-A83A-400A-AE10-C4852DC3214F}"/>
              </a:ext>
            </a:extLst>
          </p:cNvPr>
          <p:cNvSpPr/>
          <p:nvPr/>
        </p:nvSpPr>
        <p:spPr>
          <a:xfrm>
            <a:off x="1227438" y="3100915"/>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5F110-5A8D-425F-A4C1-9B7498BEEB3E}"/>
              </a:ext>
            </a:extLst>
          </p:cNvPr>
          <p:cNvSpPr/>
          <p:nvPr/>
        </p:nvSpPr>
        <p:spPr>
          <a:xfrm rot="14190823" flipH="1">
            <a:off x="1097010" y="3381243"/>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D2C89CD-95FE-436A-990B-DEA20E0D8574}"/>
              </a:ext>
            </a:extLst>
          </p:cNvPr>
          <p:cNvCxnSpPr/>
          <p:nvPr/>
        </p:nvCxnSpPr>
        <p:spPr>
          <a:xfrm flipH="1">
            <a:off x="838200" y="3216662"/>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733C11F-6263-4BE4-B028-B3C7938D4FBC}"/>
              </a:ext>
            </a:extLst>
          </p:cNvPr>
          <p:cNvCxnSpPr>
            <a:cxnSpLocks/>
          </p:cNvCxnSpPr>
          <p:nvPr/>
        </p:nvCxnSpPr>
        <p:spPr>
          <a:xfrm flipH="1" flipV="1">
            <a:off x="812802" y="3160866"/>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FEBE5B0-F70A-43FF-BC02-D36E3AAA2D3C}"/>
              </a:ext>
            </a:extLst>
          </p:cNvPr>
          <p:cNvSpPr txBox="1"/>
          <p:nvPr/>
        </p:nvSpPr>
        <p:spPr>
          <a:xfrm rot="20784863">
            <a:off x="2090301" y="5157002"/>
            <a:ext cx="1524000" cy="461665"/>
          </a:xfrm>
          <a:prstGeom prst="rect">
            <a:avLst/>
          </a:prstGeom>
          <a:noFill/>
        </p:spPr>
        <p:txBody>
          <a:bodyPr wrap="square" rtlCol="0">
            <a:spAutoFit/>
          </a:bodyPr>
          <a:lstStyle/>
          <a:p>
            <a:r>
              <a:rPr lang="en-US" dirty="0"/>
              <a:t>ventricles</a:t>
            </a:r>
          </a:p>
        </p:txBody>
      </p:sp>
    </p:spTree>
    <p:extLst>
      <p:ext uri="{BB962C8B-B14F-4D97-AF65-F5344CB8AC3E}">
        <p14:creationId xmlns:p14="http://schemas.microsoft.com/office/powerpoint/2010/main" val="291946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2000" tmFilter="0, 0; .2, .5; .8, .5; 1, 0"/>
                                        <p:tgtEl>
                                          <p:spTgt spid="10"/>
                                        </p:tgtEl>
                                      </p:cBhvr>
                                    </p:animEffect>
                                    <p:animScale>
                                      <p:cBhvr>
                                        <p:cTn id="7" dur="1000" autoRev="1" fill="hold"/>
                                        <p:tgtEl>
                                          <p:spTgt spid="1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Triple redundancy</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038600" y="1447800"/>
            <a:ext cx="4811650" cy="4724400"/>
          </a:xfrm>
        </p:spPr>
        <p:txBody>
          <a:bodyPr/>
          <a:lstStyle/>
          <a:p>
            <a:r>
              <a:rPr lang="en-US" sz="2400" dirty="0"/>
              <a:t>The main operation is simple – SA node oscillates ≈ 60 bpm</a:t>
            </a:r>
          </a:p>
          <a:p>
            <a:r>
              <a:rPr lang="en-US" sz="2400" dirty="0"/>
              <a:t>But what if the upstream rhythm breaks?</a:t>
            </a:r>
          </a:p>
          <a:p>
            <a:pPr lvl="1">
              <a:spcBef>
                <a:spcPts val="0"/>
              </a:spcBef>
            </a:pPr>
            <a:r>
              <a:rPr lang="en-US" sz="2000" dirty="0"/>
              <a:t>Quick review: how can it break?</a:t>
            </a:r>
          </a:p>
          <a:p>
            <a:r>
              <a:rPr lang="en-US" sz="2400" dirty="0"/>
              <a:t>The AV node can also oscillate!</a:t>
            </a:r>
          </a:p>
          <a:p>
            <a:pPr lvl="1">
              <a:spcBef>
                <a:spcPts val="0"/>
              </a:spcBef>
            </a:pPr>
            <a:r>
              <a:rPr lang="en-US" sz="2000" dirty="0"/>
              <a:t>Now we have a backup in case of atrial fib, AV blocks</a:t>
            </a:r>
          </a:p>
          <a:p>
            <a:r>
              <a:rPr lang="en-US" sz="2400" dirty="0"/>
              <a:t>But what if the bundle of HIS, or LBB &amp; RBB are both blocked?</a:t>
            </a:r>
          </a:p>
          <a:p>
            <a:pPr lvl="1"/>
            <a:r>
              <a:rPr lang="en-US" sz="2000" dirty="0"/>
              <a:t>The Purkinje fibers can also oscillate!</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AV</a:t>
            </a:r>
          </a:p>
        </p:txBody>
      </p:sp>
      <p:sp>
        <p:nvSpPr>
          <p:cNvPr id="18" name="Arrow: Down 17">
            <a:extLst>
              <a:ext uri="{FF2B5EF4-FFF2-40B4-BE49-F238E27FC236}">
                <a16:creationId xmlns:a16="http://schemas.microsoft.com/office/drawing/2014/main" id="{97EB7340-73F6-49FC-AF08-BEF778CFE017}"/>
              </a:ext>
            </a:extLst>
          </p:cNvPr>
          <p:cNvSpPr/>
          <p:nvPr/>
        </p:nvSpPr>
        <p:spPr>
          <a:xfrm rot="20480815">
            <a:off x="1827895" y="3856920"/>
            <a:ext cx="381000"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1" name="Arrow: Down 20">
            <a:extLst>
              <a:ext uri="{FF2B5EF4-FFF2-40B4-BE49-F238E27FC236}">
                <a16:creationId xmlns:a16="http://schemas.microsoft.com/office/drawing/2014/main" id="{F51D4FFB-16D8-4F17-BE91-BEF015035A26}"/>
              </a:ext>
            </a:extLst>
          </p:cNvPr>
          <p:cNvSpPr/>
          <p:nvPr/>
        </p:nvSpPr>
        <p:spPr>
          <a:xfrm>
            <a:off x="1752600" y="4343400"/>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2" name="Arrow: Down 21">
            <a:extLst>
              <a:ext uri="{FF2B5EF4-FFF2-40B4-BE49-F238E27FC236}">
                <a16:creationId xmlns:a16="http://schemas.microsoft.com/office/drawing/2014/main" id="{AE7E6EF8-6562-4E00-8DBB-E7778A3F9674}"/>
              </a:ext>
            </a:extLst>
          </p:cNvPr>
          <p:cNvSpPr/>
          <p:nvPr/>
        </p:nvSpPr>
        <p:spPr>
          <a:xfrm rot="17182029">
            <a:off x="2415924" y="4109927"/>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nvGrpSpPr>
          <p:cNvPr id="5" name="Group 4">
            <a:extLst>
              <a:ext uri="{FF2B5EF4-FFF2-40B4-BE49-F238E27FC236}">
                <a16:creationId xmlns:a16="http://schemas.microsoft.com/office/drawing/2014/main" id="{959446C4-581D-465B-B14C-7FD1E262E123}"/>
              </a:ext>
            </a:extLst>
          </p:cNvPr>
          <p:cNvGrpSpPr/>
          <p:nvPr/>
        </p:nvGrpSpPr>
        <p:grpSpPr>
          <a:xfrm>
            <a:off x="1219200" y="3782084"/>
            <a:ext cx="2157237" cy="1399516"/>
            <a:chOff x="1219200" y="3782084"/>
            <a:chExt cx="2157237" cy="1399516"/>
          </a:xfrm>
        </p:grpSpPr>
        <p:sp>
          <p:nvSpPr>
            <p:cNvPr id="23" name="Arrow: Down 22">
              <a:extLst>
                <a:ext uri="{FF2B5EF4-FFF2-40B4-BE49-F238E27FC236}">
                  <a16:creationId xmlns:a16="http://schemas.microsoft.com/office/drawing/2014/main" id="{300E2AC0-3C29-4D1C-9675-56CB95B48F6B}"/>
                </a:ext>
              </a:extLst>
            </p:cNvPr>
            <p:cNvSpPr/>
            <p:nvPr/>
          </p:nvSpPr>
          <p:spPr>
            <a:xfrm rot="17182029">
              <a:off x="2446678" y="4178443"/>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4" name="Arrow: Down 23">
              <a:extLst>
                <a:ext uri="{FF2B5EF4-FFF2-40B4-BE49-F238E27FC236}">
                  <a16:creationId xmlns:a16="http://schemas.microsoft.com/office/drawing/2014/main" id="{A00D32A6-D6AF-4B95-BAD1-CB2B8DB82346}"/>
                </a:ext>
              </a:extLst>
            </p:cNvPr>
            <p:cNvSpPr/>
            <p:nvPr/>
          </p:nvSpPr>
          <p:spPr>
            <a:xfrm>
              <a:off x="1219200" y="4648200"/>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SA</a:t>
            </a:r>
          </a:p>
        </p:txBody>
      </p:sp>
      <p:cxnSp>
        <p:nvCxnSpPr>
          <p:cNvPr id="6" name="Straight Arrow Connector 5">
            <a:extLst>
              <a:ext uri="{FF2B5EF4-FFF2-40B4-BE49-F238E27FC236}">
                <a16:creationId xmlns:a16="http://schemas.microsoft.com/office/drawing/2014/main" id="{667652D8-DDE3-40DE-B645-B6BE2F66322B}"/>
              </a:ext>
            </a:extLst>
          </p:cNvPr>
          <p:cNvCxnSpPr>
            <a:stCxn id="14" idx="6"/>
            <a:endCxn id="17" idx="1"/>
          </p:cNvCxnSpPr>
          <p:nvPr/>
        </p:nvCxnSpPr>
        <p:spPr>
          <a:xfrm>
            <a:off x="1219200" y="3263899"/>
            <a:ext cx="538394" cy="29709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Freeform: Shape 6">
            <a:extLst>
              <a:ext uri="{FF2B5EF4-FFF2-40B4-BE49-F238E27FC236}">
                <a16:creationId xmlns:a16="http://schemas.microsoft.com/office/drawing/2014/main" id="{9C2DF04D-A83A-400A-AE10-C4852DC3214F}"/>
              </a:ext>
            </a:extLst>
          </p:cNvPr>
          <p:cNvSpPr/>
          <p:nvPr/>
        </p:nvSpPr>
        <p:spPr>
          <a:xfrm>
            <a:off x="1227438" y="3100915"/>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5F110-5A8D-425F-A4C1-9B7498BEEB3E}"/>
              </a:ext>
            </a:extLst>
          </p:cNvPr>
          <p:cNvSpPr/>
          <p:nvPr/>
        </p:nvSpPr>
        <p:spPr>
          <a:xfrm rot="14190823" flipH="1">
            <a:off x="1097010" y="3381243"/>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D2C89CD-95FE-436A-990B-DEA20E0D8574}"/>
              </a:ext>
            </a:extLst>
          </p:cNvPr>
          <p:cNvCxnSpPr/>
          <p:nvPr/>
        </p:nvCxnSpPr>
        <p:spPr>
          <a:xfrm flipH="1">
            <a:off x="838200" y="3216662"/>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733C11F-6263-4BE4-B028-B3C7938D4FBC}"/>
              </a:ext>
            </a:extLst>
          </p:cNvPr>
          <p:cNvCxnSpPr>
            <a:cxnSpLocks/>
          </p:cNvCxnSpPr>
          <p:nvPr/>
        </p:nvCxnSpPr>
        <p:spPr>
          <a:xfrm flipH="1" flipV="1">
            <a:off x="812802" y="3160866"/>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766FC9D-2E1E-4B64-9FC9-AD0761EB302B}"/>
              </a:ext>
            </a:extLst>
          </p:cNvPr>
          <p:cNvCxnSpPr/>
          <p:nvPr/>
        </p:nvCxnSpPr>
        <p:spPr>
          <a:xfrm flipH="1">
            <a:off x="1422402" y="4151466"/>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DA4B50-C528-4837-92DD-466A1299C11D}"/>
              </a:ext>
            </a:extLst>
          </p:cNvPr>
          <p:cNvCxnSpPr>
            <a:cxnSpLocks/>
          </p:cNvCxnSpPr>
          <p:nvPr/>
        </p:nvCxnSpPr>
        <p:spPr>
          <a:xfrm flipH="1" flipV="1">
            <a:off x="1397004" y="4095670"/>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F8054BF-83CA-4BDA-B325-A1725DEA58BD}"/>
              </a:ext>
            </a:extLst>
          </p:cNvPr>
          <p:cNvSpPr txBox="1"/>
          <p:nvPr/>
        </p:nvSpPr>
        <p:spPr>
          <a:xfrm rot="20784863">
            <a:off x="2090301" y="5157002"/>
            <a:ext cx="1524000" cy="461665"/>
          </a:xfrm>
          <a:prstGeom prst="rect">
            <a:avLst/>
          </a:prstGeom>
          <a:noFill/>
        </p:spPr>
        <p:txBody>
          <a:bodyPr wrap="square" rtlCol="0">
            <a:spAutoFit/>
          </a:bodyPr>
          <a:lstStyle/>
          <a:p>
            <a:r>
              <a:rPr lang="en-US" dirty="0"/>
              <a:t>ventricles</a:t>
            </a:r>
          </a:p>
        </p:txBody>
      </p:sp>
    </p:spTree>
    <p:extLst>
      <p:ext uri="{BB962C8B-B14F-4D97-AF65-F5344CB8AC3E}">
        <p14:creationId xmlns:p14="http://schemas.microsoft.com/office/powerpoint/2010/main" val="66117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3000" tmFilter="0, 0; .2, .5; .8, .5; 1, 0"/>
                                        <p:tgtEl>
                                          <p:spTgt spid="5"/>
                                        </p:tgtEl>
                                      </p:cBhvr>
                                    </p:animEffect>
                                    <p:animScale>
                                      <p:cBhvr>
                                        <p:cTn id="7" dur="150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7648-B5A0-4EAF-8B65-F70D354C1203}"/>
              </a:ext>
            </a:extLst>
          </p:cNvPr>
          <p:cNvSpPr>
            <a:spLocks noGrp="1"/>
          </p:cNvSpPr>
          <p:nvPr>
            <p:ph type="title"/>
          </p:nvPr>
        </p:nvSpPr>
        <p:spPr/>
        <p:txBody>
          <a:bodyPr/>
          <a:lstStyle/>
          <a:p>
            <a:r>
              <a:rPr lang="en-US" dirty="0"/>
              <a:t>System-level coordination</a:t>
            </a:r>
          </a:p>
        </p:txBody>
      </p:sp>
      <p:sp>
        <p:nvSpPr>
          <p:cNvPr id="3" name="Content Placeholder 2">
            <a:extLst>
              <a:ext uri="{FF2B5EF4-FFF2-40B4-BE49-F238E27FC236}">
                <a16:creationId xmlns:a16="http://schemas.microsoft.com/office/drawing/2014/main" id="{53FC07B2-9616-4FFA-AD72-5C8B6C11610E}"/>
              </a:ext>
            </a:extLst>
          </p:cNvPr>
          <p:cNvSpPr>
            <a:spLocks noGrp="1"/>
          </p:cNvSpPr>
          <p:nvPr>
            <p:ph idx="1"/>
          </p:nvPr>
        </p:nvSpPr>
        <p:spPr/>
        <p:txBody>
          <a:bodyPr/>
          <a:lstStyle/>
          <a:p>
            <a:r>
              <a:rPr lang="en-US" dirty="0"/>
              <a:t>Three oscillators; only one is needed</a:t>
            </a:r>
          </a:p>
          <a:p>
            <a:r>
              <a:rPr lang="en-US" dirty="0"/>
              <a:t>What happens if they all turn on at once?</a:t>
            </a:r>
          </a:p>
          <a:p>
            <a:pPr lvl="1">
              <a:spcBef>
                <a:spcPts val="0"/>
              </a:spcBef>
            </a:pPr>
            <a:r>
              <a:rPr lang="en-US" dirty="0"/>
              <a:t>chaos </a:t>
            </a:r>
            <a:r>
              <a:rPr lang="en-US" dirty="0">
                <a:sym typeface="Wingdings" panose="05000000000000000000" pitchFamily="2" charset="2"/>
              </a:rPr>
              <a:t></a:t>
            </a:r>
          </a:p>
          <a:p>
            <a:pPr lvl="1">
              <a:spcBef>
                <a:spcPts val="0"/>
              </a:spcBef>
            </a:pPr>
            <a:r>
              <a:rPr lang="en-US" dirty="0">
                <a:sym typeface="Wingdings" panose="05000000000000000000" pitchFamily="2" charset="2"/>
              </a:rPr>
              <a:t>lots more in EE 123 </a:t>
            </a:r>
          </a:p>
        </p:txBody>
      </p:sp>
      <p:sp>
        <p:nvSpPr>
          <p:cNvPr id="4" name="Footer Placeholder 3">
            <a:extLst>
              <a:ext uri="{FF2B5EF4-FFF2-40B4-BE49-F238E27FC236}">
                <a16:creationId xmlns:a16="http://schemas.microsoft.com/office/drawing/2014/main" id="{C8ADCFE4-4280-47B9-86EE-F746AB52CC27}"/>
              </a:ext>
            </a:extLst>
          </p:cNvPr>
          <p:cNvSpPr>
            <a:spLocks noGrp="1"/>
          </p:cNvSpPr>
          <p:nvPr>
            <p:ph type="ftr" sz="quarter" idx="11"/>
          </p:nvPr>
        </p:nvSpPr>
        <p:spPr/>
        <p:txBody>
          <a:bodyPr/>
          <a:lstStyle/>
          <a:p>
            <a:pPr>
              <a:defRPr/>
            </a:pPr>
            <a:r>
              <a:rPr lang="en-US" dirty="0"/>
              <a:t>EN1 EIY-- Bioelectricity</a:t>
            </a:r>
          </a:p>
        </p:txBody>
      </p:sp>
    </p:spTree>
    <p:extLst>
      <p:ext uri="{BB962C8B-B14F-4D97-AF65-F5344CB8AC3E}">
        <p14:creationId xmlns:p14="http://schemas.microsoft.com/office/powerpoint/2010/main" val="9788695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E0132-E942-FA11-9639-D436E54A0DF0}"/>
              </a:ext>
            </a:extLst>
          </p:cNvPr>
          <p:cNvSpPr>
            <a:spLocks noGrp="1"/>
          </p:cNvSpPr>
          <p:nvPr>
            <p:ph type="title"/>
          </p:nvPr>
        </p:nvSpPr>
        <p:spPr/>
        <p:txBody>
          <a:bodyPr/>
          <a:lstStyle/>
          <a:p>
            <a:r>
              <a:rPr lang="en-US" dirty="0"/>
              <a:t>Slide summary for pruning</a:t>
            </a:r>
          </a:p>
        </p:txBody>
      </p:sp>
      <p:sp>
        <p:nvSpPr>
          <p:cNvPr id="3" name="Content Placeholder 2">
            <a:extLst>
              <a:ext uri="{FF2B5EF4-FFF2-40B4-BE49-F238E27FC236}">
                <a16:creationId xmlns:a16="http://schemas.microsoft.com/office/drawing/2014/main" id="{38D41644-7D42-698B-F9F7-C166DBFF6089}"/>
              </a:ext>
            </a:extLst>
          </p:cNvPr>
          <p:cNvSpPr>
            <a:spLocks noGrp="1"/>
          </p:cNvSpPr>
          <p:nvPr>
            <p:ph idx="1"/>
          </p:nvPr>
        </p:nvSpPr>
        <p:spPr/>
        <p:txBody>
          <a:bodyPr/>
          <a:lstStyle/>
          <a:p>
            <a:r>
              <a:rPr lang="en-US" dirty="0" err="1"/>
              <a:t>Afib</a:t>
            </a:r>
            <a:r>
              <a:rPr lang="en-US" dirty="0"/>
              <a:t>: 24-31 (8 slides)</a:t>
            </a:r>
          </a:p>
          <a:p>
            <a:r>
              <a:rPr lang="en-US" dirty="0"/>
              <a:t>RBBB: 32-35 (4 slides)</a:t>
            </a:r>
          </a:p>
          <a:p>
            <a:r>
              <a:rPr lang="en-US" dirty="0"/>
              <a:t>Backups: 37-42 (6 slides)</a:t>
            </a:r>
          </a:p>
          <a:p>
            <a:r>
              <a:rPr lang="en-US" dirty="0"/>
              <a:t>System-level control: 42-44 (3 slides)</a:t>
            </a:r>
          </a:p>
          <a:p>
            <a:endParaRPr lang="en-US" dirty="0"/>
          </a:p>
        </p:txBody>
      </p:sp>
      <p:sp>
        <p:nvSpPr>
          <p:cNvPr id="4" name="Footer Placeholder 3">
            <a:extLst>
              <a:ext uri="{FF2B5EF4-FFF2-40B4-BE49-F238E27FC236}">
                <a16:creationId xmlns:a16="http://schemas.microsoft.com/office/drawing/2014/main" id="{C90F9A25-0752-AA59-0EFA-06D08FD891E6}"/>
              </a:ext>
            </a:extLst>
          </p:cNvPr>
          <p:cNvSpPr>
            <a:spLocks noGrp="1"/>
          </p:cNvSpPr>
          <p:nvPr>
            <p:ph type="ftr" sz="quarter" idx="11"/>
          </p:nvPr>
        </p:nvSpPr>
        <p:spPr/>
        <p:txBody>
          <a:bodyPr/>
          <a:lstStyle/>
          <a:p>
            <a:pPr>
              <a:defRPr/>
            </a:pPr>
            <a:r>
              <a:rPr lang="en-US"/>
              <a:t>EN1 EIY-- Bioelectricity</a:t>
            </a:r>
            <a:endParaRPr lang="en-US" dirty="0"/>
          </a:p>
        </p:txBody>
      </p:sp>
    </p:spTree>
    <p:extLst>
      <p:ext uri="{BB962C8B-B14F-4D97-AF65-F5344CB8AC3E}">
        <p14:creationId xmlns:p14="http://schemas.microsoft.com/office/powerpoint/2010/main" val="3083110070"/>
      </p:ext>
    </p:extLst>
  </p:cSld>
  <p:clrMapOvr>
    <a:masterClrMapping/>
  </p:clrMapOvr>
</p:sld>
</file>

<file path=ppt/theme/theme1.xml><?xml version="1.0" encoding="utf-8"?>
<a:theme xmlns:a="http://schemas.openxmlformats.org/drawingml/2006/main" name="Default Design">
  <a:themeElements>
    <a:clrScheme name="Custom 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7030A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8575">
          <a:solidFill>
            <a:schemeClr val="accent2"/>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41117</TotalTime>
  <Words>3030</Words>
  <Application>Microsoft Office PowerPoint</Application>
  <PresentationFormat>On-screen Show (4:3)</PresentationFormat>
  <Paragraphs>526</Paragraphs>
  <Slides>57</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Times New Roman</vt:lpstr>
      <vt:lpstr>Default Design</vt:lpstr>
      <vt:lpstr>EN1 EIY</vt:lpstr>
      <vt:lpstr>Big picture of the course</vt:lpstr>
      <vt:lpstr>The heart in the news</vt:lpstr>
      <vt:lpstr>Table of contents</vt:lpstr>
      <vt:lpstr>Deaths/year in U.S.</vt:lpstr>
      <vt:lpstr>PowerPoint Presentation</vt:lpstr>
      <vt:lpstr>A miracle of engineering</vt:lpstr>
      <vt:lpstr>PowerPoint Presentation</vt:lpstr>
      <vt:lpstr>Table of contents – this unit</vt:lpstr>
      <vt:lpstr>Plumbing – the big picture</vt:lpstr>
      <vt:lpstr>What does electricity do?</vt:lpstr>
      <vt:lpstr>The pumps in operation</vt:lpstr>
      <vt:lpstr>Atrial conduction</vt:lpstr>
      <vt:lpstr>Conduction on the highways</vt:lpstr>
      <vt:lpstr>Conduction on the highways</vt:lpstr>
      <vt:lpstr>Ventricular conduction</vt:lpstr>
      <vt:lpstr>Entrainment</vt:lpstr>
      <vt:lpstr>Table of contents</vt:lpstr>
      <vt:lpstr>What is an ECG?</vt:lpstr>
      <vt:lpstr>Atrial conduction</vt:lpstr>
      <vt:lpstr>Ventricular conduction</vt:lpstr>
      <vt:lpstr>Ventricular conduction</vt:lpstr>
      <vt:lpstr>Electrocardiogram</vt:lpstr>
      <vt:lpstr>Table of contents – this unit</vt:lpstr>
      <vt:lpstr>Atrial conduction – review</vt:lpstr>
      <vt:lpstr>Your heart, on AFib</vt:lpstr>
      <vt:lpstr>Atrial fibrillation</vt:lpstr>
      <vt:lpstr>PowerPoint Presentation</vt:lpstr>
      <vt:lpstr>Atrial fib causes</vt:lpstr>
      <vt:lpstr>Ablation</vt:lpstr>
      <vt:lpstr>Ablation</vt:lpstr>
      <vt:lpstr>Ablation</vt:lpstr>
      <vt:lpstr>Bundle-branch block</vt:lpstr>
      <vt:lpstr>RBBB example</vt:lpstr>
      <vt:lpstr>RBBB – not a big problem</vt:lpstr>
      <vt:lpstr>RBBB example</vt:lpstr>
      <vt:lpstr>Electrical control of HR, BP</vt:lpstr>
      <vt:lpstr>CVRx</vt:lpstr>
      <vt:lpstr>What comes next?</vt:lpstr>
      <vt:lpstr>BACKUP</vt:lpstr>
      <vt:lpstr>Electrocardiogram</vt:lpstr>
      <vt:lpstr>PVCs</vt:lpstr>
      <vt:lpstr>PVCs</vt:lpstr>
      <vt:lpstr>PVCs</vt:lpstr>
      <vt:lpstr>PowerPoint Presentation</vt:lpstr>
      <vt:lpstr>Can you find the PVC?</vt:lpstr>
      <vt:lpstr>PowerPoint Presentation</vt:lpstr>
      <vt:lpstr>PowerPoint Presentation</vt:lpstr>
      <vt:lpstr>PowerPoint Presentation</vt:lpstr>
      <vt:lpstr>Table of contents – this unit</vt:lpstr>
      <vt:lpstr>Why have fail-safe circuits?</vt:lpstr>
      <vt:lpstr>AV node blocks</vt:lpstr>
      <vt:lpstr>Triple redundancy</vt:lpstr>
      <vt:lpstr>Triple redundancy</vt:lpstr>
      <vt:lpstr>Triple redundancy</vt:lpstr>
      <vt:lpstr>System-level coordination</vt:lpstr>
      <vt:lpstr>Slide summary for pruning</vt:lpstr>
    </vt:vector>
  </TitlesOfParts>
  <Company>Drexel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Bioelectricity</dc:title>
  <dc:creator>Joel G</dc:creator>
  <cp:lastModifiedBy>Grodstein, Joel</cp:lastModifiedBy>
  <cp:revision>1182</cp:revision>
  <cp:lastPrinted>2005-02-07T17:53:54Z</cp:lastPrinted>
  <dcterms:created xsi:type="dcterms:W3CDTF">2002-09-07T18:50:54Z</dcterms:created>
  <dcterms:modified xsi:type="dcterms:W3CDTF">2022-06-28T20:29:53Z</dcterms:modified>
</cp:coreProperties>
</file>