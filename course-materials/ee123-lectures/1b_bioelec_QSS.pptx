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28" r:id="rId2"/>
    <p:sldId id="849" r:id="rId3"/>
    <p:sldId id="890" r:id="rId4"/>
    <p:sldId id="736" r:id="rId5"/>
    <p:sldId id="824" r:id="rId6"/>
    <p:sldId id="877" r:id="rId7"/>
    <p:sldId id="878" r:id="rId8"/>
    <p:sldId id="826" r:id="rId9"/>
    <p:sldId id="827" r:id="rId10"/>
    <p:sldId id="882" r:id="rId11"/>
    <p:sldId id="879" r:id="rId12"/>
    <p:sldId id="883" r:id="rId13"/>
    <p:sldId id="814" r:id="rId14"/>
    <p:sldId id="872" r:id="rId15"/>
    <p:sldId id="885" r:id="rId16"/>
    <p:sldId id="886" r:id="rId17"/>
    <p:sldId id="812" r:id="rId18"/>
    <p:sldId id="876" r:id="rId19"/>
    <p:sldId id="873" r:id="rId20"/>
    <p:sldId id="887" r:id="rId21"/>
    <p:sldId id="880" r:id="rId22"/>
    <p:sldId id="813" r:id="rId23"/>
    <p:sldId id="859" r:id="rId24"/>
    <p:sldId id="861" r:id="rId25"/>
    <p:sldId id="825" r:id="rId26"/>
    <p:sldId id="874" r:id="rId27"/>
    <p:sldId id="888" r:id="rId28"/>
    <p:sldId id="862" r:id="rId29"/>
    <p:sldId id="821" r:id="rId30"/>
    <p:sldId id="845" r:id="rId31"/>
    <p:sldId id="867" r:id="rId32"/>
    <p:sldId id="820" r:id="rId33"/>
    <p:sldId id="868" r:id="rId34"/>
    <p:sldId id="857" r:id="rId35"/>
    <p:sldId id="847" r:id="rId36"/>
    <p:sldId id="860" r:id="rId37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49"/>
            <p14:sldId id="890"/>
            <p14:sldId id="736"/>
            <p14:sldId id="824"/>
            <p14:sldId id="877"/>
            <p14:sldId id="878"/>
            <p14:sldId id="826"/>
            <p14:sldId id="827"/>
            <p14:sldId id="882"/>
            <p14:sldId id="879"/>
            <p14:sldId id="883"/>
            <p14:sldId id="814"/>
            <p14:sldId id="872"/>
            <p14:sldId id="885"/>
            <p14:sldId id="886"/>
            <p14:sldId id="812"/>
            <p14:sldId id="876"/>
            <p14:sldId id="873"/>
            <p14:sldId id="887"/>
            <p14:sldId id="880"/>
            <p14:sldId id="813"/>
            <p14:sldId id="859"/>
            <p14:sldId id="861"/>
            <p14:sldId id="825"/>
            <p14:sldId id="874"/>
            <p14:sldId id="888"/>
            <p14:sldId id="862"/>
            <p14:sldId id="821"/>
            <p14:sldId id="845"/>
            <p14:sldId id="867"/>
            <p14:sldId id="820"/>
            <p14:sldId id="868"/>
            <p14:sldId id="857"/>
            <p14:sldId id="847"/>
            <p14:sldId id="8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008000"/>
    <a:srgbClr val="F1B28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9" autoAdjust="0"/>
    <p:restoredTop sz="78040" autoAdjust="0"/>
  </p:normalViewPr>
  <p:slideViewPr>
    <p:cSldViewPr snapToGrid="0">
      <p:cViewPr varScale="1">
        <p:scale>
          <a:sx n="93" d="100"/>
          <a:sy n="93" d="100"/>
        </p:scale>
        <p:origin x="150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9192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558" y="0"/>
            <a:ext cx="4028843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algn="r"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1503"/>
            <a:ext cx="4028844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558" y="6661503"/>
            <a:ext cx="4028843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54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algn="r"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6788" cy="2630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045" y="3330173"/>
            <a:ext cx="7436313" cy="315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54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algn="r" defTabSz="921175" eaLnBrk="1" hangingPunct="1">
              <a:defRPr sz="13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068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AB44-4A73-4458-AFA7-A1D66547A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606E7-F8EE-5028-B1D3-9CB0D2CAA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8148B-82BE-50BD-4BE8-D7F8724C3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fast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 ramp is how neurons got to be so fast, and why electrical signaling is such a great idea. But let’s delve into the second, slower </a:t>
            </a:r>
            <a:r>
              <a:rPr lang="en-US" i="1" baseline="0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 ramp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B7F8F-4FAD-5C9A-6EA8-66F6A00F4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6892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891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Biological voltages are small: 50mV or so. Compare to your </a:t>
            </a:r>
            <a:r>
              <a:rPr lang="en-US" dirty="0" err="1"/>
              <a:t>IPhone</a:t>
            </a:r>
            <a:r>
              <a:rPr lang="en-US" dirty="0"/>
              <a:t> CPU &gt;1V. This is partly why your brain is so power efficient!</a:t>
            </a:r>
          </a:p>
          <a:p>
            <a:r>
              <a:rPr lang="en-US" dirty="0"/>
              <a:t>And your house is 120V. This also gives your body a lot of safety margin against getting electrocuted if something goes wrong. You would not want to be electrocuted every time you catch a cold!</a:t>
            </a:r>
          </a:p>
          <a:p>
            <a:r>
              <a:rPr lang="en-US" dirty="0"/>
              <a:t>This slide shows the “trick” for how we can signal so fast by using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!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6264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81390">
              <a:defRPr/>
            </a:pPr>
            <a:r>
              <a:rPr lang="en-US" dirty="0"/>
              <a:t>First convince them that </a:t>
            </a:r>
            <a:r>
              <a:rPr lang="en-US" dirty="0" err="1"/>
              <a:t>Δ</a:t>
            </a:r>
            <a:r>
              <a:rPr lang="en-US" i="1" dirty="0" err="1"/>
              <a:t>q</a:t>
            </a:r>
            <a:r>
              <a:rPr lang="en-US" dirty="0"/>
              <a:t>=</a:t>
            </a:r>
            <a:r>
              <a:rPr lang="en-US" i="1" dirty="0"/>
              <a:t>C</a:t>
            </a:r>
            <a:r>
              <a:rPr lang="en-US" dirty="0"/>
              <a:t>Δ</a:t>
            </a:r>
            <a:r>
              <a:rPr lang="en-US" i="1" dirty="0"/>
              <a:t>V</a:t>
            </a:r>
            <a:r>
              <a:rPr lang="en-US" dirty="0"/>
              <a:t> is true by showing a few numbers: 10=2*5, and (10+2*3)=2*(5+3)</a:t>
            </a:r>
            <a:endParaRPr lang="en-US" i="1" dirty="0"/>
          </a:p>
          <a:p>
            <a:r>
              <a:rPr lang="en-US" dirty="0"/>
              <a:t>This works because the equation is linear.</a:t>
            </a:r>
          </a:p>
          <a:p>
            <a:r>
              <a:rPr lang="en-US" dirty="0"/>
              <a:t>EEs should be able to solve this as a class exercise. BME </a:t>
            </a:r>
            <a:r>
              <a:rPr lang="en-US"/>
              <a:t>may not </a:t>
            </a:r>
            <a:r>
              <a:rPr lang="en-US" dirty="0"/>
              <a:t>be able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8667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fast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 ramp is how neurons got to be so fast, and why electrical signaling is such a great idea. But let’s delve into the second, slower </a:t>
            </a:r>
            <a:r>
              <a:rPr lang="en-US" i="1" baseline="0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 ramp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3375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we were in SS before we increased </a:t>
            </a:r>
            <a:r>
              <a:rPr lang="en-US" i="1" dirty="0" err="1"/>
              <a:t>G</a:t>
            </a:r>
            <a:r>
              <a:rPr lang="en-US" i="0" baseline="-25000" dirty="0" err="1"/>
              <a:t>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475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273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diffusion flux is indeed constant. It can be almost any value and direction (it depends on the concentrations)</a:t>
            </a:r>
          </a:p>
          <a:p>
            <a:r>
              <a:rPr lang="en-US" dirty="0"/>
              <a:t>Calling the pump flux constant is a huge simplification; really, it depends substantially on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dirty="0"/>
              <a:t> , and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dirty="0"/>
              <a:t> is thus restorative to both pump and drift flux. This oversimplification means that </a:t>
            </a:r>
            <a:r>
              <a:rPr lang="en-US" dirty="0" err="1"/>
              <a:t>pump+diffusion</a:t>
            </a:r>
            <a:r>
              <a:rPr lang="en-US" dirty="0"/>
              <a:t> is always (in this example) negative, which means that at QSS drift will always be positive, which means that </a:t>
            </a:r>
            <a:r>
              <a:rPr lang="en-US" dirty="0" err="1"/>
              <a:t>Vmem</a:t>
            </a:r>
            <a:r>
              <a:rPr lang="en-US" dirty="0"/>
              <a:t> is always negative!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9248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pump drives 3 Na out and 2 K in, so it net pulls + charge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153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K</a:t>
            </a:r>
            <a:r>
              <a:rPr lang="en-US" i="0" dirty="0"/>
              <a:t> and </a:t>
            </a:r>
            <a:r>
              <a:rPr lang="en-US" i="1" dirty="0"/>
              <a:t>Cl</a:t>
            </a:r>
            <a:r>
              <a:rPr lang="en-US" i="0" dirty="0"/>
              <a:t> diffusion rates are unchanged because their macroscopic ICF concentrations haven’t had time to substantially change.</a:t>
            </a:r>
          </a:p>
          <a:p>
            <a:r>
              <a:rPr lang="en-US" i="0" dirty="0"/>
              <a:t>Pump rates do change a bit due to the new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, but we’re ignoring that.</a:t>
            </a:r>
          </a:p>
          <a:p>
            <a:r>
              <a:rPr lang="en-US" i="0" baseline="0" dirty="0"/>
              <a:t>And it’s hard to tell from this level of analysis if </a:t>
            </a:r>
            <a:r>
              <a:rPr lang="en-US" i="1" baseline="0" dirty="0"/>
              <a:t>Na</a:t>
            </a:r>
            <a:r>
              <a:rPr lang="en-US" i="0" baseline="0" dirty="0"/>
              <a:t> is balanced or not; typically it’s not (other than by coincidence).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7827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first-order point for Cl is that at this new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, drift has changed – so diffusion must change to match it. In more detail, both Cl diffusion and drift change as [Cl]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4278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“really slow change” domain, we still have unbalanced flux of all ions. But it’s really slow, since (again) the ion channels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463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picture, the QSS and SS </a:t>
            </a:r>
            <a:r>
              <a:rPr lang="en-US" i="1" dirty="0" err="1"/>
              <a:t>V</a:t>
            </a:r>
            <a:r>
              <a:rPr lang="en-US" i="0" baseline="-25000" dirty="0" err="1"/>
              <a:t>mem</a:t>
            </a:r>
            <a:r>
              <a:rPr lang="en-US" i="0" baseline="0" dirty="0"/>
              <a:t> values are reasonably close; that’s not always the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811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easy for students to understand, but it doesn’t exactly match </a:t>
            </a:r>
            <a:r>
              <a:rPr lang="en-US" dirty="0" err="1"/>
              <a:t>Bitsey</a:t>
            </a:r>
            <a:r>
              <a:rPr lang="en-US" dirty="0"/>
              <a:t>,</a:t>
            </a:r>
          </a:p>
          <a:p>
            <a:r>
              <a:rPr lang="en-US" dirty="0" err="1"/>
              <a:t>Bitsey’s</a:t>
            </a:r>
            <a:r>
              <a:rPr lang="en-US" dirty="0"/>
              <a:t> units on </a:t>
            </a:r>
            <a:r>
              <a:rPr lang="en-US" dirty="0" err="1"/>
              <a:t>Gth</a:t>
            </a:r>
            <a:r>
              <a:rPr lang="en-US" dirty="0"/>
              <a:t> are (ions entering the cell/m2s) per Volt of </a:t>
            </a:r>
            <a:r>
              <a:rPr lang="en-US" dirty="0" err="1"/>
              <a:t>Vmem</a:t>
            </a:r>
            <a:r>
              <a:rPr lang="en-US" dirty="0"/>
              <a:t>; thus </a:t>
            </a:r>
            <a:r>
              <a:rPr lang="en-US" dirty="0" err="1"/>
              <a:t>Gth</a:t>
            </a:r>
            <a:r>
              <a:rPr lang="en-US" dirty="0"/>
              <a:t> tends to be negative for Na and K, and positive for Cl.</a:t>
            </a:r>
          </a:p>
          <a:p>
            <a:r>
              <a:rPr lang="en-US" dirty="0"/>
              <a:t>However, </a:t>
            </a:r>
            <a:r>
              <a:rPr lang="en-US" dirty="0" err="1"/>
              <a:t>Bitsey</a:t>
            </a:r>
            <a:r>
              <a:rPr lang="en-US" dirty="0"/>
              <a:t> then scales the resultant ion fluxes by each ion’s Z to get charge fluxes. If we’re restricted to Z=+1 and Z= -1, then we get the same effect by simply assuming that all G values are positive (which is what this slide does)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474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though in general the model predicts QSS values, in this case I carefully copied the V &amp; G values from a SS solution.</a:t>
            </a:r>
          </a:p>
          <a:p>
            <a:r>
              <a:rPr lang="en-US" dirty="0"/>
              <a:t>The SS solution has each individual ion balanced (as the leg-by-leg calculations show), and thus also has their sum balanced.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144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Turning on more Na ion channels is exactly how neurons spike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241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Bitsey</a:t>
            </a:r>
            <a:r>
              <a:rPr lang="en-US" dirty="0"/>
              <a:t>, the units on </a:t>
            </a:r>
            <a:r>
              <a:rPr lang="en-US" dirty="0" err="1"/>
              <a:t>Gth</a:t>
            </a:r>
            <a:r>
              <a:rPr lang="en-US" dirty="0"/>
              <a:t> are (ions entering the cell/m2s) per Volt of </a:t>
            </a:r>
            <a:r>
              <a:rPr lang="en-US" dirty="0" err="1"/>
              <a:t>Vmem</a:t>
            </a:r>
            <a:r>
              <a:rPr lang="en-US" dirty="0"/>
              <a:t>; thus </a:t>
            </a:r>
            <a:r>
              <a:rPr lang="en-US" dirty="0" err="1"/>
              <a:t>Gth</a:t>
            </a:r>
            <a:r>
              <a:rPr lang="en-US" dirty="0"/>
              <a:t> tends to be negative for Na and K, and positive for Cl.</a:t>
            </a:r>
          </a:p>
          <a:p>
            <a:r>
              <a:rPr lang="en-US" dirty="0"/>
              <a:t>However, </a:t>
            </a:r>
            <a:r>
              <a:rPr lang="en-US" dirty="0" err="1"/>
              <a:t>Bitsey</a:t>
            </a:r>
            <a:r>
              <a:rPr lang="en-US" dirty="0"/>
              <a:t> then scales the resultant ion fluxes by each ion’s Z to get charge fluxes. If we’re restricted to Z=+1 and Z= -1, then we get the same effect by simply assuming that all G values are positive (which is what this slide does)</a:t>
            </a:r>
          </a:p>
          <a:p>
            <a:r>
              <a:rPr lang="en-US" dirty="0"/>
              <a:t>The actual </a:t>
            </a:r>
            <a:r>
              <a:rPr lang="en-US" dirty="0" err="1"/>
              <a:t>Vmem</a:t>
            </a:r>
            <a:r>
              <a:rPr lang="en-US" dirty="0"/>
              <a:t> is +18.52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3979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actual </a:t>
            </a:r>
            <a:r>
              <a:rPr lang="en-US" dirty="0" err="1"/>
              <a:t>Vmem</a:t>
            </a:r>
            <a:r>
              <a:rPr lang="en-US" dirty="0"/>
              <a:t> is +18.52, which makes the numbers on the slide actually work right without needing the “approximately equals.”</a:t>
            </a:r>
          </a:p>
          <a:p>
            <a:r>
              <a:rPr lang="en-US" dirty="0"/>
              <a:t>The units on the fluxes are moles/(m2s).</a:t>
            </a:r>
          </a:p>
          <a:p>
            <a:r>
              <a:rPr lang="en-US" dirty="0"/>
              <a:t>The trick for Cl is that this is an electrical diagram, so it cares about charge and doesn’t know that Cl has a negative valence.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009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80790-F6CA-B0A8-908B-1C566DA59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85CC1-84A9-3710-88DF-E8B049923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D479C-8592-E4D4-5290-5C46B33B9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88F3E-1766-6CFC-86CA-5D4F8D4C0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13256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08181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Oops… the last slide popped up to 19mV, and this slide does 40mV. I could redo this if I have extra time.</a:t>
            </a:r>
          </a:p>
          <a:p>
            <a:r>
              <a:rPr lang="en-US" dirty="0"/>
              <a:t>Anyway, the message is that the slow ion-concentration changes do eventually reach an QSS that happens to be 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96302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50293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7602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Bitsey</a:t>
            </a:r>
            <a:r>
              <a:rPr lang="en-US" dirty="0"/>
              <a:t>, the units on </a:t>
            </a:r>
            <a:r>
              <a:rPr lang="en-US" dirty="0" err="1"/>
              <a:t>Gth</a:t>
            </a:r>
            <a:r>
              <a:rPr lang="en-US" dirty="0"/>
              <a:t> are (ions entering the cell/m2s) per Volt of </a:t>
            </a:r>
            <a:r>
              <a:rPr lang="en-US" dirty="0" err="1"/>
              <a:t>Vmem</a:t>
            </a:r>
            <a:r>
              <a:rPr lang="en-US" dirty="0"/>
              <a:t>; thus </a:t>
            </a:r>
            <a:r>
              <a:rPr lang="en-US" dirty="0" err="1"/>
              <a:t>Gth</a:t>
            </a:r>
            <a:r>
              <a:rPr lang="en-US" dirty="0"/>
              <a:t> tends to be negative for Na and K, and positive for Cl.</a:t>
            </a:r>
          </a:p>
          <a:p>
            <a:r>
              <a:rPr lang="en-US" dirty="0"/>
              <a:t>However, </a:t>
            </a:r>
            <a:r>
              <a:rPr lang="en-US" dirty="0" err="1"/>
              <a:t>Bitsey</a:t>
            </a:r>
            <a:r>
              <a:rPr lang="en-US" dirty="0"/>
              <a:t> then scales the resultant ion fluxes by each ion’s Z to get charge fluxes. If we’re restricted to Z=+1 and Z= -1, then we get the same effect by simply assuming that all G values are positive (which is what this slide does)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4614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el.grodstein@tuft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00.png"/><Relationship Id="rId4" Type="http://schemas.openxmlformats.org/officeDocument/2006/relationships/image" Target="../media/image9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Bioelectricity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750733"/>
          </a:xfrm>
        </p:spPr>
        <p:txBody>
          <a:bodyPr/>
          <a:lstStyle/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Grodstein</a:t>
            </a:r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3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Bioelectricity 1b – QSS and neurons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does bioelectricity come from?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Worms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1653341"/>
            <a:ext cx="7351776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45ECE-B42C-EA1F-779E-1CA16EE96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D2DCC6-278E-AC1A-F53A-06BC07356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013" y="902231"/>
            <a:ext cx="4801090" cy="360081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846BA-3B1C-B741-2D9F-383FBB6E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82F0E-473B-F6B7-810C-4A69A7F07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82" y="911988"/>
            <a:ext cx="3729372" cy="36356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97C129-21D2-A0C3-024B-07D8279B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 lab #1, first plots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900815-7CB8-3DF3-4394-6A867C787F98}"/>
              </a:ext>
            </a:extLst>
          </p:cNvPr>
          <p:cNvSpPr txBox="1">
            <a:spLocks/>
          </p:cNvSpPr>
          <p:nvPr/>
        </p:nvSpPr>
        <p:spPr bwMode="auto">
          <a:xfrm>
            <a:off x="406397" y="4798061"/>
            <a:ext cx="8562239" cy="1064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Ion concentrations are changing very slowly</a:t>
            </a:r>
          </a:p>
          <a:p>
            <a:r>
              <a:rPr lang="en-US" sz="2400" i="1" kern="0" dirty="0" err="1"/>
              <a:t>V</a:t>
            </a:r>
            <a:r>
              <a:rPr lang="en-US" sz="2400" kern="0" baseline="-25000" dirty="0" err="1"/>
              <a:t>mem</a:t>
            </a:r>
            <a:r>
              <a:rPr lang="en-US" sz="2400" kern="0" dirty="0"/>
              <a:t> initially changes quickly, then slowly</a:t>
            </a:r>
          </a:p>
          <a:p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7981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1A99-0089-4D35-8B98-CC045FA7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 the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DAED-AD3B-488C-A1C4-EFA2FCBD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676400"/>
            <a:ext cx="8271934" cy="4466216"/>
          </a:xfrm>
        </p:spPr>
        <p:txBody>
          <a:bodyPr/>
          <a:lstStyle/>
          <a:p>
            <a:r>
              <a:rPr lang="en-US" dirty="0"/>
              <a:t>We ran a bunch of simulations of cells</a:t>
            </a:r>
          </a:p>
          <a:p>
            <a:r>
              <a:rPr lang="en-US" dirty="0"/>
              <a:t>They created voltage. Cool!</a:t>
            </a:r>
          </a:p>
          <a:p>
            <a:r>
              <a:rPr lang="en-US" dirty="0"/>
              <a:t>“Minor” problem:</a:t>
            </a:r>
          </a:p>
          <a:p>
            <a:pPr lvl="1">
              <a:spcBef>
                <a:spcPts val="0"/>
              </a:spcBef>
            </a:pPr>
            <a:r>
              <a:rPr lang="en-US" dirty="0"/>
              <a:t>Our sims took several hours of simulated time to reach steady state</a:t>
            </a:r>
          </a:p>
          <a:p>
            <a:pPr lvl="1">
              <a:spcBef>
                <a:spcPts val="0"/>
              </a:spcBef>
            </a:pPr>
            <a:r>
              <a:rPr lang="en-US" dirty="0"/>
              <a:t>Our brains run on bioelectricity</a:t>
            </a:r>
          </a:p>
          <a:p>
            <a:r>
              <a:rPr lang="en-US" dirty="0"/>
              <a:t>Any problem there?</a:t>
            </a:r>
          </a:p>
          <a:p>
            <a:r>
              <a:rPr lang="en-US" dirty="0"/>
              <a:t>We humans can think pretty fast</a:t>
            </a:r>
          </a:p>
          <a:p>
            <a:pPr lvl="1">
              <a:spcBef>
                <a:spcPts val="0"/>
              </a:spcBef>
            </a:pPr>
            <a:r>
              <a:rPr lang="en-US" dirty="0"/>
              <a:t>We can react pretty fast, too</a:t>
            </a:r>
          </a:p>
          <a:p>
            <a:pPr lvl="1">
              <a:spcBef>
                <a:spcPts val="0"/>
              </a:spcBef>
            </a:pPr>
            <a:r>
              <a:rPr lang="en-US" dirty="0"/>
              <a:t>Cannot work if each neuron takes hours to settle!</a:t>
            </a:r>
          </a:p>
          <a:p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br>
              <a:rPr lang="en-US" sz="2400" dirty="0"/>
            </a:b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333DD-3556-4973-965A-7F11E261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7702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use bioelectricity to compute really fast</a:t>
            </a:r>
          </a:p>
          <a:p>
            <a:pPr lvl="1"/>
            <a:r>
              <a:rPr lang="en-US" dirty="0"/>
              <a:t>This will be how neurons work</a:t>
            </a:r>
          </a:p>
          <a:p>
            <a:pPr lvl="1"/>
            <a:r>
              <a:rPr lang="en-US" dirty="0"/>
              <a:t>Hypothesis: cells communicated slowly via bioelectricity for eons…</a:t>
            </a:r>
          </a:p>
          <a:p>
            <a:pPr lvl="1"/>
            <a:r>
              <a:rPr lang="en-US" dirty="0"/>
              <a:t>And then evolution figured out a trick</a:t>
            </a:r>
          </a:p>
          <a:p>
            <a:r>
              <a:rPr lang="en-US" dirty="0"/>
              <a:t>We’ll learn</a:t>
            </a:r>
          </a:p>
          <a:p>
            <a:pPr lvl="1"/>
            <a:r>
              <a:rPr lang="en-US" dirty="0"/>
              <a:t>Change ion-channel conductance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</a:t>
            </a:r>
            <a:r>
              <a:rPr lang="en-US" i="1" dirty="0"/>
              <a:t>quickly</a:t>
            </a:r>
            <a:r>
              <a:rPr lang="en-US" dirty="0"/>
              <a:t> spike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endParaRPr lang="en-US" dirty="0"/>
          </a:p>
          <a:p>
            <a:pPr lvl="1"/>
            <a:r>
              <a:rPr lang="en-US" dirty="0"/>
              <a:t>Understand the physics of the ion flows</a:t>
            </a:r>
          </a:p>
          <a:p>
            <a:pPr lvl="1"/>
            <a:r>
              <a:rPr lang="en-US" dirty="0"/>
              <a:t>Understand how our model models this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13797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B7FF-E3B5-AB33-220F-DE6D8D33A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sim lab #1 run so slow?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6DE32-A74E-9CA9-73C3-44549CF3C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796" y="1553227"/>
            <a:ext cx="4224403" cy="4542773"/>
          </a:xfrm>
        </p:spPr>
        <p:txBody>
          <a:bodyPr/>
          <a:lstStyle/>
          <a:p>
            <a:r>
              <a:rPr lang="en-US" dirty="0"/>
              <a:t>From sim lab #1, t=5000</a:t>
            </a:r>
          </a:p>
          <a:p>
            <a:pPr lvl="1"/>
            <a:r>
              <a:rPr lang="en-US" dirty="0"/>
              <a:t>net Cl flux=20e-4 mol/m</a:t>
            </a:r>
            <a:r>
              <a:rPr lang="en-US" baseline="30000" dirty="0"/>
              <a:t>3</a:t>
            </a:r>
            <a:r>
              <a:rPr lang="en-US" dirty="0"/>
              <a:t>s</a:t>
            </a:r>
          </a:p>
          <a:p>
            <a:pPr lvl="1"/>
            <a:r>
              <a:rPr lang="en-US" dirty="0"/>
              <a:t>[Cl]</a:t>
            </a:r>
            <a:r>
              <a:rPr lang="en-US" baseline="-25000" dirty="0" err="1"/>
              <a:t>init</a:t>
            </a:r>
            <a:r>
              <a:rPr lang="en-US" dirty="0"/>
              <a:t>=55mol/m</a:t>
            </a:r>
            <a:r>
              <a:rPr lang="en-US" baseline="30000" dirty="0"/>
              <a:t>3</a:t>
            </a:r>
            <a:endParaRPr lang="en-US" dirty="0"/>
          </a:p>
          <a:p>
            <a:r>
              <a:rPr lang="en-US" dirty="0"/>
              <a:t>We’re trying to drain a small cell with a </a:t>
            </a:r>
            <a:r>
              <a:rPr lang="en-US" i="1" dirty="0"/>
              <a:t>very</a:t>
            </a:r>
            <a:r>
              <a:rPr lang="en-US" dirty="0"/>
              <a:t> small straw</a:t>
            </a:r>
          </a:p>
          <a:p>
            <a:r>
              <a:rPr lang="en-US" dirty="0"/>
              <a:t>How can we possibly get around this problem?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FE542-DF2A-1C20-3915-0E63B2E1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FE8F195-F960-D355-C21C-E96DEFDD1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70" y="1074826"/>
            <a:ext cx="3839622" cy="374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6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2FC89-1CCB-C350-BB80-C4C7F1B0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change quickly?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3F629-BD20-19E9-9A8F-67BB17A57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92" y="1676400"/>
            <a:ext cx="4018647" cy="3463528"/>
          </a:xfrm>
        </p:spPr>
        <p:txBody>
          <a:bodyPr/>
          <a:lstStyle/>
          <a:p>
            <a:r>
              <a:rPr lang="en-US" sz="2400" dirty="0"/>
              <a:t>Compare ICF vs. ECF [Na], [K], [Cl]</a:t>
            </a:r>
          </a:p>
          <a:p>
            <a:r>
              <a:rPr lang="en-US" sz="2400" dirty="0"/>
              <a:t>What is the net ECF, ICF charge?</a:t>
            </a:r>
          </a:p>
          <a:p>
            <a:r>
              <a:rPr lang="en-US" sz="2400" dirty="0"/>
              <a:t>ICF, ECF each has a lot of charge</a:t>
            </a:r>
          </a:p>
          <a:p>
            <a:r>
              <a:rPr lang="en-US" sz="2400" dirty="0"/>
              <a:t>Biology has built sensitive sensors – we need only move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by 50mV</a:t>
            </a:r>
            <a:endParaRPr lang="en-US" sz="2000" dirty="0"/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C7E80-AD6D-EB88-F69A-0F99842FF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A8752F-3647-D9BD-1C96-496EA9B56674}"/>
              </a:ext>
            </a:extLst>
          </p:cNvPr>
          <p:cNvGrpSpPr/>
          <p:nvPr/>
        </p:nvGrpSpPr>
        <p:grpSpPr>
          <a:xfrm>
            <a:off x="4316139" y="4353420"/>
            <a:ext cx="4672243" cy="2213188"/>
            <a:chOff x="4023531" y="3969372"/>
            <a:chExt cx="4672243" cy="221318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A9880D0-9E13-156F-E255-F3B7E9036B32}"/>
                </a:ext>
              </a:extLst>
            </p:cNvPr>
            <p:cNvSpPr/>
            <p:nvPr/>
          </p:nvSpPr>
          <p:spPr>
            <a:xfrm>
              <a:off x="5445933" y="4006627"/>
              <a:ext cx="2904066" cy="217593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275381-135C-8A08-A721-9BD9C06F95BF}"/>
                </a:ext>
              </a:extLst>
            </p:cNvPr>
            <p:cNvSpPr txBox="1"/>
            <p:nvPr/>
          </p:nvSpPr>
          <p:spPr>
            <a:xfrm>
              <a:off x="6419596" y="4653529"/>
              <a:ext cx="1413934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dirty="0"/>
                <a:t>[K</a:t>
              </a:r>
              <a:r>
                <a:rPr lang="en-US" sz="1600" baseline="30000" dirty="0"/>
                <a:t>+</a:t>
              </a:r>
              <a:r>
                <a:rPr lang="en-US" sz="1600" dirty="0"/>
                <a:t>]=400mM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/>
                <a:t>[Na</a:t>
              </a:r>
              <a:r>
                <a:rPr lang="en-US" sz="1600" baseline="30000" dirty="0"/>
                <a:t>+</a:t>
              </a:r>
              <a:r>
                <a:rPr lang="en-US" sz="1600" dirty="0"/>
                <a:t>]=50mM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/>
                <a:t>[Cl</a:t>
              </a:r>
              <a:r>
                <a:rPr lang="en-US" sz="1600" baseline="30000" dirty="0"/>
                <a:t>-</a:t>
              </a:r>
              <a:r>
                <a:rPr lang="en-US" sz="1600" dirty="0"/>
                <a:t>]=52mM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 err="1"/>
                <a:t>Pr</a:t>
              </a:r>
              <a:r>
                <a:rPr lang="en-US" sz="1600" dirty="0"/>
                <a:t> </a:t>
              </a:r>
              <a:r>
                <a:rPr lang="en-US" sz="1600" baseline="30000" dirty="0"/>
                <a:t>-</a:t>
              </a:r>
              <a:r>
                <a:rPr lang="en-US" sz="1600" dirty="0"/>
                <a:t>=399mM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82461B-4640-99D8-E7DE-B00407FEECA4}"/>
                </a:ext>
              </a:extLst>
            </p:cNvPr>
            <p:cNvSpPr txBox="1"/>
            <p:nvPr/>
          </p:nvSpPr>
          <p:spPr>
            <a:xfrm>
              <a:off x="4023531" y="4658560"/>
              <a:ext cx="1500080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dirty="0"/>
                <a:t>[K</a:t>
              </a:r>
              <a:r>
                <a:rPr lang="en-US" sz="1600" baseline="30000" dirty="0"/>
                <a:t>+</a:t>
              </a:r>
              <a:r>
                <a:rPr lang="en-US" sz="1600" dirty="0"/>
                <a:t>]=20mM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/>
                <a:t>[Na</a:t>
              </a:r>
              <a:r>
                <a:rPr lang="en-US" sz="1600" baseline="30000" dirty="0"/>
                <a:t>+</a:t>
              </a:r>
              <a:r>
                <a:rPr lang="en-US" sz="1600" dirty="0"/>
                <a:t>]=440mM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/>
                <a:t>[Cl</a:t>
              </a:r>
              <a:r>
                <a:rPr lang="en-US" sz="1600" baseline="30000" dirty="0"/>
                <a:t>-</a:t>
              </a:r>
              <a:r>
                <a:rPr lang="en-US" sz="1600" dirty="0"/>
                <a:t>]=560mM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/>
                <a:t>other</a:t>
              </a:r>
              <a:r>
                <a:rPr lang="en-US" sz="1600" baseline="30000" dirty="0"/>
                <a:t>+</a:t>
              </a:r>
              <a:r>
                <a:rPr lang="en-US" sz="1600" dirty="0"/>
                <a:t>=101mM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F7B7236-09E9-0CB2-E5AD-07A18622731D}"/>
                </a:ext>
              </a:extLst>
            </p:cNvPr>
            <p:cNvCxnSpPr/>
            <p:nvPr/>
          </p:nvCxnSpPr>
          <p:spPr>
            <a:xfrm>
              <a:off x="5352798" y="5098826"/>
              <a:ext cx="101600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B6A3DDD-C76D-6C33-63F2-CB3C79DCA886}"/>
                </a:ext>
              </a:extLst>
            </p:cNvPr>
            <p:cNvCxnSpPr>
              <a:cxnSpLocks/>
            </p:cNvCxnSpPr>
            <p:nvPr/>
          </p:nvCxnSpPr>
          <p:spPr>
            <a:xfrm>
              <a:off x="5268132" y="5445959"/>
              <a:ext cx="1159932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6F8995A-D1C3-68B5-D8E4-34A94768474A}"/>
                </a:ext>
              </a:extLst>
            </p:cNvPr>
            <p:cNvCxnSpPr/>
            <p:nvPr/>
          </p:nvCxnSpPr>
          <p:spPr>
            <a:xfrm flipH="1">
              <a:off x="5191931" y="4794028"/>
              <a:ext cx="1253067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4FF282-7F7B-33A4-C6EC-91232A916140}"/>
                </a:ext>
              </a:extLst>
            </p:cNvPr>
            <p:cNvSpPr txBox="1"/>
            <p:nvPr/>
          </p:nvSpPr>
          <p:spPr>
            <a:xfrm>
              <a:off x="7727866" y="3969372"/>
              <a:ext cx="815929" cy="61555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 70mV</a:t>
              </a:r>
            </a:p>
            <a:p>
              <a:r>
                <a:rPr lang="en-US" sz="2000" dirty="0"/>
                <a:t>---  +++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5651DDB-84B1-23CD-EFB2-B95556D8A7B1}"/>
                </a:ext>
              </a:extLst>
            </p:cNvPr>
            <p:cNvCxnSpPr>
              <a:cxnSpLocks/>
            </p:cNvCxnSpPr>
            <p:nvPr/>
          </p:nvCxnSpPr>
          <p:spPr>
            <a:xfrm>
              <a:off x="5208859" y="4887159"/>
              <a:ext cx="1253067" cy="0"/>
            </a:xfrm>
            <a:prstGeom prst="straightConnector1">
              <a:avLst/>
            </a:prstGeom>
            <a:ln w="3810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3B07865-C31D-E392-D12D-415AEE50AF32}"/>
                </a:ext>
              </a:extLst>
            </p:cNvPr>
            <p:cNvCxnSpPr/>
            <p:nvPr/>
          </p:nvCxnSpPr>
          <p:spPr>
            <a:xfrm>
              <a:off x="5352794" y="5200424"/>
              <a:ext cx="1016000" cy="0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206004E-3568-2299-9D17-7B7FD58A86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8130" y="5547557"/>
              <a:ext cx="1159932" cy="0"/>
            </a:xfrm>
            <a:prstGeom prst="straightConnector1">
              <a:avLst/>
            </a:prstGeom>
            <a:ln w="3810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5D37309-5FB7-E557-6F7F-0E3DE17F15C5}"/>
                </a:ext>
              </a:extLst>
            </p:cNvPr>
            <p:cNvCxnSpPr>
              <a:cxnSpLocks/>
            </p:cNvCxnSpPr>
            <p:nvPr/>
          </p:nvCxnSpPr>
          <p:spPr>
            <a:xfrm>
              <a:off x="7798312" y="5490323"/>
              <a:ext cx="77893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4C2EAE9-7B6E-D610-86CD-319A20135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312" y="5642723"/>
              <a:ext cx="77893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17B2DD-9DD3-32E3-DC61-FCBB972AAA95}"/>
                </a:ext>
              </a:extLst>
            </p:cNvPr>
            <p:cNvSpPr txBox="1"/>
            <p:nvPr/>
          </p:nvSpPr>
          <p:spPr>
            <a:xfrm>
              <a:off x="8052307" y="5202456"/>
              <a:ext cx="643467" cy="772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  <a:spcBef>
                  <a:spcPts val="0"/>
                </a:spcBef>
              </a:pPr>
              <a:r>
                <a:rPr lang="en-US" sz="1600" dirty="0"/>
                <a:t>3Na</a:t>
              </a:r>
              <a:r>
                <a:rPr lang="en-US" sz="1600" baseline="30000" dirty="0"/>
                <a:t>+</a:t>
              </a:r>
              <a:endParaRPr lang="en-US" sz="1600" dirty="0"/>
            </a:p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sz="1600" dirty="0"/>
                <a:t>2K</a:t>
              </a:r>
              <a:r>
                <a:rPr lang="en-US" sz="1600" baseline="30000" dirty="0"/>
                <a:t>+</a:t>
              </a:r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63F090-68A7-A0BD-A247-CB7A7848F640}"/>
                  </a:ext>
                </a:extLst>
              </p:cNvPr>
              <p:cNvSpPr txBox="1"/>
              <p:nvPr/>
            </p:nvSpPr>
            <p:spPr>
              <a:xfrm>
                <a:off x="5784767" y="1270501"/>
                <a:ext cx="3134779" cy="8592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2"/>
                    </a:solidFill>
                  </a:rPr>
                  <a:t>diffusion currents are high.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𝑓𝑙𝑢𝑥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𝑁𝑎</m:t>
                        </m:r>
                      </m:sub>
                    </m:sSub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e>
                        </m:d>
                      </m:num>
                      <m:den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63F090-68A7-A0BD-A247-CB7A7848F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767" y="1270501"/>
                <a:ext cx="3134779" cy="859274"/>
              </a:xfrm>
              <a:prstGeom prst="rect">
                <a:avLst/>
              </a:prstGeom>
              <a:blipFill>
                <a:blip r:embed="rId3"/>
                <a:stretch>
                  <a:fillRect l="-1938" t="-27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76DA62-99C0-E6C1-E8F3-513A622BF4A0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4523850" y="1700138"/>
            <a:ext cx="1260917" cy="16605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D4244C-45D4-956C-21A6-8F2D6A919D19}"/>
              </a:ext>
            </a:extLst>
          </p:cNvPr>
          <p:cNvCxnSpPr>
            <a:cxnSpLocks/>
          </p:cNvCxnSpPr>
          <p:nvPr/>
        </p:nvCxnSpPr>
        <p:spPr>
          <a:xfrm flipH="1">
            <a:off x="3908121" y="2626168"/>
            <a:ext cx="798186" cy="8645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634BC49-87BB-EA6D-E2CE-971339796187}"/>
              </a:ext>
            </a:extLst>
          </p:cNvPr>
          <p:cNvSpPr txBox="1"/>
          <p:nvPr/>
        </p:nvSpPr>
        <p:spPr>
          <a:xfrm>
            <a:off x="4709787" y="2349825"/>
            <a:ext cx="42369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small absolute </a:t>
            </a:r>
            <a:r>
              <a:rPr lang="en-US" sz="2000" i="1" dirty="0">
                <a:solidFill>
                  <a:schemeClr val="accent2"/>
                </a:solidFill>
              </a:rPr>
              <a:t>∆q</a:t>
            </a:r>
            <a:r>
              <a:rPr lang="en-US" sz="2000" dirty="0">
                <a:solidFill>
                  <a:schemeClr val="accent2"/>
                </a:solidFill>
              </a:rPr>
              <a:t> is a large relative </a:t>
            </a:r>
            <a:r>
              <a:rPr lang="en-US" sz="2000" i="1" dirty="0">
                <a:solidFill>
                  <a:schemeClr val="accent2"/>
                </a:solidFill>
              </a:rPr>
              <a:t>∆q</a:t>
            </a:r>
            <a:r>
              <a:rPr lang="en-US" sz="20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4117EC-891E-F7AD-0F3C-CC9B816CCA19}"/>
              </a:ext>
            </a:extLst>
          </p:cNvPr>
          <p:cNvSpPr txBox="1"/>
          <p:nvPr/>
        </p:nvSpPr>
        <p:spPr>
          <a:xfrm>
            <a:off x="4827863" y="2830621"/>
            <a:ext cx="400854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Drift currents are quite high. Lots of ions packed densely, all moving even slowly </a:t>
            </a:r>
            <a:r>
              <a:rPr lang="en-US" sz="2000" dirty="0">
                <a:solidFill>
                  <a:schemeClr val="accent2"/>
                </a:solidFill>
                <a:cs typeface="Times New Roman" panose="02020603050405020304" pitchFamily="18" charset="0"/>
              </a:rPr>
              <a:t>→ lots of cars passing/second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610991-B7EF-7AAF-EDF8-A218DF461456}"/>
              </a:ext>
            </a:extLst>
          </p:cNvPr>
          <p:cNvSpPr txBox="1"/>
          <p:nvPr/>
        </p:nvSpPr>
        <p:spPr>
          <a:xfrm>
            <a:off x="461217" y="5561768"/>
            <a:ext cx="275166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</a:rPr>
              <a:t>q = CV</a:t>
            </a:r>
            <a:r>
              <a:rPr lang="en-US" sz="2000" dirty="0">
                <a:solidFill>
                  <a:schemeClr val="accent2"/>
                </a:solidFill>
              </a:rPr>
              <a:t>,  </a:t>
            </a:r>
            <a:r>
              <a:rPr lang="en-US" sz="2000" i="1" dirty="0">
                <a:solidFill>
                  <a:schemeClr val="accent2"/>
                </a:solidFill>
              </a:rPr>
              <a:t>∆q = C∆</a:t>
            </a:r>
            <a:r>
              <a:rPr lang="en-US" sz="2000" dirty="0">
                <a:solidFill>
                  <a:schemeClr val="accent2"/>
                </a:solidFill>
              </a:rPr>
              <a:t>V. So</a:t>
            </a:r>
            <a:r>
              <a:rPr lang="en-US" sz="2000" i="1" dirty="0">
                <a:solidFill>
                  <a:schemeClr val="accent2"/>
                </a:solidFill>
              </a:rPr>
              <a:t> C</a:t>
            </a:r>
            <a:r>
              <a:rPr lang="en-US" sz="2000" dirty="0">
                <a:solidFill>
                  <a:schemeClr val="accent2"/>
                </a:solidFill>
              </a:rPr>
              <a:t> and </a:t>
            </a:r>
            <a:r>
              <a:rPr lang="en-US" sz="2000" i="1" dirty="0">
                <a:solidFill>
                  <a:schemeClr val="accent2"/>
                </a:solidFill>
              </a:rPr>
              <a:t>∆</a:t>
            </a:r>
            <a:r>
              <a:rPr lang="en-US" sz="2000" dirty="0">
                <a:solidFill>
                  <a:schemeClr val="accent2"/>
                </a:solidFill>
              </a:rPr>
              <a:t>V are small, which means so is </a:t>
            </a:r>
            <a:r>
              <a:rPr lang="en-US" sz="2000" i="1" dirty="0">
                <a:solidFill>
                  <a:schemeClr val="accent2"/>
                </a:solidFill>
              </a:rPr>
              <a:t>∆q</a:t>
            </a:r>
            <a:r>
              <a:rPr lang="en-US" sz="2000" dirty="0">
                <a:solidFill>
                  <a:schemeClr val="accent2"/>
                </a:solidFill>
              </a:rPr>
              <a:t>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68E820-3CF8-6202-B778-30B2B9755561}"/>
              </a:ext>
            </a:extLst>
          </p:cNvPr>
          <p:cNvCxnSpPr>
            <a:cxnSpLocks/>
          </p:cNvCxnSpPr>
          <p:nvPr/>
        </p:nvCxnSpPr>
        <p:spPr>
          <a:xfrm flipH="1">
            <a:off x="4151568" y="3284476"/>
            <a:ext cx="635532" cy="11739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DFAE0BC-B779-E859-EE58-1984E9E87D40}"/>
              </a:ext>
            </a:extLst>
          </p:cNvPr>
          <p:cNvCxnSpPr>
            <a:cxnSpLocks/>
          </p:cNvCxnSpPr>
          <p:nvPr/>
        </p:nvCxnSpPr>
        <p:spPr>
          <a:xfrm flipV="1">
            <a:off x="2520988" y="5191128"/>
            <a:ext cx="0" cy="31944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3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  <p:bldP spid="26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0C467-557A-4021-9F19-31A82C32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of the envelope speed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B9FEE-167A-4BEC-AD2B-8F5C4A6F7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10056"/>
            <a:ext cx="8147304" cy="1480426"/>
          </a:xfrm>
        </p:spPr>
        <p:txBody>
          <a:bodyPr/>
          <a:lstStyle/>
          <a:p>
            <a:r>
              <a:rPr lang="en-US" sz="2400" dirty="0"/>
              <a:t>Quick electricity problem: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If the cell membrane is a capacitor </a:t>
            </a:r>
            <a:r>
              <a:rPr lang="en-US" sz="2000" i="1" dirty="0"/>
              <a:t>C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How much charge </a:t>
            </a:r>
            <a:r>
              <a:rPr lang="en-US" sz="2000" dirty="0" err="1"/>
              <a:t>Δ</a:t>
            </a:r>
            <a:r>
              <a:rPr lang="en-US" sz="2000" i="1" dirty="0" err="1"/>
              <a:t>q</a:t>
            </a:r>
            <a:r>
              <a:rPr lang="en-US" sz="2000" dirty="0"/>
              <a:t> must enter the cell to change the voltage by Δ</a:t>
            </a:r>
            <a:r>
              <a:rPr lang="en-US" sz="2000" i="1" dirty="0"/>
              <a:t>V</a:t>
            </a:r>
            <a:r>
              <a:rPr lang="en-US" sz="2000" dirty="0"/>
              <a:t>?</a:t>
            </a:r>
          </a:p>
          <a:p>
            <a:pPr lvl="1">
              <a:spcBef>
                <a:spcPts val="0"/>
              </a:spcBef>
            </a:pPr>
            <a:r>
              <a:rPr lang="en-US" sz="2000" dirty="0" err="1"/>
              <a:t>Δ</a:t>
            </a:r>
            <a:r>
              <a:rPr lang="en-US" sz="2000" i="1" dirty="0" err="1"/>
              <a:t>q</a:t>
            </a:r>
            <a:r>
              <a:rPr lang="en-US" sz="2000" dirty="0"/>
              <a:t>=</a:t>
            </a:r>
            <a:r>
              <a:rPr lang="en-US" sz="2000" i="1" dirty="0"/>
              <a:t>C</a:t>
            </a:r>
            <a:r>
              <a:rPr lang="en-US" sz="2000" dirty="0"/>
              <a:t>Δ</a:t>
            </a:r>
            <a:r>
              <a:rPr lang="en-US" sz="2000" i="1" dirty="0"/>
              <a:t>V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8F242-FA1C-46A4-A08C-7DA04C1B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E9445-0A09-4BB5-93AA-8A18E538B2EF}"/>
              </a:ext>
            </a:extLst>
          </p:cNvPr>
          <p:cNvSpPr txBox="1"/>
          <p:nvPr/>
        </p:nvSpPr>
        <p:spPr>
          <a:xfrm>
            <a:off x="4142232" y="3209544"/>
            <a:ext cx="2084832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accent2"/>
                </a:solidFill>
              </a:rPr>
              <a:t>Area of </a:t>
            </a:r>
            <a:r>
              <a:rPr lang="en-US" sz="2000" dirty="0" err="1">
                <a:solidFill>
                  <a:schemeClr val="accent2"/>
                </a:solidFill>
              </a:rPr>
              <a:t>membr</a:t>
            </a:r>
            <a:r>
              <a:rPr lang="en-US" sz="2000" dirty="0">
                <a:solidFill>
                  <a:schemeClr val="accent2"/>
                </a:solidFill>
              </a:rPr>
              <a:t>. </a:t>
            </a:r>
            <a:r>
              <a:rPr lang="en-US" sz="2000" i="1" dirty="0">
                <a:solidFill>
                  <a:schemeClr val="accent2"/>
                </a:solidFill>
              </a:rPr>
              <a:t>=</a:t>
            </a:r>
            <a:endParaRPr lang="en-US" sz="2000" dirty="0">
              <a:solidFill>
                <a:schemeClr val="accent2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000" i="1" dirty="0">
                <a:solidFill>
                  <a:schemeClr val="accent2"/>
                </a:solidFill>
              </a:rPr>
              <a:t>C =</a:t>
            </a:r>
          </a:p>
          <a:p>
            <a:pPr>
              <a:spcBef>
                <a:spcPts val="600"/>
              </a:spcBef>
            </a:pPr>
            <a:endParaRPr lang="en-US" sz="2000" dirty="0">
              <a:solidFill>
                <a:schemeClr val="accent2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000" dirty="0" err="1">
                <a:solidFill>
                  <a:schemeClr val="accent2"/>
                </a:solidFill>
              </a:rPr>
              <a:t>Δ</a:t>
            </a:r>
            <a:r>
              <a:rPr lang="en-US" sz="2000" i="1" dirty="0" err="1">
                <a:solidFill>
                  <a:schemeClr val="accent2"/>
                </a:solidFill>
              </a:rPr>
              <a:t>q</a:t>
            </a:r>
            <a:r>
              <a:rPr lang="en-US" sz="2000" i="1" dirty="0">
                <a:solidFill>
                  <a:schemeClr val="accent2"/>
                </a:solidFill>
              </a:rPr>
              <a:t> = C</a:t>
            </a:r>
            <a:r>
              <a:rPr lang="en-US" sz="2000" dirty="0">
                <a:solidFill>
                  <a:schemeClr val="accent2"/>
                </a:solidFill>
              </a:rPr>
              <a:t>Δ</a:t>
            </a:r>
            <a:r>
              <a:rPr lang="en-US" sz="2000" i="1" dirty="0">
                <a:solidFill>
                  <a:schemeClr val="accent2"/>
                </a:solidFill>
              </a:rPr>
              <a:t>V </a:t>
            </a:r>
            <a:r>
              <a:rPr lang="en-US" sz="2000" dirty="0">
                <a:solidFill>
                  <a:schemeClr val="accent2"/>
                </a:solidFill>
              </a:rPr>
              <a:t>=</a:t>
            </a:r>
          </a:p>
          <a:p>
            <a:pPr>
              <a:spcBef>
                <a:spcPts val="0"/>
              </a:spcBef>
            </a:pPr>
            <a:endParaRPr lang="en-US" sz="20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sz="20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sz="20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accent2"/>
                </a:solidFill>
              </a:rPr>
              <a:t>            Time</a:t>
            </a:r>
            <a:r>
              <a:rPr lang="en-US" sz="2000" i="1" dirty="0">
                <a:solidFill>
                  <a:schemeClr val="accent2"/>
                </a:solidFill>
              </a:rPr>
              <a:t>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E7AF8E-9C4A-497E-8666-B3D215E8AE0C}"/>
                  </a:ext>
                </a:extLst>
              </p:cNvPr>
              <p:cNvSpPr txBox="1"/>
              <p:nvPr/>
            </p:nvSpPr>
            <p:spPr>
              <a:xfrm>
                <a:off x="5833872" y="3233928"/>
                <a:ext cx="3191256" cy="2725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sz="2000" i="1" dirty="0"/>
                  <a:t>   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4 * </a:t>
                </a:r>
                <a:r>
                  <a:rPr lang="en-US" sz="2000" dirty="0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 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* (5</a:t>
                </a:r>
                <a:r>
                  <a:rPr lang="en-US" sz="2000" dirty="0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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)</a:t>
                </a:r>
                <a:r>
                  <a:rPr lang="en-US" sz="2000" baseline="30000" dirty="0">
                    <a:solidFill>
                      <a:schemeClr val="accent2"/>
                    </a:solidFill>
                  </a:rPr>
                  <a:t>2</a:t>
                </a:r>
                <a:r>
                  <a:rPr lang="en-US" sz="2000" i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= 3x10</a:t>
                </a:r>
                <a:r>
                  <a:rPr lang="en-US" sz="2000" baseline="30000" dirty="0">
                    <a:solidFill>
                      <a:schemeClr val="accent2"/>
                    </a:solidFill>
                  </a:rPr>
                  <a:t>-10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 m</a:t>
                </a:r>
                <a:r>
                  <a:rPr lang="en-US" sz="2000" baseline="30000" dirty="0">
                    <a:solidFill>
                      <a:schemeClr val="accent2"/>
                    </a:solidFill>
                  </a:rPr>
                  <a:t>2</a:t>
                </a:r>
                <a:endParaRPr lang="en-US" sz="2000" dirty="0">
                  <a:solidFill>
                    <a:schemeClr val="accent2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/>
                    </a:solidFill>
                  </a:rPr>
                  <a:t>(3x10</a:t>
                </a:r>
                <a:r>
                  <a:rPr lang="en-US" sz="2000" baseline="30000" dirty="0">
                    <a:solidFill>
                      <a:schemeClr val="accent2"/>
                    </a:solidFill>
                  </a:rPr>
                  <a:t>-10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 m</a:t>
                </a:r>
                <a:r>
                  <a:rPr lang="en-US" sz="2000" baseline="30000" dirty="0">
                    <a:solidFill>
                      <a:schemeClr val="accent2"/>
                    </a:solidFill>
                  </a:rPr>
                  <a:t>2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) * (.05 F/m</a:t>
                </a:r>
                <a:r>
                  <a:rPr lang="en-US" sz="2000" baseline="30000" dirty="0">
                    <a:solidFill>
                      <a:schemeClr val="accent2"/>
                    </a:solidFill>
                  </a:rPr>
                  <a:t>2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/>
                    </a:solidFill>
                  </a:rPr>
                  <a:t>=15x10</a:t>
                </a:r>
                <a:r>
                  <a:rPr lang="en-US" sz="2000" baseline="30000" dirty="0">
                    <a:solidFill>
                      <a:schemeClr val="accent2"/>
                    </a:solidFill>
                  </a:rPr>
                  <a:t>-12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 F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/>
                    </a:solidFill>
                  </a:rPr>
                  <a:t>(15x10</a:t>
                </a:r>
                <a:r>
                  <a:rPr lang="en-US" sz="2000" baseline="30000" dirty="0">
                    <a:solidFill>
                      <a:schemeClr val="accent2"/>
                    </a:solidFill>
                  </a:rPr>
                  <a:t>-12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 F)(.050V)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/>
                    </a:solidFill>
                  </a:rPr>
                  <a:t>= .75x10</a:t>
                </a:r>
                <a:r>
                  <a:rPr lang="en-US" sz="2000" baseline="30000" dirty="0">
                    <a:solidFill>
                      <a:schemeClr val="accent2"/>
                    </a:solidFill>
                  </a:rPr>
                  <a:t>-12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 C</a:t>
                </a:r>
              </a:p>
              <a:p>
                <a:pPr>
                  <a:spcBef>
                    <a:spcPts val="24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kern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5∗</m:t>
                        </m:r>
                        <m:sSup>
                          <m:sSupPr>
                            <m:ctrlPr>
                              <a:rPr lang="en-US" sz="2000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−12</m:t>
                            </m:r>
                          </m:sup>
                        </m:sSup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2000" i="1" ker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000" kern="0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2.5</m:t>
                        </m:r>
                        <m:sSup>
                          <m:sSupPr>
                            <m:ctrlPr>
                              <a:rPr lang="en-US" sz="2000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en-US" sz="2000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−12</m:t>
                            </m:r>
                          </m:sup>
                        </m:sSup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sz="2000" i="1" ker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sz="2000" b="0" i="1" kern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ker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kern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E7AF8E-9C4A-497E-8666-B3D215E8A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872" y="3233928"/>
                <a:ext cx="3191256" cy="2725233"/>
              </a:xfrm>
              <a:prstGeom prst="rect">
                <a:avLst/>
              </a:prstGeom>
              <a:blipFill>
                <a:blip r:embed="rId3"/>
                <a:stretch>
                  <a:fillRect l="-1908" t="-1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8E5FF2-9EC8-42C4-A7B7-1D2886467F23}"/>
              </a:ext>
            </a:extLst>
          </p:cNvPr>
          <p:cNvSpPr txBox="1">
            <a:spLocks/>
          </p:cNvSpPr>
          <p:nvPr/>
        </p:nvSpPr>
        <p:spPr bwMode="auto">
          <a:xfrm>
            <a:off x="658368" y="2828543"/>
            <a:ext cx="3511296" cy="3560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Typical planaria values:</a:t>
            </a:r>
          </a:p>
          <a:p>
            <a:pPr lvl="1">
              <a:spcBef>
                <a:spcPts val="0"/>
              </a:spcBef>
            </a:pPr>
            <a:r>
              <a:rPr lang="en-US" sz="2000" kern="0" dirty="0"/>
              <a:t>Radius of a cell = 5</a:t>
            </a:r>
            <a:r>
              <a:rPr lang="en-US" sz="2000" kern="0" dirty="0">
                <a:sym typeface="Symbol" panose="05050102010706020507" pitchFamily="18" charset="2"/>
              </a:rPr>
              <a:t></a:t>
            </a:r>
          </a:p>
          <a:p>
            <a:pPr lvl="1">
              <a:spcBef>
                <a:spcPts val="0"/>
              </a:spcBef>
            </a:pPr>
            <a:r>
              <a:rPr lang="en-US" sz="2000" kern="0" dirty="0">
                <a:sym typeface="Symbol" panose="05050102010706020507" pitchFamily="18" charset="2"/>
              </a:rPr>
              <a:t>Capacitance of the cell membrane = .05 F/m</a:t>
            </a:r>
            <a:r>
              <a:rPr lang="en-US" sz="2000" kern="0" baseline="30000" dirty="0">
                <a:sym typeface="Symbol" panose="05050102010706020507" pitchFamily="18" charset="2"/>
              </a:rPr>
              <a:t>2</a:t>
            </a:r>
            <a:endParaRPr lang="en-US" sz="2000" kern="0" dirty="0">
              <a:sym typeface="Symbol" panose="05050102010706020507" pitchFamily="18" charset="2"/>
            </a:endParaRPr>
          </a:p>
          <a:p>
            <a:pPr lvl="1">
              <a:spcBef>
                <a:spcPts val="0"/>
              </a:spcBef>
            </a:pPr>
            <a:r>
              <a:rPr lang="en-US" sz="2000" kern="0" dirty="0"/>
              <a:t>Δ</a:t>
            </a:r>
            <a:r>
              <a:rPr lang="en-US" sz="2000" i="1" kern="0" dirty="0"/>
              <a:t>V </a:t>
            </a:r>
            <a:r>
              <a:rPr lang="en-US" sz="2000" kern="0" dirty="0"/>
              <a:t>= 50mV</a:t>
            </a:r>
          </a:p>
          <a:p>
            <a:pPr lvl="1">
              <a:spcBef>
                <a:spcPts val="0"/>
              </a:spcBef>
            </a:pPr>
            <a:r>
              <a:rPr lang="en-US" sz="2000" kern="0" dirty="0"/>
              <a:t>What is </a:t>
            </a:r>
            <a:r>
              <a:rPr lang="en-US" sz="2000" kern="0" dirty="0" err="1"/>
              <a:t>Δ</a:t>
            </a:r>
            <a:r>
              <a:rPr lang="en-US" sz="2000" i="1" kern="0" dirty="0" err="1"/>
              <a:t>q</a:t>
            </a:r>
            <a:r>
              <a:rPr lang="en-US" sz="2000" kern="0" dirty="0"/>
              <a:t>?</a:t>
            </a:r>
          </a:p>
          <a:p>
            <a:r>
              <a:rPr lang="en-US" sz="2400" kern="0" dirty="0"/>
              <a:t>How long will it take to move </a:t>
            </a:r>
            <a:r>
              <a:rPr lang="en-US" sz="2400" i="1" kern="0" dirty="0" err="1"/>
              <a:t>V</a:t>
            </a:r>
            <a:r>
              <a:rPr lang="en-US" sz="2400" kern="0" baseline="-25000" dirty="0" err="1"/>
              <a:t>mem</a:t>
            </a:r>
            <a:r>
              <a:rPr lang="en-US" sz="2400" kern="0" dirty="0"/>
              <a:t> by 50mV?</a:t>
            </a:r>
          </a:p>
          <a:p>
            <a:pPr lvl="1"/>
            <a:r>
              <a:rPr lang="en-US" sz="2000" dirty="0"/>
              <a:t>Current = 2.5*10</a:t>
            </a:r>
            <a:r>
              <a:rPr lang="en-US" sz="2000" baseline="30000" dirty="0"/>
              <a:t>-12</a:t>
            </a:r>
            <a:r>
              <a:rPr lang="en-US" sz="2000" dirty="0"/>
              <a:t> C/s</a:t>
            </a:r>
          </a:p>
        </p:txBody>
      </p:sp>
    </p:spTree>
    <p:extLst>
      <p:ext uri="{BB962C8B-B14F-4D97-AF65-F5344CB8AC3E}">
        <p14:creationId xmlns:p14="http://schemas.microsoft.com/office/powerpoint/2010/main" val="362914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E56D3-6BB3-4E0D-A8A9-45BAC790E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FBEE1-8C53-47A7-A9FF-6C5D447F5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2368475"/>
          </a:xfrm>
        </p:spPr>
        <p:txBody>
          <a:bodyPr/>
          <a:lstStyle/>
          <a:p>
            <a:r>
              <a:rPr lang="en-US" sz="2400" dirty="0"/>
              <a:t>It only takes .3s to move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around as much as needed!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That’s a planaria; humans are &lt;1ms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More fun facts… anybody know why human nerves are so much faster than worms?</a:t>
            </a:r>
          </a:p>
          <a:p>
            <a:r>
              <a:rPr lang="en-US" sz="2400" dirty="0"/>
              <a:t>That’s a lot faster than hours! Nice, but…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5DB81-C756-49FD-B72E-4FFF69AF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22571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BBB9-56E5-4A78-B25D-B1F53E37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the best messenger?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A5539-BC93-4DFE-A317-B3C668762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47628"/>
            <a:ext cx="7772400" cy="4816865"/>
          </a:xfrm>
        </p:spPr>
        <p:txBody>
          <a:bodyPr/>
          <a:lstStyle/>
          <a:p>
            <a:r>
              <a:rPr lang="en-US" dirty="0"/>
              <a:t>Ion channels are small</a:t>
            </a:r>
          </a:p>
          <a:p>
            <a:pPr lvl="1">
              <a:spcBef>
                <a:spcPts val="0"/>
              </a:spcBef>
            </a:pPr>
            <a:r>
              <a:rPr lang="en-US" dirty="0"/>
              <a:t>we’re trying to drain a cell with a </a:t>
            </a:r>
            <a:r>
              <a:rPr lang="en-US" i="1" dirty="0"/>
              <a:t>very</a:t>
            </a:r>
            <a:r>
              <a:rPr lang="en-US" dirty="0"/>
              <a:t> small straw, so </a:t>
            </a:r>
            <a:r>
              <a:rPr lang="en-US" i="1" dirty="0"/>
              <a:t>macroscopic</a:t>
            </a:r>
            <a:r>
              <a:rPr lang="en-US" dirty="0"/>
              <a:t> concentrations change very slowly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But even small concentration changes can cause substantial voltage changes</a:t>
            </a:r>
          </a:p>
          <a:p>
            <a:r>
              <a:rPr lang="en-US" dirty="0"/>
              <a:t>Voltage sensing is “better” than chemical sensing</a:t>
            </a:r>
          </a:p>
          <a:p>
            <a:pPr lvl="1">
              <a:spcBef>
                <a:spcPts val="0"/>
              </a:spcBef>
            </a:pPr>
            <a:r>
              <a:rPr lang="en-US" dirty="0"/>
              <a:t>Much faster  (drift is faster than diffusion over any nontrivial distance)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more energy efficient</a:t>
            </a:r>
          </a:p>
          <a:p>
            <a:pPr>
              <a:spcBef>
                <a:spcPts val="24"/>
              </a:spcBef>
            </a:pPr>
            <a:r>
              <a:rPr lang="en-US" dirty="0"/>
              <a:t>The trick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Don’t</a:t>
            </a:r>
            <a:r>
              <a:rPr lang="en-US" dirty="0"/>
              <a:t>: sense chemical-concentration differences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Do</a:t>
            </a:r>
            <a:r>
              <a:rPr lang="en-US" dirty="0"/>
              <a:t>: transduce them into </a:t>
            </a:r>
            <a:r>
              <a:rPr lang="en-US" i="1" dirty="0"/>
              <a:t>V</a:t>
            </a:r>
            <a:r>
              <a:rPr lang="en-US" dirty="0"/>
              <a:t>, sense </a:t>
            </a:r>
            <a:r>
              <a:rPr lang="en-US" i="1" dirty="0"/>
              <a:t>V</a:t>
            </a:r>
            <a:r>
              <a:rPr lang="en-US" dirty="0"/>
              <a:t> difference</a:t>
            </a:r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1E632-D8C7-4911-8593-92DDEA6C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1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5F35DE-B520-41AC-9D3C-52515D9E2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0" y="902231"/>
            <a:ext cx="4801090" cy="360081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4CF54-D624-4711-8697-0C48B4369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A97FE-7CEB-2BB0-700A-0A40D78FE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498" y="911988"/>
            <a:ext cx="3729372" cy="36356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3417E1-61B8-4819-88E7-1F1FEA42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 in time scales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6F5AB8-F0B3-BDBE-F2B3-8158CD259171}"/>
              </a:ext>
            </a:extLst>
          </p:cNvPr>
          <p:cNvSpPr txBox="1">
            <a:spLocks/>
          </p:cNvSpPr>
          <p:nvPr/>
        </p:nvSpPr>
        <p:spPr bwMode="auto">
          <a:xfrm>
            <a:off x="406397" y="4496844"/>
            <a:ext cx="8562239" cy="2056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i="1" kern="0" dirty="0" err="1"/>
              <a:t>V</a:t>
            </a:r>
            <a:r>
              <a:rPr lang="en-US" sz="2400" kern="0" baseline="-25000" dirty="0" err="1"/>
              <a:t>mem</a:t>
            </a:r>
            <a:r>
              <a:rPr lang="en-US" sz="2400" kern="0" dirty="0"/>
              <a:t> initially changes quickly, then slowly</a:t>
            </a:r>
          </a:p>
          <a:p>
            <a:r>
              <a:rPr lang="en-US" sz="2400" kern="0" dirty="0"/>
              <a:t>We’ve argued that </a:t>
            </a:r>
            <a:r>
              <a:rPr lang="en-US" sz="2400" i="1" kern="0" dirty="0" err="1"/>
              <a:t>V</a:t>
            </a:r>
            <a:r>
              <a:rPr lang="en-US" sz="2400" kern="0" baseline="-25000" dirty="0" err="1"/>
              <a:t>mem</a:t>
            </a:r>
            <a:r>
              <a:rPr lang="en-US" sz="2400" kern="0" dirty="0"/>
              <a:t> changes can be fast</a:t>
            </a:r>
          </a:p>
          <a:p>
            <a:pPr lvl="1">
              <a:spcBef>
                <a:spcPts val="0"/>
              </a:spcBef>
            </a:pPr>
            <a:r>
              <a:rPr lang="en-US" sz="2000" kern="0" dirty="0"/>
              <a:t>So why the slow </a:t>
            </a:r>
            <a:r>
              <a:rPr lang="en-US" sz="2000" i="1" kern="0" dirty="0" err="1"/>
              <a:t>V</a:t>
            </a:r>
            <a:r>
              <a:rPr lang="en-US" sz="2000" kern="0" baseline="-25000" dirty="0" err="1"/>
              <a:t>mem</a:t>
            </a:r>
            <a:r>
              <a:rPr lang="en-US" sz="2000" kern="0" dirty="0"/>
              <a:t> ramp after its initial surge?</a:t>
            </a:r>
            <a:endParaRPr lang="en-US" sz="1600" kern="0" dirty="0"/>
          </a:p>
          <a:p>
            <a:r>
              <a:rPr lang="en-US" sz="2000" kern="0" dirty="0"/>
              <a:t>Remember: ion concentrations change slowly</a:t>
            </a:r>
          </a:p>
          <a:p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53414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CFDB-DA0A-4864-B029-009F111F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So why the two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ramps?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72105-FAC1-4BCD-98A1-296F8F41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7" y="3527333"/>
            <a:ext cx="8390467" cy="2028338"/>
          </a:xfrm>
        </p:spPr>
        <p:txBody>
          <a:bodyPr/>
          <a:lstStyle/>
          <a:p>
            <a:r>
              <a:rPr lang="en-US" sz="2000" b="1" i="1" dirty="0"/>
              <a:t>If we increase </a:t>
            </a:r>
            <a:r>
              <a:rPr lang="en-US" sz="2000" b="1" i="1" dirty="0" err="1"/>
              <a:t>G</a:t>
            </a:r>
            <a:r>
              <a:rPr lang="en-US" sz="2000" b="1" baseline="-25000" dirty="0" err="1"/>
              <a:t>Na</a:t>
            </a:r>
            <a:endParaRPr lang="en-US" sz="2000" b="1" baseline="-25000" dirty="0"/>
          </a:p>
          <a:p>
            <a:pPr lvl="1">
              <a:spcBef>
                <a:spcPts val="0"/>
              </a:spcBef>
            </a:pPr>
            <a:r>
              <a:rPr lang="en-US" sz="1800" dirty="0"/>
              <a:t>Na</a:t>
            </a:r>
            <a:r>
              <a:rPr lang="en-US" sz="1800" baseline="30000" dirty="0"/>
              <a:t>+</a:t>
            </a:r>
            <a:r>
              <a:rPr lang="en-US" sz="1800" dirty="0"/>
              <a:t> is flowing inwards from both diffusion and drift, and then being pumped out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Increasing </a:t>
            </a:r>
            <a:r>
              <a:rPr lang="en-US" sz="1800" i="1" dirty="0" err="1"/>
              <a:t>G</a:t>
            </a:r>
            <a:r>
              <a:rPr lang="en-US" sz="1800" baseline="-25000" dirty="0" err="1"/>
              <a:t>Na</a:t>
            </a:r>
            <a:r>
              <a:rPr lang="en-US" sz="1800" dirty="0"/>
              <a:t> will increase the inwards flow; and not affect the outwards flow</a:t>
            </a:r>
          </a:p>
          <a:p>
            <a:r>
              <a:rPr lang="en-US" sz="2000" dirty="0"/>
              <a:t>Analyzing only Na for now…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More [Na]</a:t>
            </a:r>
            <a:r>
              <a:rPr lang="en-US" sz="1800" baseline="-25000" dirty="0"/>
              <a:t>ICF</a:t>
            </a:r>
            <a:r>
              <a:rPr lang="en-US" sz="1800" dirty="0"/>
              <a:t> </a:t>
            </a:r>
            <a:r>
              <a:rPr lang="en-US" sz="1800" dirty="0">
                <a:cs typeface="Times New Roman" panose="02020603050405020304" pitchFamily="18" charset="0"/>
              </a:rPr>
              <a:t>→ </a:t>
            </a:r>
            <a:r>
              <a:rPr lang="en-US" sz="1800" i="1" dirty="0" err="1">
                <a:cs typeface="Times New Roman" panose="02020603050405020304" pitchFamily="18" charset="0"/>
              </a:rPr>
              <a:t>V</a:t>
            </a:r>
            <a:r>
              <a:rPr lang="en-US" sz="1800" baseline="-25000" dirty="0" err="1">
                <a:cs typeface="Times New Roman" panose="02020603050405020304" pitchFamily="18" charset="0"/>
              </a:rPr>
              <a:t>mem</a:t>
            </a:r>
            <a:r>
              <a:rPr lang="en-US" sz="1800" dirty="0">
                <a:cs typeface="Times New Roman" panose="02020603050405020304" pitchFamily="18" charset="0"/>
              </a:rPr>
              <a:t> ↑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But how much higher will </a:t>
            </a:r>
            <a:r>
              <a:rPr lang="en-US" sz="1800" i="1" dirty="0" err="1"/>
              <a:t>V</a:t>
            </a:r>
            <a:r>
              <a:rPr lang="en-US" sz="1800" baseline="-25000" dirty="0" err="1"/>
              <a:t>mem</a:t>
            </a:r>
            <a:r>
              <a:rPr lang="en-US" sz="1800" dirty="0"/>
              <a:t> rise?</a:t>
            </a:r>
          </a:p>
          <a:p>
            <a:pPr lvl="1"/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F19C6-A25B-4766-A8E5-4F7BC4B3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1862" y="6477000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7EFF95-B53D-4D0C-85A1-5D8F3F0BC11C}"/>
              </a:ext>
            </a:extLst>
          </p:cNvPr>
          <p:cNvSpPr/>
          <p:nvPr/>
        </p:nvSpPr>
        <p:spPr>
          <a:xfrm>
            <a:off x="1600202" y="1363134"/>
            <a:ext cx="2904066" cy="217593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13C23-6A5C-403B-A27C-1B302DE01E49}"/>
              </a:ext>
            </a:extLst>
          </p:cNvPr>
          <p:cNvSpPr txBox="1"/>
          <p:nvPr/>
        </p:nvSpPr>
        <p:spPr>
          <a:xfrm>
            <a:off x="2573865" y="2010036"/>
            <a:ext cx="1413934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[K</a:t>
            </a:r>
            <a:r>
              <a:rPr lang="en-US" sz="1600" baseline="30000" dirty="0"/>
              <a:t>+</a:t>
            </a:r>
            <a:r>
              <a:rPr lang="en-US" sz="1600" dirty="0"/>
              <a:t>]=400mM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[Na</a:t>
            </a:r>
            <a:r>
              <a:rPr lang="en-US" sz="1600" baseline="30000" dirty="0"/>
              <a:t>+</a:t>
            </a:r>
            <a:r>
              <a:rPr lang="en-US" sz="1600" dirty="0"/>
              <a:t>]=50mM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[Cl</a:t>
            </a:r>
            <a:r>
              <a:rPr lang="en-US" sz="1600" baseline="30000" dirty="0"/>
              <a:t>-</a:t>
            </a:r>
            <a:r>
              <a:rPr lang="en-US" sz="1600" dirty="0"/>
              <a:t>]=52mM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other</a:t>
            </a:r>
            <a:r>
              <a:rPr lang="en-US" sz="1600" baseline="30000" dirty="0"/>
              <a:t>-</a:t>
            </a:r>
            <a:r>
              <a:rPr lang="en-US" sz="1600" dirty="0"/>
              <a:t>=408mM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0E69F-98DF-4169-82C2-F1C1A62334A5}"/>
              </a:ext>
            </a:extLst>
          </p:cNvPr>
          <p:cNvSpPr txBox="1"/>
          <p:nvPr/>
        </p:nvSpPr>
        <p:spPr>
          <a:xfrm>
            <a:off x="177800" y="2015067"/>
            <a:ext cx="150008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[K</a:t>
            </a:r>
            <a:r>
              <a:rPr lang="en-US" sz="1600" baseline="30000" dirty="0"/>
              <a:t>+</a:t>
            </a:r>
            <a:r>
              <a:rPr lang="en-US" sz="1600" dirty="0"/>
              <a:t>]=20mM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[Na</a:t>
            </a:r>
            <a:r>
              <a:rPr lang="en-US" sz="1600" baseline="30000" dirty="0"/>
              <a:t>+</a:t>
            </a:r>
            <a:r>
              <a:rPr lang="en-US" sz="1600" dirty="0"/>
              <a:t>]=440mM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[Cl</a:t>
            </a:r>
            <a:r>
              <a:rPr lang="en-US" sz="1600" baseline="30000" dirty="0"/>
              <a:t>-</a:t>
            </a:r>
            <a:r>
              <a:rPr lang="en-US" sz="1600" dirty="0"/>
              <a:t>]=560mM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other</a:t>
            </a:r>
            <a:r>
              <a:rPr lang="en-US" sz="1600" baseline="30000" dirty="0"/>
              <a:t>+</a:t>
            </a:r>
            <a:r>
              <a:rPr lang="en-US" sz="1600" dirty="0"/>
              <a:t>=110mM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25237-0DC5-4787-A41A-8329596AFF2E}"/>
              </a:ext>
            </a:extLst>
          </p:cNvPr>
          <p:cNvSpPr txBox="1"/>
          <p:nvPr/>
        </p:nvSpPr>
        <p:spPr>
          <a:xfrm>
            <a:off x="5638795" y="2226734"/>
            <a:ext cx="34036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Blue arrows = diffusion</a:t>
            </a:r>
          </a:p>
          <a:p>
            <a:r>
              <a:rPr lang="en-US" sz="2000" dirty="0">
                <a:solidFill>
                  <a:srgbClr val="008000"/>
                </a:solidFill>
              </a:rPr>
              <a:t>Green arrows = electric current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Red arrows = ion pump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3080D3-7CD1-4F4C-B9C9-767B22EC466A}"/>
              </a:ext>
            </a:extLst>
          </p:cNvPr>
          <p:cNvCxnSpPr/>
          <p:nvPr/>
        </p:nvCxnSpPr>
        <p:spPr>
          <a:xfrm>
            <a:off x="1507067" y="2455333"/>
            <a:ext cx="101600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977738-05C0-4F23-BD25-F0EE48484BC3}"/>
              </a:ext>
            </a:extLst>
          </p:cNvPr>
          <p:cNvCxnSpPr>
            <a:cxnSpLocks/>
          </p:cNvCxnSpPr>
          <p:nvPr/>
        </p:nvCxnSpPr>
        <p:spPr>
          <a:xfrm>
            <a:off x="1422401" y="2802466"/>
            <a:ext cx="11599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D9D5CA-C7A6-4FD9-850E-7C289EDB92C2}"/>
              </a:ext>
            </a:extLst>
          </p:cNvPr>
          <p:cNvCxnSpPr/>
          <p:nvPr/>
        </p:nvCxnSpPr>
        <p:spPr>
          <a:xfrm flipH="1">
            <a:off x="1346200" y="2150535"/>
            <a:ext cx="125306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5884058-8F5C-427E-BA16-509CDA8517C0}"/>
              </a:ext>
            </a:extLst>
          </p:cNvPr>
          <p:cNvSpPr txBox="1"/>
          <p:nvPr/>
        </p:nvSpPr>
        <p:spPr>
          <a:xfrm>
            <a:off x="3479799" y="1371599"/>
            <a:ext cx="15212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---  +++ 70mV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476105-791E-4396-B967-148BEE80A9CC}"/>
              </a:ext>
            </a:extLst>
          </p:cNvPr>
          <p:cNvCxnSpPr>
            <a:cxnSpLocks/>
          </p:cNvCxnSpPr>
          <p:nvPr/>
        </p:nvCxnSpPr>
        <p:spPr>
          <a:xfrm>
            <a:off x="1363128" y="2243666"/>
            <a:ext cx="1253067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83B4E5-DAE9-476A-AF7B-140698842F5E}"/>
              </a:ext>
            </a:extLst>
          </p:cNvPr>
          <p:cNvCxnSpPr/>
          <p:nvPr/>
        </p:nvCxnSpPr>
        <p:spPr>
          <a:xfrm>
            <a:off x="1507063" y="2556931"/>
            <a:ext cx="1016000" cy="0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9AA68F-4EF9-4A05-9E8C-2835C816B765}"/>
              </a:ext>
            </a:extLst>
          </p:cNvPr>
          <p:cNvCxnSpPr>
            <a:cxnSpLocks/>
          </p:cNvCxnSpPr>
          <p:nvPr/>
        </p:nvCxnSpPr>
        <p:spPr>
          <a:xfrm flipH="1">
            <a:off x="1422399" y="2904064"/>
            <a:ext cx="1159932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2F8A28-DCF0-46E6-A7F0-4B53EDC134D6}"/>
              </a:ext>
            </a:extLst>
          </p:cNvPr>
          <p:cNvCxnSpPr>
            <a:cxnSpLocks/>
          </p:cNvCxnSpPr>
          <p:nvPr/>
        </p:nvCxnSpPr>
        <p:spPr>
          <a:xfrm>
            <a:off x="4199469" y="2133598"/>
            <a:ext cx="7789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4642E7-7EA9-4630-8C9D-DBC3448C4810}"/>
              </a:ext>
            </a:extLst>
          </p:cNvPr>
          <p:cNvCxnSpPr>
            <a:cxnSpLocks/>
          </p:cNvCxnSpPr>
          <p:nvPr/>
        </p:nvCxnSpPr>
        <p:spPr>
          <a:xfrm flipH="1">
            <a:off x="4199469" y="2285998"/>
            <a:ext cx="7789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E1F6009-18F5-4C5E-8A76-88484ACA4BA6}"/>
              </a:ext>
            </a:extLst>
          </p:cNvPr>
          <p:cNvSpPr txBox="1"/>
          <p:nvPr/>
        </p:nvSpPr>
        <p:spPr>
          <a:xfrm>
            <a:off x="4453464" y="1845731"/>
            <a:ext cx="643467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  <a:spcBef>
                <a:spcPts val="0"/>
              </a:spcBef>
            </a:pPr>
            <a:r>
              <a:rPr lang="en-US" sz="1600" dirty="0"/>
              <a:t>3Na</a:t>
            </a:r>
            <a:r>
              <a:rPr lang="en-US" sz="1600" baseline="30000" dirty="0"/>
              <a:t>+</a:t>
            </a:r>
            <a:endParaRPr lang="en-US" sz="1600" dirty="0"/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sz="1600" dirty="0"/>
              <a:t>2K</a:t>
            </a:r>
            <a:r>
              <a:rPr lang="en-US" sz="1600" baseline="30000" dirty="0"/>
              <a:t>+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C7E300-156F-447D-94DB-0163CD09053B}"/>
              </a:ext>
            </a:extLst>
          </p:cNvPr>
          <p:cNvSpPr txBox="1"/>
          <p:nvPr/>
        </p:nvSpPr>
        <p:spPr>
          <a:xfrm>
            <a:off x="6028266" y="4414273"/>
            <a:ext cx="27685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 err="1">
                <a:solidFill>
                  <a:schemeClr val="accent2"/>
                </a:solidFill>
              </a:rPr>
              <a:t>V</a:t>
            </a:r>
            <a:r>
              <a:rPr lang="en-US" sz="1800" baseline="-25000" dirty="0" err="1">
                <a:solidFill>
                  <a:schemeClr val="accent2"/>
                </a:solidFill>
              </a:rPr>
              <a:t>mem</a:t>
            </a:r>
            <a:r>
              <a:rPr lang="en-US" sz="1800" dirty="0">
                <a:solidFill>
                  <a:schemeClr val="accent2"/>
                </a:solidFill>
              </a:rPr>
              <a:t> will get more positive (i.e., closer to 0)… fast or slow?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83DE6-CA8B-B9D7-9EAC-E5BC145CB5B3}"/>
              </a:ext>
            </a:extLst>
          </p:cNvPr>
          <p:cNvSpPr txBox="1"/>
          <p:nvPr/>
        </p:nvSpPr>
        <p:spPr>
          <a:xfrm>
            <a:off x="4382141" y="1126861"/>
            <a:ext cx="70532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 50mV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CFABC3-9104-CE70-F1BB-B4950D230999}"/>
              </a:ext>
            </a:extLst>
          </p:cNvPr>
          <p:cNvGrpSpPr/>
          <p:nvPr/>
        </p:nvGrpSpPr>
        <p:grpSpPr>
          <a:xfrm>
            <a:off x="4508352" y="1456154"/>
            <a:ext cx="408791" cy="181089"/>
            <a:chOff x="4508352" y="1499186"/>
            <a:chExt cx="408791" cy="18108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6DBE23-D5CC-F421-935A-B67CC689C732}"/>
                </a:ext>
              </a:extLst>
            </p:cNvPr>
            <p:cNvCxnSpPr>
              <a:cxnSpLocks/>
            </p:cNvCxnSpPr>
            <p:nvPr/>
          </p:nvCxnSpPr>
          <p:spPr>
            <a:xfrm>
              <a:off x="4508352" y="1499186"/>
              <a:ext cx="408791" cy="181089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5C9029F-BCBC-0C02-3FCE-287C82B66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8352" y="1499186"/>
              <a:ext cx="408791" cy="181089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762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72105-FAC1-4BCD-98A1-296F8F41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533" y="3872752"/>
            <a:ext cx="8390467" cy="2444737"/>
          </a:xfrm>
        </p:spPr>
        <p:txBody>
          <a:bodyPr/>
          <a:lstStyle/>
          <a:p>
            <a:r>
              <a:rPr lang="en-US" sz="2400" dirty="0"/>
              <a:t>Big picture: if you make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more positive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Diffusion and pump flows are unchanged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Drift currents push positive ions out, negative ions in</a:t>
            </a:r>
          </a:p>
          <a:p>
            <a:pPr lvl="1">
              <a:spcBef>
                <a:spcPts val="0"/>
              </a:spcBef>
            </a:pPr>
            <a:endParaRPr lang="en-US" sz="2000" dirty="0"/>
          </a:p>
          <a:p>
            <a:pPr>
              <a:spcBef>
                <a:spcPts val="0"/>
              </a:spcBef>
            </a:pPr>
            <a:r>
              <a:rPr lang="en-US" sz="2400" dirty="0"/>
              <a:t>Negative feedback!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But where exactly do we settle?</a:t>
            </a:r>
          </a:p>
          <a:p>
            <a:pPr lvl="1">
              <a:spcBef>
                <a:spcPts val="0"/>
              </a:spcBef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F19C6-A25B-4766-A8E5-4F7BC4B3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934" y="6458712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7EFF95-B53D-4D0C-85A1-5D8F3F0BC11C}"/>
              </a:ext>
            </a:extLst>
          </p:cNvPr>
          <p:cNvSpPr/>
          <p:nvPr/>
        </p:nvSpPr>
        <p:spPr>
          <a:xfrm>
            <a:off x="1600202" y="1354663"/>
            <a:ext cx="2904066" cy="217593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13C23-6A5C-403B-A27C-1B302DE01E49}"/>
              </a:ext>
            </a:extLst>
          </p:cNvPr>
          <p:cNvSpPr txBox="1"/>
          <p:nvPr/>
        </p:nvSpPr>
        <p:spPr>
          <a:xfrm>
            <a:off x="2573865" y="2001565"/>
            <a:ext cx="1413934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[K</a:t>
            </a:r>
            <a:r>
              <a:rPr lang="en-US" sz="1600" baseline="30000" dirty="0"/>
              <a:t>+</a:t>
            </a:r>
            <a:r>
              <a:rPr lang="en-US" sz="1600" dirty="0"/>
              <a:t>]=400mM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[Na</a:t>
            </a:r>
            <a:r>
              <a:rPr lang="en-US" sz="1600" baseline="30000" dirty="0"/>
              <a:t>+</a:t>
            </a:r>
            <a:r>
              <a:rPr lang="en-US" sz="1600" dirty="0"/>
              <a:t>]=50mM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[Cl</a:t>
            </a:r>
            <a:r>
              <a:rPr lang="en-US" sz="1600" baseline="30000" dirty="0"/>
              <a:t>-</a:t>
            </a:r>
            <a:r>
              <a:rPr lang="en-US" sz="1600" dirty="0"/>
              <a:t>]=9mM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other</a:t>
            </a:r>
            <a:r>
              <a:rPr lang="en-US" sz="1600" baseline="30000" dirty="0"/>
              <a:t>-</a:t>
            </a:r>
            <a:r>
              <a:rPr lang="en-US" sz="1600" dirty="0"/>
              <a:t>=408mM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0E69F-98DF-4169-82C2-F1C1A62334A5}"/>
              </a:ext>
            </a:extLst>
          </p:cNvPr>
          <p:cNvSpPr txBox="1"/>
          <p:nvPr/>
        </p:nvSpPr>
        <p:spPr>
          <a:xfrm>
            <a:off x="177800" y="2006596"/>
            <a:ext cx="15000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[K</a:t>
            </a:r>
            <a:r>
              <a:rPr lang="en-US" sz="1600" baseline="30000" dirty="0"/>
              <a:t>+</a:t>
            </a:r>
            <a:r>
              <a:rPr lang="en-US" sz="1600" dirty="0"/>
              <a:t>]=5mM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[Na</a:t>
            </a:r>
            <a:r>
              <a:rPr lang="en-US" sz="1600" baseline="30000" dirty="0"/>
              <a:t>+</a:t>
            </a:r>
            <a:r>
              <a:rPr lang="en-US" sz="1600" dirty="0"/>
              <a:t>]=145mM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[Cl</a:t>
            </a:r>
            <a:r>
              <a:rPr lang="en-US" sz="1600" baseline="30000" dirty="0"/>
              <a:t>-</a:t>
            </a:r>
            <a:r>
              <a:rPr lang="en-US" sz="1600" dirty="0"/>
              <a:t>]=140mM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25237-0DC5-4787-A41A-8329596AFF2E}"/>
              </a:ext>
            </a:extLst>
          </p:cNvPr>
          <p:cNvSpPr txBox="1"/>
          <p:nvPr/>
        </p:nvSpPr>
        <p:spPr>
          <a:xfrm>
            <a:off x="5638795" y="2336601"/>
            <a:ext cx="34036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Blue arrows = diffusion</a:t>
            </a:r>
          </a:p>
          <a:p>
            <a:r>
              <a:rPr lang="en-US" sz="2000" dirty="0">
                <a:solidFill>
                  <a:srgbClr val="008000"/>
                </a:solidFill>
              </a:rPr>
              <a:t>Green arrows = electric current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Red arrows = ion pump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3080D3-7CD1-4F4C-B9C9-767B22EC466A}"/>
              </a:ext>
            </a:extLst>
          </p:cNvPr>
          <p:cNvCxnSpPr/>
          <p:nvPr/>
        </p:nvCxnSpPr>
        <p:spPr>
          <a:xfrm>
            <a:off x="1507063" y="2446862"/>
            <a:ext cx="101600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977738-05C0-4F23-BD25-F0EE48484BC3}"/>
              </a:ext>
            </a:extLst>
          </p:cNvPr>
          <p:cNvCxnSpPr>
            <a:cxnSpLocks/>
          </p:cNvCxnSpPr>
          <p:nvPr/>
        </p:nvCxnSpPr>
        <p:spPr>
          <a:xfrm>
            <a:off x="1422401" y="2793995"/>
            <a:ext cx="11599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D9D5CA-C7A6-4FD9-850E-7C289EDB92C2}"/>
              </a:ext>
            </a:extLst>
          </p:cNvPr>
          <p:cNvCxnSpPr/>
          <p:nvPr/>
        </p:nvCxnSpPr>
        <p:spPr>
          <a:xfrm flipH="1">
            <a:off x="1346200" y="2142064"/>
            <a:ext cx="125306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5884058-8F5C-427E-BA16-509CDA8517C0}"/>
              </a:ext>
            </a:extLst>
          </p:cNvPr>
          <p:cNvSpPr txBox="1"/>
          <p:nvPr/>
        </p:nvSpPr>
        <p:spPr>
          <a:xfrm>
            <a:off x="3479799" y="1363128"/>
            <a:ext cx="152125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---  +++ 70mV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476105-791E-4396-B967-148BEE80A9CC}"/>
              </a:ext>
            </a:extLst>
          </p:cNvPr>
          <p:cNvCxnSpPr>
            <a:cxnSpLocks/>
          </p:cNvCxnSpPr>
          <p:nvPr/>
        </p:nvCxnSpPr>
        <p:spPr>
          <a:xfrm>
            <a:off x="1346200" y="2235195"/>
            <a:ext cx="1253067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83B4E5-DAE9-476A-AF7B-140698842F5E}"/>
              </a:ext>
            </a:extLst>
          </p:cNvPr>
          <p:cNvCxnSpPr/>
          <p:nvPr/>
        </p:nvCxnSpPr>
        <p:spPr>
          <a:xfrm>
            <a:off x="1507063" y="2548460"/>
            <a:ext cx="1016000" cy="0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9AA68F-4EF9-4A05-9E8C-2835C816B765}"/>
              </a:ext>
            </a:extLst>
          </p:cNvPr>
          <p:cNvCxnSpPr>
            <a:cxnSpLocks/>
          </p:cNvCxnSpPr>
          <p:nvPr/>
        </p:nvCxnSpPr>
        <p:spPr>
          <a:xfrm flipH="1">
            <a:off x="1422401" y="2895593"/>
            <a:ext cx="1159932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2F8A28-DCF0-46E6-A7F0-4B53EDC134D6}"/>
              </a:ext>
            </a:extLst>
          </p:cNvPr>
          <p:cNvCxnSpPr>
            <a:cxnSpLocks/>
          </p:cNvCxnSpPr>
          <p:nvPr/>
        </p:nvCxnSpPr>
        <p:spPr>
          <a:xfrm>
            <a:off x="4199469" y="2125127"/>
            <a:ext cx="7789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4642E7-7EA9-4630-8C9D-DBC3448C4810}"/>
              </a:ext>
            </a:extLst>
          </p:cNvPr>
          <p:cNvCxnSpPr>
            <a:cxnSpLocks/>
          </p:cNvCxnSpPr>
          <p:nvPr/>
        </p:nvCxnSpPr>
        <p:spPr>
          <a:xfrm flipH="1">
            <a:off x="4199469" y="2277527"/>
            <a:ext cx="7789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E1F6009-18F5-4C5E-8A76-88484ACA4BA6}"/>
              </a:ext>
            </a:extLst>
          </p:cNvPr>
          <p:cNvSpPr txBox="1"/>
          <p:nvPr/>
        </p:nvSpPr>
        <p:spPr>
          <a:xfrm>
            <a:off x="4453464" y="1837260"/>
            <a:ext cx="643467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  <a:spcBef>
                <a:spcPts val="0"/>
              </a:spcBef>
            </a:pPr>
            <a:r>
              <a:rPr lang="en-US" sz="1600" dirty="0"/>
              <a:t>3Na</a:t>
            </a:r>
            <a:r>
              <a:rPr lang="en-US" sz="1600" baseline="30000" dirty="0"/>
              <a:t>+</a:t>
            </a:r>
            <a:endParaRPr lang="en-US" sz="1600" dirty="0"/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sz="1600" dirty="0"/>
              <a:t>2K</a:t>
            </a:r>
            <a:r>
              <a:rPr lang="en-US" sz="1600" baseline="30000" dirty="0"/>
              <a:t>+</a:t>
            </a:r>
            <a:endParaRPr lang="en-US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5A2966-D9FB-47B9-8D97-97D6338D1909}"/>
              </a:ext>
            </a:extLst>
          </p:cNvPr>
          <p:cNvCxnSpPr>
            <a:cxnSpLocks/>
          </p:cNvCxnSpPr>
          <p:nvPr/>
        </p:nvCxnSpPr>
        <p:spPr>
          <a:xfrm>
            <a:off x="1346200" y="2232147"/>
            <a:ext cx="788760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D0C9E0-47C4-4586-A338-00EB16FC4A22}"/>
              </a:ext>
            </a:extLst>
          </p:cNvPr>
          <p:cNvCxnSpPr>
            <a:cxnSpLocks/>
          </p:cNvCxnSpPr>
          <p:nvPr/>
        </p:nvCxnSpPr>
        <p:spPr>
          <a:xfrm>
            <a:off x="1507063" y="2549139"/>
            <a:ext cx="788760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5E0AD0C-10E7-441B-B921-AC627F778EE8}"/>
              </a:ext>
            </a:extLst>
          </p:cNvPr>
          <p:cNvCxnSpPr>
            <a:cxnSpLocks/>
          </p:cNvCxnSpPr>
          <p:nvPr/>
        </p:nvCxnSpPr>
        <p:spPr>
          <a:xfrm flipH="1">
            <a:off x="1600202" y="2901689"/>
            <a:ext cx="982132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74C1A03D-AED0-DCE7-276D-E35C5F8F4D06}"/>
              </a:ext>
            </a:extLst>
          </p:cNvPr>
          <p:cNvGrpSpPr/>
          <p:nvPr/>
        </p:nvGrpSpPr>
        <p:grpSpPr>
          <a:xfrm>
            <a:off x="4362275" y="1373886"/>
            <a:ext cx="209725" cy="307777"/>
            <a:chOff x="4362275" y="448729"/>
            <a:chExt cx="209725" cy="30777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30DE1D6-1880-3125-F4AA-E954EAFD8A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2275" y="448729"/>
              <a:ext cx="209725" cy="307777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1AB435B-B692-17CD-AB36-6C78888F76F2}"/>
                </a:ext>
              </a:extLst>
            </p:cNvPr>
            <p:cNvCxnSpPr>
              <a:cxnSpLocks/>
            </p:cNvCxnSpPr>
            <p:nvPr/>
          </p:nvCxnSpPr>
          <p:spPr>
            <a:xfrm>
              <a:off x="4362275" y="448729"/>
              <a:ext cx="209725" cy="307777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70E8839-33A2-E5B0-92C4-93FD2A4DEB59}"/>
              </a:ext>
            </a:extLst>
          </p:cNvPr>
          <p:cNvSpPr txBox="1"/>
          <p:nvPr/>
        </p:nvSpPr>
        <p:spPr>
          <a:xfrm>
            <a:off x="4530054" y="1089487"/>
            <a:ext cx="939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50mV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EBCDF-0473-1F50-22C5-115F4652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Negative feedback</a:t>
            </a:r>
          </a:p>
        </p:txBody>
      </p:sp>
    </p:spTree>
    <p:extLst>
      <p:ext uri="{BB962C8B-B14F-4D97-AF65-F5344CB8AC3E}">
        <p14:creationId xmlns:p14="http://schemas.microsoft.com/office/powerpoint/2010/main" val="10379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A9E18-B068-447F-B2BD-DEB86DB09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404" y="3819191"/>
            <a:ext cx="8329108" cy="2414874"/>
          </a:xfrm>
        </p:spPr>
        <p:txBody>
          <a:bodyPr/>
          <a:lstStyle/>
          <a:p>
            <a:r>
              <a:rPr lang="en-US" sz="2400" i="1" dirty="0"/>
              <a:t>X</a:t>
            </a:r>
            <a:r>
              <a:rPr lang="en-US" sz="2400" dirty="0"/>
              <a:t> axis is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endParaRPr lang="en-US" sz="2400" i="1" dirty="0"/>
          </a:p>
          <a:p>
            <a:r>
              <a:rPr lang="en-US" sz="2400" i="1" dirty="0"/>
              <a:t>Y </a:t>
            </a:r>
            <a:r>
              <a:rPr lang="en-US" sz="2400" dirty="0"/>
              <a:t>axis is flux into the cell shortly after changing </a:t>
            </a:r>
            <a:r>
              <a:rPr lang="en-US" sz="2400" i="1" dirty="0"/>
              <a:t>G</a:t>
            </a:r>
            <a:r>
              <a:rPr lang="en-US" sz="2400" baseline="-25000" dirty="0"/>
              <a:t>Na</a:t>
            </a:r>
            <a:endParaRPr lang="en-US" sz="2400" dirty="0"/>
          </a:p>
          <a:p>
            <a:r>
              <a:rPr lang="en-US" sz="2400" dirty="0"/>
              <a:t>Pump drives 3 Na</a:t>
            </a:r>
            <a:r>
              <a:rPr lang="en-US" sz="2400" baseline="30000" dirty="0"/>
              <a:t>+</a:t>
            </a:r>
            <a:r>
              <a:rPr lang="en-US" sz="2400" dirty="0"/>
              <a:t> out and 2 K</a:t>
            </a:r>
            <a:r>
              <a:rPr lang="en-US" sz="2400" baseline="30000" dirty="0"/>
              <a:t>+</a:t>
            </a:r>
            <a:r>
              <a:rPr lang="en-US" sz="2400" dirty="0"/>
              <a:t> in, so it pulls net + charge out</a:t>
            </a:r>
          </a:p>
          <a:p>
            <a:r>
              <a:rPr lang="en-US" sz="2400" dirty="0"/>
              <a:t>Diffusion is independent of voltage (typically faster than pump)</a:t>
            </a:r>
          </a:p>
          <a:p>
            <a:r>
              <a:rPr lang="en-US" sz="2400" dirty="0"/>
              <a:t>Drift follows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endParaRPr lang="en-US" sz="2400" dirty="0"/>
          </a:p>
          <a:p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5DD2A-214A-47DB-B547-D43262F2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C63FBB-1C3B-46FD-B27C-A7E15EF115F5}"/>
              </a:ext>
            </a:extLst>
          </p:cNvPr>
          <p:cNvCxnSpPr/>
          <p:nvPr/>
        </p:nvCxnSpPr>
        <p:spPr>
          <a:xfrm>
            <a:off x="502920" y="1527048"/>
            <a:ext cx="5980176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B35B05-A6A4-41B1-A6A0-85CAC022D4FF}"/>
              </a:ext>
            </a:extLst>
          </p:cNvPr>
          <p:cNvCxnSpPr>
            <a:cxnSpLocks/>
          </p:cNvCxnSpPr>
          <p:nvPr/>
        </p:nvCxnSpPr>
        <p:spPr>
          <a:xfrm flipV="1">
            <a:off x="3591622" y="115824"/>
            <a:ext cx="0" cy="2638393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A2A245-D79F-4E2B-A3E7-42F472971D08}"/>
              </a:ext>
            </a:extLst>
          </p:cNvPr>
          <p:cNvSpPr txBox="1"/>
          <p:nvPr/>
        </p:nvSpPr>
        <p:spPr>
          <a:xfrm>
            <a:off x="5070930" y="487279"/>
            <a:ext cx="1227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diffusion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923140-9800-4F04-A971-17627C816C1C}"/>
              </a:ext>
            </a:extLst>
          </p:cNvPr>
          <p:cNvSpPr txBox="1"/>
          <p:nvPr/>
        </p:nvSpPr>
        <p:spPr>
          <a:xfrm>
            <a:off x="6033064" y="1734751"/>
            <a:ext cx="1213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pump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898794-B929-4847-AAB4-59B4C2226859}"/>
              </a:ext>
            </a:extLst>
          </p:cNvPr>
          <p:cNvSpPr txBox="1"/>
          <p:nvPr/>
        </p:nvSpPr>
        <p:spPr>
          <a:xfrm>
            <a:off x="939639" y="245071"/>
            <a:ext cx="913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drift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F0FE8-3788-46CD-9C4F-7E62F21FB63D}"/>
              </a:ext>
            </a:extLst>
          </p:cNvPr>
          <p:cNvSpPr txBox="1"/>
          <p:nvPr/>
        </p:nvSpPr>
        <p:spPr>
          <a:xfrm>
            <a:off x="3643984" y="70987"/>
            <a:ext cx="26718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charge (C/m</a:t>
            </a:r>
            <a:r>
              <a:rPr lang="en-US" sz="2000" baseline="30000" dirty="0"/>
              <a:t>2</a:t>
            </a:r>
            <a:r>
              <a:rPr lang="en-US" sz="2000" dirty="0"/>
              <a:t>s) into cell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34D026-3FC3-487D-B68F-6542428F45EF}"/>
              </a:ext>
            </a:extLst>
          </p:cNvPr>
          <p:cNvSpPr txBox="1"/>
          <p:nvPr/>
        </p:nvSpPr>
        <p:spPr>
          <a:xfrm>
            <a:off x="1039532" y="2886984"/>
            <a:ext cx="132221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Net + charge into cell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90F601-5E8E-4138-A86B-6CAC8C039791}"/>
              </a:ext>
            </a:extLst>
          </p:cNvPr>
          <p:cNvCxnSpPr>
            <a:cxnSpLocks/>
          </p:cNvCxnSpPr>
          <p:nvPr/>
        </p:nvCxnSpPr>
        <p:spPr>
          <a:xfrm flipV="1">
            <a:off x="945413" y="2586080"/>
            <a:ext cx="0" cy="84335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2AF47EB-C75E-4C55-8D91-B823D6365DA9}"/>
              </a:ext>
            </a:extLst>
          </p:cNvPr>
          <p:cNvSpPr txBox="1"/>
          <p:nvPr/>
        </p:nvSpPr>
        <p:spPr>
          <a:xfrm>
            <a:off x="5419547" y="3039383"/>
            <a:ext cx="167001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Net - charge into cell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F6F148-4DCA-4A5D-A825-2728B6B09268}"/>
              </a:ext>
            </a:extLst>
          </p:cNvPr>
          <p:cNvCxnSpPr/>
          <p:nvPr/>
        </p:nvCxnSpPr>
        <p:spPr>
          <a:xfrm flipV="1">
            <a:off x="6777480" y="2754217"/>
            <a:ext cx="0" cy="84335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BE585C0-04BF-AE64-7AF6-05157CEB0431}"/>
              </a:ext>
            </a:extLst>
          </p:cNvPr>
          <p:cNvSpPr txBox="1"/>
          <p:nvPr/>
        </p:nvSpPr>
        <p:spPr>
          <a:xfrm>
            <a:off x="1524719" y="1452277"/>
            <a:ext cx="4495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  <a:r>
              <a:rPr lang="en-US" sz="2000" dirty="0"/>
              <a:t>70mV</a:t>
            </a:r>
            <a:r>
              <a:rPr lang="en-US" dirty="0"/>
              <a:t>                 </a:t>
            </a:r>
            <a:r>
              <a:rPr lang="en-US" sz="2000" dirty="0"/>
              <a:t>0 </a:t>
            </a:r>
            <a:r>
              <a:rPr lang="en-US" dirty="0"/>
              <a:t>                 </a:t>
            </a:r>
            <a:r>
              <a:rPr lang="en-US" sz="2000" dirty="0"/>
              <a:t>70mV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6B0BF-CDE6-0C0D-9F3E-4BC8EE255C27}"/>
              </a:ext>
            </a:extLst>
          </p:cNvPr>
          <p:cNvSpPr txBox="1"/>
          <p:nvPr/>
        </p:nvSpPr>
        <p:spPr>
          <a:xfrm>
            <a:off x="6379281" y="1285413"/>
            <a:ext cx="1033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D0B08F-4C59-26A7-066B-1C5BB8B0D2CA}"/>
              </a:ext>
            </a:extLst>
          </p:cNvPr>
          <p:cNvCxnSpPr>
            <a:cxnSpLocks/>
          </p:cNvCxnSpPr>
          <p:nvPr/>
        </p:nvCxnSpPr>
        <p:spPr>
          <a:xfrm>
            <a:off x="1039532" y="577887"/>
            <a:ext cx="5123524" cy="18736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05309E-D8C4-2750-7A9B-EC66E6B28219}"/>
              </a:ext>
            </a:extLst>
          </p:cNvPr>
          <p:cNvCxnSpPr/>
          <p:nvPr/>
        </p:nvCxnSpPr>
        <p:spPr>
          <a:xfrm>
            <a:off x="978408" y="819502"/>
            <a:ext cx="4892040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4BC034-07BE-F23D-5CBB-325F934CDE46}"/>
              </a:ext>
            </a:extLst>
          </p:cNvPr>
          <p:cNvCxnSpPr>
            <a:cxnSpLocks/>
          </p:cNvCxnSpPr>
          <p:nvPr/>
        </p:nvCxnSpPr>
        <p:spPr>
          <a:xfrm>
            <a:off x="978408" y="1974558"/>
            <a:ext cx="5041388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21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  <p:bldP spid="24" grpId="0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A9E18-B068-447F-B2BD-DEB86DB09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736377"/>
            <a:ext cx="7982712" cy="2254120"/>
          </a:xfrm>
        </p:spPr>
        <p:txBody>
          <a:bodyPr/>
          <a:lstStyle/>
          <a:p>
            <a:r>
              <a:rPr lang="en-US" sz="2000" dirty="0"/>
              <a:t>Combine diffusion and pump</a:t>
            </a:r>
          </a:p>
          <a:p>
            <a:r>
              <a:rPr lang="en-US" sz="2000" b="1" i="1" dirty="0"/>
              <a:t>There is some increased </a:t>
            </a:r>
            <a:r>
              <a:rPr lang="en-US" sz="2000" b="1" i="1" dirty="0" err="1"/>
              <a:t>V</a:t>
            </a:r>
            <a:r>
              <a:rPr lang="en-US" sz="2000" b="1" baseline="-25000" dirty="0" err="1"/>
              <a:t>mem</a:t>
            </a:r>
            <a:r>
              <a:rPr lang="en-US" sz="2000" b="1" i="1" dirty="0"/>
              <a:t> with net zero charge into the cell!</a:t>
            </a:r>
          </a:p>
          <a:p>
            <a:r>
              <a:rPr lang="en-US" sz="2000" dirty="0"/>
              <a:t>Can you argue that this is where we settle to?</a:t>
            </a:r>
          </a:p>
          <a:p>
            <a:r>
              <a:rPr lang="en-US" sz="2000" dirty="0"/>
              <a:t>Can you argue that we settle here pretty quickly?</a:t>
            </a:r>
          </a:p>
          <a:p>
            <a:r>
              <a:rPr lang="en-US" sz="2000" dirty="0"/>
              <a:t>Is this a new steady state?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Are drift + diffusion + pump balanced for each ion?</a:t>
            </a:r>
          </a:p>
          <a:p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5DD2A-214A-47DB-B547-D43262F2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C63FBB-1C3B-46FD-B27C-A7E15EF115F5}"/>
              </a:ext>
            </a:extLst>
          </p:cNvPr>
          <p:cNvCxnSpPr/>
          <p:nvPr/>
        </p:nvCxnSpPr>
        <p:spPr>
          <a:xfrm>
            <a:off x="502920" y="1527048"/>
            <a:ext cx="5980176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C79DEF-76F4-433B-9C38-B32612CE5BC0}"/>
              </a:ext>
            </a:extLst>
          </p:cNvPr>
          <p:cNvCxnSpPr/>
          <p:nvPr/>
        </p:nvCxnSpPr>
        <p:spPr>
          <a:xfrm>
            <a:off x="978408" y="1289107"/>
            <a:ext cx="4892040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923140-9800-4F04-A971-17627C816C1C}"/>
              </a:ext>
            </a:extLst>
          </p:cNvPr>
          <p:cNvSpPr txBox="1"/>
          <p:nvPr/>
        </p:nvSpPr>
        <p:spPr>
          <a:xfrm>
            <a:off x="4806695" y="965168"/>
            <a:ext cx="2399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pump + diffusion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34D026-3FC3-487D-B68F-6542428F45EF}"/>
              </a:ext>
            </a:extLst>
          </p:cNvPr>
          <p:cNvSpPr txBox="1"/>
          <p:nvPr/>
        </p:nvSpPr>
        <p:spPr>
          <a:xfrm>
            <a:off x="1039532" y="2886984"/>
            <a:ext cx="132221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Net + charge into cell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90F601-5E8E-4138-A86B-6CAC8C039791}"/>
              </a:ext>
            </a:extLst>
          </p:cNvPr>
          <p:cNvCxnSpPr>
            <a:cxnSpLocks/>
          </p:cNvCxnSpPr>
          <p:nvPr/>
        </p:nvCxnSpPr>
        <p:spPr>
          <a:xfrm flipV="1">
            <a:off x="934647" y="2586080"/>
            <a:ext cx="0" cy="84335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2AF47EB-C75E-4C55-8D91-B823D6365DA9}"/>
              </a:ext>
            </a:extLst>
          </p:cNvPr>
          <p:cNvSpPr txBox="1"/>
          <p:nvPr/>
        </p:nvSpPr>
        <p:spPr>
          <a:xfrm>
            <a:off x="5419547" y="3039383"/>
            <a:ext cx="167001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Net - charge into cell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F6F148-4DCA-4A5D-A825-2728B6B09268}"/>
              </a:ext>
            </a:extLst>
          </p:cNvPr>
          <p:cNvCxnSpPr/>
          <p:nvPr/>
        </p:nvCxnSpPr>
        <p:spPr>
          <a:xfrm flipV="1">
            <a:off x="6777477" y="2754217"/>
            <a:ext cx="0" cy="84335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F1704F-0C74-43C8-AA30-75FF25D21695}"/>
              </a:ext>
            </a:extLst>
          </p:cNvPr>
          <p:cNvCxnSpPr>
            <a:cxnSpLocks/>
          </p:cNvCxnSpPr>
          <p:nvPr/>
        </p:nvCxnSpPr>
        <p:spPr>
          <a:xfrm flipV="1">
            <a:off x="4268164" y="2189375"/>
            <a:ext cx="0" cy="84335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8C8D028-351C-488E-B827-A4F2E51A57E2}"/>
              </a:ext>
            </a:extLst>
          </p:cNvPr>
          <p:cNvSpPr txBox="1"/>
          <p:nvPr/>
        </p:nvSpPr>
        <p:spPr>
          <a:xfrm>
            <a:off x="3710092" y="2925152"/>
            <a:ext cx="132221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Net 0 charge into cell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57D33B-8371-4E1B-AFF1-6D933FA363ED}"/>
              </a:ext>
            </a:extLst>
          </p:cNvPr>
          <p:cNvCxnSpPr>
            <a:cxnSpLocks/>
          </p:cNvCxnSpPr>
          <p:nvPr/>
        </p:nvCxnSpPr>
        <p:spPr>
          <a:xfrm flipV="1">
            <a:off x="4269864" y="1494774"/>
            <a:ext cx="0" cy="274320"/>
          </a:xfrm>
          <a:prstGeom prst="straightConnector1">
            <a:avLst/>
          </a:prstGeom>
          <a:ln w="28575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9CD309-5C10-B4BD-5532-287A0762EA00}"/>
              </a:ext>
            </a:extLst>
          </p:cNvPr>
          <p:cNvCxnSpPr/>
          <p:nvPr/>
        </p:nvCxnSpPr>
        <p:spPr>
          <a:xfrm>
            <a:off x="978408" y="819502"/>
            <a:ext cx="4892040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1505F0-8875-36B6-B76A-DCE4CC87DAB4}"/>
              </a:ext>
            </a:extLst>
          </p:cNvPr>
          <p:cNvSpPr txBox="1"/>
          <p:nvPr/>
        </p:nvSpPr>
        <p:spPr>
          <a:xfrm>
            <a:off x="6379281" y="1285413"/>
            <a:ext cx="1033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E34F1E-EE8C-431D-8847-FB3C8A04A7A3}"/>
              </a:ext>
            </a:extLst>
          </p:cNvPr>
          <p:cNvCxnSpPr>
            <a:cxnSpLocks/>
          </p:cNvCxnSpPr>
          <p:nvPr/>
        </p:nvCxnSpPr>
        <p:spPr>
          <a:xfrm flipV="1">
            <a:off x="3591622" y="115824"/>
            <a:ext cx="0" cy="2638393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9A365E7-3996-E358-275C-268BB717B778}"/>
              </a:ext>
            </a:extLst>
          </p:cNvPr>
          <p:cNvSpPr txBox="1"/>
          <p:nvPr/>
        </p:nvSpPr>
        <p:spPr>
          <a:xfrm>
            <a:off x="3643984" y="70987"/>
            <a:ext cx="26718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/>
              <a:t>charge (C/m</a:t>
            </a:r>
            <a:r>
              <a:rPr lang="en-US" sz="2000" baseline="30000" dirty="0"/>
              <a:t>2</a:t>
            </a:r>
            <a:r>
              <a:rPr lang="en-US" sz="2000" dirty="0"/>
              <a:t>s) into cell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0081D2-BDF5-4712-7AE1-A62A4EC27D65}"/>
              </a:ext>
            </a:extLst>
          </p:cNvPr>
          <p:cNvCxnSpPr>
            <a:cxnSpLocks/>
          </p:cNvCxnSpPr>
          <p:nvPr/>
        </p:nvCxnSpPr>
        <p:spPr>
          <a:xfrm>
            <a:off x="1039532" y="577887"/>
            <a:ext cx="5123524" cy="18736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C1769B-23C4-7AF7-5260-D6AF7D7F95C8}"/>
              </a:ext>
            </a:extLst>
          </p:cNvPr>
          <p:cNvSpPr txBox="1"/>
          <p:nvPr/>
        </p:nvSpPr>
        <p:spPr>
          <a:xfrm>
            <a:off x="1524719" y="1452277"/>
            <a:ext cx="4495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  <a:r>
              <a:rPr lang="en-US" sz="2000" dirty="0"/>
              <a:t>70mV</a:t>
            </a:r>
            <a:r>
              <a:rPr lang="en-US" dirty="0"/>
              <a:t>                 </a:t>
            </a:r>
            <a:r>
              <a:rPr lang="en-US" sz="2000" dirty="0"/>
              <a:t>0 </a:t>
            </a:r>
            <a:r>
              <a:rPr lang="en-US" dirty="0"/>
              <a:t>                 </a:t>
            </a:r>
            <a:r>
              <a:rPr lang="en-US" sz="2000" dirty="0"/>
              <a:t>70mV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DF5DC80-6A40-D85F-860F-38E51EE24F2B}"/>
              </a:ext>
            </a:extLst>
          </p:cNvPr>
          <p:cNvCxnSpPr>
            <a:cxnSpLocks/>
          </p:cNvCxnSpPr>
          <p:nvPr/>
        </p:nvCxnSpPr>
        <p:spPr>
          <a:xfrm flipV="1">
            <a:off x="4269864" y="1249136"/>
            <a:ext cx="0" cy="274320"/>
          </a:xfrm>
          <a:prstGeom prst="straightConnector1">
            <a:avLst/>
          </a:prstGeom>
          <a:ln w="28575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180F7AF-A352-7B51-B5C6-D9F5DA4539B9}"/>
              </a:ext>
            </a:extLst>
          </p:cNvPr>
          <p:cNvSpPr txBox="1"/>
          <p:nvPr/>
        </p:nvSpPr>
        <p:spPr>
          <a:xfrm>
            <a:off x="939639" y="245071"/>
            <a:ext cx="913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drift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F9489B-3916-275D-7B07-6975510D1B8F}"/>
              </a:ext>
            </a:extLst>
          </p:cNvPr>
          <p:cNvSpPr txBox="1"/>
          <p:nvPr/>
        </p:nvSpPr>
        <p:spPr>
          <a:xfrm>
            <a:off x="5070930" y="487279"/>
            <a:ext cx="1227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diffusion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0324571-67A5-CF53-304F-7A3AF571AC3E}"/>
              </a:ext>
            </a:extLst>
          </p:cNvPr>
          <p:cNvCxnSpPr>
            <a:cxnSpLocks/>
          </p:cNvCxnSpPr>
          <p:nvPr/>
        </p:nvCxnSpPr>
        <p:spPr>
          <a:xfrm>
            <a:off x="978408" y="1974558"/>
            <a:ext cx="5041388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F856B6A-C045-54D0-2D88-70D58BF8D14C}"/>
              </a:ext>
            </a:extLst>
          </p:cNvPr>
          <p:cNvSpPr txBox="1"/>
          <p:nvPr/>
        </p:nvSpPr>
        <p:spPr>
          <a:xfrm>
            <a:off x="6033064" y="1734751"/>
            <a:ext cx="1213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pump</a:t>
            </a:r>
          </a:p>
        </p:txBody>
      </p:sp>
    </p:spTree>
    <p:extLst>
      <p:ext uri="{BB962C8B-B14F-4D97-AF65-F5344CB8AC3E}">
        <p14:creationId xmlns:p14="http://schemas.microsoft.com/office/powerpoint/2010/main" val="157759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8" grpId="0"/>
      <p:bldP spid="35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CA59A-2795-47F9-896D-0D6324B0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ions are balanced?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D1D6F-EDDD-4456-B3DF-B148D7B38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G</a:t>
            </a:r>
            <a:r>
              <a:rPr lang="en-US" baseline="-25000" dirty="0"/>
              <a:t>K</a:t>
            </a:r>
            <a:r>
              <a:rPr lang="en-US" dirty="0"/>
              <a:t>, </a:t>
            </a:r>
            <a:r>
              <a:rPr lang="en-US" i="1" dirty="0" err="1"/>
              <a:t>G</a:t>
            </a:r>
            <a:r>
              <a:rPr lang="en-US" baseline="-25000" dirty="0" err="1"/>
              <a:t>Cl</a:t>
            </a:r>
            <a:r>
              <a:rPr lang="en-US" dirty="0"/>
              <a:t> unchanged</a:t>
            </a:r>
            <a:endParaRPr lang="en-US" i="1" dirty="0"/>
          </a:p>
          <a:p>
            <a:pPr lvl="1">
              <a:spcBef>
                <a:spcPts val="0"/>
              </a:spcBef>
            </a:pP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changed </a:t>
            </a:r>
            <a:r>
              <a:rPr lang="en-US" dirty="0">
                <a:sym typeface="Symbol" panose="05050102010706020507" pitchFamily="18" charset="2"/>
              </a:rPr>
              <a:t> </a:t>
            </a:r>
            <a:r>
              <a:rPr lang="en-US" dirty="0"/>
              <a:t>K, Cl</a:t>
            </a:r>
            <a:r>
              <a:rPr lang="en-US" i="1" dirty="0"/>
              <a:t> </a:t>
            </a:r>
            <a:r>
              <a:rPr lang="en-US" dirty="0"/>
              <a:t>drift changed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K, Cl diffusion rates are unchanged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K pump rates are unchanged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Are K, Cl drift + diffusion + pump balanced?</a:t>
            </a:r>
          </a:p>
          <a:p>
            <a:pPr lvl="1">
              <a:spcBef>
                <a:spcPts val="0"/>
              </a:spcBef>
            </a:pPr>
            <a:r>
              <a:rPr lang="en-US" dirty="0"/>
              <a:t>No!</a:t>
            </a:r>
          </a:p>
          <a:p>
            <a:r>
              <a:rPr lang="en-US" i="1" dirty="0"/>
              <a:t>G</a:t>
            </a:r>
            <a:r>
              <a:rPr lang="en-US" baseline="-25000" dirty="0"/>
              <a:t>Na</a:t>
            </a:r>
            <a:r>
              <a:rPr lang="en-US" dirty="0"/>
              <a:t> was increased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Drift and diffusion in through ion channels increased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then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changed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drift reduced a bit</a:t>
            </a:r>
          </a:p>
          <a:p>
            <a:pPr lvl="1">
              <a:spcBef>
                <a:spcPts val="0"/>
              </a:spcBef>
            </a:pPr>
            <a:r>
              <a:rPr lang="en-US" dirty="0"/>
              <a:t>Does Na have drift + diffusion + pump = 0?</a:t>
            </a:r>
          </a:p>
          <a:p>
            <a:pPr lvl="1">
              <a:spcBef>
                <a:spcPts val="0"/>
              </a:spcBef>
            </a:pPr>
            <a:r>
              <a:rPr lang="en-US" dirty="0"/>
              <a:t>In fact, no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pPr lvl="1">
              <a:spcBef>
                <a:spcPts val="0"/>
              </a:spcBef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92B84-6A7C-43F3-AF7D-469AB533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0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CFDB-DA0A-4864-B029-009F111F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We’re not at steady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72105-FAC1-4BCD-98A1-296F8F41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7" y="3527332"/>
            <a:ext cx="8636003" cy="2873467"/>
          </a:xfrm>
        </p:spPr>
        <p:txBody>
          <a:bodyPr/>
          <a:lstStyle/>
          <a:p>
            <a:r>
              <a:rPr lang="en-US" sz="2000" dirty="0"/>
              <a:t>Cl</a:t>
            </a:r>
            <a:r>
              <a:rPr lang="en-US" sz="2000" baseline="30000" dirty="0"/>
              <a:t>-</a:t>
            </a:r>
            <a:r>
              <a:rPr lang="en-US" sz="2000" dirty="0"/>
              <a:t> has no pump. It’s only balanced when drift=diffusion. Are they balanced?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Cl</a:t>
            </a:r>
            <a:r>
              <a:rPr lang="en-US" sz="1800" baseline="30000" dirty="0"/>
              <a:t>-</a:t>
            </a:r>
            <a:r>
              <a:rPr lang="en-US" sz="1800" dirty="0"/>
              <a:t> diffusion is unchanged, but drift is changed…</a:t>
            </a:r>
          </a:p>
          <a:p>
            <a:r>
              <a:rPr lang="en-US" sz="2000" dirty="0"/>
              <a:t>Cl</a:t>
            </a:r>
            <a:r>
              <a:rPr lang="en-US" sz="2000" baseline="30000" dirty="0"/>
              <a:t>-</a:t>
            </a:r>
            <a:r>
              <a:rPr lang="en-US" sz="2000" dirty="0"/>
              <a:t> is </a:t>
            </a:r>
            <a:r>
              <a:rPr lang="en-US" sz="2000" i="1" dirty="0"/>
              <a:t>not</a:t>
            </a:r>
            <a:r>
              <a:rPr lang="en-US" sz="2000" dirty="0"/>
              <a:t> balanced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Ditto for K</a:t>
            </a:r>
            <a:r>
              <a:rPr lang="en-US" sz="1800" baseline="30000" dirty="0"/>
              <a:t>+</a:t>
            </a:r>
            <a:r>
              <a:rPr lang="en-US" sz="1800" dirty="0"/>
              <a:t>, in fact</a:t>
            </a:r>
          </a:p>
          <a:p>
            <a:r>
              <a:rPr lang="en-US" sz="2000" dirty="0"/>
              <a:t>What must change for Cl</a:t>
            </a:r>
            <a:r>
              <a:rPr lang="en-US" sz="2000" baseline="30000" dirty="0"/>
              <a:t>-</a:t>
            </a:r>
            <a:r>
              <a:rPr lang="en-US" sz="2000" dirty="0"/>
              <a:t> to balance again </a:t>
            </a:r>
            <a:r>
              <a:rPr lang="en-US" sz="2000" b="1" i="1" dirty="0"/>
              <a:t>at this new </a:t>
            </a:r>
            <a:r>
              <a:rPr lang="en-US" sz="2000" b="1" i="1" dirty="0" err="1"/>
              <a:t>V</a:t>
            </a:r>
            <a:r>
              <a:rPr lang="en-US" sz="2000" b="1" baseline="-25000" dirty="0" err="1"/>
              <a:t>mem</a:t>
            </a:r>
            <a:r>
              <a:rPr lang="en-US" sz="2000" dirty="0"/>
              <a:t>?</a:t>
            </a:r>
            <a:endParaRPr lang="en-US" sz="2000" i="1" dirty="0"/>
          </a:p>
          <a:p>
            <a:pPr lvl="1">
              <a:spcBef>
                <a:spcPts val="0"/>
              </a:spcBef>
            </a:pPr>
            <a:r>
              <a:rPr lang="en-US" sz="1800" dirty="0"/>
              <a:t>ICF [Cl] must change enough to make a new diffusion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But that is what takes hours and not </a:t>
            </a:r>
            <a:r>
              <a:rPr lang="en-US" sz="1800" dirty="0" err="1"/>
              <a:t>ms.</a:t>
            </a:r>
            <a:endParaRPr lang="en-US" sz="1800" dirty="0"/>
          </a:p>
          <a:p>
            <a:pPr lvl="1">
              <a:spcBef>
                <a:spcPts val="0"/>
              </a:spcBef>
            </a:pPr>
            <a:r>
              <a:rPr lang="en-US" sz="1800" dirty="0"/>
              <a:t>Remember: unbalanced charge flow changes </a:t>
            </a:r>
            <a:r>
              <a:rPr lang="en-US" sz="1800" i="1" dirty="0" err="1"/>
              <a:t>V</a:t>
            </a:r>
            <a:r>
              <a:rPr lang="en-US" sz="1800" baseline="-25000" dirty="0" err="1"/>
              <a:t>mem</a:t>
            </a:r>
            <a:r>
              <a:rPr lang="en-US" sz="1800" dirty="0"/>
              <a:t> very fast, but [] changes slowly</a:t>
            </a:r>
          </a:p>
          <a:p>
            <a:r>
              <a:rPr lang="en-US" sz="2000" dirty="0"/>
              <a:t>So what’s going on? Why do we think we can compute fast?</a:t>
            </a:r>
          </a:p>
          <a:p>
            <a:pPr lvl="1"/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F19C6-A25B-4766-A8E5-4F7BC4B3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1862" y="6477000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7EFF95-B53D-4D0C-85A1-5D8F3F0BC11C}"/>
              </a:ext>
            </a:extLst>
          </p:cNvPr>
          <p:cNvSpPr/>
          <p:nvPr/>
        </p:nvSpPr>
        <p:spPr>
          <a:xfrm>
            <a:off x="1600202" y="1363134"/>
            <a:ext cx="2904066" cy="217593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13C23-6A5C-403B-A27C-1B302DE01E49}"/>
              </a:ext>
            </a:extLst>
          </p:cNvPr>
          <p:cNvSpPr txBox="1"/>
          <p:nvPr/>
        </p:nvSpPr>
        <p:spPr>
          <a:xfrm>
            <a:off x="2573865" y="2010036"/>
            <a:ext cx="1413934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[K</a:t>
            </a:r>
            <a:r>
              <a:rPr lang="en-US" sz="1600" baseline="30000" dirty="0"/>
              <a:t>+</a:t>
            </a:r>
            <a:r>
              <a:rPr lang="en-US" sz="1600" dirty="0"/>
              <a:t>]=400mM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[Na</a:t>
            </a:r>
            <a:r>
              <a:rPr lang="en-US" sz="1600" baseline="30000" dirty="0"/>
              <a:t>+</a:t>
            </a:r>
            <a:r>
              <a:rPr lang="en-US" sz="1600" dirty="0"/>
              <a:t>]=50mM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[Cl</a:t>
            </a:r>
            <a:r>
              <a:rPr lang="en-US" sz="1600" baseline="30000" dirty="0"/>
              <a:t>-</a:t>
            </a:r>
            <a:r>
              <a:rPr lang="en-US" sz="1600" dirty="0"/>
              <a:t>]=52mM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other</a:t>
            </a:r>
            <a:r>
              <a:rPr lang="en-US" sz="1600" baseline="30000" dirty="0"/>
              <a:t>-</a:t>
            </a:r>
            <a:r>
              <a:rPr lang="en-US" sz="1600" dirty="0"/>
              <a:t>=408mM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0E69F-98DF-4169-82C2-F1C1A62334A5}"/>
              </a:ext>
            </a:extLst>
          </p:cNvPr>
          <p:cNvSpPr txBox="1"/>
          <p:nvPr/>
        </p:nvSpPr>
        <p:spPr>
          <a:xfrm>
            <a:off x="177800" y="2015067"/>
            <a:ext cx="150008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[K</a:t>
            </a:r>
            <a:r>
              <a:rPr lang="en-US" sz="1600" baseline="30000" dirty="0"/>
              <a:t>+</a:t>
            </a:r>
            <a:r>
              <a:rPr lang="en-US" sz="1600" dirty="0"/>
              <a:t>]=20mM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[Na</a:t>
            </a:r>
            <a:r>
              <a:rPr lang="en-US" sz="1600" baseline="30000" dirty="0"/>
              <a:t>+</a:t>
            </a:r>
            <a:r>
              <a:rPr lang="en-US" sz="1600" dirty="0"/>
              <a:t>]=440mM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[Cl</a:t>
            </a:r>
            <a:r>
              <a:rPr lang="en-US" sz="1600" baseline="30000" dirty="0"/>
              <a:t>-</a:t>
            </a:r>
            <a:r>
              <a:rPr lang="en-US" sz="1600" dirty="0"/>
              <a:t>]=560mM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other</a:t>
            </a:r>
            <a:r>
              <a:rPr lang="en-US" sz="1600" baseline="30000" dirty="0"/>
              <a:t>+</a:t>
            </a:r>
            <a:r>
              <a:rPr lang="en-US" sz="1600" dirty="0"/>
              <a:t>=110mM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25237-0DC5-4787-A41A-8329596AFF2E}"/>
              </a:ext>
            </a:extLst>
          </p:cNvPr>
          <p:cNvSpPr txBox="1"/>
          <p:nvPr/>
        </p:nvSpPr>
        <p:spPr>
          <a:xfrm>
            <a:off x="5638795" y="2226734"/>
            <a:ext cx="34036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Blue arrows = diffusion</a:t>
            </a:r>
          </a:p>
          <a:p>
            <a:r>
              <a:rPr lang="en-US" sz="2000" dirty="0">
                <a:solidFill>
                  <a:srgbClr val="008000"/>
                </a:solidFill>
              </a:rPr>
              <a:t>Green arrows = electric current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Red arrows = ion pump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3080D3-7CD1-4F4C-B9C9-767B22EC466A}"/>
              </a:ext>
            </a:extLst>
          </p:cNvPr>
          <p:cNvCxnSpPr/>
          <p:nvPr/>
        </p:nvCxnSpPr>
        <p:spPr>
          <a:xfrm>
            <a:off x="1507067" y="2455333"/>
            <a:ext cx="101600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977738-05C0-4F23-BD25-F0EE48484BC3}"/>
              </a:ext>
            </a:extLst>
          </p:cNvPr>
          <p:cNvCxnSpPr>
            <a:cxnSpLocks/>
          </p:cNvCxnSpPr>
          <p:nvPr/>
        </p:nvCxnSpPr>
        <p:spPr>
          <a:xfrm>
            <a:off x="1422401" y="2802466"/>
            <a:ext cx="11599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D9D5CA-C7A6-4FD9-850E-7C289EDB92C2}"/>
              </a:ext>
            </a:extLst>
          </p:cNvPr>
          <p:cNvCxnSpPr/>
          <p:nvPr/>
        </p:nvCxnSpPr>
        <p:spPr>
          <a:xfrm flipH="1">
            <a:off x="1346200" y="2150535"/>
            <a:ext cx="125306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5884058-8F5C-427E-BA16-509CDA8517C0}"/>
              </a:ext>
            </a:extLst>
          </p:cNvPr>
          <p:cNvSpPr txBox="1"/>
          <p:nvPr/>
        </p:nvSpPr>
        <p:spPr>
          <a:xfrm>
            <a:off x="3479799" y="1371599"/>
            <a:ext cx="15212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---  +++ 50mV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476105-791E-4396-B967-148BEE80A9CC}"/>
              </a:ext>
            </a:extLst>
          </p:cNvPr>
          <p:cNvCxnSpPr>
            <a:cxnSpLocks/>
          </p:cNvCxnSpPr>
          <p:nvPr/>
        </p:nvCxnSpPr>
        <p:spPr>
          <a:xfrm>
            <a:off x="1363128" y="2243666"/>
            <a:ext cx="1253067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83B4E5-DAE9-476A-AF7B-140698842F5E}"/>
              </a:ext>
            </a:extLst>
          </p:cNvPr>
          <p:cNvCxnSpPr/>
          <p:nvPr/>
        </p:nvCxnSpPr>
        <p:spPr>
          <a:xfrm>
            <a:off x="1507063" y="2556931"/>
            <a:ext cx="1016000" cy="0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9AA68F-4EF9-4A05-9E8C-2835C816B765}"/>
              </a:ext>
            </a:extLst>
          </p:cNvPr>
          <p:cNvCxnSpPr>
            <a:cxnSpLocks/>
          </p:cNvCxnSpPr>
          <p:nvPr/>
        </p:nvCxnSpPr>
        <p:spPr>
          <a:xfrm flipH="1">
            <a:off x="1422399" y="2904064"/>
            <a:ext cx="1159932" cy="0"/>
          </a:xfrm>
          <a:prstGeom prst="straightConnector1">
            <a:avLst/>
          </a:prstGeom>
          <a:ln w="381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2F8A28-DCF0-46E6-A7F0-4B53EDC134D6}"/>
              </a:ext>
            </a:extLst>
          </p:cNvPr>
          <p:cNvCxnSpPr>
            <a:cxnSpLocks/>
          </p:cNvCxnSpPr>
          <p:nvPr/>
        </p:nvCxnSpPr>
        <p:spPr>
          <a:xfrm>
            <a:off x="4199469" y="2133598"/>
            <a:ext cx="7789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4642E7-7EA9-4630-8C9D-DBC3448C4810}"/>
              </a:ext>
            </a:extLst>
          </p:cNvPr>
          <p:cNvCxnSpPr>
            <a:cxnSpLocks/>
          </p:cNvCxnSpPr>
          <p:nvPr/>
        </p:nvCxnSpPr>
        <p:spPr>
          <a:xfrm flipH="1">
            <a:off x="4199469" y="2285998"/>
            <a:ext cx="7789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E1F6009-18F5-4C5E-8A76-88484ACA4BA6}"/>
              </a:ext>
            </a:extLst>
          </p:cNvPr>
          <p:cNvSpPr txBox="1"/>
          <p:nvPr/>
        </p:nvSpPr>
        <p:spPr>
          <a:xfrm>
            <a:off x="4453464" y="1845731"/>
            <a:ext cx="643467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  <a:spcBef>
                <a:spcPts val="0"/>
              </a:spcBef>
            </a:pPr>
            <a:r>
              <a:rPr lang="en-US" sz="1600" dirty="0"/>
              <a:t>3Na</a:t>
            </a:r>
            <a:r>
              <a:rPr lang="en-US" sz="1600" baseline="30000" dirty="0"/>
              <a:t>+</a:t>
            </a:r>
            <a:endParaRPr lang="en-US" sz="1600" dirty="0"/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sz="1600" dirty="0"/>
              <a:t>2K</a:t>
            </a:r>
            <a:r>
              <a:rPr lang="en-US" sz="1600" baseline="30000" dirty="0"/>
              <a:t>+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8902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501253-AAA9-4D5D-A68D-112EED262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336" y="2010283"/>
            <a:ext cx="5422398" cy="40667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630D4A-05E0-41E3-AE36-888C79C3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 lab #1 picture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A7E26-A52F-475A-99A8-71DA55A71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627888"/>
          </a:xfrm>
        </p:spPr>
        <p:txBody>
          <a:bodyPr/>
          <a:lstStyle/>
          <a:p>
            <a:r>
              <a:rPr lang="en-US" dirty="0"/>
              <a:t>This time in more detail, from t=0 to t=30: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6C378-E173-4CEB-A8EC-03CF6054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D6296-9453-40E2-8DEC-2F1C2C07D5F2}"/>
              </a:ext>
            </a:extLst>
          </p:cNvPr>
          <p:cNvSpPr txBox="1"/>
          <p:nvPr/>
        </p:nvSpPr>
        <p:spPr>
          <a:xfrm>
            <a:off x="6967728" y="2798064"/>
            <a:ext cx="1517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really fast change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A5F567-046A-426C-A849-ECA8675DDFF7}"/>
              </a:ext>
            </a:extLst>
          </p:cNvPr>
          <p:cNvCxnSpPr/>
          <p:nvPr/>
        </p:nvCxnSpPr>
        <p:spPr>
          <a:xfrm flipH="1">
            <a:off x="2560320" y="3264408"/>
            <a:ext cx="4343400" cy="1197864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22C7D9-354B-4FEB-8293-404CEE53C5D6}"/>
              </a:ext>
            </a:extLst>
          </p:cNvPr>
          <p:cNvSpPr txBox="1"/>
          <p:nvPr/>
        </p:nvSpPr>
        <p:spPr>
          <a:xfrm>
            <a:off x="7110983" y="3846576"/>
            <a:ext cx="1634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really slow change – QSS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E4A489-16A5-4F82-AC39-1FEAA170C2D0}"/>
              </a:ext>
            </a:extLst>
          </p:cNvPr>
          <p:cNvCxnSpPr>
            <a:cxnSpLocks/>
          </p:cNvCxnSpPr>
          <p:nvPr/>
        </p:nvCxnSpPr>
        <p:spPr>
          <a:xfrm flipH="1">
            <a:off x="4507992" y="4312920"/>
            <a:ext cx="2538984" cy="1054608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B08E7E9-4792-CF17-BAA3-2181572D5DC7}"/>
              </a:ext>
            </a:extLst>
          </p:cNvPr>
          <p:cNvSpPr txBox="1"/>
          <p:nvPr/>
        </p:nvSpPr>
        <p:spPr>
          <a:xfrm>
            <a:off x="6757773" y="4881104"/>
            <a:ext cx="1816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no change – SS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D49251A-3175-5BEC-C962-5932AEE4CA42}"/>
              </a:ext>
            </a:extLst>
          </p:cNvPr>
          <p:cNvSpPr/>
          <p:nvPr/>
        </p:nvSpPr>
        <p:spPr>
          <a:xfrm>
            <a:off x="6260951" y="5152913"/>
            <a:ext cx="494851" cy="225911"/>
          </a:xfrm>
          <a:custGeom>
            <a:avLst/>
            <a:gdLst>
              <a:gd name="connsiteX0" fmla="*/ 494851 w 494851"/>
              <a:gd name="connsiteY0" fmla="*/ 0 h 225911"/>
              <a:gd name="connsiteX1" fmla="*/ 96818 w 494851"/>
              <a:gd name="connsiteY1" fmla="*/ 21515 h 225911"/>
              <a:gd name="connsiteX2" fmla="*/ 0 w 494851"/>
              <a:gd name="connsiteY2" fmla="*/ 225911 h 22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851" h="225911">
                <a:moveTo>
                  <a:pt x="494851" y="0"/>
                </a:moveTo>
                <a:lnTo>
                  <a:pt x="96818" y="21515"/>
                </a:lnTo>
                <a:cubicBezTo>
                  <a:pt x="14343" y="59167"/>
                  <a:pt x="7171" y="142539"/>
                  <a:pt x="0" y="225911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7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6FCD-9056-4FE0-9C6D-D55AAB3B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2D16A-F1E4-4B27-B556-3251551DA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few sentences, explain how neurons can operate so fast</a:t>
            </a:r>
          </a:p>
          <a:p>
            <a:r>
              <a:rPr lang="en-US" dirty="0"/>
              <a:t>If a cell is at some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higher or lower than the net-charge-flux-equals-0 voltage, what is the mechanism to quickly fix this?</a:t>
            </a:r>
          </a:p>
          <a:p>
            <a:r>
              <a:rPr lang="en-US" dirty="0"/>
              <a:t>How is this a negative-feedback system?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D65E5-C0BF-4A1D-AF5D-F429E665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046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ECD9-C2CE-00B8-D569-648107C5E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we?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430B-339A-73D8-F8B6-5E752A9A9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know that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When you change an ion-channel conductance, a cell quickly (</a:t>
            </a:r>
            <a:r>
              <a:rPr lang="en-US" dirty="0" err="1"/>
              <a:t>ms</a:t>
            </a:r>
            <a:r>
              <a:rPr lang="en-US" dirty="0"/>
              <a:t>) moves to a new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/>
              <a:t>At that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, the </a:t>
            </a:r>
            <a:r>
              <a:rPr lang="en-US" i="1" dirty="0"/>
              <a:t>net</a:t>
            </a:r>
            <a:r>
              <a:rPr lang="en-US" dirty="0"/>
              <a:t> flux of charge into the cell is zero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flux of each individual ion is nonzero</a:t>
            </a:r>
          </a:p>
          <a:p>
            <a:pPr lvl="1">
              <a:spcBef>
                <a:spcPts val="0"/>
              </a:spcBef>
            </a:pPr>
            <a:r>
              <a:rPr lang="en-US" dirty="0"/>
              <a:t>If we leave the ion-channel conductance unchanged we get a slow slog back to a new steady state</a:t>
            </a:r>
          </a:p>
          <a:p>
            <a:r>
              <a:rPr lang="en-US" dirty="0"/>
              <a:t>How do we predict what the quick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value is?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This is the value our neurons spike to</a:t>
            </a:r>
          </a:p>
          <a:p>
            <a:pPr lvl="1">
              <a:spcBef>
                <a:spcPts val="0"/>
              </a:spcBef>
            </a:pPr>
            <a:r>
              <a:rPr lang="en-US" dirty="0"/>
              <a:t>Does our circuit model predict it?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9A3BC-D808-609C-D607-1EC4097C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6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035190-8F1C-97AF-61B6-22E7E0175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8" y="1020730"/>
            <a:ext cx="4306521" cy="32298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1A7B55-C28D-4FBC-B30A-1D389918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04800"/>
            <a:ext cx="7907053" cy="1143000"/>
          </a:xfrm>
        </p:spPr>
        <p:txBody>
          <a:bodyPr/>
          <a:lstStyle/>
          <a:p>
            <a:r>
              <a:rPr lang="en-US" dirty="0"/>
              <a:t>Which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does KCL compute?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D58CB-9F18-4664-B8EF-D9EE1FA4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7D65DAF4-CB5F-4DEB-B9A0-E39028F54042}"/>
              </a:ext>
            </a:extLst>
          </p:cNvPr>
          <p:cNvSpPr txBox="1">
            <a:spLocks/>
          </p:cNvSpPr>
          <p:nvPr/>
        </p:nvSpPr>
        <p:spPr bwMode="auto">
          <a:xfrm>
            <a:off x="210956" y="4533236"/>
            <a:ext cx="8565136" cy="175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dirty="0"/>
              <a:t>Does KCL compute the QSS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or the SS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?</a:t>
            </a:r>
          </a:p>
          <a:p>
            <a:r>
              <a:rPr lang="en-US" sz="2400" dirty="0"/>
              <a:t>It says the sum of currents into ICF = 0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Even though they’re from different ions!</a:t>
            </a:r>
          </a:p>
          <a:p>
            <a:r>
              <a:rPr lang="en-US" sz="2400" dirty="0"/>
              <a:t>Our equivalent circuit computes QSS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endParaRPr lang="en-US" sz="2400" dirty="0"/>
          </a:p>
          <a:p>
            <a:endParaRPr lang="en-US" sz="24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3C715A8-9C94-4891-90F5-D91AB0B64ED0}"/>
              </a:ext>
            </a:extLst>
          </p:cNvPr>
          <p:cNvCxnSpPr>
            <a:cxnSpLocks/>
          </p:cNvCxnSpPr>
          <p:nvPr/>
        </p:nvCxnSpPr>
        <p:spPr>
          <a:xfrm>
            <a:off x="5082844" y="1573785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EC367E1-EA9E-4130-83C0-20BA7DE289B8}"/>
              </a:ext>
            </a:extLst>
          </p:cNvPr>
          <p:cNvSpPr/>
          <p:nvPr/>
        </p:nvSpPr>
        <p:spPr>
          <a:xfrm>
            <a:off x="4938921" y="1988651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B7F2181-E4D5-4A37-9D1E-823450D73AC0}"/>
              </a:ext>
            </a:extLst>
          </p:cNvPr>
          <p:cNvCxnSpPr>
            <a:cxnSpLocks/>
          </p:cNvCxnSpPr>
          <p:nvPr/>
        </p:nvCxnSpPr>
        <p:spPr>
          <a:xfrm>
            <a:off x="4774522" y="3165514"/>
            <a:ext cx="33055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B2F32A-AE63-4E3B-B9C8-716D72546324}"/>
              </a:ext>
            </a:extLst>
          </p:cNvPr>
          <p:cNvGrpSpPr/>
          <p:nvPr/>
        </p:nvGrpSpPr>
        <p:grpSpPr>
          <a:xfrm>
            <a:off x="5514644" y="2713336"/>
            <a:ext cx="927723" cy="387480"/>
            <a:chOff x="5892800" y="3496733"/>
            <a:chExt cx="853048" cy="355676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9CBB4A1-E728-4A3B-B8F0-D48B7A7B4304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3D8AFEC-7816-47BB-A995-1EE04B6D4202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507CB95-6D6F-46AB-91CE-8939F2CED0E2}"/>
                </a:ext>
              </a:extLst>
            </p:cNvPr>
            <p:cNvSpPr txBox="1"/>
            <p:nvPr/>
          </p:nvSpPr>
          <p:spPr>
            <a:xfrm>
              <a:off x="6215218" y="3598146"/>
              <a:ext cx="530630" cy="2542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77mV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AD19BC4-A29A-4091-B806-DD0D97E48D4A}"/>
              </a:ext>
            </a:extLst>
          </p:cNvPr>
          <p:cNvGrpSpPr/>
          <p:nvPr/>
        </p:nvGrpSpPr>
        <p:grpSpPr>
          <a:xfrm>
            <a:off x="6742316" y="2691382"/>
            <a:ext cx="988654" cy="312676"/>
            <a:chOff x="5892800" y="3496733"/>
            <a:chExt cx="988654" cy="312676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BE49B02-1D31-47AA-A00D-0541DAC87BF6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CDA48B4-6C3C-4A6B-BC3D-0DA178B2DFEC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A68A635-BB5C-4AD9-B1D1-4D8FEBB9657F}"/>
                </a:ext>
              </a:extLst>
            </p:cNvPr>
            <p:cNvSpPr txBox="1"/>
            <p:nvPr/>
          </p:nvSpPr>
          <p:spPr>
            <a:xfrm>
              <a:off x="6227429" y="353241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-89mV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77B4B55-8F97-4069-AF36-4C7469CB1F42}"/>
              </a:ext>
            </a:extLst>
          </p:cNvPr>
          <p:cNvGrpSpPr/>
          <p:nvPr/>
        </p:nvGrpSpPr>
        <p:grpSpPr>
          <a:xfrm>
            <a:off x="7834515" y="2691382"/>
            <a:ext cx="941578" cy="375039"/>
            <a:chOff x="5892800" y="3496733"/>
            <a:chExt cx="941578" cy="37503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99509CA-F0AD-465C-ACE6-7EA8D65FEF0C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DD7D290-ECED-4B17-8666-B10142D04317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0A08B10-B129-4A45-A356-5DB081FC068D}"/>
                </a:ext>
              </a:extLst>
            </p:cNvPr>
            <p:cNvSpPr txBox="1"/>
            <p:nvPr/>
          </p:nvSpPr>
          <p:spPr>
            <a:xfrm>
              <a:off x="6180353" y="3594773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-71mV</a:t>
              </a: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13CC7F-7E77-4CF7-AEF7-BC2A7AB534A3}"/>
              </a:ext>
            </a:extLst>
          </p:cNvPr>
          <p:cNvCxnSpPr>
            <a:cxnSpLocks/>
          </p:cNvCxnSpPr>
          <p:nvPr/>
        </p:nvCxnSpPr>
        <p:spPr>
          <a:xfrm>
            <a:off x="5751719" y="2792983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F72347-766C-4626-B23F-2F65BB1020FA}"/>
              </a:ext>
            </a:extLst>
          </p:cNvPr>
          <p:cNvCxnSpPr>
            <a:cxnSpLocks/>
          </p:cNvCxnSpPr>
          <p:nvPr/>
        </p:nvCxnSpPr>
        <p:spPr>
          <a:xfrm>
            <a:off x="6970921" y="2801444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545E7A8-EF25-444A-AD5C-6C7F1E06E0BD}"/>
              </a:ext>
            </a:extLst>
          </p:cNvPr>
          <p:cNvCxnSpPr>
            <a:cxnSpLocks/>
          </p:cNvCxnSpPr>
          <p:nvPr/>
        </p:nvCxnSpPr>
        <p:spPr>
          <a:xfrm>
            <a:off x="8071586" y="2801449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CC69D34-ADB2-4C61-917F-2ACDB513499C}"/>
              </a:ext>
            </a:extLst>
          </p:cNvPr>
          <p:cNvGrpSpPr/>
          <p:nvPr/>
        </p:nvGrpSpPr>
        <p:grpSpPr>
          <a:xfrm>
            <a:off x="5379184" y="1810850"/>
            <a:ext cx="381000" cy="685800"/>
            <a:chOff x="5562600" y="3429000"/>
            <a:chExt cx="381000" cy="68580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6CDDB89-DBD3-4EED-A669-172704B97FFF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B591CE3-260E-4CDD-960E-AE145A48B65D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B7F0BA0-9723-432E-BD17-EFF4E034D3C2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A47F34A-98CC-4361-A732-42DF2574E3B9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62F351F-F850-44F9-8031-2C97D2A5EDEF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9DBC05E-A97F-4A7F-81F9-6499B6E0B821}"/>
              </a:ext>
            </a:extLst>
          </p:cNvPr>
          <p:cNvCxnSpPr>
            <a:cxnSpLocks/>
          </p:cNvCxnSpPr>
          <p:nvPr/>
        </p:nvCxnSpPr>
        <p:spPr>
          <a:xfrm>
            <a:off x="5751717" y="247971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7F738DE-9A89-4010-B490-6BB8B0C035FA}"/>
              </a:ext>
            </a:extLst>
          </p:cNvPr>
          <p:cNvGrpSpPr/>
          <p:nvPr/>
        </p:nvGrpSpPr>
        <p:grpSpPr>
          <a:xfrm>
            <a:off x="6581450" y="1810848"/>
            <a:ext cx="381000" cy="685800"/>
            <a:chOff x="5562600" y="3429000"/>
            <a:chExt cx="381000" cy="685800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A22CEEE-D1C6-4297-96FA-15C05C312C4D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FA34693-DC65-4DF9-B01B-0D88DC4E899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FCF96C5-BBCE-4D4A-9DE4-0EB49EC4FCE7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F750CBD-FF09-4521-80D1-063639577DB7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330310B-58C3-407A-821D-34E7A1C47D8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3E6391-E218-455F-ABAF-E0913F42BE6A}"/>
              </a:ext>
            </a:extLst>
          </p:cNvPr>
          <p:cNvCxnSpPr>
            <a:cxnSpLocks/>
          </p:cNvCxnSpPr>
          <p:nvPr/>
        </p:nvCxnSpPr>
        <p:spPr>
          <a:xfrm>
            <a:off x="6953983" y="247971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9275C33-6A56-4291-8757-1F9DE48ADB59}"/>
              </a:ext>
            </a:extLst>
          </p:cNvPr>
          <p:cNvGrpSpPr/>
          <p:nvPr/>
        </p:nvGrpSpPr>
        <p:grpSpPr>
          <a:xfrm>
            <a:off x="7699054" y="1810845"/>
            <a:ext cx="381000" cy="685800"/>
            <a:chOff x="5562600" y="3429000"/>
            <a:chExt cx="381000" cy="685800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2FCE7DB-2E74-4E46-94C9-1AAD2BED772A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8688567-28C5-4EF9-9528-F8335E23ED1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B03DB19-D0FC-4B6C-8DF8-82E816AA5B4C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CB76EE8-4971-4D2B-A41F-1701154B5044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425998C-8636-450B-8E9C-A0ACB80B672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F98A6B-CEFE-42E7-A5D3-1C58FCEDD3DE}"/>
              </a:ext>
            </a:extLst>
          </p:cNvPr>
          <p:cNvCxnSpPr>
            <a:cxnSpLocks/>
          </p:cNvCxnSpPr>
          <p:nvPr/>
        </p:nvCxnSpPr>
        <p:spPr>
          <a:xfrm>
            <a:off x="8071587" y="247971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8C74111-405B-4778-B182-9A8C0E7D5600}"/>
              </a:ext>
            </a:extLst>
          </p:cNvPr>
          <p:cNvCxnSpPr>
            <a:cxnSpLocks/>
          </p:cNvCxnSpPr>
          <p:nvPr/>
        </p:nvCxnSpPr>
        <p:spPr>
          <a:xfrm>
            <a:off x="4766055" y="1590715"/>
            <a:ext cx="31107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1F43C6-C52A-4A49-B7F1-EA0EBD8B2B0D}"/>
              </a:ext>
            </a:extLst>
          </p:cNvPr>
          <p:cNvCxnSpPr>
            <a:cxnSpLocks/>
          </p:cNvCxnSpPr>
          <p:nvPr/>
        </p:nvCxnSpPr>
        <p:spPr>
          <a:xfrm>
            <a:off x="5548512" y="159918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9A2430-1F69-475A-8C80-9619ACE3E19C}"/>
              </a:ext>
            </a:extLst>
          </p:cNvPr>
          <p:cNvCxnSpPr>
            <a:cxnSpLocks/>
          </p:cNvCxnSpPr>
          <p:nvPr/>
        </p:nvCxnSpPr>
        <p:spPr>
          <a:xfrm>
            <a:off x="6750778" y="161611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CE4662-4D5A-4896-880E-159196E2C9A0}"/>
              </a:ext>
            </a:extLst>
          </p:cNvPr>
          <p:cNvCxnSpPr>
            <a:cxnSpLocks/>
          </p:cNvCxnSpPr>
          <p:nvPr/>
        </p:nvCxnSpPr>
        <p:spPr>
          <a:xfrm>
            <a:off x="7859911" y="160765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18730E1-264A-4BA9-937E-D6E7A0000BC5}"/>
              </a:ext>
            </a:extLst>
          </p:cNvPr>
          <p:cNvSpPr txBox="1"/>
          <p:nvPr/>
        </p:nvSpPr>
        <p:spPr>
          <a:xfrm>
            <a:off x="4965695" y="2759118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E970DD2-7A85-43A5-A2F2-280986054469}"/>
              </a:ext>
            </a:extLst>
          </p:cNvPr>
          <p:cNvSpPr txBox="1"/>
          <p:nvPr/>
        </p:nvSpPr>
        <p:spPr>
          <a:xfrm>
            <a:off x="6276653" y="1167384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C963C50-8FB7-42D1-B30C-7464E4D42B72}"/>
              </a:ext>
            </a:extLst>
          </p:cNvPr>
          <p:cNvCxnSpPr>
            <a:cxnSpLocks/>
          </p:cNvCxnSpPr>
          <p:nvPr/>
        </p:nvCxnSpPr>
        <p:spPr>
          <a:xfrm>
            <a:off x="5078621" y="2174918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84E3AE8-B1B2-4DAB-AA9A-4F57459F03FF}"/>
              </a:ext>
            </a:extLst>
          </p:cNvPr>
          <p:cNvCxnSpPr>
            <a:cxnSpLocks/>
          </p:cNvCxnSpPr>
          <p:nvPr/>
        </p:nvCxnSpPr>
        <p:spPr>
          <a:xfrm>
            <a:off x="4769578" y="1565316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C1447C6-60AF-4D14-BA31-E91505A3FBEC}"/>
              </a:ext>
            </a:extLst>
          </p:cNvPr>
          <p:cNvSpPr/>
          <p:nvPr/>
        </p:nvSpPr>
        <p:spPr>
          <a:xfrm>
            <a:off x="4625655" y="1980182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2AD86A9-F188-4871-8F69-26D06AEC3134}"/>
              </a:ext>
            </a:extLst>
          </p:cNvPr>
          <p:cNvCxnSpPr>
            <a:cxnSpLocks/>
          </p:cNvCxnSpPr>
          <p:nvPr/>
        </p:nvCxnSpPr>
        <p:spPr>
          <a:xfrm>
            <a:off x="4765355" y="2166449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F8E56D2-F622-4517-B622-3B0CC0554F34}"/>
              </a:ext>
            </a:extLst>
          </p:cNvPr>
          <p:cNvSpPr txBox="1"/>
          <p:nvPr/>
        </p:nvSpPr>
        <p:spPr>
          <a:xfrm>
            <a:off x="4447851" y="1641512"/>
            <a:ext cx="2837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D67F14-3B3A-4D8C-8B2E-4BF633E44D5E}"/>
              </a:ext>
            </a:extLst>
          </p:cNvPr>
          <p:cNvSpPr txBox="1"/>
          <p:nvPr/>
        </p:nvSpPr>
        <p:spPr>
          <a:xfrm>
            <a:off x="5091317" y="163304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K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/>
              <p:nvPr/>
            </p:nvSpPr>
            <p:spPr>
              <a:xfrm>
                <a:off x="5901823" y="2414173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23" y="2414173"/>
                <a:ext cx="479991" cy="406201"/>
              </a:xfrm>
              <a:prstGeom prst="rect">
                <a:avLst/>
              </a:prstGeom>
              <a:blipFill>
                <a:blip r:embed="rId4"/>
                <a:stretch>
                  <a:fillRect r="-11392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/>
              <p:nvPr/>
            </p:nvSpPr>
            <p:spPr>
              <a:xfrm>
                <a:off x="7159097" y="2414974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097" y="2414974"/>
                <a:ext cx="479991" cy="404598"/>
              </a:xfrm>
              <a:prstGeom prst="rect">
                <a:avLst/>
              </a:prstGeom>
              <a:blipFill>
                <a:blip r:embed="rId5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/>
              <p:nvPr/>
            </p:nvSpPr>
            <p:spPr>
              <a:xfrm>
                <a:off x="8296102" y="2479713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02" y="2479713"/>
                <a:ext cx="479991" cy="412870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8020AD0-5C59-4F96-A20A-661C5709BBDB}"/>
              </a:ext>
            </a:extLst>
          </p:cNvPr>
          <p:cNvGrpSpPr/>
          <p:nvPr/>
        </p:nvGrpSpPr>
        <p:grpSpPr>
          <a:xfrm>
            <a:off x="5707055" y="1886688"/>
            <a:ext cx="2529160" cy="324711"/>
            <a:chOff x="4215522" y="1303186"/>
            <a:chExt cx="2529160" cy="32471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05938F2-8C4F-4E97-8898-AB7AA87EF69D}"/>
                </a:ext>
              </a:extLst>
            </p:cNvPr>
            <p:cNvSpPr txBox="1"/>
            <p:nvPr/>
          </p:nvSpPr>
          <p:spPr>
            <a:xfrm>
              <a:off x="42155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9BA480A-F6E3-4217-8242-8DC17A5DEAF9}"/>
                </a:ext>
              </a:extLst>
            </p:cNvPr>
            <p:cNvSpPr txBox="1"/>
            <p:nvPr/>
          </p:nvSpPr>
          <p:spPr>
            <a:xfrm>
              <a:off x="5366989" y="1303186"/>
              <a:ext cx="3206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2.2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BFA385F-C9C2-4D12-A21C-F6487FAB898B}"/>
                </a:ext>
              </a:extLst>
            </p:cNvPr>
            <p:cNvSpPr txBox="1"/>
            <p:nvPr/>
          </p:nvSpPr>
          <p:spPr>
            <a:xfrm>
              <a:off x="65523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85851-FB61-4062-8D61-EE985A68D2A8}"/>
              </a:ext>
            </a:extLst>
          </p:cNvPr>
          <p:cNvSpPr txBox="1"/>
          <p:nvPr/>
        </p:nvSpPr>
        <p:spPr>
          <a:xfrm>
            <a:off x="4335999" y="2371892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3FD931-51A3-6D7A-918B-5EFF37F0248F}"/>
              </a:ext>
            </a:extLst>
          </p:cNvPr>
          <p:cNvCxnSpPr>
            <a:cxnSpLocks/>
          </p:cNvCxnSpPr>
          <p:nvPr/>
        </p:nvCxnSpPr>
        <p:spPr>
          <a:xfrm>
            <a:off x="7936114" y="3429000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70C8269-95A6-8827-9781-54187B70DAD4}"/>
              </a:ext>
            </a:extLst>
          </p:cNvPr>
          <p:cNvCxnSpPr>
            <a:cxnSpLocks/>
          </p:cNvCxnSpPr>
          <p:nvPr/>
        </p:nvCxnSpPr>
        <p:spPr>
          <a:xfrm>
            <a:off x="8006788" y="3478530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8C55357-B1F3-D945-258A-6FE0E54DBB85}"/>
              </a:ext>
            </a:extLst>
          </p:cNvPr>
          <p:cNvCxnSpPr>
            <a:cxnSpLocks/>
          </p:cNvCxnSpPr>
          <p:nvPr/>
        </p:nvCxnSpPr>
        <p:spPr>
          <a:xfrm>
            <a:off x="8042291" y="3531870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BB3ECDA-D854-F2BD-661D-F2559964F68B}"/>
              </a:ext>
            </a:extLst>
          </p:cNvPr>
          <p:cNvSpPr/>
          <p:nvPr/>
        </p:nvSpPr>
        <p:spPr>
          <a:xfrm>
            <a:off x="796066" y="3725724"/>
            <a:ext cx="91440" cy="914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7E31D1-F54A-9D35-4C89-55183BF240A6}"/>
              </a:ext>
            </a:extLst>
          </p:cNvPr>
          <p:cNvSpPr/>
          <p:nvPr/>
        </p:nvSpPr>
        <p:spPr>
          <a:xfrm>
            <a:off x="3713176" y="3684486"/>
            <a:ext cx="91440" cy="914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0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7B55-C28D-4FBC-B30A-1D389918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D58CB-9F18-4664-B8EF-D9EE1FA4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ontent Placeholder 2">
                <a:extLst>
                  <a:ext uri="{FF2B5EF4-FFF2-40B4-BE49-F238E27FC236}">
                    <a16:creationId xmlns:a16="http://schemas.microsoft.com/office/drawing/2014/main" id="{7D65DAF4-CB5F-4DEB-B9A0-E39028F5404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10956" y="3165437"/>
                <a:ext cx="5279205" cy="20335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400" dirty="0"/>
                  <a:t>Units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i="1" dirty="0"/>
                  <a:t>G</a:t>
                </a:r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𝑚𝑜𝑙𝑒𝑠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2000" dirty="0"/>
                  <a:t> per Volt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i="1" dirty="0" err="1"/>
                  <a:t>I</a:t>
                </a:r>
                <a:r>
                  <a:rPr lang="en-US" sz="2000" baseline="-25000" dirty="0" err="1"/>
                  <a:t>pump</a:t>
                </a:r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𝑚𝑜𝑙𝑒𝑠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2000" dirty="0"/>
                  <a:t> </a:t>
                </a:r>
                <a:endParaRPr lang="en-US" sz="2000" i="1" dirty="0"/>
              </a:p>
              <a:p>
                <a:r>
                  <a:rPr lang="en-US" sz="2400" dirty="0"/>
                  <a:t>Note the 3:2 ratio of pump currents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4" name="Content Placeholder 2">
                <a:extLst>
                  <a:ext uri="{FF2B5EF4-FFF2-40B4-BE49-F238E27FC236}">
                    <a16:creationId xmlns:a16="http://schemas.microsoft.com/office/drawing/2014/main" id="{7D65DAF4-CB5F-4DEB-B9A0-E39028F54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956" y="3165437"/>
                <a:ext cx="5279205" cy="2033553"/>
              </a:xfrm>
              <a:prstGeom prst="rect">
                <a:avLst/>
              </a:prstGeom>
              <a:blipFill>
                <a:blip r:embed="rId3"/>
                <a:stretch>
                  <a:fillRect l="-1617" t="-2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3C715A8-9C94-4891-90F5-D91AB0B64ED0}"/>
              </a:ext>
            </a:extLst>
          </p:cNvPr>
          <p:cNvCxnSpPr>
            <a:cxnSpLocks/>
          </p:cNvCxnSpPr>
          <p:nvPr/>
        </p:nvCxnSpPr>
        <p:spPr>
          <a:xfrm>
            <a:off x="5082844" y="1573785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EC367E1-EA9E-4130-83C0-20BA7DE289B8}"/>
              </a:ext>
            </a:extLst>
          </p:cNvPr>
          <p:cNvSpPr/>
          <p:nvPr/>
        </p:nvSpPr>
        <p:spPr>
          <a:xfrm>
            <a:off x="4938921" y="1988651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B7F2181-E4D5-4A37-9D1E-823450D73AC0}"/>
              </a:ext>
            </a:extLst>
          </p:cNvPr>
          <p:cNvCxnSpPr>
            <a:cxnSpLocks/>
          </p:cNvCxnSpPr>
          <p:nvPr/>
        </p:nvCxnSpPr>
        <p:spPr>
          <a:xfrm>
            <a:off x="4774522" y="3165514"/>
            <a:ext cx="33055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B2F32A-AE63-4E3B-B9C8-716D72546324}"/>
              </a:ext>
            </a:extLst>
          </p:cNvPr>
          <p:cNvGrpSpPr/>
          <p:nvPr/>
        </p:nvGrpSpPr>
        <p:grpSpPr>
          <a:xfrm>
            <a:off x="5514644" y="2713336"/>
            <a:ext cx="927723" cy="387480"/>
            <a:chOff x="5892800" y="3496733"/>
            <a:chExt cx="853048" cy="355676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9CBB4A1-E728-4A3B-B8F0-D48B7A7B4304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3D8AFEC-7816-47BB-A995-1EE04B6D4202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507CB95-6D6F-46AB-91CE-8939F2CED0E2}"/>
                </a:ext>
              </a:extLst>
            </p:cNvPr>
            <p:cNvSpPr txBox="1"/>
            <p:nvPr/>
          </p:nvSpPr>
          <p:spPr>
            <a:xfrm>
              <a:off x="6215218" y="3598146"/>
              <a:ext cx="530630" cy="2542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77mV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AD19BC4-A29A-4091-B806-DD0D97E48D4A}"/>
              </a:ext>
            </a:extLst>
          </p:cNvPr>
          <p:cNvGrpSpPr/>
          <p:nvPr/>
        </p:nvGrpSpPr>
        <p:grpSpPr>
          <a:xfrm>
            <a:off x="6742316" y="2691382"/>
            <a:ext cx="988654" cy="312676"/>
            <a:chOff x="5892800" y="3496733"/>
            <a:chExt cx="988654" cy="312676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BE49B02-1D31-47AA-A00D-0541DAC87BF6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CDA48B4-6C3C-4A6B-BC3D-0DA178B2DFEC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A68A635-BB5C-4AD9-B1D1-4D8FEBB9657F}"/>
                </a:ext>
              </a:extLst>
            </p:cNvPr>
            <p:cNvSpPr txBox="1"/>
            <p:nvPr/>
          </p:nvSpPr>
          <p:spPr>
            <a:xfrm>
              <a:off x="6227429" y="353241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-89mV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77B4B55-8F97-4069-AF36-4C7469CB1F42}"/>
              </a:ext>
            </a:extLst>
          </p:cNvPr>
          <p:cNvGrpSpPr/>
          <p:nvPr/>
        </p:nvGrpSpPr>
        <p:grpSpPr>
          <a:xfrm>
            <a:off x="7834515" y="2691382"/>
            <a:ext cx="941578" cy="375039"/>
            <a:chOff x="5892800" y="3496733"/>
            <a:chExt cx="941578" cy="37503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99509CA-F0AD-465C-ACE6-7EA8D65FEF0C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DD7D290-ECED-4B17-8666-B10142D04317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0A08B10-B129-4A45-A356-5DB081FC068D}"/>
                </a:ext>
              </a:extLst>
            </p:cNvPr>
            <p:cNvSpPr txBox="1"/>
            <p:nvPr/>
          </p:nvSpPr>
          <p:spPr>
            <a:xfrm>
              <a:off x="6180353" y="3594773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-71mV</a:t>
              </a: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13CC7F-7E77-4CF7-AEF7-BC2A7AB534A3}"/>
              </a:ext>
            </a:extLst>
          </p:cNvPr>
          <p:cNvCxnSpPr>
            <a:cxnSpLocks/>
          </p:cNvCxnSpPr>
          <p:nvPr/>
        </p:nvCxnSpPr>
        <p:spPr>
          <a:xfrm>
            <a:off x="5751719" y="2792983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F72347-766C-4626-B23F-2F65BB1020FA}"/>
              </a:ext>
            </a:extLst>
          </p:cNvPr>
          <p:cNvCxnSpPr>
            <a:cxnSpLocks/>
          </p:cNvCxnSpPr>
          <p:nvPr/>
        </p:nvCxnSpPr>
        <p:spPr>
          <a:xfrm>
            <a:off x="6970921" y="2801444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545E7A8-EF25-444A-AD5C-6C7F1E06E0BD}"/>
              </a:ext>
            </a:extLst>
          </p:cNvPr>
          <p:cNvCxnSpPr>
            <a:cxnSpLocks/>
          </p:cNvCxnSpPr>
          <p:nvPr/>
        </p:nvCxnSpPr>
        <p:spPr>
          <a:xfrm>
            <a:off x="8071586" y="2801449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CC69D34-ADB2-4C61-917F-2ACDB513499C}"/>
              </a:ext>
            </a:extLst>
          </p:cNvPr>
          <p:cNvGrpSpPr/>
          <p:nvPr/>
        </p:nvGrpSpPr>
        <p:grpSpPr>
          <a:xfrm>
            <a:off x="5379184" y="1810850"/>
            <a:ext cx="381000" cy="685800"/>
            <a:chOff x="5562600" y="3429000"/>
            <a:chExt cx="381000" cy="68580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6CDDB89-DBD3-4EED-A669-172704B97FFF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B591CE3-260E-4CDD-960E-AE145A48B65D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B7F0BA0-9723-432E-BD17-EFF4E034D3C2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A47F34A-98CC-4361-A732-42DF2574E3B9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62F351F-F850-44F9-8031-2C97D2A5EDEF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9DBC05E-A97F-4A7F-81F9-6499B6E0B821}"/>
              </a:ext>
            </a:extLst>
          </p:cNvPr>
          <p:cNvCxnSpPr>
            <a:cxnSpLocks/>
          </p:cNvCxnSpPr>
          <p:nvPr/>
        </p:nvCxnSpPr>
        <p:spPr>
          <a:xfrm>
            <a:off x="5751717" y="247971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7F738DE-9A89-4010-B490-6BB8B0C035FA}"/>
              </a:ext>
            </a:extLst>
          </p:cNvPr>
          <p:cNvGrpSpPr/>
          <p:nvPr/>
        </p:nvGrpSpPr>
        <p:grpSpPr>
          <a:xfrm>
            <a:off x="6581450" y="1810848"/>
            <a:ext cx="381000" cy="685800"/>
            <a:chOff x="5562600" y="3429000"/>
            <a:chExt cx="381000" cy="685800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A22CEEE-D1C6-4297-96FA-15C05C312C4D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FA34693-DC65-4DF9-B01B-0D88DC4E899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FCF96C5-BBCE-4D4A-9DE4-0EB49EC4FCE7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F750CBD-FF09-4521-80D1-063639577DB7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330310B-58C3-407A-821D-34E7A1C47D8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3E6391-E218-455F-ABAF-E0913F42BE6A}"/>
              </a:ext>
            </a:extLst>
          </p:cNvPr>
          <p:cNvCxnSpPr>
            <a:cxnSpLocks/>
          </p:cNvCxnSpPr>
          <p:nvPr/>
        </p:nvCxnSpPr>
        <p:spPr>
          <a:xfrm>
            <a:off x="6953983" y="247971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9275C33-6A56-4291-8757-1F9DE48ADB59}"/>
              </a:ext>
            </a:extLst>
          </p:cNvPr>
          <p:cNvGrpSpPr/>
          <p:nvPr/>
        </p:nvGrpSpPr>
        <p:grpSpPr>
          <a:xfrm>
            <a:off x="7699054" y="1810845"/>
            <a:ext cx="381000" cy="685800"/>
            <a:chOff x="5562600" y="3429000"/>
            <a:chExt cx="381000" cy="685800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2FCE7DB-2E74-4E46-94C9-1AAD2BED772A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8688567-28C5-4EF9-9528-F8335E23ED1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B03DB19-D0FC-4B6C-8DF8-82E816AA5B4C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CB76EE8-4971-4D2B-A41F-1701154B5044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425998C-8636-450B-8E9C-A0ACB80B672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F98A6B-CEFE-42E7-A5D3-1C58FCEDD3DE}"/>
              </a:ext>
            </a:extLst>
          </p:cNvPr>
          <p:cNvCxnSpPr>
            <a:cxnSpLocks/>
          </p:cNvCxnSpPr>
          <p:nvPr/>
        </p:nvCxnSpPr>
        <p:spPr>
          <a:xfrm>
            <a:off x="8071587" y="247971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8C74111-405B-4778-B182-9A8C0E7D5600}"/>
              </a:ext>
            </a:extLst>
          </p:cNvPr>
          <p:cNvCxnSpPr>
            <a:cxnSpLocks/>
          </p:cNvCxnSpPr>
          <p:nvPr/>
        </p:nvCxnSpPr>
        <p:spPr>
          <a:xfrm>
            <a:off x="4766055" y="1590715"/>
            <a:ext cx="31107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1F43C6-C52A-4A49-B7F1-EA0EBD8B2B0D}"/>
              </a:ext>
            </a:extLst>
          </p:cNvPr>
          <p:cNvCxnSpPr>
            <a:cxnSpLocks/>
          </p:cNvCxnSpPr>
          <p:nvPr/>
        </p:nvCxnSpPr>
        <p:spPr>
          <a:xfrm>
            <a:off x="5548512" y="159918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9A2430-1F69-475A-8C80-9619ACE3E19C}"/>
              </a:ext>
            </a:extLst>
          </p:cNvPr>
          <p:cNvCxnSpPr>
            <a:cxnSpLocks/>
          </p:cNvCxnSpPr>
          <p:nvPr/>
        </p:nvCxnSpPr>
        <p:spPr>
          <a:xfrm>
            <a:off x="6750778" y="161611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CE4662-4D5A-4896-880E-159196E2C9A0}"/>
              </a:ext>
            </a:extLst>
          </p:cNvPr>
          <p:cNvCxnSpPr>
            <a:cxnSpLocks/>
          </p:cNvCxnSpPr>
          <p:nvPr/>
        </p:nvCxnSpPr>
        <p:spPr>
          <a:xfrm>
            <a:off x="7859911" y="160765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18730E1-264A-4BA9-937E-D6E7A0000BC5}"/>
              </a:ext>
            </a:extLst>
          </p:cNvPr>
          <p:cNvSpPr txBox="1"/>
          <p:nvPr/>
        </p:nvSpPr>
        <p:spPr>
          <a:xfrm>
            <a:off x="4965695" y="2759118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E970DD2-7A85-43A5-A2F2-280986054469}"/>
              </a:ext>
            </a:extLst>
          </p:cNvPr>
          <p:cNvSpPr txBox="1"/>
          <p:nvPr/>
        </p:nvSpPr>
        <p:spPr>
          <a:xfrm>
            <a:off x="6276653" y="1167384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C963C50-8FB7-42D1-B30C-7464E4D42B72}"/>
              </a:ext>
            </a:extLst>
          </p:cNvPr>
          <p:cNvCxnSpPr>
            <a:cxnSpLocks/>
          </p:cNvCxnSpPr>
          <p:nvPr/>
        </p:nvCxnSpPr>
        <p:spPr>
          <a:xfrm>
            <a:off x="5078621" y="2174918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84E3AE8-B1B2-4DAB-AA9A-4F57459F03FF}"/>
              </a:ext>
            </a:extLst>
          </p:cNvPr>
          <p:cNvCxnSpPr>
            <a:cxnSpLocks/>
          </p:cNvCxnSpPr>
          <p:nvPr/>
        </p:nvCxnSpPr>
        <p:spPr>
          <a:xfrm>
            <a:off x="4769578" y="1565316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C1447C6-60AF-4D14-BA31-E91505A3FBEC}"/>
              </a:ext>
            </a:extLst>
          </p:cNvPr>
          <p:cNvSpPr/>
          <p:nvPr/>
        </p:nvSpPr>
        <p:spPr>
          <a:xfrm>
            <a:off x="4625655" y="1980182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2AD86A9-F188-4871-8F69-26D06AEC3134}"/>
              </a:ext>
            </a:extLst>
          </p:cNvPr>
          <p:cNvCxnSpPr>
            <a:cxnSpLocks/>
          </p:cNvCxnSpPr>
          <p:nvPr/>
        </p:nvCxnSpPr>
        <p:spPr>
          <a:xfrm>
            <a:off x="4765355" y="2166449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F8E56D2-F622-4517-B622-3B0CC0554F34}"/>
              </a:ext>
            </a:extLst>
          </p:cNvPr>
          <p:cNvSpPr txBox="1"/>
          <p:nvPr/>
        </p:nvSpPr>
        <p:spPr>
          <a:xfrm>
            <a:off x="4447851" y="1641512"/>
            <a:ext cx="2837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D67F14-3B3A-4D8C-8B2E-4BF633E44D5E}"/>
              </a:ext>
            </a:extLst>
          </p:cNvPr>
          <p:cNvSpPr txBox="1"/>
          <p:nvPr/>
        </p:nvSpPr>
        <p:spPr>
          <a:xfrm>
            <a:off x="5091317" y="163304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K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/>
              <p:nvPr/>
            </p:nvSpPr>
            <p:spPr>
              <a:xfrm>
                <a:off x="5901823" y="2414173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23" y="2414173"/>
                <a:ext cx="479991" cy="406201"/>
              </a:xfrm>
              <a:prstGeom prst="rect">
                <a:avLst/>
              </a:prstGeom>
              <a:blipFill>
                <a:blip r:embed="rId4"/>
                <a:stretch>
                  <a:fillRect r="-11392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/>
              <p:nvPr/>
            </p:nvSpPr>
            <p:spPr>
              <a:xfrm>
                <a:off x="7159097" y="2414974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097" y="2414974"/>
                <a:ext cx="479991" cy="404598"/>
              </a:xfrm>
              <a:prstGeom prst="rect">
                <a:avLst/>
              </a:prstGeom>
              <a:blipFill>
                <a:blip r:embed="rId5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/>
              <p:nvPr/>
            </p:nvSpPr>
            <p:spPr>
              <a:xfrm>
                <a:off x="8296102" y="2479713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02" y="2479713"/>
                <a:ext cx="479991" cy="412870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8020AD0-5C59-4F96-A20A-661C5709BBDB}"/>
              </a:ext>
            </a:extLst>
          </p:cNvPr>
          <p:cNvGrpSpPr/>
          <p:nvPr/>
        </p:nvGrpSpPr>
        <p:grpSpPr>
          <a:xfrm>
            <a:off x="5707055" y="1886688"/>
            <a:ext cx="2529160" cy="324711"/>
            <a:chOff x="4215522" y="1303186"/>
            <a:chExt cx="2529160" cy="32471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05938F2-8C4F-4E97-8898-AB7AA87EF69D}"/>
                </a:ext>
              </a:extLst>
            </p:cNvPr>
            <p:cNvSpPr txBox="1"/>
            <p:nvPr/>
          </p:nvSpPr>
          <p:spPr>
            <a:xfrm>
              <a:off x="42155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9BA480A-F6E3-4217-8242-8DC17A5DEAF9}"/>
                </a:ext>
              </a:extLst>
            </p:cNvPr>
            <p:cNvSpPr txBox="1"/>
            <p:nvPr/>
          </p:nvSpPr>
          <p:spPr>
            <a:xfrm>
              <a:off x="5366989" y="1303186"/>
              <a:ext cx="3206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2.2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BFA385F-C9C2-4D12-A21C-F6487FAB898B}"/>
                </a:ext>
              </a:extLst>
            </p:cNvPr>
            <p:cNvSpPr txBox="1"/>
            <p:nvPr/>
          </p:nvSpPr>
          <p:spPr>
            <a:xfrm>
              <a:off x="65523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85851-FB61-4062-8D61-EE985A68D2A8}"/>
              </a:ext>
            </a:extLst>
          </p:cNvPr>
          <p:cNvSpPr txBox="1"/>
          <p:nvPr/>
        </p:nvSpPr>
        <p:spPr>
          <a:xfrm>
            <a:off x="4335999" y="2371892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3FD931-51A3-6D7A-918B-5EFF37F0248F}"/>
              </a:ext>
            </a:extLst>
          </p:cNvPr>
          <p:cNvCxnSpPr>
            <a:cxnSpLocks/>
          </p:cNvCxnSpPr>
          <p:nvPr/>
        </p:nvCxnSpPr>
        <p:spPr>
          <a:xfrm>
            <a:off x="7936114" y="3429000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70C8269-95A6-8827-9781-54187B70DAD4}"/>
              </a:ext>
            </a:extLst>
          </p:cNvPr>
          <p:cNvCxnSpPr>
            <a:cxnSpLocks/>
          </p:cNvCxnSpPr>
          <p:nvPr/>
        </p:nvCxnSpPr>
        <p:spPr>
          <a:xfrm>
            <a:off x="8006788" y="3478530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8C55357-B1F3-D945-258A-6FE0E54DBB85}"/>
              </a:ext>
            </a:extLst>
          </p:cNvPr>
          <p:cNvCxnSpPr>
            <a:cxnSpLocks/>
          </p:cNvCxnSpPr>
          <p:nvPr/>
        </p:nvCxnSpPr>
        <p:spPr>
          <a:xfrm>
            <a:off x="8042291" y="3531870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032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6362FE-F993-1054-697E-4C7810C13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3" y="428907"/>
            <a:ext cx="3466588" cy="2599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1A7B55-C28D-4FBC-B30A-1D389918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SS values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D58CB-9F18-4664-B8EF-D9EE1FA4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6160" y="6443606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7D65DAF4-CB5F-4DEB-B9A0-E39028F54042}"/>
              </a:ext>
            </a:extLst>
          </p:cNvPr>
          <p:cNvSpPr txBox="1">
            <a:spLocks/>
          </p:cNvSpPr>
          <p:nvPr/>
        </p:nvSpPr>
        <p:spPr bwMode="auto">
          <a:xfrm>
            <a:off x="108216" y="3094860"/>
            <a:ext cx="6354011" cy="3619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dirty="0"/>
              <a:t>Compute the current for each ion</a:t>
            </a:r>
          </a:p>
          <a:p>
            <a:r>
              <a:rPr lang="en-US" sz="2400" dirty="0"/>
              <a:t>Na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ion channel = (77 - -71) * .4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60 entering the cell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 = 60 leaving the cell</a:t>
            </a:r>
          </a:p>
          <a:p>
            <a:r>
              <a:rPr lang="en-US" sz="2400" dirty="0"/>
              <a:t>Cl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Voltage drop across resistor = 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Current = ?</a:t>
            </a:r>
          </a:p>
          <a:p>
            <a:r>
              <a:rPr lang="en-US" sz="2400" dirty="0"/>
              <a:t>K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ion channel = 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 = ?</a:t>
            </a:r>
          </a:p>
          <a:p>
            <a:endParaRPr lang="en-US" sz="2000" dirty="0"/>
          </a:p>
          <a:p>
            <a:endParaRPr lang="en-US" sz="24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3C715A8-9C94-4891-90F5-D91AB0B64ED0}"/>
              </a:ext>
            </a:extLst>
          </p:cNvPr>
          <p:cNvCxnSpPr>
            <a:cxnSpLocks/>
          </p:cNvCxnSpPr>
          <p:nvPr/>
        </p:nvCxnSpPr>
        <p:spPr>
          <a:xfrm>
            <a:off x="5082844" y="1563027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EC367E1-EA9E-4130-83C0-20BA7DE289B8}"/>
              </a:ext>
            </a:extLst>
          </p:cNvPr>
          <p:cNvSpPr/>
          <p:nvPr/>
        </p:nvSpPr>
        <p:spPr>
          <a:xfrm>
            <a:off x="4938921" y="1977893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B7F2181-E4D5-4A37-9D1E-823450D73AC0}"/>
              </a:ext>
            </a:extLst>
          </p:cNvPr>
          <p:cNvCxnSpPr>
            <a:cxnSpLocks/>
          </p:cNvCxnSpPr>
          <p:nvPr/>
        </p:nvCxnSpPr>
        <p:spPr>
          <a:xfrm>
            <a:off x="4774522" y="3154756"/>
            <a:ext cx="33055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B2F32A-AE63-4E3B-B9C8-716D72546324}"/>
              </a:ext>
            </a:extLst>
          </p:cNvPr>
          <p:cNvGrpSpPr/>
          <p:nvPr/>
        </p:nvGrpSpPr>
        <p:grpSpPr>
          <a:xfrm>
            <a:off x="5514644" y="2702578"/>
            <a:ext cx="927723" cy="387480"/>
            <a:chOff x="5892800" y="3496733"/>
            <a:chExt cx="853048" cy="355676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9CBB4A1-E728-4A3B-B8F0-D48B7A7B4304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3D8AFEC-7816-47BB-A995-1EE04B6D4202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507CB95-6D6F-46AB-91CE-8939F2CED0E2}"/>
                </a:ext>
              </a:extLst>
            </p:cNvPr>
            <p:cNvSpPr txBox="1"/>
            <p:nvPr/>
          </p:nvSpPr>
          <p:spPr>
            <a:xfrm>
              <a:off x="6215218" y="3598146"/>
              <a:ext cx="530630" cy="2542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77mV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AD19BC4-A29A-4091-B806-DD0D97E48D4A}"/>
              </a:ext>
            </a:extLst>
          </p:cNvPr>
          <p:cNvGrpSpPr/>
          <p:nvPr/>
        </p:nvGrpSpPr>
        <p:grpSpPr>
          <a:xfrm>
            <a:off x="6742316" y="2680624"/>
            <a:ext cx="988654" cy="312676"/>
            <a:chOff x="5892800" y="3496733"/>
            <a:chExt cx="988654" cy="312676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BE49B02-1D31-47AA-A00D-0541DAC87BF6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CDA48B4-6C3C-4A6B-BC3D-0DA178B2DFEC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A68A635-BB5C-4AD9-B1D1-4D8FEBB9657F}"/>
                </a:ext>
              </a:extLst>
            </p:cNvPr>
            <p:cNvSpPr txBox="1"/>
            <p:nvPr/>
          </p:nvSpPr>
          <p:spPr>
            <a:xfrm>
              <a:off x="6227429" y="353241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-89mV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77B4B55-8F97-4069-AF36-4C7469CB1F42}"/>
              </a:ext>
            </a:extLst>
          </p:cNvPr>
          <p:cNvGrpSpPr/>
          <p:nvPr/>
        </p:nvGrpSpPr>
        <p:grpSpPr>
          <a:xfrm>
            <a:off x="7834515" y="2680624"/>
            <a:ext cx="941578" cy="375039"/>
            <a:chOff x="5892800" y="3496733"/>
            <a:chExt cx="941578" cy="37503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99509CA-F0AD-465C-ACE6-7EA8D65FEF0C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DD7D290-ECED-4B17-8666-B10142D04317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0A08B10-B129-4A45-A356-5DB081FC068D}"/>
                </a:ext>
              </a:extLst>
            </p:cNvPr>
            <p:cNvSpPr txBox="1"/>
            <p:nvPr/>
          </p:nvSpPr>
          <p:spPr>
            <a:xfrm>
              <a:off x="6180353" y="3594773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-71mV</a:t>
              </a:r>
            </a:p>
          </p:txBody>
        </p: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F72347-766C-4626-B23F-2F65BB1020FA}"/>
              </a:ext>
            </a:extLst>
          </p:cNvPr>
          <p:cNvCxnSpPr>
            <a:cxnSpLocks/>
          </p:cNvCxnSpPr>
          <p:nvPr/>
        </p:nvCxnSpPr>
        <p:spPr>
          <a:xfrm>
            <a:off x="6970921" y="2790686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CC69D34-ADB2-4C61-917F-2ACDB513499C}"/>
              </a:ext>
            </a:extLst>
          </p:cNvPr>
          <p:cNvGrpSpPr/>
          <p:nvPr/>
        </p:nvGrpSpPr>
        <p:grpSpPr>
          <a:xfrm>
            <a:off x="5379184" y="1800092"/>
            <a:ext cx="381000" cy="685800"/>
            <a:chOff x="5562600" y="3429000"/>
            <a:chExt cx="381000" cy="68580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6CDDB89-DBD3-4EED-A669-172704B97FFF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B591CE3-260E-4CDD-960E-AE145A48B65D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B7F0BA0-9723-432E-BD17-EFF4E034D3C2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A47F34A-98CC-4361-A732-42DF2574E3B9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62F351F-F850-44F9-8031-2C97D2A5EDEF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9DBC05E-A97F-4A7F-81F9-6499B6E0B821}"/>
              </a:ext>
            </a:extLst>
          </p:cNvPr>
          <p:cNvCxnSpPr>
            <a:cxnSpLocks/>
          </p:cNvCxnSpPr>
          <p:nvPr/>
        </p:nvCxnSpPr>
        <p:spPr>
          <a:xfrm>
            <a:off x="5751717" y="2468960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7F738DE-9A89-4010-B490-6BB8B0C035FA}"/>
              </a:ext>
            </a:extLst>
          </p:cNvPr>
          <p:cNvGrpSpPr/>
          <p:nvPr/>
        </p:nvGrpSpPr>
        <p:grpSpPr>
          <a:xfrm>
            <a:off x="6581450" y="1800090"/>
            <a:ext cx="381000" cy="685800"/>
            <a:chOff x="5562600" y="3429000"/>
            <a:chExt cx="381000" cy="685800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A22CEEE-D1C6-4297-96FA-15C05C312C4D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FA34693-DC65-4DF9-B01B-0D88DC4E899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FCF96C5-BBCE-4D4A-9DE4-0EB49EC4FCE7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F750CBD-FF09-4521-80D1-063639577DB7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330310B-58C3-407A-821D-34E7A1C47D8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3E6391-E218-455F-ABAF-E0913F42BE6A}"/>
              </a:ext>
            </a:extLst>
          </p:cNvPr>
          <p:cNvCxnSpPr>
            <a:cxnSpLocks/>
          </p:cNvCxnSpPr>
          <p:nvPr/>
        </p:nvCxnSpPr>
        <p:spPr>
          <a:xfrm>
            <a:off x="6953983" y="246895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9275C33-6A56-4291-8757-1F9DE48ADB59}"/>
              </a:ext>
            </a:extLst>
          </p:cNvPr>
          <p:cNvGrpSpPr/>
          <p:nvPr/>
        </p:nvGrpSpPr>
        <p:grpSpPr>
          <a:xfrm>
            <a:off x="7699054" y="1800087"/>
            <a:ext cx="381000" cy="685800"/>
            <a:chOff x="5562600" y="3429000"/>
            <a:chExt cx="381000" cy="685800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2FCE7DB-2E74-4E46-94C9-1AAD2BED772A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8688567-28C5-4EF9-9528-F8335E23ED1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B03DB19-D0FC-4B6C-8DF8-82E816AA5B4C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CB76EE8-4971-4D2B-A41F-1701154B5044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425998C-8636-450B-8E9C-A0ACB80B672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F98A6B-CEFE-42E7-A5D3-1C58FCEDD3DE}"/>
              </a:ext>
            </a:extLst>
          </p:cNvPr>
          <p:cNvCxnSpPr>
            <a:cxnSpLocks/>
          </p:cNvCxnSpPr>
          <p:nvPr/>
        </p:nvCxnSpPr>
        <p:spPr>
          <a:xfrm>
            <a:off x="8071587" y="2468955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8C74111-405B-4778-B182-9A8C0E7D5600}"/>
              </a:ext>
            </a:extLst>
          </p:cNvPr>
          <p:cNvCxnSpPr>
            <a:cxnSpLocks/>
          </p:cNvCxnSpPr>
          <p:nvPr/>
        </p:nvCxnSpPr>
        <p:spPr>
          <a:xfrm>
            <a:off x="4766055" y="1579957"/>
            <a:ext cx="31107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9A2430-1F69-475A-8C80-9619ACE3E19C}"/>
              </a:ext>
            </a:extLst>
          </p:cNvPr>
          <p:cNvCxnSpPr>
            <a:cxnSpLocks/>
          </p:cNvCxnSpPr>
          <p:nvPr/>
        </p:nvCxnSpPr>
        <p:spPr>
          <a:xfrm>
            <a:off x="6750778" y="160535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CE4662-4D5A-4896-880E-159196E2C9A0}"/>
              </a:ext>
            </a:extLst>
          </p:cNvPr>
          <p:cNvCxnSpPr>
            <a:cxnSpLocks/>
          </p:cNvCxnSpPr>
          <p:nvPr/>
        </p:nvCxnSpPr>
        <p:spPr>
          <a:xfrm>
            <a:off x="7859911" y="1596895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E970DD2-7A85-43A5-A2F2-280986054469}"/>
              </a:ext>
            </a:extLst>
          </p:cNvPr>
          <p:cNvSpPr txBox="1"/>
          <p:nvPr/>
        </p:nvSpPr>
        <p:spPr>
          <a:xfrm>
            <a:off x="6276653" y="1156626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C963C50-8FB7-42D1-B30C-7464E4D42B72}"/>
              </a:ext>
            </a:extLst>
          </p:cNvPr>
          <p:cNvCxnSpPr>
            <a:cxnSpLocks/>
          </p:cNvCxnSpPr>
          <p:nvPr/>
        </p:nvCxnSpPr>
        <p:spPr>
          <a:xfrm>
            <a:off x="5078621" y="216416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84E3AE8-B1B2-4DAB-AA9A-4F57459F03FF}"/>
              </a:ext>
            </a:extLst>
          </p:cNvPr>
          <p:cNvCxnSpPr>
            <a:cxnSpLocks/>
          </p:cNvCxnSpPr>
          <p:nvPr/>
        </p:nvCxnSpPr>
        <p:spPr>
          <a:xfrm>
            <a:off x="4769578" y="1554558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C1447C6-60AF-4D14-BA31-E91505A3FBEC}"/>
              </a:ext>
            </a:extLst>
          </p:cNvPr>
          <p:cNvSpPr/>
          <p:nvPr/>
        </p:nvSpPr>
        <p:spPr>
          <a:xfrm>
            <a:off x="4625655" y="1969424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2AD86A9-F188-4871-8F69-26D06AEC3134}"/>
              </a:ext>
            </a:extLst>
          </p:cNvPr>
          <p:cNvCxnSpPr>
            <a:cxnSpLocks/>
          </p:cNvCxnSpPr>
          <p:nvPr/>
        </p:nvCxnSpPr>
        <p:spPr>
          <a:xfrm>
            <a:off x="4765355" y="2155691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F8E56D2-F622-4517-B622-3B0CC0554F34}"/>
              </a:ext>
            </a:extLst>
          </p:cNvPr>
          <p:cNvSpPr txBox="1"/>
          <p:nvPr/>
        </p:nvSpPr>
        <p:spPr>
          <a:xfrm>
            <a:off x="4447851" y="1630754"/>
            <a:ext cx="2837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D67F14-3B3A-4D8C-8B2E-4BF633E44D5E}"/>
              </a:ext>
            </a:extLst>
          </p:cNvPr>
          <p:cNvSpPr txBox="1"/>
          <p:nvPr/>
        </p:nvSpPr>
        <p:spPr>
          <a:xfrm>
            <a:off x="5091317" y="162228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K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/>
              <p:nvPr/>
            </p:nvSpPr>
            <p:spPr>
              <a:xfrm>
                <a:off x="5901823" y="2403415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23" y="2403415"/>
                <a:ext cx="479991" cy="406201"/>
              </a:xfrm>
              <a:prstGeom prst="rect">
                <a:avLst/>
              </a:prstGeom>
              <a:blipFill>
                <a:blip r:embed="rId4"/>
                <a:stretch>
                  <a:fillRect r="-10127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/>
              <p:nvPr/>
            </p:nvSpPr>
            <p:spPr>
              <a:xfrm>
                <a:off x="7159097" y="2404216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097" y="2404216"/>
                <a:ext cx="479991" cy="404598"/>
              </a:xfrm>
              <a:prstGeom prst="rect">
                <a:avLst/>
              </a:prstGeom>
              <a:blipFill>
                <a:blip r:embed="rId5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/>
              <p:nvPr/>
            </p:nvSpPr>
            <p:spPr>
              <a:xfrm>
                <a:off x="8296102" y="2468955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02" y="2468955"/>
                <a:ext cx="479991" cy="412870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8020AD0-5C59-4F96-A20A-661C5709BBDB}"/>
              </a:ext>
            </a:extLst>
          </p:cNvPr>
          <p:cNvGrpSpPr/>
          <p:nvPr/>
        </p:nvGrpSpPr>
        <p:grpSpPr>
          <a:xfrm>
            <a:off x="5707055" y="1875930"/>
            <a:ext cx="2529160" cy="324711"/>
            <a:chOff x="4215522" y="1303186"/>
            <a:chExt cx="2529160" cy="32471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05938F2-8C4F-4E97-8898-AB7AA87EF69D}"/>
                </a:ext>
              </a:extLst>
            </p:cNvPr>
            <p:cNvSpPr txBox="1"/>
            <p:nvPr/>
          </p:nvSpPr>
          <p:spPr>
            <a:xfrm>
              <a:off x="42155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9BA480A-F6E3-4217-8242-8DC17A5DEAF9}"/>
                </a:ext>
              </a:extLst>
            </p:cNvPr>
            <p:cNvSpPr txBox="1"/>
            <p:nvPr/>
          </p:nvSpPr>
          <p:spPr>
            <a:xfrm>
              <a:off x="5366989" y="1303186"/>
              <a:ext cx="3206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2.2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BFA385F-C9C2-4D12-A21C-F6487FAB898B}"/>
                </a:ext>
              </a:extLst>
            </p:cNvPr>
            <p:cNvSpPr txBox="1"/>
            <p:nvPr/>
          </p:nvSpPr>
          <p:spPr>
            <a:xfrm>
              <a:off x="65523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85851-FB61-4062-8D61-EE985A68D2A8}"/>
              </a:ext>
            </a:extLst>
          </p:cNvPr>
          <p:cNvSpPr txBox="1"/>
          <p:nvPr/>
        </p:nvSpPr>
        <p:spPr>
          <a:xfrm>
            <a:off x="4335999" y="2361134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A28ED3-7D37-44E1-AD4D-FC7BF96134A1}"/>
              </a:ext>
            </a:extLst>
          </p:cNvPr>
          <p:cNvSpPr txBox="1"/>
          <p:nvPr/>
        </p:nvSpPr>
        <p:spPr>
          <a:xfrm>
            <a:off x="7281271" y="1152156"/>
            <a:ext cx="136896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=-71mV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96877D1-2BF4-4968-A787-A267F21AFD63}"/>
              </a:ext>
            </a:extLst>
          </p:cNvPr>
          <p:cNvCxnSpPr/>
          <p:nvPr/>
        </p:nvCxnSpPr>
        <p:spPr>
          <a:xfrm flipV="1">
            <a:off x="7925095" y="1856324"/>
            <a:ext cx="0" cy="498334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74C6742-C36A-41CB-9A6A-BA394432B6B4}"/>
              </a:ext>
            </a:extLst>
          </p:cNvPr>
          <p:cNvCxnSpPr/>
          <p:nvPr/>
        </p:nvCxnSpPr>
        <p:spPr>
          <a:xfrm flipV="1">
            <a:off x="5570599" y="1864888"/>
            <a:ext cx="0" cy="498334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FC7A563-F867-4FD8-AD0B-7D2BCB6F7641}"/>
              </a:ext>
            </a:extLst>
          </p:cNvPr>
          <p:cNvCxnSpPr/>
          <p:nvPr/>
        </p:nvCxnSpPr>
        <p:spPr>
          <a:xfrm flipV="1">
            <a:off x="6770964" y="1894000"/>
            <a:ext cx="0" cy="498334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11849F2-DF87-B3EB-0D00-BB366ED7F0D3}"/>
              </a:ext>
            </a:extLst>
          </p:cNvPr>
          <p:cNvCxnSpPr>
            <a:cxnSpLocks/>
          </p:cNvCxnSpPr>
          <p:nvPr/>
        </p:nvCxnSpPr>
        <p:spPr>
          <a:xfrm>
            <a:off x="8071586" y="2790691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0CC56E9-85B5-6A52-28BD-292E50039942}"/>
              </a:ext>
            </a:extLst>
          </p:cNvPr>
          <p:cNvCxnSpPr>
            <a:cxnSpLocks/>
          </p:cNvCxnSpPr>
          <p:nvPr/>
        </p:nvCxnSpPr>
        <p:spPr>
          <a:xfrm>
            <a:off x="8006788" y="3467772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6CBBBDE-9693-F480-8100-DD739F10D268}"/>
              </a:ext>
            </a:extLst>
          </p:cNvPr>
          <p:cNvCxnSpPr>
            <a:cxnSpLocks/>
          </p:cNvCxnSpPr>
          <p:nvPr/>
        </p:nvCxnSpPr>
        <p:spPr>
          <a:xfrm>
            <a:off x="8042291" y="3521112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9709A592-C917-1EA8-639F-971860D8CAB9}"/>
              </a:ext>
            </a:extLst>
          </p:cNvPr>
          <p:cNvCxnSpPr>
            <a:cxnSpLocks/>
          </p:cNvCxnSpPr>
          <p:nvPr/>
        </p:nvCxnSpPr>
        <p:spPr>
          <a:xfrm>
            <a:off x="7936114" y="3418242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885ED52-620B-93E7-DB1F-215BA20EC41F}"/>
              </a:ext>
            </a:extLst>
          </p:cNvPr>
          <p:cNvSpPr txBox="1"/>
          <p:nvPr/>
        </p:nvSpPr>
        <p:spPr>
          <a:xfrm>
            <a:off x="3927992" y="4932763"/>
            <a:ext cx="242076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(-71) - (-71) = 0 mV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306DB-D448-38CC-EB46-32CDCF58DAB8}"/>
              </a:ext>
            </a:extLst>
          </p:cNvPr>
          <p:cNvSpPr txBox="1"/>
          <p:nvPr/>
        </p:nvSpPr>
        <p:spPr>
          <a:xfrm>
            <a:off x="1968227" y="5272907"/>
            <a:ext cx="120226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V/R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96922-E8F3-D4B8-83FD-2A34C703D5B7}"/>
              </a:ext>
            </a:extLst>
          </p:cNvPr>
          <p:cNvSpPr txBox="1"/>
          <p:nvPr/>
        </p:nvSpPr>
        <p:spPr>
          <a:xfrm>
            <a:off x="2311113" y="6004387"/>
            <a:ext cx="413271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(-89 - -71) * 2.2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-40 entering the cell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0F0FD-2D1B-F08C-C775-A62044548751}"/>
              </a:ext>
            </a:extLst>
          </p:cNvPr>
          <p:cNvSpPr txBox="1"/>
          <p:nvPr/>
        </p:nvSpPr>
        <p:spPr>
          <a:xfrm>
            <a:off x="1805415" y="6314418"/>
            <a:ext cx="238457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40 entering the cell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CBA9C-3514-4990-9DFD-CE261DD9BF5B}"/>
              </a:ext>
            </a:extLst>
          </p:cNvPr>
          <p:cNvSpPr txBox="1"/>
          <p:nvPr/>
        </p:nvSpPr>
        <p:spPr>
          <a:xfrm>
            <a:off x="6244379" y="3609849"/>
            <a:ext cx="2789949" cy="193899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91440" rIns="0" rtlCol="0">
            <a:spAutoFit/>
          </a:bodyPr>
          <a:lstStyle/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dirty="0"/>
              <a:t>At SS, each ion is individually balanced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dirty="0"/>
              <a:t>KCL does </a:t>
            </a:r>
            <a:r>
              <a:rPr lang="en-US" i="1" dirty="0"/>
              <a:t>not</a:t>
            </a:r>
            <a:r>
              <a:rPr lang="en-US" dirty="0"/>
              <a:t> enforce this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B615AE-E2E0-C600-B52C-96596B1F7DC1}"/>
              </a:ext>
            </a:extLst>
          </p:cNvPr>
          <p:cNvCxnSpPr>
            <a:cxnSpLocks/>
          </p:cNvCxnSpPr>
          <p:nvPr/>
        </p:nvCxnSpPr>
        <p:spPr>
          <a:xfrm>
            <a:off x="5548512" y="159918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42A6A8-DB8B-FBA2-96C8-48D1A5BF7181}"/>
              </a:ext>
            </a:extLst>
          </p:cNvPr>
          <p:cNvCxnSpPr>
            <a:cxnSpLocks/>
          </p:cNvCxnSpPr>
          <p:nvPr/>
        </p:nvCxnSpPr>
        <p:spPr>
          <a:xfrm>
            <a:off x="5751719" y="2792983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A03AE62-7AA3-3E06-D845-F100BB6A372F}"/>
              </a:ext>
            </a:extLst>
          </p:cNvPr>
          <p:cNvSpPr txBox="1"/>
          <p:nvPr/>
        </p:nvSpPr>
        <p:spPr>
          <a:xfrm>
            <a:off x="4965695" y="2759118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D0D6753-60CE-BD43-8C52-D33266BF20C6}"/>
              </a:ext>
            </a:extLst>
          </p:cNvPr>
          <p:cNvSpPr/>
          <p:nvPr/>
        </p:nvSpPr>
        <p:spPr>
          <a:xfrm>
            <a:off x="570154" y="799651"/>
            <a:ext cx="129092" cy="12410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0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6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BE7534-ACE5-B9A5-248C-9B2513E8D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3" y="439665"/>
            <a:ext cx="3466588" cy="2599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1A7B55-C28D-4FBC-B30A-1D389918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8608"/>
            <a:ext cx="7772400" cy="842819"/>
          </a:xfrm>
        </p:spPr>
        <p:txBody>
          <a:bodyPr/>
          <a:lstStyle/>
          <a:p>
            <a:r>
              <a:rPr lang="en-US" dirty="0"/>
              <a:t>Now increase </a:t>
            </a:r>
            <a:r>
              <a:rPr lang="en-US" i="1" dirty="0"/>
              <a:t>G</a:t>
            </a:r>
            <a:r>
              <a:rPr lang="en-US" baseline="-25000" dirty="0"/>
              <a:t>Na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D58CB-9F18-4664-B8EF-D9EE1FA4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5694" y="6443606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3C715A8-9C94-4891-90F5-D91AB0B64ED0}"/>
              </a:ext>
            </a:extLst>
          </p:cNvPr>
          <p:cNvCxnSpPr>
            <a:cxnSpLocks/>
          </p:cNvCxnSpPr>
          <p:nvPr/>
        </p:nvCxnSpPr>
        <p:spPr>
          <a:xfrm>
            <a:off x="5082844" y="1563995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EC367E1-EA9E-4130-83C0-20BA7DE289B8}"/>
              </a:ext>
            </a:extLst>
          </p:cNvPr>
          <p:cNvSpPr/>
          <p:nvPr/>
        </p:nvSpPr>
        <p:spPr>
          <a:xfrm>
            <a:off x="4938921" y="1978861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B7F2181-E4D5-4A37-9D1E-823450D73AC0}"/>
              </a:ext>
            </a:extLst>
          </p:cNvPr>
          <p:cNvCxnSpPr>
            <a:cxnSpLocks/>
          </p:cNvCxnSpPr>
          <p:nvPr/>
        </p:nvCxnSpPr>
        <p:spPr>
          <a:xfrm>
            <a:off x="4774522" y="3155724"/>
            <a:ext cx="33055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B2F32A-AE63-4E3B-B9C8-716D72546324}"/>
              </a:ext>
            </a:extLst>
          </p:cNvPr>
          <p:cNvGrpSpPr/>
          <p:nvPr/>
        </p:nvGrpSpPr>
        <p:grpSpPr>
          <a:xfrm>
            <a:off x="5514644" y="2703546"/>
            <a:ext cx="927723" cy="387480"/>
            <a:chOff x="5892800" y="3496733"/>
            <a:chExt cx="853048" cy="355676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9CBB4A1-E728-4A3B-B8F0-D48B7A7B4304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3D8AFEC-7816-47BB-A995-1EE04B6D4202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507CB95-6D6F-46AB-91CE-8939F2CED0E2}"/>
                </a:ext>
              </a:extLst>
            </p:cNvPr>
            <p:cNvSpPr txBox="1"/>
            <p:nvPr/>
          </p:nvSpPr>
          <p:spPr>
            <a:xfrm>
              <a:off x="6215218" y="3598146"/>
              <a:ext cx="530630" cy="2542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77mV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AD19BC4-A29A-4091-B806-DD0D97E48D4A}"/>
              </a:ext>
            </a:extLst>
          </p:cNvPr>
          <p:cNvGrpSpPr/>
          <p:nvPr/>
        </p:nvGrpSpPr>
        <p:grpSpPr>
          <a:xfrm>
            <a:off x="6742316" y="2681592"/>
            <a:ext cx="988654" cy="312676"/>
            <a:chOff x="5892800" y="3496733"/>
            <a:chExt cx="988654" cy="312676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BE49B02-1D31-47AA-A00D-0541DAC87BF6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CDA48B4-6C3C-4A6B-BC3D-0DA178B2DFEC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A68A635-BB5C-4AD9-B1D1-4D8FEBB9657F}"/>
                </a:ext>
              </a:extLst>
            </p:cNvPr>
            <p:cNvSpPr txBox="1"/>
            <p:nvPr/>
          </p:nvSpPr>
          <p:spPr>
            <a:xfrm>
              <a:off x="6227429" y="353241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-89mV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77B4B55-8F97-4069-AF36-4C7469CB1F42}"/>
              </a:ext>
            </a:extLst>
          </p:cNvPr>
          <p:cNvGrpSpPr/>
          <p:nvPr/>
        </p:nvGrpSpPr>
        <p:grpSpPr>
          <a:xfrm>
            <a:off x="7834515" y="2681592"/>
            <a:ext cx="941578" cy="375039"/>
            <a:chOff x="5892800" y="3496733"/>
            <a:chExt cx="941578" cy="37503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99509CA-F0AD-465C-ACE6-7EA8D65FEF0C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DD7D290-ECED-4B17-8666-B10142D04317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0A08B10-B129-4A45-A356-5DB081FC068D}"/>
                </a:ext>
              </a:extLst>
            </p:cNvPr>
            <p:cNvSpPr txBox="1"/>
            <p:nvPr/>
          </p:nvSpPr>
          <p:spPr>
            <a:xfrm>
              <a:off x="6180353" y="3594773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-71mV</a:t>
              </a: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13CC7F-7E77-4CF7-AEF7-BC2A7AB534A3}"/>
              </a:ext>
            </a:extLst>
          </p:cNvPr>
          <p:cNvCxnSpPr>
            <a:cxnSpLocks/>
          </p:cNvCxnSpPr>
          <p:nvPr/>
        </p:nvCxnSpPr>
        <p:spPr>
          <a:xfrm>
            <a:off x="5751719" y="2783193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F72347-766C-4626-B23F-2F65BB1020FA}"/>
              </a:ext>
            </a:extLst>
          </p:cNvPr>
          <p:cNvCxnSpPr>
            <a:cxnSpLocks/>
          </p:cNvCxnSpPr>
          <p:nvPr/>
        </p:nvCxnSpPr>
        <p:spPr>
          <a:xfrm>
            <a:off x="6970921" y="2791654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CC69D34-ADB2-4C61-917F-2ACDB513499C}"/>
              </a:ext>
            </a:extLst>
          </p:cNvPr>
          <p:cNvGrpSpPr/>
          <p:nvPr/>
        </p:nvGrpSpPr>
        <p:grpSpPr>
          <a:xfrm>
            <a:off x="5379184" y="1801060"/>
            <a:ext cx="381000" cy="685800"/>
            <a:chOff x="5562600" y="3429000"/>
            <a:chExt cx="381000" cy="68580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6CDDB89-DBD3-4EED-A669-172704B97FFF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B591CE3-260E-4CDD-960E-AE145A48B65D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B7F0BA0-9723-432E-BD17-EFF4E034D3C2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A47F34A-98CC-4361-A732-42DF2574E3B9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62F351F-F850-44F9-8031-2C97D2A5EDEF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9DBC05E-A97F-4A7F-81F9-6499B6E0B821}"/>
              </a:ext>
            </a:extLst>
          </p:cNvPr>
          <p:cNvCxnSpPr>
            <a:cxnSpLocks/>
          </p:cNvCxnSpPr>
          <p:nvPr/>
        </p:nvCxnSpPr>
        <p:spPr>
          <a:xfrm>
            <a:off x="5751717" y="246992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7F738DE-9A89-4010-B490-6BB8B0C035FA}"/>
              </a:ext>
            </a:extLst>
          </p:cNvPr>
          <p:cNvGrpSpPr/>
          <p:nvPr/>
        </p:nvGrpSpPr>
        <p:grpSpPr>
          <a:xfrm>
            <a:off x="6581450" y="1801058"/>
            <a:ext cx="381000" cy="685800"/>
            <a:chOff x="5562600" y="3429000"/>
            <a:chExt cx="381000" cy="685800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A22CEEE-D1C6-4297-96FA-15C05C312C4D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FA34693-DC65-4DF9-B01B-0D88DC4E899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FCF96C5-BBCE-4D4A-9DE4-0EB49EC4FCE7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F750CBD-FF09-4521-80D1-063639577DB7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330310B-58C3-407A-821D-34E7A1C47D8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3E6391-E218-455F-ABAF-E0913F42BE6A}"/>
              </a:ext>
            </a:extLst>
          </p:cNvPr>
          <p:cNvCxnSpPr>
            <a:cxnSpLocks/>
          </p:cNvCxnSpPr>
          <p:nvPr/>
        </p:nvCxnSpPr>
        <p:spPr>
          <a:xfrm>
            <a:off x="6953983" y="246992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9275C33-6A56-4291-8757-1F9DE48ADB59}"/>
              </a:ext>
            </a:extLst>
          </p:cNvPr>
          <p:cNvGrpSpPr/>
          <p:nvPr/>
        </p:nvGrpSpPr>
        <p:grpSpPr>
          <a:xfrm>
            <a:off x="7699054" y="1801055"/>
            <a:ext cx="381000" cy="685800"/>
            <a:chOff x="5562600" y="3429000"/>
            <a:chExt cx="381000" cy="685800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2FCE7DB-2E74-4E46-94C9-1AAD2BED772A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8688567-28C5-4EF9-9528-F8335E23ED1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B03DB19-D0FC-4B6C-8DF8-82E816AA5B4C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CB76EE8-4971-4D2B-A41F-1701154B5044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425998C-8636-450B-8E9C-A0ACB80B672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F98A6B-CEFE-42E7-A5D3-1C58FCEDD3DE}"/>
              </a:ext>
            </a:extLst>
          </p:cNvPr>
          <p:cNvCxnSpPr>
            <a:cxnSpLocks/>
          </p:cNvCxnSpPr>
          <p:nvPr/>
        </p:nvCxnSpPr>
        <p:spPr>
          <a:xfrm>
            <a:off x="8071587" y="246992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8C74111-405B-4778-B182-9A8C0E7D5600}"/>
              </a:ext>
            </a:extLst>
          </p:cNvPr>
          <p:cNvCxnSpPr>
            <a:cxnSpLocks/>
          </p:cNvCxnSpPr>
          <p:nvPr/>
        </p:nvCxnSpPr>
        <p:spPr>
          <a:xfrm>
            <a:off x="4766055" y="1580925"/>
            <a:ext cx="31107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1F43C6-C52A-4A49-B7F1-EA0EBD8B2B0D}"/>
              </a:ext>
            </a:extLst>
          </p:cNvPr>
          <p:cNvCxnSpPr>
            <a:cxnSpLocks/>
          </p:cNvCxnSpPr>
          <p:nvPr/>
        </p:nvCxnSpPr>
        <p:spPr>
          <a:xfrm>
            <a:off x="5548512" y="158939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9A2430-1F69-475A-8C80-9619ACE3E19C}"/>
              </a:ext>
            </a:extLst>
          </p:cNvPr>
          <p:cNvCxnSpPr>
            <a:cxnSpLocks/>
          </p:cNvCxnSpPr>
          <p:nvPr/>
        </p:nvCxnSpPr>
        <p:spPr>
          <a:xfrm>
            <a:off x="6750778" y="160632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CE4662-4D5A-4896-880E-159196E2C9A0}"/>
              </a:ext>
            </a:extLst>
          </p:cNvPr>
          <p:cNvCxnSpPr>
            <a:cxnSpLocks/>
          </p:cNvCxnSpPr>
          <p:nvPr/>
        </p:nvCxnSpPr>
        <p:spPr>
          <a:xfrm>
            <a:off x="7859911" y="159786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18730E1-264A-4BA9-937E-D6E7A0000BC5}"/>
              </a:ext>
            </a:extLst>
          </p:cNvPr>
          <p:cNvSpPr txBox="1"/>
          <p:nvPr/>
        </p:nvSpPr>
        <p:spPr>
          <a:xfrm>
            <a:off x="4959224" y="2749328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E970DD2-7A85-43A5-A2F2-280986054469}"/>
              </a:ext>
            </a:extLst>
          </p:cNvPr>
          <p:cNvSpPr txBox="1"/>
          <p:nvPr/>
        </p:nvSpPr>
        <p:spPr>
          <a:xfrm>
            <a:off x="6276653" y="1157594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C963C50-8FB7-42D1-B30C-7464E4D42B72}"/>
              </a:ext>
            </a:extLst>
          </p:cNvPr>
          <p:cNvCxnSpPr>
            <a:cxnSpLocks/>
          </p:cNvCxnSpPr>
          <p:nvPr/>
        </p:nvCxnSpPr>
        <p:spPr>
          <a:xfrm>
            <a:off x="5078621" y="2165128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84E3AE8-B1B2-4DAB-AA9A-4F57459F03FF}"/>
              </a:ext>
            </a:extLst>
          </p:cNvPr>
          <p:cNvCxnSpPr>
            <a:cxnSpLocks/>
          </p:cNvCxnSpPr>
          <p:nvPr/>
        </p:nvCxnSpPr>
        <p:spPr>
          <a:xfrm>
            <a:off x="4769578" y="1555526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C1447C6-60AF-4D14-BA31-E91505A3FBEC}"/>
              </a:ext>
            </a:extLst>
          </p:cNvPr>
          <p:cNvSpPr/>
          <p:nvPr/>
        </p:nvSpPr>
        <p:spPr>
          <a:xfrm>
            <a:off x="4625655" y="1970392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2AD86A9-F188-4871-8F69-26D06AEC3134}"/>
              </a:ext>
            </a:extLst>
          </p:cNvPr>
          <p:cNvCxnSpPr>
            <a:cxnSpLocks/>
          </p:cNvCxnSpPr>
          <p:nvPr/>
        </p:nvCxnSpPr>
        <p:spPr>
          <a:xfrm>
            <a:off x="4765355" y="2156659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F8E56D2-F622-4517-B622-3B0CC0554F34}"/>
              </a:ext>
            </a:extLst>
          </p:cNvPr>
          <p:cNvSpPr txBox="1"/>
          <p:nvPr/>
        </p:nvSpPr>
        <p:spPr>
          <a:xfrm>
            <a:off x="4447851" y="1631722"/>
            <a:ext cx="2837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D67F14-3B3A-4D8C-8B2E-4BF633E44D5E}"/>
              </a:ext>
            </a:extLst>
          </p:cNvPr>
          <p:cNvSpPr txBox="1"/>
          <p:nvPr/>
        </p:nvSpPr>
        <p:spPr>
          <a:xfrm>
            <a:off x="5091317" y="162325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K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/>
              <p:nvPr/>
            </p:nvSpPr>
            <p:spPr>
              <a:xfrm>
                <a:off x="5901823" y="2404383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23" y="2404383"/>
                <a:ext cx="479991" cy="406201"/>
              </a:xfrm>
              <a:prstGeom prst="rect">
                <a:avLst/>
              </a:prstGeom>
              <a:blipFill>
                <a:blip r:embed="rId4"/>
                <a:stretch>
                  <a:fillRect r="-10127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/>
              <p:nvPr/>
            </p:nvSpPr>
            <p:spPr>
              <a:xfrm>
                <a:off x="7159097" y="2405184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097" y="2405184"/>
                <a:ext cx="479991" cy="404598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/>
              <p:nvPr/>
            </p:nvSpPr>
            <p:spPr>
              <a:xfrm>
                <a:off x="8296102" y="2469923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02" y="2469923"/>
                <a:ext cx="479991" cy="412870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8020AD0-5C59-4F96-A20A-661C5709BBDB}"/>
              </a:ext>
            </a:extLst>
          </p:cNvPr>
          <p:cNvGrpSpPr/>
          <p:nvPr/>
        </p:nvGrpSpPr>
        <p:grpSpPr>
          <a:xfrm>
            <a:off x="5707055" y="1876898"/>
            <a:ext cx="2529160" cy="324711"/>
            <a:chOff x="4215522" y="1303186"/>
            <a:chExt cx="2529160" cy="32471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05938F2-8C4F-4E97-8898-AB7AA87EF69D}"/>
                </a:ext>
              </a:extLst>
            </p:cNvPr>
            <p:cNvSpPr txBox="1"/>
            <p:nvPr/>
          </p:nvSpPr>
          <p:spPr>
            <a:xfrm>
              <a:off x="42155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9BA480A-F6E3-4217-8242-8DC17A5DEAF9}"/>
                </a:ext>
              </a:extLst>
            </p:cNvPr>
            <p:cNvSpPr txBox="1"/>
            <p:nvPr/>
          </p:nvSpPr>
          <p:spPr>
            <a:xfrm>
              <a:off x="5366989" y="1303186"/>
              <a:ext cx="3206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2.2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BFA385F-C9C2-4D12-A21C-F6487FAB898B}"/>
                </a:ext>
              </a:extLst>
            </p:cNvPr>
            <p:cNvSpPr txBox="1"/>
            <p:nvPr/>
          </p:nvSpPr>
          <p:spPr>
            <a:xfrm>
              <a:off x="65523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85851-FB61-4062-8D61-EE985A68D2A8}"/>
              </a:ext>
            </a:extLst>
          </p:cNvPr>
          <p:cNvSpPr txBox="1"/>
          <p:nvPr/>
        </p:nvSpPr>
        <p:spPr>
          <a:xfrm>
            <a:off x="4335999" y="2362102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A28ED3-7D37-44E1-AD4D-FC7BF96134A1}"/>
              </a:ext>
            </a:extLst>
          </p:cNvPr>
          <p:cNvSpPr txBox="1"/>
          <p:nvPr/>
        </p:nvSpPr>
        <p:spPr>
          <a:xfrm>
            <a:off x="7281271" y="1153124"/>
            <a:ext cx="136896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=-71mV</a:t>
            </a:r>
          </a:p>
        </p:txBody>
      </p:sp>
      <p:sp>
        <p:nvSpPr>
          <p:cNvPr id="129" name="Content Placeholder 2">
            <a:extLst>
              <a:ext uri="{FF2B5EF4-FFF2-40B4-BE49-F238E27FC236}">
                <a16:creationId xmlns:a16="http://schemas.microsoft.com/office/drawing/2014/main" id="{BEF895AE-B915-4E2A-9D55-26CFE0D4B9F9}"/>
              </a:ext>
            </a:extLst>
          </p:cNvPr>
          <p:cNvSpPr txBox="1">
            <a:spLocks/>
          </p:cNvSpPr>
          <p:nvPr/>
        </p:nvSpPr>
        <p:spPr bwMode="auto">
          <a:xfrm>
            <a:off x="157875" y="3849560"/>
            <a:ext cx="8492360" cy="200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dirty="0"/>
              <a:t>I.e., turn on more Na ion channels?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(lookahead – neurons do this)</a:t>
            </a:r>
          </a:p>
          <a:p>
            <a:r>
              <a:rPr lang="en-US" sz="2400" dirty="0"/>
              <a:t>Our graphs showed that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will settle at some new higher value</a:t>
            </a:r>
          </a:p>
          <a:p>
            <a:r>
              <a:rPr lang="en-US" sz="2400" dirty="0"/>
              <a:t>What value does the model predict?</a:t>
            </a:r>
          </a:p>
          <a:p>
            <a:endParaRPr lang="en-US" sz="240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618FDED-530D-AD65-35F2-AF4420B3D3A5}"/>
              </a:ext>
            </a:extLst>
          </p:cNvPr>
          <p:cNvCxnSpPr>
            <a:cxnSpLocks/>
          </p:cNvCxnSpPr>
          <p:nvPr/>
        </p:nvCxnSpPr>
        <p:spPr>
          <a:xfrm>
            <a:off x="8071586" y="2791659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46C29BA-78A1-39F8-E5E0-65FB15AD2742}"/>
              </a:ext>
            </a:extLst>
          </p:cNvPr>
          <p:cNvCxnSpPr>
            <a:cxnSpLocks/>
          </p:cNvCxnSpPr>
          <p:nvPr/>
        </p:nvCxnSpPr>
        <p:spPr>
          <a:xfrm>
            <a:off x="8006788" y="3468740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44E109C-91B7-8C1D-B811-FEE660418D34}"/>
              </a:ext>
            </a:extLst>
          </p:cNvPr>
          <p:cNvCxnSpPr>
            <a:cxnSpLocks/>
          </p:cNvCxnSpPr>
          <p:nvPr/>
        </p:nvCxnSpPr>
        <p:spPr>
          <a:xfrm>
            <a:off x="8042291" y="3522080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B428823-7872-5A82-6FE0-B13D65694C36}"/>
              </a:ext>
            </a:extLst>
          </p:cNvPr>
          <p:cNvCxnSpPr>
            <a:cxnSpLocks/>
          </p:cNvCxnSpPr>
          <p:nvPr/>
        </p:nvCxnSpPr>
        <p:spPr>
          <a:xfrm>
            <a:off x="7936114" y="3419210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F5E232B9-518A-F7CD-827F-4CB594FCC97B}"/>
              </a:ext>
            </a:extLst>
          </p:cNvPr>
          <p:cNvSpPr/>
          <p:nvPr/>
        </p:nvSpPr>
        <p:spPr>
          <a:xfrm>
            <a:off x="656218" y="2553152"/>
            <a:ext cx="129092" cy="12410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5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3B155-F6CB-4F5D-9E49-DED1C19BD7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3215588"/>
                <a:ext cx="7772400" cy="2966281"/>
              </a:xfrm>
            </p:spPr>
            <p:txBody>
              <a:bodyPr/>
              <a:lstStyle/>
              <a:p>
                <a:r>
                  <a:rPr lang="en-US" sz="2000" dirty="0"/>
                  <a:t>Let’s increase </a:t>
                </a:r>
                <a:r>
                  <a:rPr lang="en-US" sz="2000" i="1" dirty="0" err="1"/>
                  <a:t>G</a:t>
                </a:r>
                <a:r>
                  <a:rPr lang="en-US" sz="2000" baseline="-25000" dirty="0" err="1"/>
                  <a:t>Na</a:t>
                </a:r>
                <a:endParaRPr lang="en-US" sz="2000" dirty="0"/>
              </a:p>
              <a:p>
                <a:r>
                  <a:rPr lang="en-US" sz="2000" dirty="0"/>
                  <a:t>Rough guess as to what the model predicts?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1800" dirty="0"/>
                  <a:t>We’ve tied </a:t>
                </a:r>
                <a:r>
                  <a:rPr lang="en-US" sz="1800" i="1" dirty="0" err="1"/>
                  <a:t>V</a:t>
                </a:r>
                <a:r>
                  <a:rPr lang="en-US" sz="1800" baseline="-25000" dirty="0" err="1"/>
                  <a:t>mem</a:t>
                </a:r>
                <a:r>
                  <a:rPr lang="en-US" sz="1800" dirty="0"/>
                  <a:t> more tightly to </a:t>
                </a:r>
                <a:r>
                  <a:rPr lang="en-US" sz="1800" i="1" dirty="0" err="1"/>
                  <a:t>V</a:t>
                </a:r>
                <a:r>
                  <a:rPr lang="en-US" sz="1800" baseline="30000" dirty="0" err="1"/>
                  <a:t>N</a:t>
                </a:r>
                <a:r>
                  <a:rPr lang="en-US" sz="1800" baseline="-25000" dirty="0" err="1"/>
                  <a:t>Na</a:t>
                </a:r>
                <a:r>
                  <a:rPr lang="en-US" sz="1800" dirty="0"/>
                  <a:t>, and so </a:t>
                </a:r>
                <a:r>
                  <a:rPr lang="en-US" sz="1800" i="1" dirty="0" err="1"/>
                  <a:t>V</a:t>
                </a:r>
                <a:r>
                  <a:rPr lang="en-US" sz="1800" baseline="-25000" dirty="0" err="1"/>
                  <a:t>mem</a:t>
                </a:r>
                <a:r>
                  <a:rPr lang="en-US" sz="1800" dirty="0"/>
                  <a:t> moves closer to +77mV than -89mV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𝑚𝑒𝑚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𝑁𝑎</m:t>
                        </m:r>
                      </m:sub>
                    </m:sSub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𝐶𝑙</m:t>
                        </m:r>
                      </m:sub>
                    </m:sSub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3B155-F6CB-4F5D-9E49-DED1C19BD7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3215588"/>
                <a:ext cx="7772400" cy="2966281"/>
              </a:xfrm>
              <a:blipFill>
                <a:blip r:embed="rId3"/>
                <a:stretch>
                  <a:fillRect l="-706" t="-1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CAE72-CBA2-4D67-AC0A-4B242027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76E1FBA-A254-4CFB-9CE7-E428D03671FF}"/>
              </a:ext>
            </a:extLst>
          </p:cNvPr>
          <p:cNvSpPr txBox="1"/>
          <p:nvPr/>
        </p:nvSpPr>
        <p:spPr>
          <a:xfrm>
            <a:off x="7278268" y="1153088"/>
            <a:ext cx="128400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=19mV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0301A-F082-F551-ADAA-CD6936AD85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3" y="439665"/>
            <a:ext cx="3466588" cy="259994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D55DCCD-A288-000E-D8C9-DB74090392BD}"/>
              </a:ext>
            </a:extLst>
          </p:cNvPr>
          <p:cNvSpPr/>
          <p:nvPr/>
        </p:nvSpPr>
        <p:spPr>
          <a:xfrm>
            <a:off x="656218" y="2553152"/>
            <a:ext cx="129092" cy="12410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571C76-8A52-B2D6-22A9-D246DD2364C3}"/>
              </a:ext>
            </a:extLst>
          </p:cNvPr>
          <p:cNvCxnSpPr>
            <a:cxnSpLocks/>
          </p:cNvCxnSpPr>
          <p:nvPr/>
        </p:nvCxnSpPr>
        <p:spPr>
          <a:xfrm>
            <a:off x="5082844" y="1563995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23A467F-71B9-B4FE-4EAC-D88F641392CB}"/>
              </a:ext>
            </a:extLst>
          </p:cNvPr>
          <p:cNvSpPr/>
          <p:nvPr/>
        </p:nvSpPr>
        <p:spPr>
          <a:xfrm>
            <a:off x="4938921" y="1978861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36DF14-8463-B15E-318A-27CCF96C180C}"/>
              </a:ext>
            </a:extLst>
          </p:cNvPr>
          <p:cNvCxnSpPr>
            <a:cxnSpLocks/>
          </p:cNvCxnSpPr>
          <p:nvPr/>
        </p:nvCxnSpPr>
        <p:spPr>
          <a:xfrm>
            <a:off x="4774522" y="3155724"/>
            <a:ext cx="33055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FAD3954-9DE4-B077-9142-39594F299B0F}"/>
              </a:ext>
            </a:extLst>
          </p:cNvPr>
          <p:cNvGrpSpPr/>
          <p:nvPr/>
        </p:nvGrpSpPr>
        <p:grpSpPr>
          <a:xfrm>
            <a:off x="5514644" y="2703546"/>
            <a:ext cx="927723" cy="387480"/>
            <a:chOff x="5892800" y="3496733"/>
            <a:chExt cx="853048" cy="35567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E69CB7D-2677-AFC7-A3BE-61E077134A92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D4F63F0-E669-4ED7-9000-5C8F479986BE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0F63EE-D877-88B4-8030-3727A7FA23CB}"/>
                </a:ext>
              </a:extLst>
            </p:cNvPr>
            <p:cNvSpPr txBox="1"/>
            <p:nvPr/>
          </p:nvSpPr>
          <p:spPr>
            <a:xfrm>
              <a:off x="6215218" y="3598146"/>
              <a:ext cx="530630" cy="2542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77mV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2A2777-2FDE-D1CF-48A5-D99EDE5A9DBA}"/>
              </a:ext>
            </a:extLst>
          </p:cNvPr>
          <p:cNvGrpSpPr/>
          <p:nvPr/>
        </p:nvGrpSpPr>
        <p:grpSpPr>
          <a:xfrm>
            <a:off x="6742316" y="2681592"/>
            <a:ext cx="988654" cy="312676"/>
            <a:chOff x="5892800" y="3496733"/>
            <a:chExt cx="988654" cy="31267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68F4116-EB24-F087-699D-0877EDAA39EE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273E76C-401A-5E92-44E1-419216EBF8A5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9B14C56-3B17-5BAF-B2AB-19C0C09605E2}"/>
                </a:ext>
              </a:extLst>
            </p:cNvPr>
            <p:cNvSpPr txBox="1"/>
            <p:nvPr/>
          </p:nvSpPr>
          <p:spPr>
            <a:xfrm>
              <a:off x="6227429" y="353241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-89mV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3F3148-A389-03D0-110C-AF34BADC8631}"/>
              </a:ext>
            </a:extLst>
          </p:cNvPr>
          <p:cNvGrpSpPr/>
          <p:nvPr/>
        </p:nvGrpSpPr>
        <p:grpSpPr>
          <a:xfrm>
            <a:off x="7834515" y="2681592"/>
            <a:ext cx="941578" cy="375039"/>
            <a:chOff x="5892800" y="3496733"/>
            <a:chExt cx="941578" cy="375039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E2F8E53-737C-B4D2-8BF4-55821E506DC3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529F108-D66F-12E1-9B0C-31CF89E71FA0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92DF87-588F-3452-63C3-D7F77885E340}"/>
                </a:ext>
              </a:extLst>
            </p:cNvPr>
            <p:cNvSpPr txBox="1"/>
            <p:nvPr/>
          </p:nvSpPr>
          <p:spPr>
            <a:xfrm>
              <a:off x="6180353" y="3594773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-71mV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24B3134-13CF-E650-4099-A8B2FD6D427F}"/>
              </a:ext>
            </a:extLst>
          </p:cNvPr>
          <p:cNvCxnSpPr>
            <a:cxnSpLocks/>
          </p:cNvCxnSpPr>
          <p:nvPr/>
        </p:nvCxnSpPr>
        <p:spPr>
          <a:xfrm>
            <a:off x="5751719" y="2783193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968484-23F8-0E83-50B3-7C09F268F7CB}"/>
              </a:ext>
            </a:extLst>
          </p:cNvPr>
          <p:cNvCxnSpPr>
            <a:cxnSpLocks/>
          </p:cNvCxnSpPr>
          <p:nvPr/>
        </p:nvCxnSpPr>
        <p:spPr>
          <a:xfrm>
            <a:off x="6970921" y="2791654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3BB280-DB60-C4D3-67A3-92CEE285FFE4}"/>
              </a:ext>
            </a:extLst>
          </p:cNvPr>
          <p:cNvGrpSpPr/>
          <p:nvPr/>
        </p:nvGrpSpPr>
        <p:grpSpPr>
          <a:xfrm>
            <a:off x="5379184" y="1801060"/>
            <a:ext cx="381000" cy="685800"/>
            <a:chOff x="5562600" y="3429000"/>
            <a:chExt cx="381000" cy="6858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20CD469-00E8-3646-36EE-705F790D7D13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084970E-1E89-B3C2-9AE6-441E66D51647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AD07E0B-44A0-AFD1-7E7B-52F4E73412EE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81B9A63-0FE1-4BF1-1336-53806AD4ED70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A4F4D32-7EE9-DE3B-342C-088EAA34642D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8EF2A9-1EBA-C30C-1D46-ABAF0A2EBF2A}"/>
              </a:ext>
            </a:extLst>
          </p:cNvPr>
          <p:cNvCxnSpPr>
            <a:cxnSpLocks/>
          </p:cNvCxnSpPr>
          <p:nvPr/>
        </p:nvCxnSpPr>
        <p:spPr>
          <a:xfrm>
            <a:off x="5751717" y="246992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5E0E237-F71A-184E-6FE6-FFDE51F79E1C}"/>
              </a:ext>
            </a:extLst>
          </p:cNvPr>
          <p:cNvGrpSpPr/>
          <p:nvPr/>
        </p:nvGrpSpPr>
        <p:grpSpPr>
          <a:xfrm>
            <a:off x="6581450" y="1801058"/>
            <a:ext cx="381000" cy="685800"/>
            <a:chOff x="5562600" y="3429000"/>
            <a:chExt cx="381000" cy="6858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0C5005-9D1B-0918-47FD-EFACDE5397D5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766DF0E-0708-A84B-7D6E-BE1BB9E1ABB8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C4229FE-2D4F-ACA3-F3F3-F8304E305B00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38399A0-CED5-C9D3-DBFE-6AB2374E30E6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F11614C-C58C-0800-D8FB-9461E11E14D7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93B400B-F474-23EB-7545-F04171AE612C}"/>
              </a:ext>
            </a:extLst>
          </p:cNvPr>
          <p:cNvCxnSpPr>
            <a:cxnSpLocks/>
          </p:cNvCxnSpPr>
          <p:nvPr/>
        </p:nvCxnSpPr>
        <p:spPr>
          <a:xfrm>
            <a:off x="6953983" y="246992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35E492B-A89B-695F-683A-D0119D25CE44}"/>
              </a:ext>
            </a:extLst>
          </p:cNvPr>
          <p:cNvGrpSpPr/>
          <p:nvPr/>
        </p:nvGrpSpPr>
        <p:grpSpPr>
          <a:xfrm>
            <a:off x="7699054" y="1801055"/>
            <a:ext cx="381000" cy="685800"/>
            <a:chOff x="5562600" y="3429000"/>
            <a:chExt cx="381000" cy="68580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DF3FAFD-B7B2-37F4-BC49-32EEEEEC2C55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C3DBE23-4FF8-2BA0-9311-1CD5289B3F71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534EFA8-8698-ADAC-3503-17562AD0E9E0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6CDDC05-18EE-A83B-6857-58C682EF383C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9039F4B-E4AD-D644-2F86-DE5363598CE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C28157-BCED-91F5-EE3A-C67F12A96DBF}"/>
              </a:ext>
            </a:extLst>
          </p:cNvPr>
          <p:cNvCxnSpPr>
            <a:cxnSpLocks/>
          </p:cNvCxnSpPr>
          <p:nvPr/>
        </p:nvCxnSpPr>
        <p:spPr>
          <a:xfrm>
            <a:off x="8071587" y="246992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79759D9-24B4-DEF3-F8DA-FEEA7C1B0DAB}"/>
              </a:ext>
            </a:extLst>
          </p:cNvPr>
          <p:cNvCxnSpPr>
            <a:cxnSpLocks/>
          </p:cNvCxnSpPr>
          <p:nvPr/>
        </p:nvCxnSpPr>
        <p:spPr>
          <a:xfrm>
            <a:off x="4766055" y="1580925"/>
            <a:ext cx="31107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E3A54DB-2F5D-0C2C-418E-CF302ED54E87}"/>
              </a:ext>
            </a:extLst>
          </p:cNvPr>
          <p:cNvCxnSpPr>
            <a:cxnSpLocks/>
          </p:cNvCxnSpPr>
          <p:nvPr/>
        </p:nvCxnSpPr>
        <p:spPr>
          <a:xfrm>
            <a:off x="5548512" y="158939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1C737E5-85FF-08C5-D74C-31B94F565CA7}"/>
              </a:ext>
            </a:extLst>
          </p:cNvPr>
          <p:cNvCxnSpPr>
            <a:cxnSpLocks/>
          </p:cNvCxnSpPr>
          <p:nvPr/>
        </p:nvCxnSpPr>
        <p:spPr>
          <a:xfrm>
            <a:off x="6750778" y="160632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671CFF8-7280-AFF8-F26B-FEBC8E006567}"/>
              </a:ext>
            </a:extLst>
          </p:cNvPr>
          <p:cNvCxnSpPr>
            <a:cxnSpLocks/>
          </p:cNvCxnSpPr>
          <p:nvPr/>
        </p:nvCxnSpPr>
        <p:spPr>
          <a:xfrm>
            <a:off x="7859911" y="159786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6FD7C58-9F34-40A7-6927-D55C88F50465}"/>
              </a:ext>
            </a:extLst>
          </p:cNvPr>
          <p:cNvSpPr txBox="1"/>
          <p:nvPr/>
        </p:nvSpPr>
        <p:spPr>
          <a:xfrm>
            <a:off x="4959224" y="2749328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5491C3-C36B-B559-8AFA-36AA1C155386}"/>
              </a:ext>
            </a:extLst>
          </p:cNvPr>
          <p:cNvSpPr txBox="1"/>
          <p:nvPr/>
        </p:nvSpPr>
        <p:spPr>
          <a:xfrm>
            <a:off x="6276653" y="1157594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A944991-4790-3C91-C81E-09013CA4A472}"/>
              </a:ext>
            </a:extLst>
          </p:cNvPr>
          <p:cNvCxnSpPr>
            <a:cxnSpLocks/>
          </p:cNvCxnSpPr>
          <p:nvPr/>
        </p:nvCxnSpPr>
        <p:spPr>
          <a:xfrm>
            <a:off x="5078621" y="2165128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CAB8B25-F52C-F37C-EA8F-DAA3F78B9900}"/>
              </a:ext>
            </a:extLst>
          </p:cNvPr>
          <p:cNvCxnSpPr>
            <a:cxnSpLocks/>
          </p:cNvCxnSpPr>
          <p:nvPr/>
        </p:nvCxnSpPr>
        <p:spPr>
          <a:xfrm>
            <a:off x="4769578" y="1555526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739A554-13DA-C4E3-F7CB-1C79D0F93113}"/>
              </a:ext>
            </a:extLst>
          </p:cNvPr>
          <p:cNvSpPr/>
          <p:nvPr/>
        </p:nvSpPr>
        <p:spPr>
          <a:xfrm>
            <a:off x="4625655" y="1970392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0D6CE55-8260-6D23-573A-8E469F2BF59C}"/>
              </a:ext>
            </a:extLst>
          </p:cNvPr>
          <p:cNvCxnSpPr>
            <a:cxnSpLocks/>
          </p:cNvCxnSpPr>
          <p:nvPr/>
        </p:nvCxnSpPr>
        <p:spPr>
          <a:xfrm>
            <a:off x="4765355" y="2156659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21E37DD-B658-58CF-A900-8BA2095E47A4}"/>
              </a:ext>
            </a:extLst>
          </p:cNvPr>
          <p:cNvSpPr txBox="1"/>
          <p:nvPr/>
        </p:nvSpPr>
        <p:spPr>
          <a:xfrm>
            <a:off x="4447851" y="1631722"/>
            <a:ext cx="2837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24EDCF-B3D0-218C-7CBC-5E1CE69AE535}"/>
              </a:ext>
            </a:extLst>
          </p:cNvPr>
          <p:cNvSpPr txBox="1"/>
          <p:nvPr/>
        </p:nvSpPr>
        <p:spPr>
          <a:xfrm>
            <a:off x="5091317" y="162325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K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2CF618D-7430-D486-A1F5-AD71841185B7}"/>
                  </a:ext>
                </a:extLst>
              </p:cNvPr>
              <p:cNvSpPr/>
              <p:nvPr/>
            </p:nvSpPr>
            <p:spPr>
              <a:xfrm>
                <a:off x="5901823" y="2404383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2CF618D-7430-D486-A1F5-AD71841185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23" y="2404383"/>
                <a:ext cx="479991" cy="406201"/>
              </a:xfrm>
              <a:prstGeom prst="rect">
                <a:avLst/>
              </a:prstGeom>
              <a:blipFill>
                <a:blip r:embed="rId5"/>
                <a:stretch>
                  <a:fillRect r="-10127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91F5881-B0BA-2798-5662-DF9810BFDBA4}"/>
                  </a:ext>
                </a:extLst>
              </p:cNvPr>
              <p:cNvSpPr/>
              <p:nvPr/>
            </p:nvSpPr>
            <p:spPr>
              <a:xfrm>
                <a:off x="7159097" y="2405184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91F5881-B0BA-2798-5662-DF9810BFDB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097" y="2405184"/>
                <a:ext cx="479991" cy="404598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099F001-D32E-99BA-896E-EF542D828509}"/>
                  </a:ext>
                </a:extLst>
              </p:cNvPr>
              <p:cNvSpPr/>
              <p:nvPr/>
            </p:nvSpPr>
            <p:spPr>
              <a:xfrm>
                <a:off x="8296102" y="2469923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099F001-D32E-99BA-896E-EF542D8285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02" y="2469923"/>
                <a:ext cx="479991" cy="412870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7ACBBE70-4B91-914E-B8A3-CF7E70E6BA43}"/>
              </a:ext>
            </a:extLst>
          </p:cNvPr>
          <p:cNvGrpSpPr/>
          <p:nvPr/>
        </p:nvGrpSpPr>
        <p:grpSpPr>
          <a:xfrm>
            <a:off x="5707055" y="1876898"/>
            <a:ext cx="2529160" cy="324711"/>
            <a:chOff x="4215522" y="1303186"/>
            <a:chExt cx="2529160" cy="324711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DAF0AE9-9903-78BF-44B0-04053B35C649}"/>
                </a:ext>
              </a:extLst>
            </p:cNvPr>
            <p:cNvSpPr txBox="1"/>
            <p:nvPr/>
          </p:nvSpPr>
          <p:spPr>
            <a:xfrm>
              <a:off x="42155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AEBDF01-2B05-FC4E-B2F2-48FC46ED268F}"/>
                </a:ext>
              </a:extLst>
            </p:cNvPr>
            <p:cNvSpPr txBox="1"/>
            <p:nvPr/>
          </p:nvSpPr>
          <p:spPr>
            <a:xfrm>
              <a:off x="5366989" y="1303186"/>
              <a:ext cx="3206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2.2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93F401E-D31F-C4C2-BF84-B3952BC232BB}"/>
                </a:ext>
              </a:extLst>
            </p:cNvPr>
            <p:cNvSpPr txBox="1"/>
            <p:nvPr/>
          </p:nvSpPr>
          <p:spPr>
            <a:xfrm>
              <a:off x="65523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E07A82C-1677-55C9-BF71-9C1FDC130D74}"/>
              </a:ext>
            </a:extLst>
          </p:cNvPr>
          <p:cNvSpPr txBox="1"/>
          <p:nvPr/>
        </p:nvSpPr>
        <p:spPr>
          <a:xfrm>
            <a:off x="4335999" y="2362102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7D69F3-29DC-DE6F-78A0-BBE359582A17}"/>
              </a:ext>
            </a:extLst>
          </p:cNvPr>
          <p:cNvSpPr txBox="1"/>
          <p:nvPr/>
        </p:nvSpPr>
        <p:spPr>
          <a:xfrm>
            <a:off x="7281271" y="1153124"/>
            <a:ext cx="136896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=-71mV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E1AE9CB-3645-A911-193A-2288FAED5D83}"/>
              </a:ext>
            </a:extLst>
          </p:cNvPr>
          <p:cNvCxnSpPr>
            <a:cxnSpLocks/>
          </p:cNvCxnSpPr>
          <p:nvPr/>
        </p:nvCxnSpPr>
        <p:spPr>
          <a:xfrm>
            <a:off x="8071586" y="2791659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80C69A-3D93-6EF5-1E7C-0C0E7A31E842}"/>
              </a:ext>
            </a:extLst>
          </p:cNvPr>
          <p:cNvCxnSpPr>
            <a:cxnSpLocks/>
          </p:cNvCxnSpPr>
          <p:nvPr/>
        </p:nvCxnSpPr>
        <p:spPr>
          <a:xfrm>
            <a:off x="8006788" y="3468740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1BBAA4E-5CEE-34F7-5289-8CC653081DB8}"/>
              </a:ext>
            </a:extLst>
          </p:cNvPr>
          <p:cNvCxnSpPr>
            <a:cxnSpLocks/>
          </p:cNvCxnSpPr>
          <p:nvPr/>
        </p:nvCxnSpPr>
        <p:spPr>
          <a:xfrm>
            <a:off x="8042291" y="3522080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1C02777-3EE5-4537-C6D9-4372A019DF7E}"/>
              </a:ext>
            </a:extLst>
          </p:cNvPr>
          <p:cNvCxnSpPr>
            <a:cxnSpLocks/>
          </p:cNvCxnSpPr>
          <p:nvPr/>
        </p:nvCxnSpPr>
        <p:spPr>
          <a:xfrm>
            <a:off x="7936114" y="3419210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61603E-940C-417B-8235-1A2B7CD19C6E}"/>
              </a:ext>
            </a:extLst>
          </p:cNvPr>
          <p:cNvSpPr txBox="1"/>
          <p:nvPr/>
        </p:nvSpPr>
        <p:spPr>
          <a:xfrm>
            <a:off x="5719836" y="1850552"/>
            <a:ext cx="235416" cy="353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rIns="0" bIns="0" rtlCol="0">
            <a:spAutoFit/>
          </a:bodyPr>
          <a:lstStyle/>
          <a:p>
            <a:r>
              <a:rPr lang="en-US" sz="2000" dirty="0"/>
              <a:t>5</a:t>
            </a:r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75045D-C7E6-ADCF-0330-3C3CC36F1CC5}"/>
              </a:ext>
            </a:extLst>
          </p:cNvPr>
          <p:cNvSpPr/>
          <p:nvPr/>
        </p:nvSpPr>
        <p:spPr>
          <a:xfrm>
            <a:off x="7876851" y="1100942"/>
            <a:ext cx="899242" cy="454584"/>
          </a:xfrm>
          <a:prstGeom prst="rect">
            <a:avLst/>
          </a:prstGeom>
          <a:noFill/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9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67" grpId="0"/>
      <p:bldP spid="9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3B155-F6CB-4F5D-9E49-DED1C19BD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43724"/>
            <a:ext cx="7772400" cy="371077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400" dirty="0"/>
              <a:t>Look at the new individual ion currents</a:t>
            </a:r>
          </a:p>
          <a:p>
            <a:r>
              <a:rPr lang="en-US" sz="2400" dirty="0"/>
              <a:t>Which way does Na flow?</a:t>
            </a:r>
          </a:p>
          <a:p>
            <a:r>
              <a:rPr lang="en-US" sz="2400" dirty="0"/>
              <a:t>K?</a:t>
            </a:r>
          </a:p>
          <a:p>
            <a:r>
              <a:rPr lang="en-US" sz="2400" dirty="0"/>
              <a:t>Cl?</a:t>
            </a:r>
          </a:p>
          <a:p>
            <a:r>
              <a:rPr lang="en-US" sz="2400" dirty="0"/>
              <a:t>Observation: each ion is individually unbalanced!</a:t>
            </a:r>
          </a:p>
          <a:p>
            <a:r>
              <a:rPr lang="en-US" sz="2400" dirty="0"/>
              <a:t>Is the net charge flux zero?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net charge flow into cell via ion channels = 292-236-36=20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net flow entering via pumps = 40-60=-20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Net charge flux=0 (guaranteed by KCL)</a:t>
            </a:r>
          </a:p>
          <a:p>
            <a:pPr lvl="1"/>
            <a:endParaRPr lang="en-US" sz="1600" dirty="0"/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CAE72-CBA2-4D67-AC0A-4B242027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C31164AE-39BC-4B97-932B-A98022183B52}"/>
              </a:ext>
            </a:extLst>
          </p:cNvPr>
          <p:cNvSpPr txBox="1"/>
          <p:nvPr/>
        </p:nvSpPr>
        <p:spPr>
          <a:xfrm>
            <a:off x="4923341" y="417576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88CEACB4-205E-4B51-92F8-1999FA11DA26}"/>
              </a:ext>
            </a:extLst>
          </p:cNvPr>
          <p:cNvGrpSpPr/>
          <p:nvPr/>
        </p:nvGrpSpPr>
        <p:grpSpPr>
          <a:xfrm>
            <a:off x="3094539" y="815508"/>
            <a:ext cx="4362422" cy="1655467"/>
            <a:chOff x="2911659" y="998388"/>
            <a:chExt cx="4362422" cy="1655467"/>
          </a:xfrm>
        </p:grpSpPr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3C6A26AE-1F7B-48F2-89E5-2E1C9B9393F7}"/>
                </a:ext>
              </a:extLst>
            </p:cNvPr>
            <p:cNvCxnSpPr>
              <a:cxnSpLocks/>
            </p:cNvCxnSpPr>
            <p:nvPr/>
          </p:nvCxnSpPr>
          <p:spPr>
            <a:xfrm>
              <a:off x="3546652" y="1006857"/>
              <a:ext cx="0" cy="1600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F199AF3D-1E7C-4546-8DA3-B53F91CEDFF7}"/>
                </a:ext>
              </a:extLst>
            </p:cNvPr>
            <p:cNvSpPr/>
            <p:nvPr/>
          </p:nvSpPr>
          <p:spPr>
            <a:xfrm>
              <a:off x="3402729" y="1421723"/>
              <a:ext cx="279400" cy="6773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E8234F8-53A8-470C-8647-71CA0CDF1BD6}"/>
                </a:ext>
              </a:extLst>
            </p:cNvPr>
            <p:cNvCxnSpPr>
              <a:cxnSpLocks/>
            </p:cNvCxnSpPr>
            <p:nvPr/>
          </p:nvCxnSpPr>
          <p:spPr>
            <a:xfrm>
              <a:off x="3238330" y="2598586"/>
              <a:ext cx="33055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A598FA8D-7B9A-4B38-9020-01321AFB8720}"/>
                </a:ext>
              </a:extLst>
            </p:cNvPr>
            <p:cNvGrpSpPr/>
            <p:nvPr/>
          </p:nvGrpSpPr>
          <p:grpSpPr>
            <a:xfrm>
              <a:off x="3978458" y="2146430"/>
              <a:ext cx="926979" cy="352417"/>
              <a:chOff x="5892800" y="3496733"/>
              <a:chExt cx="852363" cy="323489"/>
            </a:xfrm>
          </p:grpSpPr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C7D11403-6629-4DA0-9051-174B9AA6FF42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4A1390CD-21C8-4C9B-BD2D-4C87285F8F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8F5B6F99-9884-4E98-982F-C2EE39A0CE32}"/>
                  </a:ext>
                </a:extLst>
              </p:cNvPr>
              <p:cNvSpPr txBox="1"/>
              <p:nvPr/>
            </p:nvSpPr>
            <p:spPr>
              <a:xfrm>
                <a:off x="6214533" y="3565959"/>
                <a:ext cx="530630" cy="254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77mV</a:t>
                </a:r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203298F0-E3B8-4DEF-B538-10EE0BED0D61}"/>
                </a:ext>
              </a:extLst>
            </p:cNvPr>
            <p:cNvGrpSpPr/>
            <p:nvPr/>
          </p:nvGrpSpPr>
          <p:grpSpPr>
            <a:xfrm>
              <a:off x="5206124" y="2124454"/>
              <a:ext cx="984228" cy="310035"/>
              <a:chOff x="5892800" y="3496733"/>
              <a:chExt cx="984228" cy="310035"/>
            </a:xfrm>
          </p:grpSpPr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FC45DAF2-6A11-4D02-8B88-B16B63374E14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3E2B376A-CE75-4B6D-812E-32CC3FB0FF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74DFED47-CB04-40C5-B4DC-12580633BB27}"/>
                  </a:ext>
                </a:extLst>
              </p:cNvPr>
              <p:cNvSpPr txBox="1"/>
              <p:nvPr/>
            </p:nvSpPr>
            <p:spPr>
              <a:xfrm>
                <a:off x="6223003" y="3529769"/>
                <a:ext cx="654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-89mV</a:t>
                </a: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7CC1CD50-5FBE-4CA5-B996-33F95AFEEF00}"/>
                </a:ext>
              </a:extLst>
            </p:cNvPr>
            <p:cNvGrpSpPr/>
            <p:nvPr/>
          </p:nvGrpSpPr>
          <p:grpSpPr>
            <a:xfrm>
              <a:off x="6298323" y="2124454"/>
              <a:ext cx="975758" cy="399766"/>
              <a:chOff x="5892800" y="3496733"/>
              <a:chExt cx="975758" cy="399766"/>
            </a:xfrm>
          </p:grpSpPr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48331D5B-A6FE-4A52-964F-9DD7C215B789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AC2CBF16-9414-4514-9331-63605060B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7BE80DB0-8A18-46C1-816B-6318B0666BD3}"/>
                  </a:ext>
                </a:extLst>
              </p:cNvPr>
              <p:cNvSpPr txBox="1"/>
              <p:nvPr/>
            </p:nvSpPr>
            <p:spPr>
              <a:xfrm>
                <a:off x="6214533" y="3619500"/>
                <a:ext cx="654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-71mV</a:t>
                </a:r>
              </a:p>
            </p:txBody>
          </p:sp>
        </p:grp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99DB27AC-C875-494D-8D5A-CBB5DAE66CC9}"/>
                </a:ext>
              </a:extLst>
            </p:cNvPr>
            <p:cNvCxnSpPr>
              <a:cxnSpLocks/>
            </p:cNvCxnSpPr>
            <p:nvPr/>
          </p:nvCxnSpPr>
          <p:spPr>
            <a:xfrm>
              <a:off x="4215527" y="2226055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0E7026C8-D85E-497E-A374-64BA27F45242}"/>
                </a:ext>
              </a:extLst>
            </p:cNvPr>
            <p:cNvCxnSpPr>
              <a:cxnSpLocks/>
            </p:cNvCxnSpPr>
            <p:nvPr/>
          </p:nvCxnSpPr>
          <p:spPr>
            <a:xfrm>
              <a:off x="5434729" y="2234516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CD301CF7-3575-48CE-B70C-6A95F439BB02}"/>
                </a:ext>
              </a:extLst>
            </p:cNvPr>
            <p:cNvCxnSpPr>
              <a:cxnSpLocks/>
            </p:cNvCxnSpPr>
            <p:nvPr/>
          </p:nvCxnSpPr>
          <p:spPr>
            <a:xfrm>
              <a:off x="6535394" y="2234521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C8B7754-0731-4FC1-8AA4-F98D64918A3F}"/>
                </a:ext>
              </a:extLst>
            </p:cNvPr>
            <p:cNvGrpSpPr/>
            <p:nvPr/>
          </p:nvGrpSpPr>
          <p:grpSpPr>
            <a:xfrm>
              <a:off x="3842992" y="1243922"/>
              <a:ext cx="381000" cy="685800"/>
              <a:chOff x="5562600" y="3429000"/>
              <a:chExt cx="381000" cy="685800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DA48927E-DC91-4192-ADB9-47716BC2705D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70F528A3-F69E-4C39-80BF-763F6DE64004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708406FE-FF15-4790-9637-6A1C8CCAA50E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73A5D1B5-53E4-46C7-A9F5-659DFC9AC7AB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2686A469-8760-40A1-B0BA-F730A7363DF3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349F7631-6B98-4356-80CF-35D9B5CFB617}"/>
                </a:ext>
              </a:extLst>
            </p:cNvPr>
            <p:cNvCxnSpPr>
              <a:cxnSpLocks/>
            </p:cNvCxnSpPr>
            <p:nvPr/>
          </p:nvCxnSpPr>
          <p:spPr>
            <a:xfrm>
              <a:off x="4215525" y="1912790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7D9E316-B89E-4D3F-9EB7-CAEA906CBC50}"/>
                </a:ext>
              </a:extLst>
            </p:cNvPr>
            <p:cNvGrpSpPr/>
            <p:nvPr/>
          </p:nvGrpSpPr>
          <p:grpSpPr>
            <a:xfrm>
              <a:off x="5045258" y="1243920"/>
              <a:ext cx="381000" cy="685800"/>
              <a:chOff x="5562600" y="3429000"/>
              <a:chExt cx="381000" cy="685800"/>
            </a:xfrm>
          </p:grpSpPr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69523E97-343D-4C23-B8FF-DE18AD4144F3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F02C2216-DC13-4504-A54E-202FA06761F3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A3568A4A-A9F6-49BF-A36F-D8C161D155AB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0C8E14F0-743D-4199-BD90-5C3C6B46C563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AB878EBA-16A1-43F9-BB9E-03F9DB7E4556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F575A6C0-EBE0-40C3-AD8D-A69F9F57BDA0}"/>
                </a:ext>
              </a:extLst>
            </p:cNvPr>
            <p:cNvCxnSpPr>
              <a:cxnSpLocks/>
            </p:cNvCxnSpPr>
            <p:nvPr/>
          </p:nvCxnSpPr>
          <p:spPr>
            <a:xfrm>
              <a:off x="5417791" y="1912788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B7161874-237F-48F1-8FE0-7C088FF64774}"/>
                </a:ext>
              </a:extLst>
            </p:cNvPr>
            <p:cNvGrpSpPr/>
            <p:nvPr/>
          </p:nvGrpSpPr>
          <p:grpSpPr>
            <a:xfrm>
              <a:off x="6162862" y="1243917"/>
              <a:ext cx="381000" cy="685800"/>
              <a:chOff x="5562600" y="3429000"/>
              <a:chExt cx="381000" cy="685800"/>
            </a:xfrm>
          </p:grpSpPr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1D994190-95B7-4001-A581-3046F4A4E48F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8DBC0E12-3A14-4E29-91EA-AC95AD25FA10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4177378A-AF82-44A2-835A-2F3BC71E43F9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C5D12E57-4764-4449-ADE0-B802BC98C30E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CBB35AC6-FFA0-4462-9184-616188A37137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73AF3C7F-C480-4BEC-8C77-68D961D00331}"/>
                </a:ext>
              </a:extLst>
            </p:cNvPr>
            <p:cNvCxnSpPr>
              <a:cxnSpLocks/>
            </p:cNvCxnSpPr>
            <p:nvPr/>
          </p:nvCxnSpPr>
          <p:spPr>
            <a:xfrm>
              <a:off x="6535395" y="191278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90CD3FED-1ABB-4DD7-AB5D-3CAB50BC76D0}"/>
                </a:ext>
              </a:extLst>
            </p:cNvPr>
            <p:cNvCxnSpPr>
              <a:cxnSpLocks/>
            </p:cNvCxnSpPr>
            <p:nvPr/>
          </p:nvCxnSpPr>
          <p:spPr>
            <a:xfrm>
              <a:off x="3229863" y="1023787"/>
              <a:ext cx="311079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708CB8D9-23CF-4E71-9553-D9DC04459C12}"/>
                </a:ext>
              </a:extLst>
            </p:cNvPr>
            <p:cNvCxnSpPr>
              <a:cxnSpLocks/>
            </p:cNvCxnSpPr>
            <p:nvPr/>
          </p:nvCxnSpPr>
          <p:spPr>
            <a:xfrm>
              <a:off x="4012320" y="1032258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487CE0E3-14DA-439D-9BA1-CCD4D3BC307E}"/>
                </a:ext>
              </a:extLst>
            </p:cNvPr>
            <p:cNvCxnSpPr>
              <a:cxnSpLocks/>
            </p:cNvCxnSpPr>
            <p:nvPr/>
          </p:nvCxnSpPr>
          <p:spPr>
            <a:xfrm>
              <a:off x="5214586" y="1049188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9C6F3FFD-E5B7-419D-BFDF-D1ACCF93B531}"/>
                </a:ext>
              </a:extLst>
            </p:cNvPr>
            <p:cNvCxnSpPr>
              <a:cxnSpLocks/>
            </p:cNvCxnSpPr>
            <p:nvPr/>
          </p:nvCxnSpPr>
          <p:spPr>
            <a:xfrm>
              <a:off x="6323719" y="104072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AFF985BB-7CEB-4588-8655-E916D7C129BA}"/>
                </a:ext>
              </a:extLst>
            </p:cNvPr>
            <p:cNvSpPr txBox="1"/>
            <p:nvPr/>
          </p:nvSpPr>
          <p:spPr>
            <a:xfrm>
              <a:off x="3423032" y="2192190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ECF</a:t>
              </a:r>
            </a:p>
          </p:txBody>
        </p: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D961E014-1188-49E7-92F1-3D2E84883783}"/>
                </a:ext>
              </a:extLst>
            </p:cNvPr>
            <p:cNvCxnSpPr>
              <a:cxnSpLocks/>
            </p:cNvCxnSpPr>
            <p:nvPr/>
          </p:nvCxnSpPr>
          <p:spPr>
            <a:xfrm>
              <a:off x="3542429" y="1607990"/>
              <a:ext cx="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BBBF079A-C3D1-4088-9C8A-8AEC15F5A1F8}"/>
                </a:ext>
              </a:extLst>
            </p:cNvPr>
            <p:cNvCxnSpPr>
              <a:cxnSpLocks/>
            </p:cNvCxnSpPr>
            <p:nvPr/>
          </p:nvCxnSpPr>
          <p:spPr>
            <a:xfrm>
              <a:off x="3233386" y="998388"/>
              <a:ext cx="0" cy="1600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C1C6346-C117-4889-AF1A-76FF6082999C}"/>
                </a:ext>
              </a:extLst>
            </p:cNvPr>
            <p:cNvSpPr/>
            <p:nvPr/>
          </p:nvSpPr>
          <p:spPr>
            <a:xfrm>
              <a:off x="3089463" y="1413254"/>
              <a:ext cx="279400" cy="6773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24E8BAA1-F164-4A83-A890-46FDE0596527}"/>
                </a:ext>
              </a:extLst>
            </p:cNvPr>
            <p:cNvCxnSpPr>
              <a:cxnSpLocks/>
            </p:cNvCxnSpPr>
            <p:nvPr/>
          </p:nvCxnSpPr>
          <p:spPr>
            <a:xfrm>
              <a:off x="3229163" y="1599521"/>
              <a:ext cx="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779A850E-8B26-4FCC-82C2-7B6AC8CF353C}"/>
                </a:ext>
              </a:extLst>
            </p:cNvPr>
            <p:cNvSpPr txBox="1"/>
            <p:nvPr/>
          </p:nvSpPr>
          <p:spPr>
            <a:xfrm>
              <a:off x="2911659" y="1074584"/>
              <a:ext cx="28373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I</a:t>
              </a:r>
              <a:r>
                <a:rPr lang="en-US" sz="2000" baseline="-25000" dirty="0" err="1"/>
                <a:t>Na</a:t>
              </a:r>
              <a:endParaRPr lang="en-US" sz="2000" dirty="0"/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20EFCD2F-5F47-4672-9B02-4624F9824023}"/>
                </a:ext>
              </a:extLst>
            </p:cNvPr>
            <p:cNvSpPr txBox="1"/>
            <p:nvPr/>
          </p:nvSpPr>
          <p:spPr>
            <a:xfrm>
              <a:off x="3555125" y="1066119"/>
              <a:ext cx="20839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/>
                <a:t>I</a:t>
              </a:r>
              <a:r>
                <a:rPr lang="en-US" sz="2000" baseline="-25000" dirty="0"/>
                <a:t>K</a:t>
              </a:r>
              <a:endParaRPr lang="en-US" sz="200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A2537F4-4692-41CE-A77E-6DE25231BE51}"/>
              </a:ext>
            </a:extLst>
          </p:cNvPr>
          <p:cNvGrpSpPr/>
          <p:nvPr/>
        </p:nvGrpSpPr>
        <p:grpSpPr>
          <a:xfrm>
            <a:off x="4422786" y="1126402"/>
            <a:ext cx="2529160" cy="324711"/>
            <a:chOff x="4215522" y="1303186"/>
            <a:chExt cx="2529160" cy="32471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A2BB7C97-1A76-41C0-948A-7519651E8A30}"/>
                </a:ext>
              </a:extLst>
            </p:cNvPr>
            <p:cNvSpPr txBox="1"/>
            <p:nvPr/>
          </p:nvSpPr>
          <p:spPr>
            <a:xfrm>
              <a:off x="4215522" y="1320120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2F1B7F0C-4680-47C0-89F2-8C2C3AA3C87F}"/>
                </a:ext>
              </a:extLst>
            </p:cNvPr>
            <p:cNvSpPr txBox="1"/>
            <p:nvPr/>
          </p:nvSpPr>
          <p:spPr>
            <a:xfrm>
              <a:off x="5366989" y="1303186"/>
              <a:ext cx="3206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2.2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8F27E7A-AFCE-4B0C-B747-A8B7A123A35A}"/>
                </a:ext>
              </a:extLst>
            </p:cNvPr>
            <p:cNvSpPr txBox="1"/>
            <p:nvPr/>
          </p:nvSpPr>
          <p:spPr>
            <a:xfrm>
              <a:off x="65523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56EDA50D-27DE-465F-AD74-2245DB2E97B9}"/>
              </a:ext>
            </a:extLst>
          </p:cNvPr>
          <p:cNvSpPr txBox="1"/>
          <p:nvPr/>
        </p:nvSpPr>
        <p:spPr>
          <a:xfrm>
            <a:off x="2990088" y="1591056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C714C1CD-D71C-433F-88B4-B455DF9D048A}"/>
              </a:ext>
            </a:extLst>
          </p:cNvPr>
          <p:cNvSpPr txBox="1"/>
          <p:nvPr/>
        </p:nvSpPr>
        <p:spPr>
          <a:xfrm>
            <a:off x="746760" y="865632"/>
            <a:ext cx="198451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Na: (77-19)*5</a:t>
            </a:r>
            <a:r>
              <a:rPr 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292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D993D873-0826-4D16-88A7-FF324BE0C9D7}"/>
              </a:ext>
            </a:extLst>
          </p:cNvPr>
          <p:cNvSpPr txBox="1"/>
          <p:nvPr/>
        </p:nvSpPr>
        <p:spPr>
          <a:xfrm>
            <a:off x="762000" y="1831848"/>
            <a:ext cx="223298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K: (-89-19)*2.2</a:t>
            </a:r>
            <a:r>
              <a:rPr 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-236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12839F8-3427-44F4-AA9A-EDC8F9CBF1A3}"/>
              </a:ext>
            </a:extLst>
          </p:cNvPr>
          <p:cNvSpPr txBox="1"/>
          <p:nvPr/>
        </p:nvSpPr>
        <p:spPr>
          <a:xfrm>
            <a:off x="6966899" y="790066"/>
            <a:ext cx="209672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Cl: (-71-19)*.4</a:t>
            </a:r>
            <a:r>
              <a:rPr 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-36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EACB6D97-7F56-4382-A63F-5F83FDFED4F8}"/>
              </a:ext>
            </a:extLst>
          </p:cNvPr>
          <p:cNvCxnSpPr>
            <a:cxnSpLocks/>
            <a:stCxn id="244" idx="1"/>
          </p:cNvCxnSpPr>
          <p:nvPr/>
        </p:nvCxnSpPr>
        <p:spPr>
          <a:xfrm flipH="1">
            <a:off x="6546275" y="943955"/>
            <a:ext cx="420624" cy="12043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452D914-A0DE-4677-A676-D4F16232C6A9}"/>
              </a:ext>
            </a:extLst>
          </p:cNvPr>
          <p:cNvSpPr txBox="1"/>
          <p:nvPr/>
        </p:nvSpPr>
        <p:spPr>
          <a:xfrm>
            <a:off x="5803392" y="408768"/>
            <a:ext cx="142827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=+19mV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40042-E959-4159-8DB3-D2219737F69C}"/>
              </a:ext>
            </a:extLst>
          </p:cNvPr>
          <p:cNvSpPr txBox="1"/>
          <p:nvPr/>
        </p:nvSpPr>
        <p:spPr>
          <a:xfrm>
            <a:off x="4411818" y="2995259"/>
            <a:ext cx="3357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Into the cell, since 292-60&gt;0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EAB20F-666E-4223-BC37-6AA91E9D88F0}"/>
              </a:ext>
            </a:extLst>
          </p:cNvPr>
          <p:cNvSpPr txBox="1"/>
          <p:nvPr/>
        </p:nvSpPr>
        <p:spPr>
          <a:xfrm>
            <a:off x="1598333" y="3463540"/>
            <a:ext cx="3505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Out of the cell, since 40-236&lt;0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DCBD22-008A-430A-B75C-1AF98BBEE957}"/>
              </a:ext>
            </a:extLst>
          </p:cNvPr>
          <p:cNvSpPr txBox="1"/>
          <p:nvPr/>
        </p:nvSpPr>
        <p:spPr>
          <a:xfrm>
            <a:off x="1755602" y="3914571"/>
            <a:ext cx="5269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Charge out (Cl in) the cell, since -36&lt;0. Tricky?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BE78D47-1D43-457A-AC92-FBF4325CA222}"/>
              </a:ext>
            </a:extLst>
          </p:cNvPr>
          <p:cNvSpPr/>
          <p:nvPr/>
        </p:nvSpPr>
        <p:spPr>
          <a:xfrm>
            <a:off x="2478024" y="489678"/>
            <a:ext cx="1972276" cy="571026"/>
          </a:xfrm>
          <a:custGeom>
            <a:avLst/>
            <a:gdLst>
              <a:gd name="connsiteX0" fmla="*/ 0 w 1972276"/>
              <a:gd name="connsiteY0" fmla="*/ 360714 h 571026"/>
              <a:gd name="connsiteX1" fmla="*/ 1709928 w 1972276"/>
              <a:gd name="connsiteY1" fmla="*/ 4098 h 571026"/>
              <a:gd name="connsiteX2" fmla="*/ 1938528 w 1972276"/>
              <a:gd name="connsiteY2" fmla="*/ 571026 h 571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2276" h="571026">
                <a:moveTo>
                  <a:pt x="0" y="360714"/>
                </a:moveTo>
                <a:cubicBezTo>
                  <a:pt x="693420" y="164880"/>
                  <a:pt x="1386840" y="-30954"/>
                  <a:pt x="1709928" y="4098"/>
                </a:cubicBezTo>
                <a:cubicBezTo>
                  <a:pt x="2033016" y="39150"/>
                  <a:pt x="1985772" y="305088"/>
                  <a:pt x="1938528" y="571026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00E0BD8-D100-484E-8BE1-CC97EC8769DE}"/>
              </a:ext>
            </a:extLst>
          </p:cNvPr>
          <p:cNvSpPr/>
          <p:nvPr/>
        </p:nvSpPr>
        <p:spPr>
          <a:xfrm>
            <a:off x="2660904" y="1810512"/>
            <a:ext cx="2697480" cy="953318"/>
          </a:xfrm>
          <a:custGeom>
            <a:avLst/>
            <a:gdLst>
              <a:gd name="connsiteX0" fmla="*/ 0 w 2697480"/>
              <a:gd name="connsiteY0" fmla="*/ 356616 h 953318"/>
              <a:gd name="connsiteX1" fmla="*/ 950976 w 2697480"/>
              <a:gd name="connsiteY1" fmla="*/ 905256 h 953318"/>
              <a:gd name="connsiteX2" fmla="*/ 2377440 w 2697480"/>
              <a:gd name="connsiteY2" fmla="*/ 822960 h 953318"/>
              <a:gd name="connsiteX3" fmla="*/ 2697480 w 2697480"/>
              <a:gd name="connsiteY3" fmla="*/ 0 h 95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7480" h="953318">
                <a:moveTo>
                  <a:pt x="0" y="356616"/>
                </a:moveTo>
                <a:cubicBezTo>
                  <a:pt x="277368" y="592074"/>
                  <a:pt x="554736" y="827532"/>
                  <a:pt x="950976" y="905256"/>
                </a:cubicBezTo>
                <a:cubicBezTo>
                  <a:pt x="1347216" y="982980"/>
                  <a:pt x="2086356" y="973836"/>
                  <a:pt x="2377440" y="822960"/>
                </a:cubicBezTo>
                <a:cubicBezTo>
                  <a:pt x="2668524" y="672084"/>
                  <a:pt x="2683002" y="336042"/>
                  <a:pt x="2697480" y="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576C0C57-A0E6-4B37-8200-6F4043A615E4}"/>
                  </a:ext>
                </a:extLst>
              </p:cNvPr>
              <p:cNvSpPr/>
              <p:nvPr/>
            </p:nvSpPr>
            <p:spPr>
              <a:xfrm>
                <a:off x="4473004" y="1651973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576C0C57-A0E6-4B37-8200-6F4043A61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004" y="1651973"/>
                <a:ext cx="479991" cy="406201"/>
              </a:xfrm>
              <a:prstGeom prst="rect">
                <a:avLst/>
              </a:prstGeom>
              <a:blipFill>
                <a:blip r:embed="rId3"/>
                <a:stretch>
                  <a:fillRect r="-11538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20EFF6A-DD36-4AE4-859C-B47A6BEBFDA6}"/>
                  </a:ext>
                </a:extLst>
              </p:cNvPr>
              <p:cNvSpPr/>
              <p:nvPr/>
            </p:nvSpPr>
            <p:spPr>
              <a:xfrm>
                <a:off x="5730278" y="1652774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20EFF6A-DD36-4AE4-859C-B47A6BEBF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78" y="1652774"/>
                <a:ext cx="479991" cy="404598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3FCF5F68-1E45-4175-8DEE-30EF7454C2F6}"/>
                  </a:ext>
                </a:extLst>
              </p:cNvPr>
              <p:cNvSpPr/>
              <p:nvPr/>
            </p:nvSpPr>
            <p:spPr>
              <a:xfrm>
                <a:off x="6867283" y="1717513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3FCF5F68-1E45-4175-8DEE-30EF7454C2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283" y="1717513"/>
                <a:ext cx="479991" cy="412870"/>
              </a:xfrm>
              <a:prstGeom prst="rect">
                <a:avLst/>
              </a:prstGeom>
              <a:blipFill>
                <a:blip r:embed="rId5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1EA99E8-0B08-1024-C0D4-54CE9582FA1A}"/>
              </a:ext>
            </a:extLst>
          </p:cNvPr>
          <p:cNvCxnSpPr>
            <a:cxnSpLocks/>
          </p:cNvCxnSpPr>
          <p:nvPr/>
        </p:nvCxnSpPr>
        <p:spPr>
          <a:xfrm>
            <a:off x="6726881" y="2048409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157F65B-B830-B293-B0A2-BF71F4198713}"/>
              </a:ext>
            </a:extLst>
          </p:cNvPr>
          <p:cNvCxnSpPr>
            <a:cxnSpLocks/>
          </p:cNvCxnSpPr>
          <p:nvPr/>
        </p:nvCxnSpPr>
        <p:spPr>
          <a:xfrm>
            <a:off x="6662083" y="2725490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E7EBDE6-4272-0516-3D1B-13AEC200D201}"/>
              </a:ext>
            </a:extLst>
          </p:cNvPr>
          <p:cNvCxnSpPr>
            <a:cxnSpLocks/>
          </p:cNvCxnSpPr>
          <p:nvPr/>
        </p:nvCxnSpPr>
        <p:spPr>
          <a:xfrm>
            <a:off x="6697586" y="2778830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23BF2BD-61BF-5549-AC1F-73E1F0845E93}"/>
              </a:ext>
            </a:extLst>
          </p:cNvPr>
          <p:cNvCxnSpPr>
            <a:cxnSpLocks/>
          </p:cNvCxnSpPr>
          <p:nvPr/>
        </p:nvCxnSpPr>
        <p:spPr>
          <a:xfrm>
            <a:off x="6591409" y="2675960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73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" grpId="0"/>
      <p:bldP spid="240" grpId="0"/>
      <p:bldP spid="244" grpId="0"/>
      <p:bldP spid="5" grpId="0"/>
      <p:bldP spid="75" grpId="0"/>
      <p:bldP spid="76" grpId="0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B9A9E-FB0E-377F-4088-6BBCC7B1D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3A1084-DD5F-C569-D7B3-15C4CCC7E0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3307838"/>
                <a:ext cx="7772400" cy="2946658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en-US" sz="2400" dirty="0"/>
                  <a:t>Over time…</a:t>
                </a:r>
                <a:endParaRPr lang="en-US" sz="1800" dirty="0"/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Na into the cell, since 292-40&gt;0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[Na]</a:t>
                </a:r>
                <a:r>
                  <a:rPr lang="en-US" sz="2000" baseline="-25000" dirty="0"/>
                  <a:t>ICF</a:t>
                </a:r>
                <a:r>
                  <a:rPr lang="en-US" sz="2000" dirty="0"/>
                  <a:t> rises,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𝑁𝑎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𝑚𝑉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𝑁𝑎</m:t>
                                </m:r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𝐸𝐶𝐹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𝑁𝑎</m:t>
                                </m:r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𝐼𝐶𝐹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 falls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[K]</a:t>
                </a:r>
                <a:r>
                  <a:rPr lang="en-US" sz="2000" baseline="-25000" dirty="0"/>
                  <a:t>ICF</a:t>
                </a:r>
                <a:r>
                  <a:rPr lang="en-US" sz="2000" dirty="0"/>
                  <a:t> falls,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𝑁𝑎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𝑚𝑉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𝐸𝐶𝐹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𝐼𝐶𝐹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 rises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[Cl]</a:t>
                </a:r>
                <a:r>
                  <a:rPr lang="en-US" sz="2000" baseline="-25000" dirty="0"/>
                  <a:t>ICF</a:t>
                </a:r>
                <a:r>
                  <a:rPr lang="en-US" sz="2000" dirty="0"/>
                  <a:t> rises,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𝐶𝑙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𝑚𝑉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𝐶𝑙</m:t>
                                </m:r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𝐸𝐶𝐹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𝐶𝑙</m:t>
                                </m:r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𝐼𝐶𝐹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 rises</a:t>
                </a:r>
              </a:p>
              <a:p>
                <a:r>
                  <a:rPr lang="en-US" sz="2000" dirty="0"/>
                  <a:t>New </a:t>
                </a:r>
                <a:r>
                  <a:rPr lang="en-US" sz="2000" dirty="0" err="1"/>
                  <a:t>V</a:t>
                </a:r>
                <a:r>
                  <a:rPr lang="en-US" sz="2000" baseline="30000" dirty="0" err="1"/>
                  <a:t>Nernst</a:t>
                </a:r>
                <a:r>
                  <a:rPr lang="en-US" sz="2000" dirty="0"/>
                  <a:t> values cause new </a:t>
                </a:r>
                <a:r>
                  <a:rPr lang="en-US" sz="2000" i="1" dirty="0" err="1"/>
                  <a:t>V</a:t>
                </a:r>
                <a:r>
                  <a:rPr lang="en-US" sz="2000" baseline="-25000" dirty="0" err="1"/>
                  <a:t>mem</a:t>
                </a:r>
                <a:r>
                  <a:rPr lang="en-US" sz="2000" dirty="0"/>
                  <a:t> </a:t>
                </a:r>
                <a:r>
                  <a:rPr lang="en-US" sz="2000" dirty="0">
                    <a:sym typeface="Symbol" panose="05050102010706020507" pitchFamily="18" charset="2"/>
                  </a:rPr>
                  <a:t> new ion fluxes, …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3A1084-DD5F-C569-D7B3-15C4CCC7E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3307838"/>
                <a:ext cx="7772400" cy="2946658"/>
              </a:xfrm>
              <a:blipFill>
                <a:blip r:embed="rId3"/>
                <a:stretch>
                  <a:fillRect l="-1098" t="-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85CF6-8C40-6A5D-A9F2-B25B0E6C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4E88E54-47CA-69D7-AA6F-92A2F6774953}"/>
              </a:ext>
            </a:extLst>
          </p:cNvPr>
          <p:cNvSpPr txBox="1"/>
          <p:nvPr/>
        </p:nvSpPr>
        <p:spPr>
          <a:xfrm>
            <a:off x="4923341" y="417576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2C80DF-23DA-1FEB-A0E6-BB24703DCA3B}"/>
              </a:ext>
            </a:extLst>
          </p:cNvPr>
          <p:cNvGrpSpPr/>
          <p:nvPr/>
        </p:nvGrpSpPr>
        <p:grpSpPr>
          <a:xfrm>
            <a:off x="3094539" y="815508"/>
            <a:ext cx="4362422" cy="1655467"/>
            <a:chOff x="2911659" y="998388"/>
            <a:chExt cx="4362422" cy="1655467"/>
          </a:xfrm>
        </p:grpSpPr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C007B53-A923-F476-2572-714E0D41EA40}"/>
                </a:ext>
              </a:extLst>
            </p:cNvPr>
            <p:cNvCxnSpPr>
              <a:cxnSpLocks/>
            </p:cNvCxnSpPr>
            <p:nvPr/>
          </p:nvCxnSpPr>
          <p:spPr>
            <a:xfrm>
              <a:off x="3546652" y="1006857"/>
              <a:ext cx="0" cy="1600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5A2E34CF-CB35-5410-9776-BE0E714D00C7}"/>
                </a:ext>
              </a:extLst>
            </p:cNvPr>
            <p:cNvSpPr/>
            <p:nvPr/>
          </p:nvSpPr>
          <p:spPr>
            <a:xfrm>
              <a:off x="3402729" y="1421723"/>
              <a:ext cx="279400" cy="6773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37D04FB-6558-99A7-133E-3ACFDA886078}"/>
                </a:ext>
              </a:extLst>
            </p:cNvPr>
            <p:cNvCxnSpPr>
              <a:cxnSpLocks/>
            </p:cNvCxnSpPr>
            <p:nvPr/>
          </p:nvCxnSpPr>
          <p:spPr>
            <a:xfrm>
              <a:off x="3238330" y="2598586"/>
              <a:ext cx="330552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825E63DF-CA61-6394-B82E-A9FD6E439CCF}"/>
                </a:ext>
              </a:extLst>
            </p:cNvPr>
            <p:cNvGrpSpPr/>
            <p:nvPr/>
          </p:nvGrpSpPr>
          <p:grpSpPr>
            <a:xfrm>
              <a:off x="3978458" y="2146430"/>
              <a:ext cx="926979" cy="352417"/>
              <a:chOff x="5892800" y="3496733"/>
              <a:chExt cx="852363" cy="323489"/>
            </a:xfrm>
          </p:grpSpPr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E9362703-69BA-ABDC-9B07-DF8905E812DE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76E325DB-0078-940D-5D0F-60A1A42101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79CBE444-E3B9-67D6-58DA-C36181766020}"/>
                  </a:ext>
                </a:extLst>
              </p:cNvPr>
              <p:cNvSpPr txBox="1"/>
              <p:nvPr/>
            </p:nvSpPr>
            <p:spPr>
              <a:xfrm>
                <a:off x="6214533" y="3565959"/>
                <a:ext cx="530630" cy="254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77mV</a:t>
                </a:r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798077CB-B2CA-6754-C7F7-10E943113C96}"/>
                </a:ext>
              </a:extLst>
            </p:cNvPr>
            <p:cNvGrpSpPr/>
            <p:nvPr/>
          </p:nvGrpSpPr>
          <p:grpSpPr>
            <a:xfrm>
              <a:off x="5206124" y="2124454"/>
              <a:ext cx="984228" cy="310035"/>
              <a:chOff x="5892800" y="3496733"/>
              <a:chExt cx="984228" cy="310035"/>
            </a:xfrm>
          </p:grpSpPr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C79A5B5F-D249-6FFA-346A-DF8FA1148FD7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1B2F6F4D-06B4-0171-3900-5B731FCFD8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7972D81C-6C33-4B89-49F2-153FCD40743F}"/>
                  </a:ext>
                </a:extLst>
              </p:cNvPr>
              <p:cNvSpPr txBox="1"/>
              <p:nvPr/>
            </p:nvSpPr>
            <p:spPr>
              <a:xfrm>
                <a:off x="6223003" y="3529769"/>
                <a:ext cx="654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-89mV</a:t>
                </a: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3C91EC46-A91D-2674-E4AF-7D4969B28486}"/>
                </a:ext>
              </a:extLst>
            </p:cNvPr>
            <p:cNvGrpSpPr/>
            <p:nvPr/>
          </p:nvGrpSpPr>
          <p:grpSpPr>
            <a:xfrm>
              <a:off x="6298323" y="2124454"/>
              <a:ext cx="975758" cy="399766"/>
              <a:chOff x="5892800" y="3496733"/>
              <a:chExt cx="975758" cy="399766"/>
            </a:xfrm>
          </p:grpSpPr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4A8FEAF6-2173-39CB-5507-3A2EFE1F8E4C}"/>
                  </a:ext>
                </a:extLst>
              </p:cNvPr>
              <p:cNvCxnSpPr/>
              <p:nvPr/>
            </p:nvCxnSpPr>
            <p:spPr>
              <a:xfrm>
                <a:off x="5892800" y="3496733"/>
                <a:ext cx="4572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C196E8AB-399E-1E56-289C-8B79C76E0F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4399" y="3598332"/>
                <a:ext cx="25400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7E92C97B-2FFA-B8D7-DBBD-B77AB9AAB48B}"/>
                  </a:ext>
                </a:extLst>
              </p:cNvPr>
              <p:cNvSpPr txBox="1"/>
              <p:nvPr/>
            </p:nvSpPr>
            <p:spPr>
              <a:xfrm>
                <a:off x="6214533" y="3619500"/>
                <a:ext cx="654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800" dirty="0"/>
                  <a:t>-71mV</a:t>
                </a:r>
              </a:p>
            </p:txBody>
          </p:sp>
        </p:grp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359336BC-A167-6058-3586-9E1249004DFD}"/>
                </a:ext>
              </a:extLst>
            </p:cNvPr>
            <p:cNvCxnSpPr>
              <a:cxnSpLocks/>
            </p:cNvCxnSpPr>
            <p:nvPr/>
          </p:nvCxnSpPr>
          <p:spPr>
            <a:xfrm>
              <a:off x="4215527" y="2226055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AF0ECD8-AD8F-0348-1ED0-45B25374C899}"/>
                </a:ext>
              </a:extLst>
            </p:cNvPr>
            <p:cNvCxnSpPr>
              <a:cxnSpLocks/>
            </p:cNvCxnSpPr>
            <p:nvPr/>
          </p:nvCxnSpPr>
          <p:spPr>
            <a:xfrm>
              <a:off x="5434729" y="2234516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B6B68BAB-4874-745D-3A09-F0721F261A04}"/>
                </a:ext>
              </a:extLst>
            </p:cNvPr>
            <p:cNvCxnSpPr>
              <a:cxnSpLocks/>
            </p:cNvCxnSpPr>
            <p:nvPr/>
          </p:nvCxnSpPr>
          <p:spPr>
            <a:xfrm>
              <a:off x="6535394" y="2234521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B2113D44-974C-C2EF-9100-231D638AAA06}"/>
                </a:ext>
              </a:extLst>
            </p:cNvPr>
            <p:cNvGrpSpPr/>
            <p:nvPr/>
          </p:nvGrpSpPr>
          <p:grpSpPr>
            <a:xfrm>
              <a:off x="3842992" y="1243922"/>
              <a:ext cx="381000" cy="685800"/>
              <a:chOff x="5562600" y="3429000"/>
              <a:chExt cx="381000" cy="685800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6ABB63C4-1D8A-85A2-4E99-BD9CDD98CE12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DBD23F1B-CFB5-8B1B-1C2C-D10E474D1514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2866A2D0-27C7-7045-7627-D3EDA2B9FF3A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EB453FD8-6C9F-629F-07DD-BFC02CEFBEA1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D6823401-C638-A9CA-CECB-08E747135482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D435F918-2028-2285-FF14-49CF7232DD2C}"/>
                </a:ext>
              </a:extLst>
            </p:cNvPr>
            <p:cNvCxnSpPr>
              <a:cxnSpLocks/>
            </p:cNvCxnSpPr>
            <p:nvPr/>
          </p:nvCxnSpPr>
          <p:spPr>
            <a:xfrm>
              <a:off x="4215525" y="1912790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AB9B23B0-6987-3058-D6FC-ECB23EBA9CB7}"/>
                </a:ext>
              </a:extLst>
            </p:cNvPr>
            <p:cNvGrpSpPr/>
            <p:nvPr/>
          </p:nvGrpSpPr>
          <p:grpSpPr>
            <a:xfrm>
              <a:off x="5045258" y="1243920"/>
              <a:ext cx="381000" cy="685800"/>
              <a:chOff x="5562600" y="3429000"/>
              <a:chExt cx="381000" cy="685800"/>
            </a:xfrm>
          </p:grpSpPr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14313AA5-1715-36A5-490B-7F06C618631F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D947DD38-B56D-B8CF-3F61-5E8F1D511071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E7D4AFFA-8436-F1E1-7C3A-D6DD4FB00661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CF4BAAA3-BCB6-B992-1C49-EDBAD2662CBF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CE294953-2207-99E5-1B1D-CBB641A4A93A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F1EC7847-C3B4-37D5-0033-5DAE669B2D00}"/>
                </a:ext>
              </a:extLst>
            </p:cNvPr>
            <p:cNvCxnSpPr>
              <a:cxnSpLocks/>
            </p:cNvCxnSpPr>
            <p:nvPr/>
          </p:nvCxnSpPr>
          <p:spPr>
            <a:xfrm>
              <a:off x="5417791" y="1912788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23F4CB7F-C982-A4AE-CEDE-B2324DE6CD1C}"/>
                </a:ext>
              </a:extLst>
            </p:cNvPr>
            <p:cNvGrpSpPr/>
            <p:nvPr/>
          </p:nvGrpSpPr>
          <p:grpSpPr>
            <a:xfrm>
              <a:off x="6162862" y="1243917"/>
              <a:ext cx="381000" cy="685800"/>
              <a:chOff x="5562600" y="3429000"/>
              <a:chExt cx="381000" cy="685800"/>
            </a:xfrm>
          </p:grpSpPr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FBA2893D-D17D-D4A9-6C51-44CC15DB29DB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228600" cy="76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26136BA3-4122-78C5-379F-E4F0E3DC7D83}"/>
                  </a:ext>
                </a:extLst>
              </p:cNvPr>
              <p:cNvCxnSpPr/>
              <p:nvPr/>
            </p:nvCxnSpPr>
            <p:spPr>
              <a:xfrm flipV="1">
                <a:off x="5562600" y="35052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45D40435-9B9E-551B-1CBE-B3BE8C8EFF05}"/>
                  </a:ext>
                </a:extLst>
              </p:cNvPr>
              <p:cNvCxnSpPr/>
              <p:nvPr/>
            </p:nvCxnSpPr>
            <p:spPr>
              <a:xfrm flipH="1" flipV="1">
                <a:off x="5562600" y="36576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4F5580BC-FD96-785A-A615-CC4EDC9F13AE}"/>
                  </a:ext>
                </a:extLst>
              </p:cNvPr>
              <p:cNvCxnSpPr/>
              <p:nvPr/>
            </p:nvCxnSpPr>
            <p:spPr>
              <a:xfrm flipV="1">
                <a:off x="5562600" y="38100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D9BB8753-4A5F-AC53-DE75-3774723DA830}"/>
                  </a:ext>
                </a:extLst>
              </p:cNvPr>
              <p:cNvCxnSpPr/>
              <p:nvPr/>
            </p:nvCxnSpPr>
            <p:spPr>
              <a:xfrm flipH="1" flipV="1">
                <a:off x="5562600" y="3962400"/>
                <a:ext cx="381000" cy="152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C81DFE36-5464-7E22-09F0-A75BF38CB9DE}"/>
                </a:ext>
              </a:extLst>
            </p:cNvPr>
            <p:cNvCxnSpPr>
              <a:cxnSpLocks/>
            </p:cNvCxnSpPr>
            <p:nvPr/>
          </p:nvCxnSpPr>
          <p:spPr>
            <a:xfrm>
              <a:off x="6535395" y="191278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CA76EC69-6B2C-2B1D-97E9-37788776AB6E}"/>
                </a:ext>
              </a:extLst>
            </p:cNvPr>
            <p:cNvCxnSpPr>
              <a:cxnSpLocks/>
            </p:cNvCxnSpPr>
            <p:nvPr/>
          </p:nvCxnSpPr>
          <p:spPr>
            <a:xfrm>
              <a:off x="3229863" y="1023787"/>
              <a:ext cx="311079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B4A0158E-C95E-9D9A-EF7B-D44427C49B75}"/>
                </a:ext>
              </a:extLst>
            </p:cNvPr>
            <p:cNvCxnSpPr>
              <a:cxnSpLocks/>
            </p:cNvCxnSpPr>
            <p:nvPr/>
          </p:nvCxnSpPr>
          <p:spPr>
            <a:xfrm>
              <a:off x="4012320" y="1032258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5A714B7-BFA6-6269-238D-E0A2F6CDDEDB}"/>
                </a:ext>
              </a:extLst>
            </p:cNvPr>
            <p:cNvCxnSpPr>
              <a:cxnSpLocks/>
            </p:cNvCxnSpPr>
            <p:nvPr/>
          </p:nvCxnSpPr>
          <p:spPr>
            <a:xfrm>
              <a:off x="5214586" y="1049188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BE89D385-9F65-165D-3686-6C5A8134DF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3719" y="1040725"/>
              <a:ext cx="0" cy="2031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3646662F-E558-E3B0-E152-A08CB074D0D8}"/>
                </a:ext>
              </a:extLst>
            </p:cNvPr>
            <p:cNvSpPr txBox="1"/>
            <p:nvPr/>
          </p:nvSpPr>
          <p:spPr>
            <a:xfrm>
              <a:off x="3423032" y="2192190"/>
              <a:ext cx="795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ECF</a:t>
              </a:r>
            </a:p>
          </p:txBody>
        </p: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057B3669-69A8-812C-64BD-33C7F9A03E28}"/>
                </a:ext>
              </a:extLst>
            </p:cNvPr>
            <p:cNvCxnSpPr>
              <a:cxnSpLocks/>
            </p:cNvCxnSpPr>
            <p:nvPr/>
          </p:nvCxnSpPr>
          <p:spPr>
            <a:xfrm>
              <a:off x="3542429" y="1607990"/>
              <a:ext cx="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D89B8761-D5DE-C275-5FCA-D0F7F0AC525D}"/>
                </a:ext>
              </a:extLst>
            </p:cNvPr>
            <p:cNvCxnSpPr>
              <a:cxnSpLocks/>
            </p:cNvCxnSpPr>
            <p:nvPr/>
          </p:nvCxnSpPr>
          <p:spPr>
            <a:xfrm>
              <a:off x="3233386" y="998388"/>
              <a:ext cx="0" cy="160020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210ED9B9-BCED-8E17-6CB2-066BC0ECAFD6}"/>
                </a:ext>
              </a:extLst>
            </p:cNvPr>
            <p:cNvSpPr/>
            <p:nvPr/>
          </p:nvSpPr>
          <p:spPr>
            <a:xfrm>
              <a:off x="3089463" y="1413254"/>
              <a:ext cx="279400" cy="67733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508D242B-6FF6-92EA-C7B6-3584E36CB848}"/>
                </a:ext>
              </a:extLst>
            </p:cNvPr>
            <p:cNvCxnSpPr>
              <a:cxnSpLocks/>
            </p:cNvCxnSpPr>
            <p:nvPr/>
          </p:nvCxnSpPr>
          <p:spPr>
            <a:xfrm>
              <a:off x="3229163" y="1599521"/>
              <a:ext cx="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9CF331A3-A176-9CFD-9D64-F723B7D297B1}"/>
                </a:ext>
              </a:extLst>
            </p:cNvPr>
            <p:cNvSpPr txBox="1"/>
            <p:nvPr/>
          </p:nvSpPr>
          <p:spPr>
            <a:xfrm>
              <a:off x="2911659" y="1074584"/>
              <a:ext cx="28373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 err="1"/>
                <a:t>I</a:t>
              </a:r>
              <a:r>
                <a:rPr lang="en-US" sz="2000" baseline="-25000" dirty="0" err="1"/>
                <a:t>Na</a:t>
              </a:r>
              <a:endParaRPr lang="en-US" sz="2000" dirty="0"/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6201A6D9-64D9-9641-5AFD-C2485A1F3172}"/>
                </a:ext>
              </a:extLst>
            </p:cNvPr>
            <p:cNvSpPr txBox="1"/>
            <p:nvPr/>
          </p:nvSpPr>
          <p:spPr>
            <a:xfrm>
              <a:off x="3555125" y="1066119"/>
              <a:ext cx="20839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i="1" dirty="0"/>
                <a:t>I</a:t>
              </a:r>
              <a:r>
                <a:rPr lang="en-US" sz="2000" baseline="-25000" dirty="0"/>
                <a:t>K</a:t>
              </a:r>
              <a:endParaRPr lang="en-US" sz="200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D14E4FF1-05C2-29AE-C450-1458C145B169}"/>
              </a:ext>
            </a:extLst>
          </p:cNvPr>
          <p:cNvGrpSpPr/>
          <p:nvPr/>
        </p:nvGrpSpPr>
        <p:grpSpPr>
          <a:xfrm>
            <a:off x="4422786" y="1126402"/>
            <a:ext cx="2529160" cy="324711"/>
            <a:chOff x="4215522" y="1303186"/>
            <a:chExt cx="2529160" cy="32471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83343C4E-7E0D-38D5-0761-2AD23A9BDE8F}"/>
                </a:ext>
              </a:extLst>
            </p:cNvPr>
            <p:cNvSpPr txBox="1"/>
            <p:nvPr/>
          </p:nvSpPr>
          <p:spPr>
            <a:xfrm>
              <a:off x="4215522" y="1320120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658FABF9-1D37-3720-6492-8F32B87DE0A9}"/>
                </a:ext>
              </a:extLst>
            </p:cNvPr>
            <p:cNvSpPr txBox="1"/>
            <p:nvPr/>
          </p:nvSpPr>
          <p:spPr>
            <a:xfrm>
              <a:off x="5366989" y="1303186"/>
              <a:ext cx="3206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2.2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50E2A97D-A701-7D7D-52B4-D02C65539CCC}"/>
                </a:ext>
              </a:extLst>
            </p:cNvPr>
            <p:cNvSpPr txBox="1"/>
            <p:nvPr/>
          </p:nvSpPr>
          <p:spPr>
            <a:xfrm>
              <a:off x="65523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1A8EEE93-B56E-7328-841C-32D5734F82D3}"/>
              </a:ext>
            </a:extLst>
          </p:cNvPr>
          <p:cNvSpPr txBox="1"/>
          <p:nvPr/>
        </p:nvSpPr>
        <p:spPr>
          <a:xfrm>
            <a:off x="2990088" y="1591056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6606367-8559-C4A9-5B44-E57C177FCC0B}"/>
              </a:ext>
            </a:extLst>
          </p:cNvPr>
          <p:cNvSpPr txBox="1"/>
          <p:nvPr/>
        </p:nvSpPr>
        <p:spPr>
          <a:xfrm>
            <a:off x="746760" y="865632"/>
            <a:ext cx="198451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Na: (77-19)*5</a:t>
            </a:r>
            <a:r>
              <a:rPr 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292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10203F67-DDA1-9022-CA42-F13824A2B3A2}"/>
              </a:ext>
            </a:extLst>
          </p:cNvPr>
          <p:cNvSpPr txBox="1"/>
          <p:nvPr/>
        </p:nvSpPr>
        <p:spPr>
          <a:xfrm>
            <a:off x="762000" y="1831848"/>
            <a:ext cx="223298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K: (-89-19)*2.2</a:t>
            </a:r>
            <a:r>
              <a:rPr 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-236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4CF69583-A0A0-ECCB-8769-C267C046692E}"/>
              </a:ext>
            </a:extLst>
          </p:cNvPr>
          <p:cNvSpPr txBox="1"/>
          <p:nvPr/>
        </p:nvSpPr>
        <p:spPr>
          <a:xfrm>
            <a:off x="6966899" y="790066"/>
            <a:ext cx="209672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Cl: (-71-19)*.4</a:t>
            </a:r>
            <a:r>
              <a:rPr 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-36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E9E7BB30-56CD-CBBD-6666-C5AD3ED10E96}"/>
              </a:ext>
            </a:extLst>
          </p:cNvPr>
          <p:cNvCxnSpPr>
            <a:cxnSpLocks/>
            <a:stCxn id="244" idx="1"/>
          </p:cNvCxnSpPr>
          <p:nvPr/>
        </p:nvCxnSpPr>
        <p:spPr>
          <a:xfrm flipH="1">
            <a:off x="6546275" y="943955"/>
            <a:ext cx="420624" cy="12043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7D66C52-71E0-F1E2-6BC4-FA08C008EC2D}"/>
              </a:ext>
            </a:extLst>
          </p:cNvPr>
          <p:cNvSpPr txBox="1"/>
          <p:nvPr/>
        </p:nvSpPr>
        <p:spPr>
          <a:xfrm>
            <a:off x="5803392" y="408768"/>
            <a:ext cx="142827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=+19mV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090B729-1FAC-DFAA-CE4C-11D7269B512E}"/>
              </a:ext>
            </a:extLst>
          </p:cNvPr>
          <p:cNvSpPr/>
          <p:nvPr/>
        </p:nvSpPr>
        <p:spPr>
          <a:xfrm>
            <a:off x="2478024" y="489678"/>
            <a:ext cx="1972276" cy="571026"/>
          </a:xfrm>
          <a:custGeom>
            <a:avLst/>
            <a:gdLst>
              <a:gd name="connsiteX0" fmla="*/ 0 w 1972276"/>
              <a:gd name="connsiteY0" fmla="*/ 360714 h 571026"/>
              <a:gd name="connsiteX1" fmla="*/ 1709928 w 1972276"/>
              <a:gd name="connsiteY1" fmla="*/ 4098 h 571026"/>
              <a:gd name="connsiteX2" fmla="*/ 1938528 w 1972276"/>
              <a:gd name="connsiteY2" fmla="*/ 571026 h 571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2276" h="571026">
                <a:moveTo>
                  <a:pt x="0" y="360714"/>
                </a:moveTo>
                <a:cubicBezTo>
                  <a:pt x="693420" y="164880"/>
                  <a:pt x="1386840" y="-30954"/>
                  <a:pt x="1709928" y="4098"/>
                </a:cubicBezTo>
                <a:cubicBezTo>
                  <a:pt x="2033016" y="39150"/>
                  <a:pt x="1985772" y="305088"/>
                  <a:pt x="1938528" y="571026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07EA188-8F63-70FF-323A-7800A1DA103B}"/>
              </a:ext>
            </a:extLst>
          </p:cNvPr>
          <p:cNvSpPr/>
          <p:nvPr/>
        </p:nvSpPr>
        <p:spPr>
          <a:xfrm>
            <a:off x="2660904" y="1810512"/>
            <a:ext cx="2697480" cy="953318"/>
          </a:xfrm>
          <a:custGeom>
            <a:avLst/>
            <a:gdLst>
              <a:gd name="connsiteX0" fmla="*/ 0 w 2697480"/>
              <a:gd name="connsiteY0" fmla="*/ 356616 h 953318"/>
              <a:gd name="connsiteX1" fmla="*/ 950976 w 2697480"/>
              <a:gd name="connsiteY1" fmla="*/ 905256 h 953318"/>
              <a:gd name="connsiteX2" fmla="*/ 2377440 w 2697480"/>
              <a:gd name="connsiteY2" fmla="*/ 822960 h 953318"/>
              <a:gd name="connsiteX3" fmla="*/ 2697480 w 2697480"/>
              <a:gd name="connsiteY3" fmla="*/ 0 h 95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7480" h="953318">
                <a:moveTo>
                  <a:pt x="0" y="356616"/>
                </a:moveTo>
                <a:cubicBezTo>
                  <a:pt x="277368" y="592074"/>
                  <a:pt x="554736" y="827532"/>
                  <a:pt x="950976" y="905256"/>
                </a:cubicBezTo>
                <a:cubicBezTo>
                  <a:pt x="1347216" y="982980"/>
                  <a:pt x="2086356" y="973836"/>
                  <a:pt x="2377440" y="822960"/>
                </a:cubicBezTo>
                <a:cubicBezTo>
                  <a:pt x="2668524" y="672084"/>
                  <a:pt x="2683002" y="336042"/>
                  <a:pt x="2697480" y="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EA74FDF-6C4A-493A-578D-D625E3BF4B23}"/>
                  </a:ext>
                </a:extLst>
              </p:cNvPr>
              <p:cNvSpPr/>
              <p:nvPr/>
            </p:nvSpPr>
            <p:spPr>
              <a:xfrm>
                <a:off x="4473004" y="1651973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EA74FDF-6C4A-493A-578D-D625E3BF4B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004" y="1651973"/>
                <a:ext cx="479991" cy="406201"/>
              </a:xfrm>
              <a:prstGeom prst="rect">
                <a:avLst/>
              </a:prstGeom>
              <a:blipFill>
                <a:blip r:embed="rId4"/>
                <a:stretch>
                  <a:fillRect r="-11538"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C2A3325-4CC4-E3DA-91E6-3D066F7F531E}"/>
                  </a:ext>
                </a:extLst>
              </p:cNvPr>
              <p:cNvSpPr/>
              <p:nvPr/>
            </p:nvSpPr>
            <p:spPr>
              <a:xfrm>
                <a:off x="5730278" y="1652774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C2A3325-4CC4-E3DA-91E6-3D066F7F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78" y="1652774"/>
                <a:ext cx="479991" cy="404598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2F5C311-FCB1-2FA2-962A-722301A95E0A}"/>
                  </a:ext>
                </a:extLst>
              </p:cNvPr>
              <p:cNvSpPr/>
              <p:nvPr/>
            </p:nvSpPr>
            <p:spPr>
              <a:xfrm>
                <a:off x="6867283" y="1717513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2F5C311-FCB1-2FA2-962A-722301A95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283" y="1717513"/>
                <a:ext cx="479991" cy="412870"/>
              </a:xfrm>
              <a:prstGeom prst="rect">
                <a:avLst/>
              </a:prstGeom>
              <a:blipFill>
                <a:blip r:embed="rId6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2D11342-1DD2-F40A-56C9-9493C094A7E5}"/>
              </a:ext>
            </a:extLst>
          </p:cNvPr>
          <p:cNvCxnSpPr>
            <a:cxnSpLocks/>
          </p:cNvCxnSpPr>
          <p:nvPr/>
        </p:nvCxnSpPr>
        <p:spPr>
          <a:xfrm>
            <a:off x="6726881" y="2048409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EE870F2-CADE-3C85-D2CD-416642B156B9}"/>
              </a:ext>
            </a:extLst>
          </p:cNvPr>
          <p:cNvCxnSpPr>
            <a:cxnSpLocks/>
          </p:cNvCxnSpPr>
          <p:nvPr/>
        </p:nvCxnSpPr>
        <p:spPr>
          <a:xfrm>
            <a:off x="6662083" y="2725490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355E8E8-2B1A-D568-70B7-543FC8A629F5}"/>
              </a:ext>
            </a:extLst>
          </p:cNvPr>
          <p:cNvCxnSpPr>
            <a:cxnSpLocks/>
          </p:cNvCxnSpPr>
          <p:nvPr/>
        </p:nvCxnSpPr>
        <p:spPr>
          <a:xfrm>
            <a:off x="6697586" y="2778830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074AB72-60CB-7A33-F539-540967AE52E8}"/>
              </a:ext>
            </a:extLst>
          </p:cNvPr>
          <p:cNvCxnSpPr>
            <a:cxnSpLocks/>
          </p:cNvCxnSpPr>
          <p:nvPr/>
        </p:nvCxnSpPr>
        <p:spPr>
          <a:xfrm>
            <a:off x="6591409" y="2675960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578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7B55-C28D-4FBC-B30A-1D389918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going 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D58CB-9F18-4664-B8EF-D9EE1FA4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5020" y="6443606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3C715A8-9C94-4891-90F5-D91AB0B64ED0}"/>
              </a:ext>
            </a:extLst>
          </p:cNvPr>
          <p:cNvCxnSpPr>
            <a:cxnSpLocks/>
          </p:cNvCxnSpPr>
          <p:nvPr/>
        </p:nvCxnSpPr>
        <p:spPr>
          <a:xfrm>
            <a:off x="5082844" y="1573785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EC367E1-EA9E-4130-83C0-20BA7DE289B8}"/>
              </a:ext>
            </a:extLst>
          </p:cNvPr>
          <p:cNvSpPr/>
          <p:nvPr/>
        </p:nvSpPr>
        <p:spPr>
          <a:xfrm>
            <a:off x="4938921" y="1988651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B7F2181-E4D5-4A37-9D1E-823450D73AC0}"/>
              </a:ext>
            </a:extLst>
          </p:cNvPr>
          <p:cNvCxnSpPr>
            <a:cxnSpLocks/>
          </p:cNvCxnSpPr>
          <p:nvPr/>
        </p:nvCxnSpPr>
        <p:spPr>
          <a:xfrm>
            <a:off x="4774522" y="3165514"/>
            <a:ext cx="33055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B2F32A-AE63-4E3B-B9C8-716D72546324}"/>
              </a:ext>
            </a:extLst>
          </p:cNvPr>
          <p:cNvGrpSpPr/>
          <p:nvPr/>
        </p:nvGrpSpPr>
        <p:grpSpPr>
          <a:xfrm>
            <a:off x="5514644" y="2713336"/>
            <a:ext cx="927723" cy="387480"/>
            <a:chOff x="5892800" y="3496733"/>
            <a:chExt cx="853048" cy="355676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9CBB4A1-E728-4A3B-B8F0-D48B7A7B4304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3D8AFEC-7816-47BB-A995-1EE04B6D4202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507CB95-6D6F-46AB-91CE-8939F2CED0E2}"/>
                </a:ext>
              </a:extLst>
            </p:cNvPr>
            <p:cNvSpPr txBox="1"/>
            <p:nvPr/>
          </p:nvSpPr>
          <p:spPr>
            <a:xfrm>
              <a:off x="6215218" y="3598146"/>
              <a:ext cx="530630" cy="2542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77mV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AD19BC4-A29A-4091-B806-DD0D97E48D4A}"/>
              </a:ext>
            </a:extLst>
          </p:cNvPr>
          <p:cNvGrpSpPr/>
          <p:nvPr/>
        </p:nvGrpSpPr>
        <p:grpSpPr>
          <a:xfrm>
            <a:off x="6742316" y="2691382"/>
            <a:ext cx="988654" cy="312676"/>
            <a:chOff x="5892800" y="3496733"/>
            <a:chExt cx="988654" cy="312676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BE49B02-1D31-47AA-A00D-0541DAC87BF6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CDA48B4-6C3C-4A6B-BC3D-0DA178B2DFEC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A68A635-BB5C-4AD9-B1D1-4D8FEBB9657F}"/>
                </a:ext>
              </a:extLst>
            </p:cNvPr>
            <p:cNvSpPr txBox="1"/>
            <p:nvPr/>
          </p:nvSpPr>
          <p:spPr>
            <a:xfrm>
              <a:off x="6227429" y="353241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-89mV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77B4B55-8F97-4069-AF36-4C7469CB1F42}"/>
              </a:ext>
            </a:extLst>
          </p:cNvPr>
          <p:cNvGrpSpPr/>
          <p:nvPr/>
        </p:nvGrpSpPr>
        <p:grpSpPr>
          <a:xfrm>
            <a:off x="7834515" y="2691382"/>
            <a:ext cx="941578" cy="375039"/>
            <a:chOff x="5892800" y="3496733"/>
            <a:chExt cx="941578" cy="37503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99509CA-F0AD-465C-ACE6-7EA8D65FEF0C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DD7D290-ECED-4B17-8666-B10142D04317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0A08B10-B129-4A45-A356-5DB081FC068D}"/>
                </a:ext>
              </a:extLst>
            </p:cNvPr>
            <p:cNvSpPr txBox="1"/>
            <p:nvPr/>
          </p:nvSpPr>
          <p:spPr>
            <a:xfrm>
              <a:off x="6180353" y="3594773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-71mV</a:t>
              </a: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13CC7F-7E77-4CF7-AEF7-BC2A7AB534A3}"/>
              </a:ext>
            </a:extLst>
          </p:cNvPr>
          <p:cNvCxnSpPr>
            <a:cxnSpLocks/>
          </p:cNvCxnSpPr>
          <p:nvPr/>
        </p:nvCxnSpPr>
        <p:spPr>
          <a:xfrm>
            <a:off x="5751719" y="2792983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F72347-766C-4626-B23F-2F65BB1020FA}"/>
              </a:ext>
            </a:extLst>
          </p:cNvPr>
          <p:cNvCxnSpPr>
            <a:cxnSpLocks/>
          </p:cNvCxnSpPr>
          <p:nvPr/>
        </p:nvCxnSpPr>
        <p:spPr>
          <a:xfrm>
            <a:off x="6970921" y="2801444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CC69D34-ADB2-4C61-917F-2ACDB513499C}"/>
              </a:ext>
            </a:extLst>
          </p:cNvPr>
          <p:cNvGrpSpPr/>
          <p:nvPr/>
        </p:nvGrpSpPr>
        <p:grpSpPr>
          <a:xfrm>
            <a:off x="5379184" y="1810850"/>
            <a:ext cx="381000" cy="685800"/>
            <a:chOff x="5562600" y="3429000"/>
            <a:chExt cx="381000" cy="68580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6CDDB89-DBD3-4EED-A669-172704B97FFF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B591CE3-260E-4CDD-960E-AE145A48B65D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B7F0BA0-9723-432E-BD17-EFF4E034D3C2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A47F34A-98CC-4361-A732-42DF2574E3B9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62F351F-F850-44F9-8031-2C97D2A5EDEF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9DBC05E-A97F-4A7F-81F9-6499B6E0B821}"/>
              </a:ext>
            </a:extLst>
          </p:cNvPr>
          <p:cNvCxnSpPr>
            <a:cxnSpLocks/>
          </p:cNvCxnSpPr>
          <p:nvPr/>
        </p:nvCxnSpPr>
        <p:spPr>
          <a:xfrm>
            <a:off x="5751717" y="247971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7F738DE-9A89-4010-B490-6BB8B0C035FA}"/>
              </a:ext>
            </a:extLst>
          </p:cNvPr>
          <p:cNvGrpSpPr/>
          <p:nvPr/>
        </p:nvGrpSpPr>
        <p:grpSpPr>
          <a:xfrm>
            <a:off x="6581450" y="1810848"/>
            <a:ext cx="381000" cy="685800"/>
            <a:chOff x="5562600" y="3429000"/>
            <a:chExt cx="381000" cy="685800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A22CEEE-D1C6-4297-96FA-15C05C312C4D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FA34693-DC65-4DF9-B01B-0D88DC4E899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FCF96C5-BBCE-4D4A-9DE4-0EB49EC4FCE7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F750CBD-FF09-4521-80D1-063639577DB7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330310B-58C3-407A-821D-34E7A1C47D8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3E6391-E218-455F-ABAF-E0913F42BE6A}"/>
              </a:ext>
            </a:extLst>
          </p:cNvPr>
          <p:cNvCxnSpPr>
            <a:cxnSpLocks/>
          </p:cNvCxnSpPr>
          <p:nvPr/>
        </p:nvCxnSpPr>
        <p:spPr>
          <a:xfrm>
            <a:off x="6953983" y="247971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9275C33-6A56-4291-8757-1F9DE48ADB59}"/>
              </a:ext>
            </a:extLst>
          </p:cNvPr>
          <p:cNvGrpSpPr/>
          <p:nvPr/>
        </p:nvGrpSpPr>
        <p:grpSpPr>
          <a:xfrm>
            <a:off x="7699054" y="1810845"/>
            <a:ext cx="381000" cy="685800"/>
            <a:chOff x="5562600" y="3429000"/>
            <a:chExt cx="381000" cy="685800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2FCE7DB-2E74-4E46-94C9-1AAD2BED772A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8688567-28C5-4EF9-9528-F8335E23ED1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B03DB19-D0FC-4B6C-8DF8-82E816AA5B4C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CB76EE8-4971-4D2B-A41F-1701154B5044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425998C-8636-450B-8E9C-A0ACB80B672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F98A6B-CEFE-42E7-A5D3-1C58FCEDD3DE}"/>
              </a:ext>
            </a:extLst>
          </p:cNvPr>
          <p:cNvCxnSpPr>
            <a:cxnSpLocks/>
          </p:cNvCxnSpPr>
          <p:nvPr/>
        </p:nvCxnSpPr>
        <p:spPr>
          <a:xfrm>
            <a:off x="8071587" y="247971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8C74111-405B-4778-B182-9A8C0E7D5600}"/>
              </a:ext>
            </a:extLst>
          </p:cNvPr>
          <p:cNvCxnSpPr>
            <a:cxnSpLocks/>
          </p:cNvCxnSpPr>
          <p:nvPr/>
        </p:nvCxnSpPr>
        <p:spPr>
          <a:xfrm>
            <a:off x="4766055" y="1590715"/>
            <a:ext cx="31107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1F43C6-C52A-4A49-B7F1-EA0EBD8B2B0D}"/>
              </a:ext>
            </a:extLst>
          </p:cNvPr>
          <p:cNvCxnSpPr>
            <a:cxnSpLocks/>
          </p:cNvCxnSpPr>
          <p:nvPr/>
        </p:nvCxnSpPr>
        <p:spPr>
          <a:xfrm>
            <a:off x="5548512" y="159918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9A2430-1F69-475A-8C80-9619ACE3E19C}"/>
              </a:ext>
            </a:extLst>
          </p:cNvPr>
          <p:cNvCxnSpPr>
            <a:cxnSpLocks/>
          </p:cNvCxnSpPr>
          <p:nvPr/>
        </p:nvCxnSpPr>
        <p:spPr>
          <a:xfrm>
            <a:off x="6750778" y="161611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CE4662-4D5A-4896-880E-159196E2C9A0}"/>
              </a:ext>
            </a:extLst>
          </p:cNvPr>
          <p:cNvCxnSpPr>
            <a:cxnSpLocks/>
          </p:cNvCxnSpPr>
          <p:nvPr/>
        </p:nvCxnSpPr>
        <p:spPr>
          <a:xfrm>
            <a:off x="7859911" y="160765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18730E1-264A-4BA9-937E-D6E7A0000BC5}"/>
              </a:ext>
            </a:extLst>
          </p:cNvPr>
          <p:cNvSpPr txBox="1"/>
          <p:nvPr/>
        </p:nvSpPr>
        <p:spPr>
          <a:xfrm>
            <a:off x="4959224" y="2759118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E970DD2-7A85-43A5-A2F2-280986054469}"/>
              </a:ext>
            </a:extLst>
          </p:cNvPr>
          <p:cNvSpPr txBox="1"/>
          <p:nvPr/>
        </p:nvSpPr>
        <p:spPr>
          <a:xfrm>
            <a:off x="6276653" y="1167384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C963C50-8FB7-42D1-B30C-7464E4D42B72}"/>
              </a:ext>
            </a:extLst>
          </p:cNvPr>
          <p:cNvCxnSpPr>
            <a:cxnSpLocks/>
          </p:cNvCxnSpPr>
          <p:nvPr/>
        </p:nvCxnSpPr>
        <p:spPr>
          <a:xfrm>
            <a:off x="5078621" y="2174918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84E3AE8-B1B2-4DAB-AA9A-4F57459F03FF}"/>
              </a:ext>
            </a:extLst>
          </p:cNvPr>
          <p:cNvCxnSpPr>
            <a:cxnSpLocks/>
          </p:cNvCxnSpPr>
          <p:nvPr/>
        </p:nvCxnSpPr>
        <p:spPr>
          <a:xfrm>
            <a:off x="4769578" y="1565316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C1447C6-60AF-4D14-BA31-E91505A3FBEC}"/>
              </a:ext>
            </a:extLst>
          </p:cNvPr>
          <p:cNvSpPr/>
          <p:nvPr/>
        </p:nvSpPr>
        <p:spPr>
          <a:xfrm>
            <a:off x="4625655" y="1980182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2AD86A9-F188-4871-8F69-26D06AEC3134}"/>
              </a:ext>
            </a:extLst>
          </p:cNvPr>
          <p:cNvCxnSpPr>
            <a:cxnSpLocks/>
          </p:cNvCxnSpPr>
          <p:nvPr/>
        </p:nvCxnSpPr>
        <p:spPr>
          <a:xfrm>
            <a:off x="4765355" y="2166449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F8E56D2-F622-4517-B622-3B0CC0554F34}"/>
              </a:ext>
            </a:extLst>
          </p:cNvPr>
          <p:cNvSpPr txBox="1"/>
          <p:nvPr/>
        </p:nvSpPr>
        <p:spPr>
          <a:xfrm>
            <a:off x="4447851" y="1641512"/>
            <a:ext cx="2837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D67F14-3B3A-4D8C-8B2E-4BF633E44D5E}"/>
              </a:ext>
            </a:extLst>
          </p:cNvPr>
          <p:cNvSpPr txBox="1"/>
          <p:nvPr/>
        </p:nvSpPr>
        <p:spPr>
          <a:xfrm>
            <a:off x="5091317" y="163304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K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/>
              <p:nvPr/>
            </p:nvSpPr>
            <p:spPr>
              <a:xfrm>
                <a:off x="5901823" y="2414173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23" y="2414173"/>
                <a:ext cx="479991" cy="406201"/>
              </a:xfrm>
              <a:prstGeom prst="rect">
                <a:avLst/>
              </a:prstGeom>
              <a:blipFill>
                <a:blip r:embed="rId3"/>
                <a:stretch>
                  <a:fillRect r="-11392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/>
              <p:nvPr/>
            </p:nvSpPr>
            <p:spPr>
              <a:xfrm>
                <a:off x="7159097" y="2414974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097" y="2414974"/>
                <a:ext cx="479991" cy="404598"/>
              </a:xfrm>
              <a:prstGeom prst="rect">
                <a:avLst/>
              </a:prstGeom>
              <a:blipFill>
                <a:blip r:embed="rId4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/>
              <p:nvPr/>
            </p:nvSpPr>
            <p:spPr>
              <a:xfrm>
                <a:off x="8296102" y="2479713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02" y="2479713"/>
                <a:ext cx="479991" cy="41287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TextBox 126">
            <a:extLst>
              <a:ext uri="{FF2B5EF4-FFF2-40B4-BE49-F238E27FC236}">
                <a16:creationId xmlns:a16="http://schemas.microsoft.com/office/drawing/2014/main" id="{E8F85851-FB61-4062-8D61-EE985A68D2A8}"/>
              </a:ext>
            </a:extLst>
          </p:cNvPr>
          <p:cNvSpPr txBox="1"/>
          <p:nvPr/>
        </p:nvSpPr>
        <p:spPr>
          <a:xfrm>
            <a:off x="4335999" y="2371892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A28ED3-7D37-44E1-AD4D-FC7BF96134A1}"/>
              </a:ext>
            </a:extLst>
          </p:cNvPr>
          <p:cNvSpPr txBox="1"/>
          <p:nvPr/>
        </p:nvSpPr>
        <p:spPr>
          <a:xfrm>
            <a:off x="7281271" y="1162914"/>
            <a:ext cx="128400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=19mV</a:t>
            </a:r>
          </a:p>
        </p:txBody>
      </p:sp>
      <p:sp>
        <p:nvSpPr>
          <p:cNvPr id="129" name="Content Placeholder 2">
            <a:extLst>
              <a:ext uri="{FF2B5EF4-FFF2-40B4-BE49-F238E27FC236}">
                <a16:creationId xmlns:a16="http://schemas.microsoft.com/office/drawing/2014/main" id="{BEF895AE-B915-4E2A-9D55-26CFE0D4B9F9}"/>
              </a:ext>
            </a:extLst>
          </p:cNvPr>
          <p:cNvSpPr txBox="1">
            <a:spLocks/>
          </p:cNvSpPr>
          <p:nvPr/>
        </p:nvSpPr>
        <p:spPr bwMode="auto">
          <a:xfrm>
            <a:off x="157875" y="2517751"/>
            <a:ext cx="4095625" cy="93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dirty="0"/>
              <a:t>The model predicted SS once and QSS once. Why?</a:t>
            </a:r>
          </a:p>
          <a:p>
            <a:pPr lvl="1"/>
            <a:endParaRPr lang="en-US" sz="1600" dirty="0"/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67636CCA-0EFD-443F-9A87-ABF27EC5C7DE}"/>
              </a:ext>
            </a:extLst>
          </p:cNvPr>
          <p:cNvSpPr txBox="1">
            <a:spLocks/>
          </p:cNvSpPr>
          <p:nvPr/>
        </p:nvSpPr>
        <p:spPr bwMode="auto">
          <a:xfrm>
            <a:off x="152819" y="3326838"/>
            <a:ext cx="8623269" cy="2656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dirty="0"/>
              <a:t>Settling to the new QSS value will happen </a:t>
            </a:r>
            <a:r>
              <a:rPr lang="en-US" sz="2400" i="1" dirty="0"/>
              <a:t>quickly</a:t>
            </a: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400" dirty="0"/>
              <a:t>Do ion concentrations change much in this short time?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No, they can’t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Is there any slow process that the schematic doesn’t model?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Each ion has nonzero flux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concentration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that concentration change affect our model parameters?</a:t>
            </a:r>
          </a:p>
          <a:p>
            <a:pPr lvl="1">
              <a:spcBef>
                <a:spcPts val="0"/>
              </a:spcBef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 slowly</a:t>
            </a:r>
            <a:endParaRPr lang="en-US" sz="2000" i="1" dirty="0"/>
          </a:p>
          <a:p>
            <a:endParaRPr lang="en-US" sz="2400" dirty="0"/>
          </a:p>
          <a:p>
            <a:endParaRPr lang="en-US" sz="2400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515B322-B0E5-BB8B-26C0-7323E47065FC}"/>
              </a:ext>
            </a:extLst>
          </p:cNvPr>
          <p:cNvCxnSpPr>
            <a:cxnSpLocks/>
          </p:cNvCxnSpPr>
          <p:nvPr/>
        </p:nvCxnSpPr>
        <p:spPr>
          <a:xfrm>
            <a:off x="8071589" y="2801443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A73915D-3193-EC58-6014-C239CB388F45}"/>
              </a:ext>
            </a:extLst>
          </p:cNvPr>
          <p:cNvCxnSpPr>
            <a:cxnSpLocks/>
          </p:cNvCxnSpPr>
          <p:nvPr/>
        </p:nvCxnSpPr>
        <p:spPr>
          <a:xfrm>
            <a:off x="8006791" y="3478524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4A09202-D33D-7666-7D73-258460B86270}"/>
              </a:ext>
            </a:extLst>
          </p:cNvPr>
          <p:cNvCxnSpPr>
            <a:cxnSpLocks/>
          </p:cNvCxnSpPr>
          <p:nvPr/>
        </p:nvCxnSpPr>
        <p:spPr>
          <a:xfrm>
            <a:off x="8042294" y="3531864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65225F-123A-7B05-65DC-31F89D3D5FDF}"/>
              </a:ext>
            </a:extLst>
          </p:cNvPr>
          <p:cNvCxnSpPr>
            <a:cxnSpLocks/>
          </p:cNvCxnSpPr>
          <p:nvPr/>
        </p:nvCxnSpPr>
        <p:spPr>
          <a:xfrm>
            <a:off x="7936117" y="3428994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0EDB279-B508-1F67-7BEE-BA1EA7413D9C}"/>
              </a:ext>
            </a:extLst>
          </p:cNvPr>
          <p:cNvCxnSpPr/>
          <p:nvPr/>
        </p:nvCxnSpPr>
        <p:spPr>
          <a:xfrm flipV="1">
            <a:off x="7925095" y="1867082"/>
            <a:ext cx="0" cy="498334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5F740C0-D6E9-F750-BEE5-55BE01BDC190}"/>
              </a:ext>
            </a:extLst>
          </p:cNvPr>
          <p:cNvCxnSpPr/>
          <p:nvPr/>
        </p:nvCxnSpPr>
        <p:spPr>
          <a:xfrm flipV="1">
            <a:off x="5570599" y="1875646"/>
            <a:ext cx="0" cy="498334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EEFB9F3-7C11-D2AC-A1FE-BF133C562A70}"/>
              </a:ext>
            </a:extLst>
          </p:cNvPr>
          <p:cNvCxnSpPr/>
          <p:nvPr/>
        </p:nvCxnSpPr>
        <p:spPr>
          <a:xfrm flipV="1">
            <a:off x="6770964" y="1904758"/>
            <a:ext cx="0" cy="498334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69A8781-3130-9EEC-5F77-AF2D1E8DFB49}"/>
              </a:ext>
            </a:extLst>
          </p:cNvPr>
          <p:cNvSpPr txBox="1"/>
          <p:nvPr/>
        </p:nvSpPr>
        <p:spPr>
          <a:xfrm>
            <a:off x="5696169" y="1851101"/>
            <a:ext cx="3416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292            236    36</a:t>
            </a:r>
          </a:p>
        </p:txBody>
      </p:sp>
    </p:spTree>
    <p:extLst>
      <p:ext uri="{BB962C8B-B14F-4D97-AF65-F5344CB8AC3E}">
        <p14:creationId xmlns:p14="http://schemas.microsoft.com/office/powerpoint/2010/main" val="269144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1C72B1FF-373A-48B3-BD7E-1CDA1FF98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339" y="2023536"/>
            <a:ext cx="3735687" cy="287977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D15520E-0924-4FD0-A031-7CDFD0D183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2" y="1680565"/>
            <a:ext cx="4377093" cy="32809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6C8AA-8A79-4018-9845-01B57277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3" y="423335"/>
            <a:ext cx="4961467" cy="1244600"/>
          </a:xfrm>
        </p:spPr>
        <p:txBody>
          <a:bodyPr/>
          <a:lstStyle/>
          <a:p>
            <a:r>
              <a:rPr lang="en-US" sz="2400" dirty="0"/>
              <a:t>Setup:</a:t>
            </a:r>
          </a:p>
          <a:p>
            <a:pPr lvl="1">
              <a:spcBef>
                <a:spcPts val="0"/>
              </a:spcBef>
            </a:pPr>
            <a:r>
              <a:rPr lang="en-US" sz="2000" i="1" dirty="0" err="1"/>
              <a:t>G</a:t>
            </a:r>
            <a:r>
              <a:rPr lang="en-US" sz="2000" baseline="-25000" dirty="0" err="1"/>
              <a:t>Na</a:t>
            </a:r>
            <a:r>
              <a:rPr lang="en-US" sz="2000" dirty="0"/>
              <a:t> and </a:t>
            </a:r>
            <a:r>
              <a:rPr lang="en-US" sz="2000" i="1" dirty="0"/>
              <a:t>G</a:t>
            </a:r>
            <a:r>
              <a:rPr lang="en-US" sz="2000" baseline="-25000" dirty="0"/>
              <a:t>K</a:t>
            </a:r>
            <a:r>
              <a:rPr lang="en-US" sz="2000" dirty="0"/>
              <a:t> originally set for -71mV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At t=100s, </a:t>
            </a:r>
            <a:r>
              <a:rPr lang="en-US" sz="2000" i="1" dirty="0"/>
              <a:t>G</a:t>
            </a:r>
            <a:r>
              <a:rPr lang="en-US" sz="2000" baseline="-25000" dirty="0"/>
              <a:t>Na</a:t>
            </a:r>
            <a:r>
              <a:rPr lang="en-US" sz="2000" dirty="0"/>
              <a:t> suddenly rises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43CB0C-B6E2-4E05-B960-AC24E3C3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12E582-DF11-4AA4-B8AF-0AC370F8B934}"/>
              </a:ext>
            </a:extLst>
          </p:cNvPr>
          <p:cNvGrpSpPr/>
          <p:nvPr/>
        </p:nvGrpSpPr>
        <p:grpSpPr>
          <a:xfrm>
            <a:off x="6714067" y="3115737"/>
            <a:ext cx="1104899" cy="1200329"/>
            <a:chOff x="6426200" y="3852333"/>
            <a:chExt cx="1104899" cy="12003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0CF1FA-0F3C-49DC-A398-C8471237B20A}"/>
                </a:ext>
              </a:extLst>
            </p:cNvPr>
            <p:cNvSpPr txBox="1"/>
            <p:nvPr/>
          </p:nvSpPr>
          <p:spPr>
            <a:xfrm>
              <a:off x="6426200" y="3852333"/>
              <a:ext cx="66886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Na</a:t>
              </a:r>
              <a:r>
                <a:rPr lang="en-US" baseline="30000" dirty="0">
                  <a:solidFill>
                    <a:schemeClr val="accent2"/>
                  </a:solidFill>
                </a:rPr>
                <a:t>+</a:t>
              </a:r>
              <a:endParaRPr lang="en-US" dirty="0">
                <a:solidFill>
                  <a:schemeClr val="accent2"/>
                </a:solidFill>
              </a:endParaRPr>
            </a:p>
            <a:p>
              <a:r>
                <a:rPr lang="en-US" dirty="0">
                  <a:solidFill>
                    <a:srgbClr val="FFC000"/>
                  </a:solidFill>
                </a:rPr>
                <a:t>K</a:t>
              </a:r>
              <a:r>
                <a:rPr lang="en-US" baseline="30000" dirty="0">
                  <a:solidFill>
                    <a:srgbClr val="FFC000"/>
                  </a:solidFill>
                </a:rPr>
                <a:t>+</a:t>
              </a:r>
              <a:endParaRPr lang="en-US" dirty="0">
                <a:solidFill>
                  <a:srgbClr val="FFC000"/>
                </a:solidFill>
              </a:endParaRPr>
            </a:p>
            <a:p>
              <a:r>
                <a:rPr lang="en-US" dirty="0">
                  <a:solidFill>
                    <a:srgbClr val="008000"/>
                  </a:solidFill>
                </a:rPr>
                <a:t>Cl</a:t>
              </a:r>
              <a:r>
                <a:rPr lang="en-US" baseline="30000" dirty="0">
                  <a:solidFill>
                    <a:srgbClr val="008000"/>
                  </a:solidFill>
                </a:rPr>
                <a:t>-</a:t>
              </a:r>
              <a:endParaRPr lang="en-US" dirty="0">
                <a:solidFill>
                  <a:srgbClr val="008000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FC0C1D-E80E-43E3-85E3-747046F5AE4C}"/>
                </a:ext>
              </a:extLst>
            </p:cNvPr>
            <p:cNvCxnSpPr/>
            <p:nvPr/>
          </p:nvCxnSpPr>
          <p:spPr>
            <a:xfrm>
              <a:off x="7158566" y="4089400"/>
              <a:ext cx="372533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5A81290-CEF8-4F07-9310-7CFB0E2228F7}"/>
                </a:ext>
              </a:extLst>
            </p:cNvPr>
            <p:cNvCxnSpPr/>
            <p:nvPr/>
          </p:nvCxnSpPr>
          <p:spPr>
            <a:xfrm>
              <a:off x="7158566" y="4428069"/>
              <a:ext cx="372533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095CD4C-7CE6-4BDA-A4E6-D9016D917812}"/>
                </a:ext>
              </a:extLst>
            </p:cNvPr>
            <p:cNvCxnSpPr/>
            <p:nvPr/>
          </p:nvCxnSpPr>
          <p:spPr>
            <a:xfrm>
              <a:off x="7158566" y="4783667"/>
              <a:ext cx="372533" cy="0"/>
            </a:xfrm>
            <a:prstGeom prst="line">
              <a:avLst/>
            </a:prstGeom>
            <a:ln w="28575">
              <a:solidFill>
                <a:srgbClr val="0066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D3C1A6F-09A2-4A40-A80A-54BC5F580E5A}"/>
              </a:ext>
            </a:extLst>
          </p:cNvPr>
          <p:cNvSpPr txBox="1"/>
          <p:nvPr/>
        </p:nvSpPr>
        <p:spPr>
          <a:xfrm>
            <a:off x="93134" y="5215470"/>
            <a:ext cx="167639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Dynamic phase: </a:t>
            </a:r>
            <a:r>
              <a:rPr lang="en-US" sz="1800" i="1" dirty="0" err="1">
                <a:solidFill>
                  <a:schemeClr val="accent2"/>
                </a:solidFill>
              </a:rPr>
              <a:t>V</a:t>
            </a:r>
            <a:r>
              <a:rPr lang="en-US" sz="1800" baseline="-25000" dirty="0" err="1">
                <a:solidFill>
                  <a:schemeClr val="accent2"/>
                </a:solidFill>
              </a:rPr>
              <a:t>mem</a:t>
            </a:r>
            <a:r>
              <a:rPr lang="en-US" sz="1800" dirty="0">
                <a:solidFill>
                  <a:schemeClr val="accent2"/>
                </a:solidFill>
              </a:rPr>
              <a:t> swinging rapidly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856B94-A9AA-4AC8-976F-3BB056BEE5AE}"/>
              </a:ext>
            </a:extLst>
          </p:cNvPr>
          <p:cNvCxnSpPr>
            <a:cxnSpLocks/>
          </p:cNvCxnSpPr>
          <p:nvPr/>
        </p:nvCxnSpPr>
        <p:spPr>
          <a:xfrm flipV="1">
            <a:off x="770467" y="4809067"/>
            <a:ext cx="0" cy="33020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Left Brace 21">
            <a:extLst>
              <a:ext uri="{FF2B5EF4-FFF2-40B4-BE49-F238E27FC236}">
                <a16:creationId xmlns:a16="http://schemas.microsoft.com/office/drawing/2014/main" id="{A9604DC7-5B87-4D6B-9DC7-347302A83119}"/>
              </a:ext>
            </a:extLst>
          </p:cNvPr>
          <p:cNvSpPr/>
          <p:nvPr/>
        </p:nvSpPr>
        <p:spPr>
          <a:xfrm rot="16200000">
            <a:off x="6180667" y="4055536"/>
            <a:ext cx="491066" cy="1981200"/>
          </a:xfrm>
          <a:prstGeom prst="leftBrac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D168F2-219C-4DD8-9241-FF3B55C59349}"/>
              </a:ext>
            </a:extLst>
          </p:cNvPr>
          <p:cNvSpPr txBox="1"/>
          <p:nvPr/>
        </p:nvSpPr>
        <p:spPr>
          <a:xfrm>
            <a:off x="5232402" y="5215468"/>
            <a:ext cx="224366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QSS: concentrations changing very slowly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7C8C0CB0-1E2D-4E16-9427-51A33D8265DD}"/>
              </a:ext>
            </a:extLst>
          </p:cNvPr>
          <p:cNvSpPr/>
          <p:nvPr/>
        </p:nvSpPr>
        <p:spPr>
          <a:xfrm rot="16200000">
            <a:off x="1752597" y="3835407"/>
            <a:ext cx="491066" cy="2319870"/>
          </a:xfrm>
          <a:prstGeom prst="leftBrac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A65941-69FF-44DB-9A0E-0AA42F32AD89}"/>
              </a:ext>
            </a:extLst>
          </p:cNvPr>
          <p:cNvSpPr txBox="1"/>
          <p:nvPr/>
        </p:nvSpPr>
        <p:spPr>
          <a:xfrm>
            <a:off x="1905002" y="5113868"/>
            <a:ext cx="117686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Thus so does </a:t>
            </a:r>
            <a:r>
              <a:rPr lang="en-US" sz="1800" i="1" dirty="0" err="1">
                <a:solidFill>
                  <a:schemeClr val="accent2"/>
                </a:solidFill>
              </a:rPr>
              <a:t>V</a:t>
            </a:r>
            <a:r>
              <a:rPr lang="en-US" sz="1800" baseline="-25000" dirty="0" err="1">
                <a:solidFill>
                  <a:schemeClr val="accent2"/>
                </a:solidFill>
              </a:rPr>
              <a:t>mem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533E0B-B458-4477-81FD-0D6AE2C24582}"/>
              </a:ext>
            </a:extLst>
          </p:cNvPr>
          <p:cNvSpPr txBox="1"/>
          <p:nvPr/>
        </p:nvSpPr>
        <p:spPr>
          <a:xfrm>
            <a:off x="5825070" y="508001"/>
            <a:ext cx="117686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Eventually we reach true SS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C2320A-7386-49BD-A6EE-D50C5F748C1C}"/>
              </a:ext>
            </a:extLst>
          </p:cNvPr>
          <p:cNvCxnSpPr>
            <a:cxnSpLocks/>
          </p:cNvCxnSpPr>
          <p:nvPr/>
        </p:nvCxnSpPr>
        <p:spPr>
          <a:xfrm>
            <a:off x="6824133" y="1210733"/>
            <a:ext cx="1109134" cy="88053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652CECB-6C36-409F-95C8-38E24ED48637}"/>
              </a:ext>
            </a:extLst>
          </p:cNvPr>
          <p:cNvCxnSpPr>
            <a:cxnSpLocks/>
          </p:cNvCxnSpPr>
          <p:nvPr/>
        </p:nvCxnSpPr>
        <p:spPr>
          <a:xfrm flipH="1">
            <a:off x="3793067" y="1143000"/>
            <a:ext cx="2201334" cy="8890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86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F4E0-4C8A-4435-8CE3-C8C18EF1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Ion channels, QSS and 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5370-714B-443F-AD88-85DD96CBE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r>
              <a:rPr lang="en-US" dirty="0"/>
              <a:t>Change </a:t>
            </a:r>
            <a:r>
              <a:rPr lang="en-US" i="1" dirty="0"/>
              <a:t>G</a:t>
            </a:r>
            <a:r>
              <a:rPr lang="en-US" dirty="0"/>
              <a:t> value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 rapidly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seconds)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tricks: high concentrations of all ions in ICF and ECF, but their charges nearly cancel out; and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relatively small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charge flux rapidly becomes 0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how neurons 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concentrations change much more slowly (minutes to hours) – quasi-steady state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Eventually we reach a new steady state again, where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 flux is 0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6AC34-5184-47F6-A878-A7CD8EAB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75245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864A5-A189-4CDF-A2FC-AD66F1A8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A3FD1-B676-4ED3-8A15-989279730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799" y="3349526"/>
                <a:ext cx="7944491" cy="2852074"/>
              </a:xfrm>
            </p:spPr>
            <p:txBody>
              <a:bodyPr/>
              <a:lstStyle/>
              <a:p>
                <a:r>
                  <a:rPr lang="en-US" sz="2400" dirty="0"/>
                  <a:t>The </a:t>
                </a:r>
                <a:r>
                  <a:rPr lang="en-US" sz="2400" i="1" dirty="0" err="1"/>
                  <a:t>V</a:t>
                </a:r>
                <a:r>
                  <a:rPr lang="en-US" sz="2400" baseline="30000" dirty="0" err="1"/>
                  <a:t>Nernst</a:t>
                </a:r>
                <a:r>
                  <a:rPr lang="en-US" sz="2400" dirty="0"/>
                  <a:t> values come from ion concentrations</a:t>
                </a:r>
              </a:p>
              <a:p>
                <a:r>
                  <a:rPr lang="en-US" sz="2400" i="1" dirty="0"/>
                  <a:t>G</a:t>
                </a:r>
                <a:r>
                  <a:rPr lang="en-US" sz="2400" dirty="0"/>
                  <a:t> values depend on how many ion channels are turned on</a:t>
                </a:r>
                <a:endParaRPr lang="en-US" sz="2400" i="1" dirty="0"/>
              </a:p>
              <a:p>
                <a:r>
                  <a:rPr lang="en-US" sz="2400" dirty="0"/>
                  <a:t>KCL on the ICF node: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𝑁𝑎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𝑚𝑒𝑚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𝑚𝑒𝑚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𝐶𝑙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𝑚𝑒𝑚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𝑚𝑒𝑚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𝑁𝑎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𝐶𝑙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A3FD1-B676-4ED3-8A15-989279730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799" y="3349526"/>
                <a:ext cx="7944491" cy="2852074"/>
              </a:xfrm>
              <a:blipFill>
                <a:blip r:embed="rId3"/>
                <a:stretch>
                  <a:fillRect l="-997" t="-1709" b="-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E453B-25FD-4F23-A17B-0CB39415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291B47-CE5E-45CC-AE7B-2C6BB587EDD2}"/>
              </a:ext>
            </a:extLst>
          </p:cNvPr>
          <p:cNvGrpSpPr/>
          <p:nvPr/>
        </p:nvGrpSpPr>
        <p:grpSpPr>
          <a:xfrm>
            <a:off x="4143055" y="1167384"/>
            <a:ext cx="4328242" cy="2053399"/>
            <a:chOff x="4585011" y="2904744"/>
            <a:chExt cx="4328242" cy="20533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61DC2B0-CF0C-4B27-9FE1-479F03584208}"/>
                </a:ext>
              </a:extLst>
            </p:cNvPr>
            <p:cNvGrpSpPr/>
            <p:nvPr/>
          </p:nvGrpSpPr>
          <p:grpSpPr>
            <a:xfrm>
              <a:off x="4585011" y="2904744"/>
              <a:ext cx="4328242" cy="2053399"/>
              <a:chOff x="4710996" y="3208866"/>
              <a:chExt cx="4328242" cy="2053399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7379886-E34F-4F16-8107-64EF4C9D36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5989" y="3615267"/>
                <a:ext cx="0" cy="160020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6AB10B2-788E-4FF0-AE43-7A90F9D6E7E5}"/>
                  </a:ext>
                </a:extLst>
              </p:cNvPr>
              <p:cNvSpPr/>
              <p:nvPr/>
            </p:nvSpPr>
            <p:spPr>
              <a:xfrm>
                <a:off x="5202066" y="4030133"/>
                <a:ext cx="279400" cy="67733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6AA6A37-9851-4307-B7C4-095147306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667" y="5206996"/>
                <a:ext cx="33055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7E3CD14-2050-42C5-AA68-4EFF3960CB99}"/>
                  </a:ext>
                </a:extLst>
              </p:cNvPr>
              <p:cNvGrpSpPr/>
              <p:nvPr/>
            </p:nvGrpSpPr>
            <p:grpSpPr>
              <a:xfrm>
                <a:off x="5777789" y="4754818"/>
                <a:ext cx="927723" cy="387480"/>
                <a:chOff x="5892800" y="3496733"/>
                <a:chExt cx="853048" cy="355676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E8958084-AFC7-4FEA-A433-75C899AE834D}"/>
                    </a:ext>
                  </a:extLst>
                </p:cNvPr>
                <p:cNvCxnSpPr/>
                <p:nvPr/>
              </p:nvCxnSpPr>
              <p:spPr>
                <a:xfrm>
                  <a:off x="5892800" y="3496733"/>
                  <a:ext cx="457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DE445674-C5DE-4E4E-A317-470E3D24F6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4399" y="3598332"/>
                  <a:ext cx="25400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A1C50E3-A629-4F33-82D5-3CA1FA227C26}"/>
                    </a:ext>
                  </a:extLst>
                </p:cNvPr>
                <p:cNvSpPr txBox="1"/>
                <p:nvPr/>
              </p:nvSpPr>
              <p:spPr>
                <a:xfrm>
                  <a:off x="6215218" y="3598146"/>
                  <a:ext cx="530630" cy="254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800" dirty="0"/>
                    <a:t>77mV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9F3AC0B-A279-4638-842D-3DA283622D5B}"/>
                  </a:ext>
                </a:extLst>
              </p:cNvPr>
              <p:cNvGrpSpPr/>
              <p:nvPr/>
            </p:nvGrpSpPr>
            <p:grpSpPr>
              <a:xfrm>
                <a:off x="7005461" y="4732864"/>
                <a:ext cx="988654" cy="312676"/>
                <a:chOff x="5892800" y="3496733"/>
                <a:chExt cx="988654" cy="312676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A3CAD8B8-6A91-47E4-8686-E22E2210EB70}"/>
                    </a:ext>
                  </a:extLst>
                </p:cNvPr>
                <p:cNvCxnSpPr/>
                <p:nvPr/>
              </p:nvCxnSpPr>
              <p:spPr>
                <a:xfrm>
                  <a:off x="5892800" y="3496733"/>
                  <a:ext cx="457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61B3E592-3E52-4CEB-AA00-D9D4A24617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4399" y="3598332"/>
                  <a:ext cx="25400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F764112-3AA5-4E81-AEF9-46CA565653F2}"/>
                    </a:ext>
                  </a:extLst>
                </p:cNvPr>
                <p:cNvSpPr txBox="1"/>
                <p:nvPr/>
              </p:nvSpPr>
              <p:spPr>
                <a:xfrm>
                  <a:off x="6227429" y="3532410"/>
                  <a:ext cx="65402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800" dirty="0"/>
                    <a:t>-89mV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2F71D96-ED4A-46C8-9456-8B49CD541D87}"/>
                  </a:ext>
                </a:extLst>
              </p:cNvPr>
              <p:cNvGrpSpPr/>
              <p:nvPr/>
            </p:nvGrpSpPr>
            <p:grpSpPr>
              <a:xfrm>
                <a:off x="8097660" y="4732864"/>
                <a:ext cx="941578" cy="375039"/>
                <a:chOff x="5892800" y="3496733"/>
                <a:chExt cx="941578" cy="375039"/>
              </a:xfrm>
            </p:grpSpPr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FA0B9DA-EBA0-4108-AC39-797D4106914E}"/>
                    </a:ext>
                  </a:extLst>
                </p:cNvPr>
                <p:cNvCxnSpPr/>
                <p:nvPr/>
              </p:nvCxnSpPr>
              <p:spPr>
                <a:xfrm>
                  <a:off x="5892800" y="3496733"/>
                  <a:ext cx="457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F8EA26B3-B707-4B37-9971-761E93DB1F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4399" y="3598332"/>
                  <a:ext cx="25400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0CA713B-24C6-417B-8A88-8674E0D34A88}"/>
                    </a:ext>
                  </a:extLst>
                </p:cNvPr>
                <p:cNvSpPr txBox="1"/>
                <p:nvPr/>
              </p:nvSpPr>
              <p:spPr>
                <a:xfrm>
                  <a:off x="6180353" y="3594773"/>
                  <a:ext cx="65402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800" dirty="0"/>
                    <a:t>-71mV</a:t>
                  </a:r>
                </a:p>
              </p:txBody>
            </p: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128AB86-D148-4813-BD3B-E3CD385812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4864" y="4834465"/>
                <a:ext cx="0" cy="38100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5941839-D9D6-4B0B-8A5F-C610CCC2BA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4066" y="4842926"/>
                <a:ext cx="0" cy="38100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04B8F82-72A7-4DC8-B61D-D7EDC9806395}"/>
                  </a:ext>
                </a:extLst>
              </p:cNvPr>
              <p:cNvGrpSpPr/>
              <p:nvPr/>
            </p:nvGrpSpPr>
            <p:grpSpPr>
              <a:xfrm>
                <a:off x="5642329" y="3852332"/>
                <a:ext cx="381000" cy="685800"/>
                <a:chOff x="5562600" y="3429000"/>
                <a:chExt cx="381000" cy="685800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20E84A38-00BB-4205-8047-51A465B8B2EF}"/>
                    </a:ext>
                  </a:extLst>
                </p:cNvPr>
                <p:cNvCxnSpPr/>
                <p:nvPr/>
              </p:nvCxnSpPr>
              <p:spPr>
                <a:xfrm>
                  <a:off x="5715000" y="3429000"/>
                  <a:ext cx="228600" cy="762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2A8D7525-D6AC-43BA-B255-592E222D44FB}"/>
                    </a:ext>
                  </a:extLst>
                </p:cNvPr>
                <p:cNvCxnSpPr/>
                <p:nvPr/>
              </p:nvCxnSpPr>
              <p:spPr>
                <a:xfrm flipV="1">
                  <a:off x="5562600" y="35052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10FA8E69-14E0-4BFE-8E82-570674E32E75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6576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64B74697-6375-4A61-B233-CCAC7A32D42F}"/>
                    </a:ext>
                  </a:extLst>
                </p:cNvPr>
                <p:cNvCxnSpPr/>
                <p:nvPr/>
              </p:nvCxnSpPr>
              <p:spPr>
                <a:xfrm flipV="1">
                  <a:off x="5562600" y="38100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6F31C672-CF0A-443D-9EF7-6AF4B8EE05CE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9624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C04B585-C9C6-44B3-8FE2-2C78D53BF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4862" y="4521200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1F3DC80-2FC4-4112-9829-AEFC8285D792}"/>
                  </a:ext>
                </a:extLst>
              </p:cNvPr>
              <p:cNvGrpSpPr/>
              <p:nvPr/>
            </p:nvGrpSpPr>
            <p:grpSpPr>
              <a:xfrm>
                <a:off x="6844595" y="3852330"/>
                <a:ext cx="381000" cy="685800"/>
                <a:chOff x="5562600" y="3429000"/>
                <a:chExt cx="381000" cy="685800"/>
              </a:xfrm>
            </p:grpSpPr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653856C6-E741-47BF-B74F-A24EC1EF91B9}"/>
                    </a:ext>
                  </a:extLst>
                </p:cNvPr>
                <p:cNvCxnSpPr/>
                <p:nvPr/>
              </p:nvCxnSpPr>
              <p:spPr>
                <a:xfrm>
                  <a:off x="5715000" y="3429000"/>
                  <a:ext cx="228600" cy="762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F5F3680F-F74A-4090-95F4-69CBE1E1A6CC}"/>
                    </a:ext>
                  </a:extLst>
                </p:cNvPr>
                <p:cNvCxnSpPr/>
                <p:nvPr/>
              </p:nvCxnSpPr>
              <p:spPr>
                <a:xfrm flipV="1">
                  <a:off x="5562600" y="35052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AA593309-AB4E-41B1-91BE-59FFEBCBC95C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6576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4097B727-65CB-4737-8CE5-15ED15FC654E}"/>
                    </a:ext>
                  </a:extLst>
                </p:cNvPr>
                <p:cNvCxnSpPr/>
                <p:nvPr/>
              </p:nvCxnSpPr>
              <p:spPr>
                <a:xfrm flipV="1">
                  <a:off x="5562600" y="38100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1A3C0D32-6F52-4F14-B63D-F7EAE4A0BD88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9624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0BCD956-F0B2-4E74-AC7E-DFF0BA951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7128" y="4521198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58CDCCB-3366-495D-ACC0-D18ABD64221C}"/>
                  </a:ext>
                </a:extLst>
              </p:cNvPr>
              <p:cNvGrpSpPr/>
              <p:nvPr/>
            </p:nvGrpSpPr>
            <p:grpSpPr>
              <a:xfrm>
                <a:off x="7962199" y="3852327"/>
                <a:ext cx="381000" cy="685800"/>
                <a:chOff x="5562600" y="3429000"/>
                <a:chExt cx="381000" cy="685800"/>
              </a:xfrm>
            </p:grpSpPr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AA58A12A-87B7-4EB8-B78A-ED57FCFFD7FE}"/>
                    </a:ext>
                  </a:extLst>
                </p:cNvPr>
                <p:cNvCxnSpPr/>
                <p:nvPr/>
              </p:nvCxnSpPr>
              <p:spPr>
                <a:xfrm>
                  <a:off x="5715000" y="3429000"/>
                  <a:ext cx="228600" cy="762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1F8C1818-CA6C-4A11-9F62-4F1C7B7B4D20}"/>
                    </a:ext>
                  </a:extLst>
                </p:cNvPr>
                <p:cNvCxnSpPr/>
                <p:nvPr/>
              </p:nvCxnSpPr>
              <p:spPr>
                <a:xfrm flipV="1">
                  <a:off x="5562600" y="35052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392819DF-F61D-4642-9D71-61AAC44FEB81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6576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313DD07-3DBC-41B0-8E32-69CF30CE84CB}"/>
                    </a:ext>
                  </a:extLst>
                </p:cNvPr>
                <p:cNvCxnSpPr/>
                <p:nvPr/>
              </p:nvCxnSpPr>
              <p:spPr>
                <a:xfrm flipV="1">
                  <a:off x="5562600" y="38100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4667FBEA-2E53-4FA8-98C8-57F63F37E4C1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9624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07389D9-4E21-404D-A961-828C7AC46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4732" y="4521195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5B5E8AE-A340-4DC8-8402-6A6AFBFB29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0" y="3632197"/>
                <a:ext cx="311079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2405C17-BCB9-4C6E-ABE6-69C252BC96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1657" y="3640668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84DE2B2-AA04-4C20-A951-A7A19BA113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13923" y="3657598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C87C67D-2A33-4DA9-B908-2784287BBF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3056" y="3649135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7EB7E2-D718-44B1-87B7-7481DC6DC5A7}"/>
                  </a:ext>
                </a:extLst>
              </p:cNvPr>
              <p:cNvSpPr txBox="1"/>
              <p:nvPr/>
            </p:nvSpPr>
            <p:spPr>
              <a:xfrm>
                <a:off x="5222369" y="4800600"/>
                <a:ext cx="7958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ECF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85E5D28-A6F0-4806-8C1C-78DB981FE3E2}"/>
                  </a:ext>
                </a:extLst>
              </p:cNvPr>
              <p:cNvSpPr txBox="1"/>
              <p:nvPr/>
            </p:nvSpPr>
            <p:spPr>
              <a:xfrm>
                <a:off x="6539798" y="3208866"/>
                <a:ext cx="7958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ICF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056B16-D637-4CBD-997A-A2B2236DCA23}"/>
                  </a:ext>
                </a:extLst>
              </p:cNvPr>
              <p:cNvSpPr txBox="1"/>
              <p:nvPr/>
            </p:nvSpPr>
            <p:spPr>
              <a:xfrm>
                <a:off x="6014859" y="3928530"/>
                <a:ext cx="38472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 err="1"/>
                  <a:t>G</a:t>
                </a:r>
                <a:r>
                  <a:rPr lang="en-US" sz="2000" baseline="-25000" dirty="0" err="1"/>
                  <a:t>Na</a:t>
                </a:r>
                <a:endParaRPr lang="en-US" sz="20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FFAA8FE-C5B3-43DE-930E-A552B90EDA3E}"/>
                  </a:ext>
                </a:extLst>
              </p:cNvPr>
              <p:cNvSpPr txBox="1"/>
              <p:nvPr/>
            </p:nvSpPr>
            <p:spPr>
              <a:xfrm>
                <a:off x="7166326" y="3911596"/>
                <a:ext cx="3093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/>
                  <a:t>G</a:t>
                </a:r>
                <a:r>
                  <a:rPr lang="en-US" sz="2000" baseline="-25000" dirty="0"/>
                  <a:t>K</a:t>
                </a:r>
                <a:endParaRPr lang="en-US" sz="20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294BD0-9892-480B-A498-68BEFC729890}"/>
                  </a:ext>
                </a:extLst>
              </p:cNvPr>
              <p:cNvSpPr txBox="1"/>
              <p:nvPr/>
            </p:nvSpPr>
            <p:spPr>
              <a:xfrm>
                <a:off x="8351659" y="3928530"/>
                <a:ext cx="3478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 err="1"/>
                  <a:t>G</a:t>
                </a:r>
                <a:r>
                  <a:rPr lang="en-US" sz="2000" baseline="-25000" dirty="0" err="1"/>
                  <a:t>Cl</a:t>
                </a:r>
                <a:endParaRPr lang="en-US" sz="2000" dirty="0"/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654E2FA-DC45-40B3-BFF9-11FD40C690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1766" y="4216400"/>
                <a:ext cx="0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DBD86FD-A832-46BF-BCD6-B63BB2278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2723" y="3606798"/>
                <a:ext cx="0" cy="160020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DA3EB3E-82CE-477C-A718-8FF24265978F}"/>
                  </a:ext>
                </a:extLst>
              </p:cNvPr>
              <p:cNvSpPr/>
              <p:nvPr/>
            </p:nvSpPr>
            <p:spPr>
              <a:xfrm>
                <a:off x="4888800" y="4021664"/>
                <a:ext cx="279400" cy="67733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23363A85-D00E-45E5-8218-38744E54BC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8500" y="4207931"/>
                <a:ext cx="0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700C690-E69F-4EE0-A290-24415439DF1D}"/>
                  </a:ext>
                </a:extLst>
              </p:cNvPr>
              <p:cNvSpPr txBox="1"/>
              <p:nvPr/>
            </p:nvSpPr>
            <p:spPr>
              <a:xfrm>
                <a:off x="4710996" y="3682994"/>
                <a:ext cx="2837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 err="1"/>
                  <a:t>I</a:t>
                </a:r>
                <a:r>
                  <a:rPr lang="en-US" sz="2000" baseline="-25000" dirty="0" err="1"/>
                  <a:t>Na</a:t>
                </a:r>
                <a:endParaRPr lang="en-US" sz="20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0DFC12B-3C29-494E-A751-608B3B3AE35B}"/>
                  </a:ext>
                </a:extLst>
              </p:cNvPr>
              <p:cNvSpPr txBox="1"/>
              <p:nvPr/>
            </p:nvSpPr>
            <p:spPr>
              <a:xfrm>
                <a:off x="5354462" y="3674529"/>
                <a:ext cx="2083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/>
                  <a:t>I</a:t>
                </a:r>
                <a:r>
                  <a:rPr lang="en-US" sz="2000" baseline="-25000" dirty="0"/>
                  <a:t>K</a:t>
                </a:r>
                <a:endParaRPr lang="en-US" sz="20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30268E0-06B5-4E59-8330-B1DCA48CD349}"/>
                    </a:ext>
                  </a:extLst>
                </p:cNvPr>
                <p:cNvSpPr/>
                <p:nvPr/>
              </p:nvSpPr>
              <p:spPr>
                <a:xfrm>
                  <a:off x="6038983" y="4151533"/>
                  <a:ext cx="479991" cy="40620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D64641F3-C584-4D41-B1A4-3ACEE76000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8983" y="4151533"/>
                  <a:ext cx="479991" cy="406201"/>
                </a:xfrm>
                <a:prstGeom prst="rect">
                  <a:avLst/>
                </a:prstGeom>
                <a:blipFill>
                  <a:blip r:embed="rId4"/>
                  <a:stretch>
                    <a:fillRect r="-11392" b="-29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8994107-88E4-4CC9-8A35-65F2CDC9BCC6}"/>
                    </a:ext>
                  </a:extLst>
                </p:cNvPr>
                <p:cNvSpPr/>
                <p:nvPr/>
              </p:nvSpPr>
              <p:spPr>
                <a:xfrm>
                  <a:off x="7296257" y="4152334"/>
                  <a:ext cx="479991" cy="4045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41EDE3FF-D4EA-4AE6-861A-5F6F8D39B6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6257" y="4152334"/>
                  <a:ext cx="479991" cy="404598"/>
                </a:xfrm>
                <a:prstGeom prst="rect">
                  <a:avLst/>
                </a:prstGeom>
                <a:blipFill>
                  <a:blip r:embed="rId5"/>
                  <a:stretch>
                    <a:fillRect b="-29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01106E9-F2A9-45DA-AF07-8B4085596F56}"/>
                    </a:ext>
                  </a:extLst>
                </p:cNvPr>
                <p:cNvSpPr/>
                <p:nvPr/>
              </p:nvSpPr>
              <p:spPr>
                <a:xfrm>
                  <a:off x="8433262" y="4217073"/>
                  <a:ext cx="479991" cy="4128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D3A0877C-7B42-472D-8FA0-2A430FC2B7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2" y="4217073"/>
                  <a:ext cx="479991" cy="412870"/>
                </a:xfrm>
                <a:prstGeom prst="rect">
                  <a:avLst/>
                </a:prstGeom>
                <a:blipFill>
                  <a:blip r:embed="rId6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531B4F4A-EF4B-431A-800D-C08380A0BEF0}"/>
              </a:ext>
            </a:extLst>
          </p:cNvPr>
          <p:cNvSpPr txBox="1">
            <a:spLocks/>
          </p:cNvSpPr>
          <p:nvPr/>
        </p:nvSpPr>
        <p:spPr bwMode="auto">
          <a:xfrm>
            <a:off x="838200" y="1479882"/>
            <a:ext cx="3374204" cy="154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/>
              <a:t>We have a nice equivalent circuit that we can analyze</a:t>
            </a:r>
            <a:endParaRPr lang="en-US" kern="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28DC162-32CE-7C49-7565-40E9ECAABF87}"/>
              </a:ext>
            </a:extLst>
          </p:cNvPr>
          <p:cNvCxnSpPr>
            <a:cxnSpLocks/>
          </p:cNvCxnSpPr>
          <p:nvPr/>
        </p:nvCxnSpPr>
        <p:spPr>
          <a:xfrm>
            <a:off x="7770373" y="2812202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237E8A5-1574-43EE-4D97-F5E9790497EB}"/>
              </a:ext>
            </a:extLst>
          </p:cNvPr>
          <p:cNvCxnSpPr>
            <a:cxnSpLocks/>
          </p:cNvCxnSpPr>
          <p:nvPr/>
        </p:nvCxnSpPr>
        <p:spPr>
          <a:xfrm>
            <a:off x="7705575" y="3489283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6F53A85-A36E-8816-5BB5-FFFDB1F7F15A}"/>
              </a:ext>
            </a:extLst>
          </p:cNvPr>
          <p:cNvCxnSpPr>
            <a:cxnSpLocks/>
          </p:cNvCxnSpPr>
          <p:nvPr/>
        </p:nvCxnSpPr>
        <p:spPr>
          <a:xfrm>
            <a:off x="7741078" y="3542623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B66C513-3018-8A38-A6CD-E6F938E89E09}"/>
              </a:ext>
            </a:extLst>
          </p:cNvPr>
          <p:cNvCxnSpPr>
            <a:cxnSpLocks/>
          </p:cNvCxnSpPr>
          <p:nvPr/>
        </p:nvCxnSpPr>
        <p:spPr>
          <a:xfrm>
            <a:off x="7634901" y="3439753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29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8481-87CA-4F3D-894D-C2B8F5F7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up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3A6B6-7A14-418B-80A4-8F41F24BB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676400"/>
            <a:ext cx="7889789" cy="4419600"/>
          </a:xfrm>
        </p:spPr>
        <p:txBody>
          <a:bodyPr/>
          <a:lstStyle/>
          <a:p>
            <a:r>
              <a:rPr lang="en-US" dirty="0"/>
              <a:t>Done with the physics part of the course!</a:t>
            </a:r>
          </a:p>
          <a:p>
            <a:pPr lvl="1"/>
            <a:r>
              <a:rPr lang="en-US" dirty="0"/>
              <a:t>You understand bioelectricity fairly deeply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r>
              <a:rPr lang="en-US" dirty="0"/>
              <a:t>QSS simulation lab does cell voltages in QSS</a:t>
            </a:r>
          </a:p>
          <a:p>
            <a:pPr lvl="1">
              <a:spcBef>
                <a:spcPts val="0"/>
              </a:spcBef>
            </a:pPr>
            <a:r>
              <a:rPr lang="en-US" dirty="0"/>
              <a:t>Reinforces that voltages change fast</a:t>
            </a:r>
          </a:p>
          <a:p>
            <a:r>
              <a:rPr lang="en-US" dirty="0"/>
              <a:t>Next up: neurons</a:t>
            </a:r>
          </a:p>
          <a:p>
            <a:pPr lvl="1">
              <a:spcBef>
                <a:spcPts val="0"/>
              </a:spcBef>
            </a:pPr>
            <a:r>
              <a:rPr lang="en-US" dirty="0"/>
              <a:t>Show how their ion-channel conductance changes cause spikes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Look at medical applications of generating spikes ourselves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8D5FE-2F50-4CF4-ABC5-E63E1A97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72558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6F0C-1855-4BD5-935B-2D531E9C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025E-6EB9-40BF-A91F-95B2041FE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1E20E-1BA1-4990-AA19-C252D45A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Bioelectricity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966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7B55-C28D-4FBC-B30A-1D389918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quiz (prep for the oral quiz)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D58CB-9F18-4664-B8EF-D9EE1FA4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7D65DAF4-CB5F-4DEB-B9A0-E39028F54042}"/>
              </a:ext>
            </a:extLst>
          </p:cNvPr>
          <p:cNvSpPr txBox="1">
            <a:spLocks/>
          </p:cNvSpPr>
          <p:nvPr/>
        </p:nvSpPr>
        <p:spPr bwMode="auto">
          <a:xfrm>
            <a:off x="210956" y="3337560"/>
            <a:ext cx="8822870" cy="2882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dirty="0"/>
              <a:t>What is the value of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if, e.g., </a:t>
            </a:r>
            <a:r>
              <a:rPr lang="en-US" sz="2400" i="1" dirty="0" err="1"/>
              <a:t>G</a:t>
            </a:r>
            <a:r>
              <a:rPr lang="en-US" sz="2400" baseline="-25000" dirty="0" err="1"/>
              <a:t>Na</a:t>
            </a:r>
            <a:r>
              <a:rPr lang="en-US" sz="2400" dirty="0"/>
              <a:t> gets very big?</a:t>
            </a:r>
          </a:p>
          <a:p>
            <a:r>
              <a:rPr lang="en-US" sz="2400" dirty="0"/>
              <a:t>What is the value of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 if, e.g., </a:t>
            </a:r>
            <a:r>
              <a:rPr lang="en-US" sz="2400" i="1" dirty="0"/>
              <a:t>G</a:t>
            </a:r>
            <a:r>
              <a:rPr lang="en-US" sz="2400" baseline="-25000" dirty="0"/>
              <a:t>K</a:t>
            </a:r>
            <a:r>
              <a:rPr lang="en-US" sz="2400" dirty="0"/>
              <a:t> gets very big?</a:t>
            </a:r>
          </a:p>
          <a:p>
            <a:r>
              <a:rPr lang="en-US" sz="2400" dirty="0"/>
              <a:t>What if </a:t>
            </a:r>
            <a:r>
              <a:rPr lang="en-US" sz="2400" i="1" dirty="0" err="1"/>
              <a:t>G</a:t>
            </a:r>
            <a:r>
              <a:rPr lang="en-US" sz="2400" baseline="-25000" dirty="0" err="1"/>
              <a:t>Na</a:t>
            </a:r>
            <a:r>
              <a:rPr lang="en-US" sz="2400" dirty="0"/>
              <a:t> and </a:t>
            </a:r>
            <a:r>
              <a:rPr lang="en-US" sz="2400" i="1" dirty="0"/>
              <a:t>G</a:t>
            </a:r>
            <a:r>
              <a:rPr lang="en-US" sz="2400" baseline="-25000" dirty="0"/>
              <a:t>K</a:t>
            </a:r>
            <a:r>
              <a:rPr lang="en-US" sz="2400" dirty="0"/>
              <a:t> are both close to 0?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F8BA25-2366-41EF-AD7D-C44FB618957A}"/>
              </a:ext>
            </a:extLst>
          </p:cNvPr>
          <p:cNvGrpSpPr/>
          <p:nvPr/>
        </p:nvGrpSpPr>
        <p:grpSpPr>
          <a:xfrm>
            <a:off x="3970772" y="1167384"/>
            <a:ext cx="4328242" cy="2053399"/>
            <a:chOff x="4585011" y="2904744"/>
            <a:chExt cx="4328242" cy="205339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254DA19-506A-4487-83ED-BDE871A82B9D}"/>
                </a:ext>
              </a:extLst>
            </p:cNvPr>
            <p:cNvGrpSpPr/>
            <p:nvPr/>
          </p:nvGrpSpPr>
          <p:grpSpPr>
            <a:xfrm>
              <a:off x="4585011" y="2904744"/>
              <a:ext cx="4328242" cy="2053399"/>
              <a:chOff x="4710996" y="3208866"/>
              <a:chExt cx="4328242" cy="2053399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3C715A8-9C94-4891-90F5-D91AB0B64E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5989" y="3615267"/>
                <a:ext cx="0" cy="160020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EC367E1-EA9E-4130-83C0-20BA7DE289B8}"/>
                  </a:ext>
                </a:extLst>
              </p:cNvPr>
              <p:cNvSpPr/>
              <p:nvPr/>
            </p:nvSpPr>
            <p:spPr>
              <a:xfrm>
                <a:off x="5202066" y="4030133"/>
                <a:ext cx="279400" cy="67733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8B7F2181-E4D5-4A37-9D1E-823450D73A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667" y="5206996"/>
                <a:ext cx="33055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0EB2F32A-AE63-4E3B-B9C8-716D72546324}"/>
                  </a:ext>
                </a:extLst>
              </p:cNvPr>
              <p:cNvGrpSpPr/>
              <p:nvPr/>
            </p:nvGrpSpPr>
            <p:grpSpPr>
              <a:xfrm>
                <a:off x="5777789" y="4754818"/>
                <a:ext cx="927723" cy="387480"/>
                <a:chOff x="5892800" y="3496733"/>
                <a:chExt cx="853048" cy="355676"/>
              </a:xfrm>
            </p:grpSpPr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79CBB4A1-E728-4A3B-B8F0-D48B7A7B4304}"/>
                    </a:ext>
                  </a:extLst>
                </p:cNvPr>
                <p:cNvCxnSpPr/>
                <p:nvPr/>
              </p:nvCxnSpPr>
              <p:spPr>
                <a:xfrm>
                  <a:off x="5892800" y="3496733"/>
                  <a:ext cx="457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03D8AFEC-7816-47BB-A995-1EE04B6D42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4399" y="3598332"/>
                  <a:ext cx="25400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07CB95-6D6F-46AB-91CE-8939F2CED0E2}"/>
                    </a:ext>
                  </a:extLst>
                </p:cNvPr>
                <p:cNvSpPr txBox="1"/>
                <p:nvPr/>
              </p:nvSpPr>
              <p:spPr>
                <a:xfrm>
                  <a:off x="6215218" y="3598146"/>
                  <a:ext cx="530630" cy="254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800" dirty="0"/>
                    <a:t>77mV</a:t>
                  </a: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CAD19BC4-A29A-4091-B806-DD0D97E48D4A}"/>
                  </a:ext>
                </a:extLst>
              </p:cNvPr>
              <p:cNvGrpSpPr/>
              <p:nvPr/>
            </p:nvGrpSpPr>
            <p:grpSpPr>
              <a:xfrm>
                <a:off x="7005461" y="4732864"/>
                <a:ext cx="988654" cy="312676"/>
                <a:chOff x="5892800" y="3496733"/>
                <a:chExt cx="988654" cy="312676"/>
              </a:xfrm>
            </p:grpSpPr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FBE49B02-1D31-47AA-A00D-0541DAC87BF6}"/>
                    </a:ext>
                  </a:extLst>
                </p:cNvPr>
                <p:cNvCxnSpPr/>
                <p:nvPr/>
              </p:nvCxnSpPr>
              <p:spPr>
                <a:xfrm>
                  <a:off x="5892800" y="3496733"/>
                  <a:ext cx="457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FCDA48B4-6C3C-4A6B-BC3D-0DA178B2DF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4399" y="3598332"/>
                  <a:ext cx="25400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EA68A635-BB5C-4AD9-B1D1-4D8FEBB9657F}"/>
                    </a:ext>
                  </a:extLst>
                </p:cNvPr>
                <p:cNvSpPr txBox="1"/>
                <p:nvPr/>
              </p:nvSpPr>
              <p:spPr>
                <a:xfrm>
                  <a:off x="6227429" y="3532410"/>
                  <a:ext cx="65402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800" dirty="0"/>
                    <a:t>-89mV</a:t>
                  </a:r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F77B4B55-8F97-4069-AF36-4C7469CB1F42}"/>
                  </a:ext>
                </a:extLst>
              </p:cNvPr>
              <p:cNvGrpSpPr/>
              <p:nvPr/>
            </p:nvGrpSpPr>
            <p:grpSpPr>
              <a:xfrm>
                <a:off x="8097660" y="4732864"/>
                <a:ext cx="941578" cy="375039"/>
                <a:chOff x="5892800" y="3496733"/>
                <a:chExt cx="941578" cy="375039"/>
              </a:xfrm>
            </p:grpSpPr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999509CA-F0AD-465C-ACE6-7EA8D65FEF0C}"/>
                    </a:ext>
                  </a:extLst>
                </p:cNvPr>
                <p:cNvCxnSpPr/>
                <p:nvPr/>
              </p:nvCxnSpPr>
              <p:spPr>
                <a:xfrm>
                  <a:off x="5892800" y="3496733"/>
                  <a:ext cx="457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0DD7D290-ECED-4B17-8666-B10142D043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4399" y="3598332"/>
                  <a:ext cx="25400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00A08B10-B129-4A45-A356-5DB081FC068D}"/>
                    </a:ext>
                  </a:extLst>
                </p:cNvPr>
                <p:cNvSpPr txBox="1"/>
                <p:nvPr/>
              </p:nvSpPr>
              <p:spPr>
                <a:xfrm>
                  <a:off x="6180353" y="3594773"/>
                  <a:ext cx="65402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800" dirty="0"/>
                    <a:t>-71mV</a:t>
                  </a:r>
                </a:p>
              </p:txBody>
            </p:sp>
          </p:grp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0013CC7F-7E77-4CF7-AEF7-BC2A7AB534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4864" y="4834465"/>
                <a:ext cx="0" cy="38100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1F72347-766C-4626-B23F-2F65BB1020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4066" y="4842926"/>
                <a:ext cx="0" cy="38100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1CC69D34-ADB2-4C61-917F-2ACDB513499C}"/>
                  </a:ext>
                </a:extLst>
              </p:cNvPr>
              <p:cNvGrpSpPr/>
              <p:nvPr/>
            </p:nvGrpSpPr>
            <p:grpSpPr>
              <a:xfrm>
                <a:off x="5642329" y="3852332"/>
                <a:ext cx="381000" cy="685800"/>
                <a:chOff x="5562600" y="3429000"/>
                <a:chExt cx="381000" cy="685800"/>
              </a:xfrm>
            </p:grpSpPr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B6CDDB89-DBD3-4EED-A669-172704B97FFF}"/>
                    </a:ext>
                  </a:extLst>
                </p:cNvPr>
                <p:cNvCxnSpPr/>
                <p:nvPr/>
              </p:nvCxnSpPr>
              <p:spPr>
                <a:xfrm>
                  <a:off x="5715000" y="3429000"/>
                  <a:ext cx="228600" cy="762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BB591CE3-260E-4CDD-960E-AE145A48B65D}"/>
                    </a:ext>
                  </a:extLst>
                </p:cNvPr>
                <p:cNvCxnSpPr/>
                <p:nvPr/>
              </p:nvCxnSpPr>
              <p:spPr>
                <a:xfrm flipV="1">
                  <a:off x="5562600" y="35052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BB7F0BA0-9723-432E-BD17-EFF4E034D3C2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6576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0A47F34A-98CC-4361-A732-42DF2574E3B9}"/>
                    </a:ext>
                  </a:extLst>
                </p:cNvPr>
                <p:cNvCxnSpPr/>
                <p:nvPr/>
              </p:nvCxnSpPr>
              <p:spPr>
                <a:xfrm flipV="1">
                  <a:off x="5562600" y="38100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562F351F-F850-44F9-8031-2C97D2A5EDEF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9624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9DBC05E-A97F-4A7F-81F9-6499B6E0B8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4862" y="4521200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A7F738DE-9A89-4010-B490-6BB8B0C035FA}"/>
                  </a:ext>
                </a:extLst>
              </p:cNvPr>
              <p:cNvGrpSpPr/>
              <p:nvPr/>
            </p:nvGrpSpPr>
            <p:grpSpPr>
              <a:xfrm>
                <a:off x="6844595" y="3852330"/>
                <a:ext cx="381000" cy="685800"/>
                <a:chOff x="5562600" y="3429000"/>
                <a:chExt cx="381000" cy="685800"/>
              </a:xfrm>
            </p:grpSpPr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A22CEEE-D1C6-4297-96FA-15C05C312C4D}"/>
                    </a:ext>
                  </a:extLst>
                </p:cNvPr>
                <p:cNvCxnSpPr/>
                <p:nvPr/>
              </p:nvCxnSpPr>
              <p:spPr>
                <a:xfrm>
                  <a:off x="5715000" y="3429000"/>
                  <a:ext cx="228600" cy="762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6FA34693-DC65-4DF9-B01B-0D88DC4E8994}"/>
                    </a:ext>
                  </a:extLst>
                </p:cNvPr>
                <p:cNvCxnSpPr/>
                <p:nvPr/>
              </p:nvCxnSpPr>
              <p:spPr>
                <a:xfrm flipV="1">
                  <a:off x="5562600" y="35052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DFCF96C5-BBCE-4D4A-9DE4-0EB49EC4FCE7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6576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BF750CBD-FF09-4521-80D1-063639577DB7}"/>
                    </a:ext>
                  </a:extLst>
                </p:cNvPr>
                <p:cNvCxnSpPr/>
                <p:nvPr/>
              </p:nvCxnSpPr>
              <p:spPr>
                <a:xfrm flipV="1">
                  <a:off x="5562600" y="38100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3330310B-58C3-407A-821D-34E7A1C47D84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9624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C3E6391-E218-455F-ABAF-E0913F42BE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7128" y="4521198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E9275C33-6A56-4291-8757-1F9DE48ADB59}"/>
                  </a:ext>
                </a:extLst>
              </p:cNvPr>
              <p:cNvGrpSpPr/>
              <p:nvPr/>
            </p:nvGrpSpPr>
            <p:grpSpPr>
              <a:xfrm>
                <a:off x="7962199" y="3852327"/>
                <a:ext cx="381000" cy="685800"/>
                <a:chOff x="5562600" y="3429000"/>
                <a:chExt cx="381000" cy="685800"/>
              </a:xfrm>
            </p:grpSpPr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D2FCE7DB-2E74-4E46-94C9-1AAD2BED772A}"/>
                    </a:ext>
                  </a:extLst>
                </p:cNvPr>
                <p:cNvCxnSpPr/>
                <p:nvPr/>
              </p:nvCxnSpPr>
              <p:spPr>
                <a:xfrm>
                  <a:off x="5715000" y="3429000"/>
                  <a:ext cx="228600" cy="762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98688567-28C5-4EF9-9528-F8335E23ED14}"/>
                    </a:ext>
                  </a:extLst>
                </p:cNvPr>
                <p:cNvCxnSpPr/>
                <p:nvPr/>
              </p:nvCxnSpPr>
              <p:spPr>
                <a:xfrm flipV="1">
                  <a:off x="5562600" y="35052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CB03DB19-D0FC-4B6C-8DF8-82E816AA5B4C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6576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DCB76EE8-4971-4D2B-A41F-1701154B5044}"/>
                    </a:ext>
                  </a:extLst>
                </p:cNvPr>
                <p:cNvCxnSpPr/>
                <p:nvPr/>
              </p:nvCxnSpPr>
              <p:spPr>
                <a:xfrm flipV="1">
                  <a:off x="5562600" y="38100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C425998C-8636-450B-8E9C-A0ACB80B6724}"/>
                    </a:ext>
                  </a:extLst>
                </p:cNvPr>
                <p:cNvCxnSpPr/>
                <p:nvPr/>
              </p:nvCxnSpPr>
              <p:spPr>
                <a:xfrm flipH="1" flipV="1">
                  <a:off x="5562600" y="3962400"/>
                  <a:ext cx="381000" cy="1524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CF98A6B-CEFE-42E7-A5D3-1C58FCEDD3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4732" y="4521195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58C74111-405B-4778-B182-9A8C0E7D5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0" y="3632197"/>
                <a:ext cx="311079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41F43C6-C52A-4A49-B7F1-EA0EBD8B2B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1657" y="3640668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D9A2430-1F69-475A-8C80-9619ACE3E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13923" y="3657598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0CE4662-4D5A-4896-880E-159196E2C9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3056" y="3649135"/>
                <a:ext cx="0" cy="203198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18730E1-264A-4BA9-937E-D6E7A0000BC5}"/>
                  </a:ext>
                </a:extLst>
              </p:cNvPr>
              <p:cNvSpPr txBox="1"/>
              <p:nvPr/>
            </p:nvSpPr>
            <p:spPr>
              <a:xfrm>
                <a:off x="5222369" y="4800600"/>
                <a:ext cx="7958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ECF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970DD2-7A85-43A5-A2F2-280986054469}"/>
                  </a:ext>
                </a:extLst>
              </p:cNvPr>
              <p:cNvSpPr txBox="1"/>
              <p:nvPr/>
            </p:nvSpPr>
            <p:spPr>
              <a:xfrm>
                <a:off x="6539798" y="3208866"/>
                <a:ext cx="7958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ICF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4736424-B38B-4D20-990D-B8BAC7BB0A79}"/>
                  </a:ext>
                </a:extLst>
              </p:cNvPr>
              <p:cNvSpPr txBox="1"/>
              <p:nvPr/>
            </p:nvSpPr>
            <p:spPr>
              <a:xfrm>
                <a:off x="6014859" y="3928530"/>
                <a:ext cx="38472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 err="1"/>
                  <a:t>G</a:t>
                </a:r>
                <a:r>
                  <a:rPr lang="en-US" sz="2000" baseline="-25000" dirty="0" err="1"/>
                  <a:t>Na</a:t>
                </a:r>
                <a:endParaRPr lang="en-US" sz="2000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FD427E2-2E02-4A6C-BD4B-4142766FE0CA}"/>
                  </a:ext>
                </a:extLst>
              </p:cNvPr>
              <p:cNvSpPr txBox="1"/>
              <p:nvPr/>
            </p:nvSpPr>
            <p:spPr>
              <a:xfrm>
                <a:off x="7166326" y="3911596"/>
                <a:ext cx="3093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/>
                  <a:t>G</a:t>
                </a:r>
                <a:r>
                  <a:rPr lang="en-US" sz="2000" baseline="-25000" dirty="0"/>
                  <a:t>K</a:t>
                </a:r>
                <a:endParaRPr lang="en-US" sz="2000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E2142DC-284C-4FF9-AF7A-F8A57E46A729}"/>
                  </a:ext>
                </a:extLst>
              </p:cNvPr>
              <p:cNvSpPr txBox="1"/>
              <p:nvPr/>
            </p:nvSpPr>
            <p:spPr>
              <a:xfrm>
                <a:off x="8351659" y="3928530"/>
                <a:ext cx="3478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 err="1"/>
                  <a:t>G</a:t>
                </a:r>
                <a:r>
                  <a:rPr lang="en-US" sz="2000" baseline="-25000" dirty="0" err="1"/>
                  <a:t>Cl</a:t>
                </a:r>
                <a:endParaRPr lang="en-US" sz="2000" dirty="0"/>
              </a:p>
            </p:txBody>
          </p: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7C963C50-8FB7-42D1-B30C-7464E4D42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1766" y="4216400"/>
                <a:ext cx="0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84E3AE8-B1B2-4DAB-AA9A-4F57459F03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2723" y="3606798"/>
                <a:ext cx="0" cy="160020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C1447C6-60AF-4D14-BA31-E91505A3FBEC}"/>
                  </a:ext>
                </a:extLst>
              </p:cNvPr>
              <p:cNvSpPr/>
              <p:nvPr/>
            </p:nvSpPr>
            <p:spPr>
              <a:xfrm>
                <a:off x="4888800" y="4021664"/>
                <a:ext cx="279400" cy="67733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82AD86A9-F188-4871-8F69-26D06AEC31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8500" y="4207931"/>
                <a:ext cx="0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F8E56D2-F622-4517-B622-3B0CC0554F34}"/>
                  </a:ext>
                </a:extLst>
              </p:cNvPr>
              <p:cNvSpPr txBox="1"/>
              <p:nvPr/>
            </p:nvSpPr>
            <p:spPr>
              <a:xfrm>
                <a:off x="4710996" y="3682994"/>
                <a:ext cx="2837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 err="1"/>
                  <a:t>I</a:t>
                </a:r>
                <a:r>
                  <a:rPr lang="en-US" sz="2000" baseline="-25000" dirty="0" err="1"/>
                  <a:t>Na</a:t>
                </a:r>
                <a:endParaRPr lang="en-US" sz="20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3D67F14-3B3A-4D8C-8B2E-4BF633E44D5E}"/>
                  </a:ext>
                </a:extLst>
              </p:cNvPr>
              <p:cNvSpPr txBox="1"/>
              <p:nvPr/>
            </p:nvSpPr>
            <p:spPr>
              <a:xfrm>
                <a:off x="5354462" y="3674529"/>
                <a:ext cx="2083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i="1" dirty="0"/>
                  <a:t>I</a:t>
                </a:r>
                <a:r>
                  <a:rPr lang="en-US" sz="2000" baseline="-25000" dirty="0"/>
                  <a:t>K</a:t>
                </a:r>
                <a:endParaRPr lang="en-US" sz="20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D64641F3-C584-4D41-B1A4-3ACEE76000EC}"/>
                    </a:ext>
                  </a:extLst>
                </p:cNvPr>
                <p:cNvSpPr/>
                <p:nvPr/>
              </p:nvSpPr>
              <p:spPr>
                <a:xfrm>
                  <a:off x="6038983" y="4151533"/>
                  <a:ext cx="479991" cy="40620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D64641F3-C584-4D41-B1A4-3ACEE76000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8983" y="4151533"/>
                  <a:ext cx="479991" cy="406201"/>
                </a:xfrm>
                <a:prstGeom prst="rect">
                  <a:avLst/>
                </a:prstGeom>
                <a:blipFill>
                  <a:blip r:embed="rId4"/>
                  <a:stretch>
                    <a:fillRect r="-11392" b="-29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41EDE3FF-D4EA-4AE6-861A-5F6F8D39B6B6}"/>
                    </a:ext>
                  </a:extLst>
                </p:cNvPr>
                <p:cNvSpPr/>
                <p:nvPr/>
              </p:nvSpPr>
              <p:spPr>
                <a:xfrm>
                  <a:off x="7296257" y="4152334"/>
                  <a:ext cx="479991" cy="4045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41EDE3FF-D4EA-4AE6-861A-5F6F8D39B6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6257" y="4152334"/>
                  <a:ext cx="479991" cy="404598"/>
                </a:xfrm>
                <a:prstGeom prst="rect">
                  <a:avLst/>
                </a:prstGeom>
                <a:blipFill>
                  <a:blip r:embed="rId5"/>
                  <a:stretch>
                    <a:fillRect b="-29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D3A0877C-7B42-472D-8FA0-2A430FC2B73D}"/>
                    </a:ext>
                  </a:extLst>
                </p:cNvPr>
                <p:cNvSpPr/>
                <p:nvPr/>
              </p:nvSpPr>
              <p:spPr>
                <a:xfrm>
                  <a:off x="8433262" y="4217073"/>
                  <a:ext cx="479991" cy="4128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D3A0877C-7B42-472D-8FA0-2A430FC2B7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2" y="4217073"/>
                  <a:ext cx="479991" cy="412870"/>
                </a:xfrm>
                <a:prstGeom prst="rect">
                  <a:avLst/>
                </a:prstGeom>
                <a:blipFill>
                  <a:blip r:embed="rId6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B351826-B6C3-8B83-F4FC-944CF1D0906F}"/>
              </a:ext>
            </a:extLst>
          </p:cNvPr>
          <p:cNvCxnSpPr>
            <a:cxnSpLocks/>
          </p:cNvCxnSpPr>
          <p:nvPr/>
        </p:nvCxnSpPr>
        <p:spPr>
          <a:xfrm>
            <a:off x="7598249" y="2801446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74D7194-C869-EA2B-6057-67912C20B5D5}"/>
              </a:ext>
            </a:extLst>
          </p:cNvPr>
          <p:cNvCxnSpPr>
            <a:cxnSpLocks/>
          </p:cNvCxnSpPr>
          <p:nvPr/>
        </p:nvCxnSpPr>
        <p:spPr>
          <a:xfrm>
            <a:off x="7533451" y="3478527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9369C2B-C0E7-E185-A1E5-6DA2033E3674}"/>
              </a:ext>
            </a:extLst>
          </p:cNvPr>
          <p:cNvCxnSpPr>
            <a:cxnSpLocks/>
          </p:cNvCxnSpPr>
          <p:nvPr/>
        </p:nvCxnSpPr>
        <p:spPr>
          <a:xfrm>
            <a:off x="7568954" y="3531867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0C70767-C669-378E-DDD3-67FCC53977A0}"/>
              </a:ext>
            </a:extLst>
          </p:cNvPr>
          <p:cNvCxnSpPr>
            <a:cxnSpLocks/>
          </p:cNvCxnSpPr>
          <p:nvPr/>
        </p:nvCxnSpPr>
        <p:spPr>
          <a:xfrm>
            <a:off x="7462777" y="3428997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551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51D9-37B8-413D-84CF-3CA9A18C1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92A20-82B1-4D01-8271-29CEC15C7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37944"/>
            <a:ext cx="7918704" cy="1581912"/>
          </a:xfrm>
        </p:spPr>
        <p:txBody>
          <a:bodyPr/>
          <a:lstStyle/>
          <a:p>
            <a:r>
              <a:rPr lang="en-US" dirty="0" err="1"/>
              <a:t>analyze_equiv_network</a:t>
            </a:r>
            <a:r>
              <a:rPr lang="en-US" dirty="0"/>
              <a:t>() tries to keep results pretty</a:t>
            </a:r>
          </a:p>
          <a:p>
            <a:pPr lvl="1">
              <a:spcBef>
                <a:spcPts val="0"/>
              </a:spcBef>
            </a:pPr>
            <a:r>
              <a:rPr lang="en-US" dirty="0"/>
              <a:t>It sometimes only prints to one significant digit</a:t>
            </a:r>
          </a:p>
          <a:p>
            <a:pPr lvl="1">
              <a:spcBef>
                <a:spcPts val="0"/>
              </a:spcBef>
            </a:pPr>
            <a:r>
              <a:rPr lang="en-US" dirty="0"/>
              <a:t>Here are some better numbers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8DAE7-BC5F-44C7-BF2A-6E6AE6EA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5E4CBE-4778-4EB9-8307-E3D0B3091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661609"/>
              </p:ext>
            </p:extLst>
          </p:nvPr>
        </p:nvGraphicFramePr>
        <p:xfrm>
          <a:off x="2093976" y="3646424"/>
          <a:ext cx="4818888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2217175727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1754650368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418029045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670821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733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 (</a:t>
                      </a:r>
                      <a:r>
                        <a:rPr lang="en-US" baseline="0" dirty="0"/>
                        <a:t>mol/m</a:t>
                      </a:r>
                      <a:r>
                        <a:rPr lang="en-US" baseline="30000" dirty="0"/>
                        <a:t>2</a:t>
                      </a:r>
                      <a:r>
                        <a:rPr lang="en-US" baseline="0" dirty="0"/>
                        <a:t>s per mV)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72134"/>
                  </a:ext>
                </a:extLst>
              </a:tr>
              <a:tr h="266192">
                <a:tc>
                  <a:txBody>
                    <a:bodyPr/>
                    <a:lstStyle/>
                    <a:p>
                      <a:r>
                        <a:rPr lang="en-US" dirty="0" err="1"/>
                        <a:t>V</a:t>
                      </a:r>
                      <a:r>
                        <a:rPr lang="en-US" baseline="-25000" dirty="0" err="1"/>
                        <a:t>nernst</a:t>
                      </a:r>
                      <a:r>
                        <a:rPr lang="en-US" baseline="0" dirty="0"/>
                        <a:t> (mV)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300548"/>
                  </a:ext>
                </a:extLst>
              </a:tr>
              <a:tr h="266192"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I</a:t>
                      </a:r>
                      <a:r>
                        <a:rPr lang="en-US" baseline="-25000" dirty="0" err="1"/>
                        <a:t>pump</a:t>
                      </a:r>
                      <a:r>
                        <a:rPr lang="en-US" baseline="0" dirty="0"/>
                        <a:t> (mol/m</a:t>
                      </a:r>
                      <a:r>
                        <a:rPr lang="en-US" baseline="30000" dirty="0"/>
                        <a:t>2</a:t>
                      </a:r>
                      <a:r>
                        <a:rPr lang="en-US" baseline="0" dirty="0"/>
                        <a:t>s)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276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632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7B55-C28D-4FBC-B30A-1D389918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D58CB-9F18-4664-B8EF-D9EE1FA4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Bioelectricity Joel Grodstein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ontent Placeholder 2">
                <a:extLst>
                  <a:ext uri="{FF2B5EF4-FFF2-40B4-BE49-F238E27FC236}">
                    <a16:creationId xmlns:a16="http://schemas.microsoft.com/office/drawing/2014/main" id="{7D65DAF4-CB5F-4DEB-B9A0-E39028F5404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10956" y="3337560"/>
                <a:ext cx="7254850" cy="2882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000" dirty="0"/>
                  <a:t>Write KCL on the ICF node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𝑁𝑎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𝑚𝑒𝑚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𝑁𝑎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𝑚𝑒𝑚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𝑚𝑒𝑚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𝐶𝑙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  <a:p>
                <a:r>
                  <a:rPr lang="en-US" sz="2400" dirty="0"/>
                  <a:t>Solve it for </a:t>
                </a:r>
                <a:r>
                  <a:rPr lang="en-US" sz="2400" i="1" dirty="0" err="1"/>
                  <a:t>V</a:t>
                </a:r>
                <a:r>
                  <a:rPr lang="en-US" sz="2400" baseline="-25000" dirty="0" err="1"/>
                  <a:t>mem</a:t>
                </a:r>
                <a:endParaRPr lang="en-US" sz="2400" baseline="-25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𝑚𝑒𝑚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𝑁𝑎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𝑁𝑎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sub>
                        </m:sSub>
                      </m:den>
                    </m:f>
                  </m:oMath>
                </a14:m>
                <a:endParaRPr lang="en-US" sz="2000" baseline="-25000" dirty="0"/>
              </a:p>
              <a:p>
                <a:r>
                  <a:rPr lang="en-US" sz="2400" dirty="0"/>
                  <a:t>What value do we get?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𝑚𝑒𝑚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40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77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∙.4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−89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−71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(.4)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.4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2.2+.4</m:t>
                        </m:r>
                      </m:den>
                    </m:f>
                  </m:oMath>
                </a14:m>
                <a:r>
                  <a:rPr lang="en-US" sz="2000" dirty="0"/>
                  <a:t> = -71.13mV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4" name="Content Placeholder 2">
                <a:extLst>
                  <a:ext uri="{FF2B5EF4-FFF2-40B4-BE49-F238E27FC236}">
                    <a16:creationId xmlns:a16="http://schemas.microsoft.com/office/drawing/2014/main" id="{7D65DAF4-CB5F-4DEB-B9A0-E39028F54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956" y="3337560"/>
                <a:ext cx="7254850" cy="2882124"/>
              </a:xfrm>
              <a:prstGeom prst="rect">
                <a:avLst/>
              </a:prstGeom>
              <a:blipFill>
                <a:blip r:embed="rId3"/>
                <a:stretch>
                  <a:fillRect l="-1176" t="-12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3C715A8-9C94-4891-90F5-D91AB0B64ED0}"/>
              </a:ext>
            </a:extLst>
          </p:cNvPr>
          <p:cNvCxnSpPr>
            <a:cxnSpLocks/>
          </p:cNvCxnSpPr>
          <p:nvPr/>
        </p:nvCxnSpPr>
        <p:spPr>
          <a:xfrm>
            <a:off x="5082844" y="1573785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EC367E1-EA9E-4130-83C0-20BA7DE289B8}"/>
              </a:ext>
            </a:extLst>
          </p:cNvPr>
          <p:cNvSpPr/>
          <p:nvPr/>
        </p:nvSpPr>
        <p:spPr>
          <a:xfrm>
            <a:off x="4938921" y="1988651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B7F2181-E4D5-4A37-9D1E-823450D73AC0}"/>
              </a:ext>
            </a:extLst>
          </p:cNvPr>
          <p:cNvCxnSpPr>
            <a:cxnSpLocks/>
          </p:cNvCxnSpPr>
          <p:nvPr/>
        </p:nvCxnSpPr>
        <p:spPr>
          <a:xfrm>
            <a:off x="4774522" y="3165514"/>
            <a:ext cx="330552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B2F32A-AE63-4E3B-B9C8-716D72546324}"/>
              </a:ext>
            </a:extLst>
          </p:cNvPr>
          <p:cNvGrpSpPr/>
          <p:nvPr/>
        </p:nvGrpSpPr>
        <p:grpSpPr>
          <a:xfrm>
            <a:off x="5514644" y="2713336"/>
            <a:ext cx="927723" cy="387480"/>
            <a:chOff x="5892800" y="3496733"/>
            <a:chExt cx="853048" cy="355676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9CBB4A1-E728-4A3B-B8F0-D48B7A7B4304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3D8AFEC-7816-47BB-A995-1EE04B6D4202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507CB95-6D6F-46AB-91CE-8939F2CED0E2}"/>
                </a:ext>
              </a:extLst>
            </p:cNvPr>
            <p:cNvSpPr txBox="1"/>
            <p:nvPr/>
          </p:nvSpPr>
          <p:spPr>
            <a:xfrm>
              <a:off x="6215218" y="3598146"/>
              <a:ext cx="530630" cy="2542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77mV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AD19BC4-A29A-4091-B806-DD0D97E48D4A}"/>
              </a:ext>
            </a:extLst>
          </p:cNvPr>
          <p:cNvGrpSpPr/>
          <p:nvPr/>
        </p:nvGrpSpPr>
        <p:grpSpPr>
          <a:xfrm>
            <a:off x="6742316" y="2691382"/>
            <a:ext cx="988654" cy="312676"/>
            <a:chOff x="5892800" y="3496733"/>
            <a:chExt cx="988654" cy="312676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BE49B02-1D31-47AA-A00D-0541DAC87BF6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CDA48B4-6C3C-4A6B-BC3D-0DA178B2DFEC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A68A635-BB5C-4AD9-B1D1-4D8FEBB9657F}"/>
                </a:ext>
              </a:extLst>
            </p:cNvPr>
            <p:cNvSpPr txBox="1"/>
            <p:nvPr/>
          </p:nvSpPr>
          <p:spPr>
            <a:xfrm>
              <a:off x="6227429" y="3532410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-89mV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77B4B55-8F97-4069-AF36-4C7469CB1F42}"/>
              </a:ext>
            </a:extLst>
          </p:cNvPr>
          <p:cNvGrpSpPr/>
          <p:nvPr/>
        </p:nvGrpSpPr>
        <p:grpSpPr>
          <a:xfrm>
            <a:off x="7834515" y="2691382"/>
            <a:ext cx="941578" cy="375039"/>
            <a:chOff x="5892800" y="3496733"/>
            <a:chExt cx="941578" cy="37503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99509CA-F0AD-465C-ACE6-7EA8D65FEF0C}"/>
                </a:ext>
              </a:extLst>
            </p:cNvPr>
            <p:cNvCxnSpPr/>
            <p:nvPr/>
          </p:nvCxnSpPr>
          <p:spPr>
            <a:xfrm>
              <a:off x="5892800" y="3496733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DD7D290-ECED-4B17-8666-B10142D04317}"/>
                </a:ext>
              </a:extLst>
            </p:cNvPr>
            <p:cNvCxnSpPr>
              <a:cxnSpLocks/>
            </p:cNvCxnSpPr>
            <p:nvPr/>
          </p:nvCxnSpPr>
          <p:spPr>
            <a:xfrm>
              <a:off x="5994399" y="3598332"/>
              <a:ext cx="25400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0A08B10-B129-4A45-A356-5DB081FC068D}"/>
                </a:ext>
              </a:extLst>
            </p:cNvPr>
            <p:cNvSpPr txBox="1"/>
            <p:nvPr/>
          </p:nvSpPr>
          <p:spPr>
            <a:xfrm>
              <a:off x="6180353" y="3594773"/>
              <a:ext cx="65402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800" dirty="0"/>
                <a:t>-71mV</a:t>
              </a: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13CC7F-7E77-4CF7-AEF7-BC2A7AB534A3}"/>
              </a:ext>
            </a:extLst>
          </p:cNvPr>
          <p:cNvCxnSpPr>
            <a:cxnSpLocks/>
          </p:cNvCxnSpPr>
          <p:nvPr/>
        </p:nvCxnSpPr>
        <p:spPr>
          <a:xfrm>
            <a:off x="5751719" y="2792983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F72347-766C-4626-B23F-2F65BB1020FA}"/>
              </a:ext>
            </a:extLst>
          </p:cNvPr>
          <p:cNvCxnSpPr>
            <a:cxnSpLocks/>
          </p:cNvCxnSpPr>
          <p:nvPr/>
        </p:nvCxnSpPr>
        <p:spPr>
          <a:xfrm>
            <a:off x="6970921" y="2801444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CC69D34-ADB2-4C61-917F-2ACDB513499C}"/>
              </a:ext>
            </a:extLst>
          </p:cNvPr>
          <p:cNvGrpSpPr/>
          <p:nvPr/>
        </p:nvGrpSpPr>
        <p:grpSpPr>
          <a:xfrm>
            <a:off x="5379184" y="1810850"/>
            <a:ext cx="381000" cy="685800"/>
            <a:chOff x="5562600" y="3429000"/>
            <a:chExt cx="381000" cy="68580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6CDDB89-DBD3-4EED-A669-172704B97FFF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B591CE3-260E-4CDD-960E-AE145A48B65D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B7F0BA0-9723-432E-BD17-EFF4E034D3C2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A47F34A-98CC-4361-A732-42DF2574E3B9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62F351F-F850-44F9-8031-2C97D2A5EDEF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9DBC05E-A97F-4A7F-81F9-6499B6E0B821}"/>
              </a:ext>
            </a:extLst>
          </p:cNvPr>
          <p:cNvCxnSpPr>
            <a:cxnSpLocks/>
          </p:cNvCxnSpPr>
          <p:nvPr/>
        </p:nvCxnSpPr>
        <p:spPr>
          <a:xfrm>
            <a:off x="5751717" y="2479718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7F738DE-9A89-4010-B490-6BB8B0C035FA}"/>
              </a:ext>
            </a:extLst>
          </p:cNvPr>
          <p:cNvGrpSpPr/>
          <p:nvPr/>
        </p:nvGrpSpPr>
        <p:grpSpPr>
          <a:xfrm>
            <a:off x="6581450" y="1810848"/>
            <a:ext cx="381000" cy="685800"/>
            <a:chOff x="5562600" y="3429000"/>
            <a:chExt cx="381000" cy="685800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A22CEEE-D1C6-4297-96FA-15C05C312C4D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FA34693-DC65-4DF9-B01B-0D88DC4E899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FCF96C5-BBCE-4D4A-9DE4-0EB49EC4FCE7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F750CBD-FF09-4521-80D1-063639577DB7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330310B-58C3-407A-821D-34E7A1C47D8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3E6391-E218-455F-ABAF-E0913F42BE6A}"/>
              </a:ext>
            </a:extLst>
          </p:cNvPr>
          <p:cNvCxnSpPr>
            <a:cxnSpLocks/>
          </p:cNvCxnSpPr>
          <p:nvPr/>
        </p:nvCxnSpPr>
        <p:spPr>
          <a:xfrm>
            <a:off x="6953983" y="247971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9275C33-6A56-4291-8757-1F9DE48ADB59}"/>
              </a:ext>
            </a:extLst>
          </p:cNvPr>
          <p:cNvGrpSpPr/>
          <p:nvPr/>
        </p:nvGrpSpPr>
        <p:grpSpPr>
          <a:xfrm>
            <a:off x="7699054" y="1810845"/>
            <a:ext cx="381000" cy="685800"/>
            <a:chOff x="5562600" y="3429000"/>
            <a:chExt cx="381000" cy="685800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2FCE7DB-2E74-4E46-94C9-1AAD2BED772A}"/>
                </a:ext>
              </a:extLst>
            </p:cNvPr>
            <p:cNvCxnSpPr/>
            <p:nvPr/>
          </p:nvCxnSpPr>
          <p:spPr>
            <a:xfrm>
              <a:off x="5715000" y="3429000"/>
              <a:ext cx="228600" cy="762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8688567-28C5-4EF9-9528-F8335E23ED14}"/>
                </a:ext>
              </a:extLst>
            </p:cNvPr>
            <p:cNvCxnSpPr/>
            <p:nvPr/>
          </p:nvCxnSpPr>
          <p:spPr>
            <a:xfrm flipV="1">
              <a:off x="5562600" y="35052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B03DB19-D0FC-4B6C-8DF8-82E816AA5B4C}"/>
                </a:ext>
              </a:extLst>
            </p:cNvPr>
            <p:cNvCxnSpPr/>
            <p:nvPr/>
          </p:nvCxnSpPr>
          <p:spPr>
            <a:xfrm flipH="1" flipV="1">
              <a:off x="5562600" y="36576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CB76EE8-4971-4D2B-A41F-1701154B5044}"/>
                </a:ext>
              </a:extLst>
            </p:cNvPr>
            <p:cNvCxnSpPr/>
            <p:nvPr/>
          </p:nvCxnSpPr>
          <p:spPr>
            <a:xfrm flipV="1">
              <a:off x="5562600" y="38100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425998C-8636-450B-8E9C-A0ACB80B6724}"/>
                </a:ext>
              </a:extLst>
            </p:cNvPr>
            <p:cNvCxnSpPr/>
            <p:nvPr/>
          </p:nvCxnSpPr>
          <p:spPr>
            <a:xfrm flipH="1" flipV="1">
              <a:off x="5562600" y="3962400"/>
              <a:ext cx="381000" cy="1524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F98A6B-CEFE-42E7-A5D3-1C58FCEDD3DE}"/>
              </a:ext>
            </a:extLst>
          </p:cNvPr>
          <p:cNvCxnSpPr>
            <a:cxnSpLocks/>
          </p:cNvCxnSpPr>
          <p:nvPr/>
        </p:nvCxnSpPr>
        <p:spPr>
          <a:xfrm>
            <a:off x="8071587" y="247971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8C74111-405B-4778-B182-9A8C0E7D5600}"/>
              </a:ext>
            </a:extLst>
          </p:cNvPr>
          <p:cNvCxnSpPr>
            <a:cxnSpLocks/>
          </p:cNvCxnSpPr>
          <p:nvPr/>
        </p:nvCxnSpPr>
        <p:spPr>
          <a:xfrm>
            <a:off x="4766055" y="1590715"/>
            <a:ext cx="311079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1F43C6-C52A-4A49-B7F1-EA0EBD8B2B0D}"/>
              </a:ext>
            </a:extLst>
          </p:cNvPr>
          <p:cNvCxnSpPr>
            <a:cxnSpLocks/>
          </p:cNvCxnSpPr>
          <p:nvPr/>
        </p:nvCxnSpPr>
        <p:spPr>
          <a:xfrm>
            <a:off x="5548512" y="159918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9A2430-1F69-475A-8C80-9619ACE3E19C}"/>
              </a:ext>
            </a:extLst>
          </p:cNvPr>
          <p:cNvCxnSpPr>
            <a:cxnSpLocks/>
          </p:cNvCxnSpPr>
          <p:nvPr/>
        </p:nvCxnSpPr>
        <p:spPr>
          <a:xfrm>
            <a:off x="6750778" y="1616116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CE4662-4D5A-4896-880E-159196E2C9A0}"/>
              </a:ext>
            </a:extLst>
          </p:cNvPr>
          <p:cNvCxnSpPr>
            <a:cxnSpLocks/>
          </p:cNvCxnSpPr>
          <p:nvPr/>
        </p:nvCxnSpPr>
        <p:spPr>
          <a:xfrm>
            <a:off x="7859911" y="1607653"/>
            <a:ext cx="0" cy="20319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E970DD2-7A85-43A5-A2F2-280986054469}"/>
              </a:ext>
            </a:extLst>
          </p:cNvPr>
          <p:cNvSpPr txBox="1"/>
          <p:nvPr/>
        </p:nvSpPr>
        <p:spPr>
          <a:xfrm>
            <a:off x="6276653" y="1167384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ICF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C963C50-8FB7-42D1-B30C-7464E4D42B72}"/>
              </a:ext>
            </a:extLst>
          </p:cNvPr>
          <p:cNvCxnSpPr>
            <a:cxnSpLocks/>
          </p:cNvCxnSpPr>
          <p:nvPr/>
        </p:nvCxnSpPr>
        <p:spPr>
          <a:xfrm>
            <a:off x="5078621" y="2174918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84E3AE8-B1B2-4DAB-AA9A-4F57459F03FF}"/>
              </a:ext>
            </a:extLst>
          </p:cNvPr>
          <p:cNvCxnSpPr>
            <a:cxnSpLocks/>
          </p:cNvCxnSpPr>
          <p:nvPr/>
        </p:nvCxnSpPr>
        <p:spPr>
          <a:xfrm>
            <a:off x="4769578" y="1565316"/>
            <a:ext cx="0" cy="16002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C1447C6-60AF-4D14-BA31-E91505A3FBEC}"/>
              </a:ext>
            </a:extLst>
          </p:cNvPr>
          <p:cNvSpPr/>
          <p:nvPr/>
        </p:nvSpPr>
        <p:spPr>
          <a:xfrm>
            <a:off x="4625655" y="1980182"/>
            <a:ext cx="279400" cy="677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2AD86A9-F188-4871-8F69-26D06AEC3134}"/>
              </a:ext>
            </a:extLst>
          </p:cNvPr>
          <p:cNvCxnSpPr>
            <a:cxnSpLocks/>
          </p:cNvCxnSpPr>
          <p:nvPr/>
        </p:nvCxnSpPr>
        <p:spPr>
          <a:xfrm>
            <a:off x="4765355" y="2166449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F8E56D2-F622-4517-B622-3B0CC0554F34}"/>
              </a:ext>
            </a:extLst>
          </p:cNvPr>
          <p:cNvSpPr txBox="1"/>
          <p:nvPr/>
        </p:nvSpPr>
        <p:spPr>
          <a:xfrm>
            <a:off x="4447851" y="1641512"/>
            <a:ext cx="28373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I</a:t>
            </a:r>
            <a:r>
              <a:rPr lang="en-US" sz="2000" baseline="-25000" dirty="0" err="1"/>
              <a:t>Na</a:t>
            </a:r>
            <a:endParaRPr lang="en-US" sz="20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D67F14-3B3A-4D8C-8B2E-4BF633E44D5E}"/>
              </a:ext>
            </a:extLst>
          </p:cNvPr>
          <p:cNvSpPr txBox="1"/>
          <p:nvPr/>
        </p:nvSpPr>
        <p:spPr>
          <a:xfrm>
            <a:off x="5091317" y="163304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I</a:t>
            </a:r>
            <a:r>
              <a:rPr lang="en-US" sz="2000" baseline="-25000" dirty="0"/>
              <a:t>K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/>
              <p:nvPr/>
            </p:nvSpPr>
            <p:spPr>
              <a:xfrm>
                <a:off x="5901823" y="2414173"/>
                <a:ext cx="479991" cy="40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𝑁𝑎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64641F3-C584-4D41-B1A4-3ACEE7600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23" y="2414173"/>
                <a:ext cx="479991" cy="406201"/>
              </a:xfrm>
              <a:prstGeom prst="rect">
                <a:avLst/>
              </a:prstGeom>
              <a:blipFill>
                <a:blip r:embed="rId4"/>
                <a:stretch>
                  <a:fillRect r="-11392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/>
              <p:nvPr/>
            </p:nvSpPr>
            <p:spPr>
              <a:xfrm>
                <a:off x="7159097" y="2414974"/>
                <a:ext cx="479991" cy="404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1EDE3FF-D4EA-4AE6-861A-5F6F8D39B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097" y="2414974"/>
                <a:ext cx="479991" cy="404598"/>
              </a:xfrm>
              <a:prstGeom prst="rect">
                <a:avLst/>
              </a:prstGeom>
              <a:blipFill>
                <a:blip r:embed="rId5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/>
              <p:nvPr/>
            </p:nvSpPr>
            <p:spPr>
              <a:xfrm>
                <a:off x="8296102" y="2479713"/>
                <a:ext cx="479991" cy="412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3A0877C-7B42-472D-8FA0-2A430FC2B7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02" y="2479713"/>
                <a:ext cx="479991" cy="412870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8020AD0-5C59-4F96-A20A-661C5709BBDB}"/>
              </a:ext>
            </a:extLst>
          </p:cNvPr>
          <p:cNvGrpSpPr/>
          <p:nvPr/>
        </p:nvGrpSpPr>
        <p:grpSpPr>
          <a:xfrm>
            <a:off x="5707055" y="1886688"/>
            <a:ext cx="2529160" cy="324711"/>
            <a:chOff x="4215522" y="1303186"/>
            <a:chExt cx="2529160" cy="32471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05938F2-8C4F-4E97-8898-AB7AA87EF69D}"/>
                </a:ext>
              </a:extLst>
            </p:cNvPr>
            <p:cNvSpPr txBox="1"/>
            <p:nvPr/>
          </p:nvSpPr>
          <p:spPr>
            <a:xfrm>
              <a:off x="42155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9BA480A-F6E3-4217-8242-8DC17A5DEAF9}"/>
                </a:ext>
              </a:extLst>
            </p:cNvPr>
            <p:cNvSpPr txBox="1"/>
            <p:nvPr/>
          </p:nvSpPr>
          <p:spPr>
            <a:xfrm>
              <a:off x="5366989" y="1303186"/>
              <a:ext cx="32060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2.2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BFA385F-C9C2-4D12-A21C-F6487FAB898B}"/>
                </a:ext>
              </a:extLst>
            </p:cNvPr>
            <p:cNvSpPr txBox="1"/>
            <p:nvPr/>
          </p:nvSpPr>
          <p:spPr>
            <a:xfrm>
              <a:off x="6552322" y="1320120"/>
              <a:ext cx="19236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000" dirty="0"/>
                <a:t>.4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85851-FB61-4062-8D61-EE985A68D2A8}"/>
              </a:ext>
            </a:extLst>
          </p:cNvPr>
          <p:cNvSpPr txBox="1"/>
          <p:nvPr/>
        </p:nvSpPr>
        <p:spPr>
          <a:xfrm>
            <a:off x="4335999" y="2371892"/>
            <a:ext cx="11541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60          40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8D4C6C-00B7-B39D-5437-F480FF0697B2}"/>
              </a:ext>
            </a:extLst>
          </p:cNvPr>
          <p:cNvSpPr txBox="1"/>
          <p:nvPr/>
        </p:nvSpPr>
        <p:spPr>
          <a:xfrm>
            <a:off x="4959224" y="2759118"/>
            <a:ext cx="7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ECF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0CC520E-63C2-0E78-7F6F-5EB4EE0FB051}"/>
              </a:ext>
            </a:extLst>
          </p:cNvPr>
          <p:cNvCxnSpPr>
            <a:cxnSpLocks/>
          </p:cNvCxnSpPr>
          <p:nvPr/>
        </p:nvCxnSpPr>
        <p:spPr>
          <a:xfrm>
            <a:off x="8071586" y="2801449"/>
            <a:ext cx="0" cy="62755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B55C7D2-A509-CFCF-CA7C-A7B8210FE0B7}"/>
              </a:ext>
            </a:extLst>
          </p:cNvPr>
          <p:cNvCxnSpPr>
            <a:cxnSpLocks/>
          </p:cNvCxnSpPr>
          <p:nvPr/>
        </p:nvCxnSpPr>
        <p:spPr>
          <a:xfrm>
            <a:off x="8006788" y="3478530"/>
            <a:ext cx="158753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510BFE5-32DB-EA34-6E28-BC61CC4EBC1F}"/>
              </a:ext>
            </a:extLst>
          </p:cNvPr>
          <p:cNvCxnSpPr>
            <a:cxnSpLocks/>
          </p:cNvCxnSpPr>
          <p:nvPr/>
        </p:nvCxnSpPr>
        <p:spPr>
          <a:xfrm>
            <a:off x="8042291" y="3531870"/>
            <a:ext cx="8774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9929762-805E-BCD8-87A1-2DEC881FBA8A}"/>
              </a:ext>
            </a:extLst>
          </p:cNvPr>
          <p:cNvCxnSpPr>
            <a:cxnSpLocks/>
          </p:cNvCxnSpPr>
          <p:nvPr/>
        </p:nvCxnSpPr>
        <p:spPr>
          <a:xfrm>
            <a:off x="7936114" y="3429000"/>
            <a:ext cx="30010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33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60016</TotalTime>
  <Words>3670</Words>
  <Application>Microsoft Office PowerPoint</Application>
  <PresentationFormat>On-screen Show (4:3)</PresentationFormat>
  <Paragraphs>617</Paragraphs>
  <Slides>36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Cambria Math</vt:lpstr>
      <vt:lpstr>Symbol</vt:lpstr>
      <vt:lpstr>Times New Roman</vt:lpstr>
      <vt:lpstr>Wingdings</vt:lpstr>
      <vt:lpstr>Default Design</vt:lpstr>
      <vt:lpstr>Bioelectricity</vt:lpstr>
      <vt:lpstr>Big picture of the course</vt:lpstr>
      <vt:lpstr>Sim lab #1, first plots</vt:lpstr>
      <vt:lpstr>Problem for the day</vt:lpstr>
      <vt:lpstr>What we will learn</vt:lpstr>
      <vt:lpstr>Why did sim lab #1 run so slow?</vt:lpstr>
      <vt:lpstr>How can Vmem change quickly?</vt:lpstr>
      <vt:lpstr>Back of the envelope speed</vt:lpstr>
      <vt:lpstr>PowerPoint Presentation</vt:lpstr>
      <vt:lpstr>Who’s the best messenger?</vt:lpstr>
      <vt:lpstr>Contrast in time scales</vt:lpstr>
      <vt:lpstr>So why the two Vmem ramps?</vt:lpstr>
      <vt:lpstr>Negative feedback</vt:lpstr>
      <vt:lpstr>PowerPoint Presentation</vt:lpstr>
      <vt:lpstr>PowerPoint Presentation</vt:lpstr>
      <vt:lpstr>Which ions are balanced?</vt:lpstr>
      <vt:lpstr>We’re not at steady state</vt:lpstr>
      <vt:lpstr>Sim lab #1 picture again</vt:lpstr>
      <vt:lpstr>In-class exercise</vt:lpstr>
      <vt:lpstr>Where are we?</vt:lpstr>
      <vt:lpstr>Which Vmem does KCL compute?</vt:lpstr>
      <vt:lpstr>Units</vt:lpstr>
      <vt:lpstr>Original SS values</vt:lpstr>
      <vt:lpstr>Now increase GNa</vt:lpstr>
      <vt:lpstr>PowerPoint Presentation</vt:lpstr>
      <vt:lpstr>PowerPoint Presentation</vt:lpstr>
      <vt:lpstr>PowerPoint Presentation</vt:lpstr>
      <vt:lpstr>What’s going on?</vt:lpstr>
      <vt:lpstr>PowerPoint Presentation</vt:lpstr>
      <vt:lpstr>Ion channels, QSS and SS</vt:lpstr>
      <vt:lpstr>Summary</vt:lpstr>
      <vt:lpstr>What’s up next?</vt:lpstr>
      <vt:lpstr>BACKUP</vt:lpstr>
      <vt:lpstr>Mini quiz (prep for the oral quiz)</vt:lpstr>
      <vt:lpstr>PowerPoint Presentation</vt:lpstr>
      <vt:lpstr>In-class exercise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Joel Grodstein</cp:lastModifiedBy>
  <cp:revision>1783</cp:revision>
  <cp:lastPrinted>2019-02-19T18:13:03Z</cp:lastPrinted>
  <dcterms:created xsi:type="dcterms:W3CDTF">2002-09-07T18:50:54Z</dcterms:created>
  <dcterms:modified xsi:type="dcterms:W3CDTF">2026-10-09T17:26:11Z</dcterms:modified>
</cp:coreProperties>
</file>