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328" r:id="rId2"/>
    <p:sldId id="736" r:id="rId3"/>
    <p:sldId id="737" r:id="rId4"/>
    <p:sldId id="741" r:id="rId5"/>
    <p:sldId id="742" r:id="rId6"/>
    <p:sldId id="743" r:id="rId7"/>
    <p:sldId id="739" r:id="rId8"/>
    <p:sldId id="745" r:id="rId9"/>
    <p:sldId id="744" r:id="rId10"/>
    <p:sldId id="746" r:id="rId11"/>
    <p:sldId id="748" r:id="rId12"/>
    <p:sldId id="749" r:id="rId13"/>
    <p:sldId id="750" r:id="rId14"/>
    <p:sldId id="751" r:id="rId15"/>
    <p:sldId id="756" r:id="rId16"/>
    <p:sldId id="757" r:id="rId17"/>
    <p:sldId id="758" r:id="rId18"/>
    <p:sldId id="753" r:id="rId19"/>
    <p:sldId id="754" r:id="rId20"/>
    <p:sldId id="755" r:id="rId21"/>
    <p:sldId id="759" r:id="rId22"/>
    <p:sldId id="760" r:id="rId23"/>
    <p:sldId id="761" r:id="rId24"/>
    <p:sldId id="762" r:id="rId25"/>
    <p:sldId id="763" r:id="rId26"/>
  </p:sldIdLst>
  <p:sldSz cx="9144000" cy="6858000" type="screen4x3"/>
  <p:notesSz cx="9601200" cy="7315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521415D9-36F7-43E2-AB2F-B90AF26B5E84}">
      <p14:sectionLst xmlns:p14="http://schemas.microsoft.com/office/powerpoint/2010/main">
        <p14:section name="Default Section" id="{02658ED4-02B7-407F-B04E-0B16F0BB8C04}">
          <p14:sldIdLst>
            <p14:sldId id="328"/>
            <p14:sldId id="736"/>
            <p14:sldId id="737"/>
            <p14:sldId id="741"/>
            <p14:sldId id="742"/>
            <p14:sldId id="743"/>
            <p14:sldId id="739"/>
            <p14:sldId id="745"/>
            <p14:sldId id="744"/>
            <p14:sldId id="746"/>
            <p14:sldId id="748"/>
            <p14:sldId id="749"/>
            <p14:sldId id="750"/>
            <p14:sldId id="751"/>
            <p14:sldId id="756"/>
            <p14:sldId id="757"/>
            <p14:sldId id="758"/>
            <p14:sldId id="753"/>
            <p14:sldId id="754"/>
            <p14:sldId id="755"/>
            <p14:sldId id="759"/>
            <p14:sldId id="760"/>
            <p14:sldId id="761"/>
            <p14:sldId id="762"/>
            <p14:sldId id="7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1B283"/>
    <a:srgbClr val="006600"/>
    <a:srgbClr val="0080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19" autoAdjust="0"/>
    <p:restoredTop sz="86408" autoAdjust="0"/>
  </p:normalViewPr>
  <p:slideViewPr>
    <p:cSldViewPr snapToGrid="0">
      <p:cViewPr varScale="1">
        <p:scale>
          <a:sx n="103" d="100"/>
          <a:sy n="103" d="100"/>
        </p:scale>
        <p:origin x="984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0" d="100"/>
        <a:sy n="90" d="100"/>
      </p:scale>
      <p:origin x="0" y="0"/>
    </p:cViewPr>
  </p:sorterViewPr>
  <p:gridSpacing cx="38100" cy="381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160937" cy="3640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04" tIns="48305" rIns="96604" bIns="48305" numCol="1" anchor="t" anchorCtr="0" compatLnSpc="1">
            <a:prstTxWarp prst="textNoShape">
              <a:avLst/>
            </a:prstTxWarp>
          </a:bodyPr>
          <a:lstStyle>
            <a:lvl1pPr defTabSz="966842" eaLnBrk="1" hangingPunct="1">
              <a:defRPr sz="14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440265" y="0"/>
            <a:ext cx="4160936" cy="3640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04" tIns="48305" rIns="96604" bIns="48305" numCol="1" anchor="t" anchorCtr="0" compatLnSpc="1">
            <a:prstTxWarp prst="textNoShape">
              <a:avLst/>
            </a:prstTxWarp>
          </a:bodyPr>
          <a:lstStyle>
            <a:lvl1pPr algn="r" defTabSz="966842" eaLnBrk="1" hangingPunct="1">
              <a:defRPr sz="14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6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951134"/>
            <a:ext cx="4160937" cy="364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04" tIns="48305" rIns="96604" bIns="48305" numCol="1" anchor="b" anchorCtr="0" compatLnSpc="1">
            <a:prstTxWarp prst="textNoShape">
              <a:avLst/>
            </a:prstTxWarp>
          </a:bodyPr>
          <a:lstStyle>
            <a:lvl1pPr defTabSz="966842" eaLnBrk="1" hangingPunct="1">
              <a:defRPr sz="14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6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440265" y="6951134"/>
            <a:ext cx="4160936" cy="364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04" tIns="48305" rIns="96604" bIns="48305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400"/>
            </a:lvl1pPr>
          </a:lstStyle>
          <a:p>
            <a:pPr>
              <a:defRPr/>
            </a:pPr>
            <a:fld id="{549A7FA7-E1B8-4CDD-8F7C-1E113DA1F1E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694395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160937" cy="3640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624" tIns="47813" rIns="95624" bIns="47813" numCol="1" anchor="t" anchorCtr="0" compatLnSpc="1">
            <a:prstTxWarp prst="textNoShape">
              <a:avLst/>
            </a:prstTxWarp>
          </a:bodyPr>
          <a:lstStyle>
            <a:lvl1pPr defTabSz="956890" eaLnBrk="1" hangingPunct="1">
              <a:defRPr sz="14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49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438180" y="0"/>
            <a:ext cx="4160937" cy="3640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624" tIns="47813" rIns="95624" bIns="47813" numCol="1" anchor="t" anchorCtr="0" compatLnSpc="1">
            <a:prstTxWarp prst="textNoShape">
              <a:avLst/>
            </a:prstTxWarp>
          </a:bodyPr>
          <a:lstStyle>
            <a:lvl1pPr algn="r" defTabSz="956890" eaLnBrk="1" hangingPunct="1">
              <a:defRPr sz="14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971800" y="549275"/>
            <a:ext cx="3659188" cy="27447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49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60538" y="3474963"/>
            <a:ext cx="7680127" cy="32911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624" tIns="47813" rIns="95624" bIns="4781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49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947505"/>
            <a:ext cx="4160937" cy="3664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624" tIns="47813" rIns="95624" bIns="47813" numCol="1" anchor="b" anchorCtr="0" compatLnSpc="1">
            <a:prstTxWarp prst="textNoShape">
              <a:avLst/>
            </a:prstTxWarp>
          </a:bodyPr>
          <a:lstStyle>
            <a:lvl1pPr defTabSz="956890" eaLnBrk="1" hangingPunct="1">
              <a:defRPr sz="14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49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438180" y="6947505"/>
            <a:ext cx="4160937" cy="3664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624" tIns="47813" rIns="95624" bIns="47813" numCol="1" anchor="b" anchorCtr="0" compatLnSpc="1">
            <a:prstTxWarp prst="textNoShape">
              <a:avLst/>
            </a:prstTxWarp>
          </a:bodyPr>
          <a:lstStyle>
            <a:lvl1pPr algn="r" defTabSz="955675" eaLnBrk="1" hangingPunct="1">
              <a:defRPr sz="1400"/>
            </a:lvl1pPr>
          </a:lstStyle>
          <a:p>
            <a:pPr>
              <a:defRPr/>
            </a:pPr>
            <a:fld id="{5B598F11-C2C5-40D4-B32B-C1AF9DA155A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071042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fluid-flow analogy too. Some people use fluid flow as an analogy to help them understand circuits. But I use it as a way to understand fluid flow!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5704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“by definition” comes from physics.</a:t>
            </a:r>
          </a:p>
          <a:p>
            <a:r>
              <a:rPr lang="en-US" dirty="0"/>
              <a:t>The “voltage” between two points on the map is a height difference, so the voltage between two points on a ridge is zero. And this explains why the sum of voltages around a closed loop must be zero – you’re back where you started, and what goes up must go down </a:t>
            </a:r>
            <a:r>
              <a:rPr lang="en-US" dirty="0">
                <a:sym typeface="Wingdings" panose="05000000000000000000" pitchFamily="2" charset="2"/>
              </a:rPr>
              <a:t>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796397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75139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“voltage” between two points on the map is a height difference, so the voltage between two points on a ridge is zero. And this explains why the sum of voltages around a closed loop must be zero – you’re back where you started, and what goes up must go down </a:t>
            </a:r>
            <a:r>
              <a:rPr lang="en-US" dirty="0">
                <a:sym typeface="Wingdings" panose="05000000000000000000" pitchFamily="2" charset="2"/>
              </a:rPr>
              <a:t>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91289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631794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231073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14 will do this again, as an in-class exercise.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016368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Yes, this is the same circuit as slide 11, just with different values. It’s a chance for more practice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92043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this slide, we take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708355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preps us for understanding why Nernst voltages and ion-channel </a:t>
            </a:r>
            <a:r>
              <a:rPr lang="en-US" dirty="0" err="1"/>
              <a:t>conductances</a:t>
            </a:r>
            <a:r>
              <a:rPr lang="en-US" dirty="0"/>
              <a:t> are so important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879218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preps us for understanding why Nernst voltages and ion-channel </a:t>
            </a:r>
            <a:r>
              <a:rPr lang="en-US" dirty="0" err="1"/>
              <a:t>conductances</a:t>
            </a:r>
            <a:r>
              <a:rPr lang="en-US" dirty="0"/>
              <a:t> are so important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490458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prepares us for dynamically-changing </a:t>
            </a:r>
            <a:r>
              <a:rPr lang="en-US" i="1" dirty="0" err="1"/>
              <a:t>V</a:t>
            </a:r>
            <a:r>
              <a:rPr lang="en-US" i="0" baseline="-25000" dirty="0" err="1"/>
              <a:t>mem</a:t>
            </a:r>
            <a:r>
              <a:rPr lang="en-US" i="0" baseline="0" dirty="0"/>
              <a:t>. It will become important when we get to the QSS lab.</a:t>
            </a:r>
            <a:endParaRPr lang="en-US" dirty="0"/>
          </a:p>
          <a:p>
            <a:r>
              <a:rPr lang="en-US" dirty="0"/>
              <a:t>The trick will be adding a capacitor to </a:t>
            </a:r>
            <a:r>
              <a:rPr lang="en-US" i="1" dirty="0"/>
              <a:t>V</a:t>
            </a:r>
            <a:r>
              <a:rPr lang="en-US" i="0" baseline="-25000" dirty="0"/>
              <a:t>3</a:t>
            </a:r>
            <a:r>
              <a:rPr lang="en-US" i="0" baseline="0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77332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trick will be adding a capacitor to </a:t>
            </a:r>
            <a:r>
              <a:rPr lang="en-US" i="1" dirty="0"/>
              <a:t>V</a:t>
            </a:r>
            <a:r>
              <a:rPr lang="en-US" i="0" baseline="-25000" dirty="0"/>
              <a:t>3</a:t>
            </a:r>
            <a:r>
              <a:rPr lang="en-US" i="0" baseline="0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11761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752409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173781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EE 123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2053761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EE 123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3466691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EE 123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193104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76400"/>
            <a:ext cx="38100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8100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EE 123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2150550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EE 123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658962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EE 123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1521762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EE 123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1053858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EE 123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876898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EE 123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1421476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EE 123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2411518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304800"/>
            <a:ext cx="1943100" cy="5791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304800"/>
            <a:ext cx="5676900" cy="5791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EE 123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1876934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048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76400"/>
            <a:ext cx="77724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dirty="0" smtClean="0"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EE 123 Joel Grodstein</a:t>
            </a:r>
          </a:p>
        </p:txBody>
      </p:sp>
      <p:sp>
        <p:nvSpPr>
          <p:cNvPr id="1033" name="Rectangle 9"/>
          <p:cNvSpPr>
            <a:spLocks noChangeArrowheads="1"/>
          </p:cNvSpPr>
          <p:nvPr/>
        </p:nvSpPr>
        <p:spPr bwMode="auto">
          <a:xfrm>
            <a:off x="57150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fld id="{2ECDC20A-2A00-44F3-B6D9-A07784439C41}" type="slidenum">
              <a:rPr lang="en-US" altLang="en-US" sz="1400" smtClean="0"/>
              <a:pPr algn="r" eaLnBrk="1" hangingPunct="1">
                <a:defRPr/>
              </a:pPr>
              <a:t>‹#›</a:t>
            </a:fld>
            <a:endParaRPr lang="en-US" altLang="en-US" sz="1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Joel.grodstein@tufts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09600" y="381000"/>
            <a:ext cx="7772400" cy="1752600"/>
          </a:xfrm>
        </p:spPr>
        <p:txBody>
          <a:bodyPr/>
          <a:lstStyle/>
          <a:p>
            <a:pPr eaLnBrk="1" hangingPunct="1"/>
            <a:r>
              <a:rPr lang="en-US" altLang="en-US" dirty="0"/>
              <a:t>EE 123 Bioelectricity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81000" y="2514600"/>
            <a:ext cx="8382000" cy="3352800"/>
          </a:xfrm>
        </p:spPr>
        <p:txBody>
          <a:bodyPr/>
          <a:lstStyle/>
          <a:p>
            <a:pPr eaLnBrk="1" hangingPunct="1"/>
            <a:r>
              <a:rPr lang="en-US" altLang="en-US" dirty="0"/>
              <a:t>Instructor: Joel Grodstein</a:t>
            </a:r>
          </a:p>
          <a:p>
            <a:pPr eaLnBrk="1" hangingPunct="1"/>
            <a:r>
              <a:rPr lang="en-US" altLang="en-US" dirty="0">
                <a:solidFill>
                  <a:schemeClr val="accent2"/>
                </a:solidFill>
                <a:hlinkClick r:id="rId2"/>
              </a:rPr>
              <a:t>joel.grodstein@tufts.edu</a:t>
            </a:r>
            <a:endParaRPr lang="en-US" altLang="en-US" dirty="0">
              <a:solidFill>
                <a:schemeClr val="accent2"/>
              </a:solidFill>
            </a:endParaRP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it-IT" altLang="en-US" dirty="0"/>
              <a:t>Circuit analysis backgrounder</a:t>
            </a:r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E1A99-0089-4D35-8B98-CC045FA76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we’ll cover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DDAED-AD3B-488C-A1C4-EFA2FCBD6F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799" y="1676400"/>
            <a:ext cx="8271934" cy="4199467"/>
          </a:xfrm>
        </p:spPr>
        <p:txBody>
          <a:bodyPr/>
          <a:lstStyle/>
          <a:p>
            <a:r>
              <a:rPr lang="en-US" dirty="0"/>
              <a:t>Voltage, current and resistance</a:t>
            </a:r>
          </a:p>
          <a:p>
            <a:r>
              <a:rPr lang="en-US" dirty="0"/>
              <a:t>Voltage source (battery), current source</a:t>
            </a:r>
            <a:r>
              <a:rPr lang="en-US" sz="2000" dirty="0"/>
              <a:t>, </a:t>
            </a:r>
            <a:r>
              <a:rPr lang="en-US" dirty="0"/>
              <a:t>resistor</a:t>
            </a:r>
          </a:p>
          <a:p>
            <a:r>
              <a:rPr lang="en-US" dirty="0"/>
              <a:t>Ohm’s Law: I = V/R</a:t>
            </a:r>
          </a:p>
          <a:p>
            <a:r>
              <a:rPr lang="en-US" dirty="0" err="1"/>
              <a:t>Kirchoff’s</a:t>
            </a:r>
            <a:r>
              <a:rPr lang="en-US" dirty="0"/>
              <a:t> voltage law (KVL), </a:t>
            </a:r>
            <a:r>
              <a:rPr lang="en-US" dirty="0" err="1"/>
              <a:t>Kirchoff’s</a:t>
            </a:r>
            <a:r>
              <a:rPr lang="en-US" dirty="0"/>
              <a:t> current law (KCL)</a:t>
            </a:r>
          </a:p>
          <a:p>
            <a:r>
              <a:rPr lang="en-US" dirty="0"/>
              <a:t>Series-parallel circuits</a:t>
            </a:r>
          </a:p>
          <a:p>
            <a:r>
              <a:rPr lang="en-US" dirty="0"/>
              <a:t>RC time constants?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333DD-3556-4973-965A-7F11E261C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EE 123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2177029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C3D89-BB79-7389-5675-BD3B1C2A3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Voltage, current and resistance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47FAE3-D7A2-AC21-2399-688BEC5598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799" y="1331845"/>
            <a:ext cx="8047383" cy="4876800"/>
          </a:xfrm>
        </p:spPr>
        <p:txBody>
          <a:bodyPr/>
          <a:lstStyle/>
          <a:p>
            <a:r>
              <a:rPr lang="en-US" i="1" dirty="0"/>
              <a:t>Voltage </a:t>
            </a:r>
            <a:r>
              <a:rPr lang="en-US" dirty="0"/>
              <a:t>(V), </a:t>
            </a:r>
            <a:r>
              <a:rPr lang="en-US" i="1" dirty="0"/>
              <a:t>current</a:t>
            </a:r>
            <a:r>
              <a:rPr lang="en-US" dirty="0"/>
              <a:t> (I) and </a:t>
            </a:r>
            <a:r>
              <a:rPr lang="en-US" i="1" dirty="0"/>
              <a:t>resistance</a:t>
            </a:r>
            <a:r>
              <a:rPr lang="en-US" dirty="0"/>
              <a:t> (R) are the basic quantities of circuit analysis</a:t>
            </a:r>
          </a:p>
          <a:p>
            <a:r>
              <a:rPr lang="en-US" dirty="0"/>
              <a:t>I measures how fast electrical charge is moving through a wire (measured in Coulombs/sec)</a:t>
            </a:r>
          </a:p>
          <a:p>
            <a:pPr lvl="1">
              <a:spcBef>
                <a:spcPts val="0"/>
              </a:spcBef>
            </a:pPr>
            <a:r>
              <a:rPr lang="en-US" dirty="0"/>
              <a:t>Think fluid flow rate through a pipe</a:t>
            </a:r>
          </a:p>
          <a:p>
            <a:r>
              <a:rPr lang="en-US" dirty="0"/>
              <a:t>V measures the pressure pushing the charge through the wire</a:t>
            </a:r>
          </a:p>
          <a:p>
            <a:pPr lvl="1">
              <a:spcBef>
                <a:spcPts val="0"/>
              </a:spcBef>
            </a:pPr>
            <a:r>
              <a:rPr lang="en-US" dirty="0"/>
              <a:t>Think water pressure</a:t>
            </a:r>
          </a:p>
          <a:p>
            <a:r>
              <a:rPr lang="en-US" dirty="0"/>
              <a:t>R measures how hard a wire is to get water through</a:t>
            </a:r>
          </a:p>
          <a:p>
            <a:pPr lvl="1">
              <a:spcBef>
                <a:spcPts val="0"/>
              </a:spcBef>
            </a:pPr>
            <a:r>
              <a:rPr lang="en-US" dirty="0"/>
              <a:t>High R = skinny pipe</a:t>
            </a:r>
          </a:p>
          <a:p>
            <a:pPr lvl="1">
              <a:spcBef>
                <a:spcPts val="0"/>
              </a:spcBef>
            </a:pPr>
            <a:r>
              <a:rPr lang="en-US" dirty="0"/>
              <a:t>Conductance is defined as 1 / 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FDC1D6-AE2A-89AA-8F51-2D2EC145C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EE 123 Joel Grodstein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0700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F9979-1065-3B6A-FD27-7A71A2844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Kirchoff’s</a:t>
            </a:r>
            <a:r>
              <a:rPr lang="en-US" dirty="0"/>
              <a:t> Voltage Law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4178F-02E4-65AF-39E7-BE67FAEE65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76399"/>
            <a:ext cx="7772400" cy="1142999"/>
          </a:xfrm>
        </p:spPr>
        <p:txBody>
          <a:bodyPr/>
          <a:lstStyle/>
          <a:p>
            <a:r>
              <a:rPr lang="en-US" dirty="0"/>
              <a:t>The sum of voltages around a closed loop is zero</a:t>
            </a:r>
          </a:p>
          <a:p>
            <a:pPr lvl="1">
              <a:spcBef>
                <a:spcPts val="0"/>
              </a:spcBef>
            </a:pPr>
            <a:r>
              <a:rPr lang="en-US" dirty="0"/>
              <a:t>Because, by definition, voltage is a potential difference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2C1CE6-D6CF-743E-04F9-9A651D311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EE 123 Joel Grodstein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A8320D5-598E-86F4-FC55-A505C89549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002" y="2807843"/>
            <a:ext cx="5258256" cy="2933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084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F9979-1065-3B6A-FD27-7A71A2844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Kirchoff’s</a:t>
            </a:r>
            <a:r>
              <a:rPr lang="en-US" dirty="0"/>
              <a:t> Voltage Law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4178F-02E4-65AF-39E7-BE67FAEE65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20" y="1413509"/>
            <a:ext cx="6012180" cy="2266951"/>
          </a:xfrm>
        </p:spPr>
        <p:txBody>
          <a:bodyPr/>
          <a:lstStyle/>
          <a:p>
            <a:r>
              <a:rPr lang="en-US" dirty="0"/>
              <a:t>What’s the voltage at B relative to A?</a:t>
            </a:r>
          </a:p>
          <a:p>
            <a:r>
              <a:rPr lang="en-US" dirty="0"/>
              <a:t>At A relative to B?</a:t>
            </a:r>
          </a:p>
          <a:p>
            <a:r>
              <a:rPr lang="en-US" dirty="0"/>
              <a:t>At B relative to C?</a:t>
            </a:r>
          </a:p>
          <a:p>
            <a:r>
              <a:rPr lang="en-US" dirty="0"/>
              <a:t>At C relative to A?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2C1CE6-D6CF-743E-04F9-9A651D311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EE 123 Joel Grodstein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A8320D5-598E-86F4-FC55-A505C89549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372" y="3219323"/>
            <a:ext cx="5258256" cy="293395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674A94C-272F-5580-6E54-B7582CA06D96}"/>
              </a:ext>
            </a:extLst>
          </p:cNvPr>
          <p:cNvSpPr txBox="1"/>
          <p:nvPr/>
        </p:nvSpPr>
        <p:spPr>
          <a:xfrm>
            <a:off x="6019800" y="1447800"/>
            <a:ext cx="1615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V</a:t>
            </a:r>
            <a:r>
              <a:rPr lang="en-US" baseline="-25000" dirty="0"/>
              <a:t>BA</a:t>
            </a:r>
            <a:r>
              <a:rPr lang="en-US" dirty="0"/>
              <a:t>=1000’</a:t>
            </a:r>
            <a:endParaRPr lang="en-US" i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233698-7C75-A242-ADE0-ED417C06F0E5}"/>
              </a:ext>
            </a:extLst>
          </p:cNvPr>
          <p:cNvSpPr txBox="1"/>
          <p:nvPr/>
        </p:nvSpPr>
        <p:spPr>
          <a:xfrm>
            <a:off x="3657600" y="1954530"/>
            <a:ext cx="17259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V</a:t>
            </a:r>
            <a:r>
              <a:rPr lang="en-US" baseline="-25000" dirty="0"/>
              <a:t>AB</a:t>
            </a:r>
            <a:r>
              <a:rPr lang="en-US" dirty="0"/>
              <a:t>=-1000’</a:t>
            </a:r>
            <a:endParaRPr lang="en-US" i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3432C4-35DA-2F68-8943-35898C1FDCDE}"/>
              </a:ext>
            </a:extLst>
          </p:cNvPr>
          <p:cNvSpPr txBox="1"/>
          <p:nvPr/>
        </p:nvSpPr>
        <p:spPr>
          <a:xfrm>
            <a:off x="3360420" y="2457450"/>
            <a:ext cx="1615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V</a:t>
            </a:r>
            <a:r>
              <a:rPr lang="en-US" baseline="-25000" dirty="0"/>
              <a:t>BC</a:t>
            </a:r>
            <a:r>
              <a:rPr lang="en-US" dirty="0"/>
              <a:t>=800’</a:t>
            </a:r>
            <a:endParaRPr lang="en-US" i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64B8AA-C625-8D44-5751-4CCCD44149A4}"/>
              </a:ext>
            </a:extLst>
          </p:cNvPr>
          <p:cNvSpPr txBox="1"/>
          <p:nvPr/>
        </p:nvSpPr>
        <p:spPr>
          <a:xfrm>
            <a:off x="1272540" y="3421380"/>
            <a:ext cx="1615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V</a:t>
            </a:r>
            <a:r>
              <a:rPr lang="en-US" baseline="-25000" dirty="0"/>
              <a:t>CA</a:t>
            </a:r>
            <a:r>
              <a:rPr lang="en-US" dirty="0"/>
              <a:t>=200’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195517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F9979-1065-3B6A-FD27-7A71A2844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Kirchoff’s</a:t>
            </a:r>
            <a:r>
              <a:rPr lang="en-US" dirty="0"/>
              <a:t> Voltage Law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4178F-02E4-65AF-39E7-BE67FAEE65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20" y="1413509"/>
            <a:ext cx="8023860" cy="2015491"/>
          </a:xfrm>
        </p:spPr>
        <p:txBody>
          <a:bodyPr/>
          <a:lstStyle/>
          <a:p>
            <a:r>
              <a:rPr lang="en-US" dirty="0"/>
              <a:t>Loop: </a:t>
            </a:r>
            <a:r>
              <a:rPr lang="en-US" i="1" dirty="0"/>
              <a:t>V</a:t>
            </a:r>
            <a:r>
              <a:rPr lang="en-US" baseline="-25000" dirty="0"/>
              <a:t>AB</a:t>
            </a:r>
            <a:r>
              <a:rPr lang="en-US" dirty="0"/>
              <a:t> + </a:t>
            </a:r>
            <a:r>
              <a:rPr lang="en-US" i="1" dirty="0"/>
              <a:t>V</a:t>
            </a:r>
            <a:r>
              <a:rPr lang="en-US" baseline="-25000" dirty="0"/>
              <a:t>BC</a:t>
            </a:r>
            <a:r>
              <a:rPr lang="en-US" dirty="0"/>
              <a:t> + </a:t>
            </a:r>
            <a:r>
              <a:rPr lang="en-US" i="1" dirty="0"/>
              <a:t>V</a:t>
            </a:r>
            <a:r>
              <a:rPr lang="en-US" baseline="-25000" dirty="0"/>
              <a:t>CA</a:t>
            </a:r>
            <a:r>
              <a:rPr lang="en-US" dirty="0"/>
              <a:t> = -1000 + 800 + 200 = 0</a:t>
            </a:r>
          </a:p>
          <a:p>
            <a:r>
              <a:rPr lang="en-US" dirty="0"/>
              <a:t>It’s obviously true for any loop</a:t>
            </a:r>
          </a:p>
          <a:p>
            <a:r>
              <a:rPr lang="en-US" dirty="0"/>
              <a:t>Real voltage is in volts and not feet, but the physics is the same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2C1CE6-D6CF-743E-04F9-9A651D311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EE 123 Joel Grodstein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A8320D5-598E-86F4-FC55-A505C89549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372" y="3219323"/>
            <a:ext cx="5258256" cy="2933954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F4B29F8-F88E-3465-ED24-B7A6E645C4CD}"/>
              </a:ext>
            </a:extLst>
          </p:cNvPr>
          <p:cNvSpPr txBox="1">
            <a:spLocks/>
          </p:cNvSpPr>
          <p:nvPr/>
        </p:nvSpPr>
        <p:spPr bwMode="auto">
          <a:xfrm>
            <a:off x="175260" y="3371849"/>
            <a:ext cx="3105150" cy="23104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dirty="0"/>
              <a:t>We won’t explicitly use KVL in this course, but now you understand it</a:t>
            </a:r>
          </a:p>
          <a:p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1852137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7EC0C-57E3-698F-25B1-8155F22F6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Ohm’s Law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E4277-16D4-171B-B637-336AE8030C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436370"/>
            <a:ext cx="7772400" cy="655983"/>
          </a:xfrm>
        </p:spPr>
        <p:txBody>
          <a:bodyPr/>
          <a:lstStyle/>
          <a:p>
            <a:r>
              <a:rPr lang="en-US" dirty="0"/>
              <a:t>Most famous circuit rule: </a:t>
            </a:r>
            <a:r>
              <a:rPr lang="en-US" i="1" dirty="0"/>
              <a:t>V</a:t>
            </a:r>
            <a:r>
              <a:rPr lang="en-US" dirty="0"/>
              <a:t>=</a:t>
            </a:r>
            <a:r>
              <a:rPr lang="en-US" i="1" dirty="0"/>
              <a:t>IR</a:t>
            </a:r>
            <a:r>
              <a:rPr lang="en-US" dirty="0"/>
              <a:t> (</a:t>
            </a:r>
            <a:r>
              <a:rPr lang="en-US" i="1" dirty="0"/>
              <a:t>I</a:t>
            </a:r>
            <a:r>
              <a:rPr lang="en-US" dirty="0"/>
              <a:t>=</a:t>
            </a:r>
            <a:r>
              <a:rPr lang="en-US" i="1" dirty="0"/>
              <a:t>V</a:t>
            </a:r>
            <a:r>
              <a:rPr lang="en-US" dirty="0"/>
              <a:t>/</a:t>
            </a:r>
            <a:r>
              <a:rPr lang="en-US" i="1" dirty="0"/>
              <a:t>R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AF354E-B98F-1478-4A1D-8DEA4A64E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EE 123 Joel Grodstein</a:t>
            </a:r>
            <a:endParaRPr lang="en-US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53F7CC8-C7D6-4EA8-0A89-640F3D9BFBE2}"/>
              </a:ext>
            </a:extLst>
          </p:cNvPr>
          <p:cNvGrpSpPr/>
          <p:nvPr/>
        </p:nvGrpSpPr>
        <p:grpSpPr>
          <a:xfrm flipV="1">
            <a:off x="3088619" y="2640330"/>
            <a:ext cx="457200" cy="101599"/>
            <a:chOff x="3088619" y="3223591"/>
            <a:chExt cx="457200" cy="101599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4A16513-24E1-FEE8-E078-4E3864935E8D}"/>
                </a:ext>
              </a:extLst>
            </p:cNvPr>
            <p:cNvCxnSpPr>
              <a:cxnSpLocks/>
            </p:cNvCxnSpPr>
            <p:nvPr/>
          </p:nvCxnSpPr>
          <p:spPr>
            <a:xfrm>
              <a:off x="3088619" y="3223591"/>
              <a:ext cx="45720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105D4A0-0C6D-710A-811D-54320065AF9A}"/>
                </a:ext>
              </a:extLst>
            </p:cNvPr>
            <p:cNvCxnSpPr>
              <a:cxnSpLocks/>
            </p:cNvCxnSpPr>
            <p:nvPr/>
          </p:nvCxnSpPr>
          <p:spPr>
            <a:xfrm>
              <a:off x="3190218" y="3325190"/>
              <a:ext cx="254003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87483A1A-6A2E-2B88-AB9D-BDB5E3794ABF}"/>
              </a:ext>
            </a:extLst>
          </p:cNvPr>
          <p:cNvSpPr txBox="1"/>
          <p:nvPr/>
        </p:nvSpPr>
        <p:spPr>
          <a:xfrm>
            <a:off x="2694735" y="2367186"/>
            <a:ext cx="39754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800" dirty="0"/>
              <a:t>20V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418FDF8-758C-F527-95E7-A410871D4CD1}"/>
              </a:ext>
            </a:extLst>
          </p:cNvPr>
          <p:cNvCxnSpPr>
            <a:cxnSpLocks/>
          </p:cNvCxnSpPr>
          <p:nvPr/>
        </p:nvCxnSpPr>
        <p:spPr>
          <a:xfrm>
            <a:off x="3325690" y="2750397"/>
            <a:ext cx="0" cy="654577"/>
          </a:xfrm>
          <a:prstGeom prst="line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FDDCA624-960A-7D10-2CBB-E6174BCD2FFD}"/>
              </a:ext>
            </a:extLst>
          </p:cNvPr>
          <p:cNvGrpSpPr/>
          <p:nvPr/>
        </p:nvGrpSpPr>
        <p:grpSpPr>
          <a:xfrm>
            <a:off x="4397645" y="2382644"/>
            <a:ext cx="381000" cy="685800"/>
            <a:chOff x="5562600" y="3429000"/>
            <a:chExt cx="381000" cy="68580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8F6C92D-E87C-0683-6D3A-DF1918FB64E8}"/>
                </a:ext>
              </a:extLst>
            </p:cNvPr>
            <p:cNvCxnSpPr/>
            <p:nvPr/>
          </p:nvCxnSpPr>
          <p:spPr>
            <a:xfrm>
              <a:off x="5715000" y="3429000"/>
              <a:ext cx="228600" cy="762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942BFED-F662-BECB-F723-6CAEDBFA2D7C}"/>
                </a:ext>
              </a:extLst>
            </p:cNvPr>
            <p:cNvCxnSpPr/>
            <p:nvPr/>
          </p:nvCxnSpPr>
          <p:spPr>
            <a:xfrm flipV="1">
              <a:off x="5562600" y="35052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AE9E36E-A3B1-91FB-D141-34DCB1C0140F}"/>
                </a:ext>
              </a:extLst>
            </p:cNvPr>
            <p:cNvCxnSpPr/>
            <p:nvPr/>
          </p:nvCxnSpPr>
          <p:spPr>
            <a:xfrm flipH="1" flipV="1">
              <a:off x="5562600" y="36576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BD6A93C-03E7-6741-A610-75EB9224E996}"/>
                </a:ext>
              </a:extLst>
            </p:cNvPr>
            <p:cNvCxnSpPr/>
            <p:nvPr/>
          </p:nvCxnSpPr>
          <p:spPr>
            <a:xfrm flipV="1">
              <a:off x="5562600" y="38100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4A34DB2-91CC-B904-7E7D-83CA7584B0BD}"/>
                </a:ext>
              </a:extLst>
            </p:cNvPr>
            <p:cNvCxnSpPr/>
            <p:nvPr/>
          </p:nvCxnSpPr>
          <p:spPr>
            <a:xfrm flipH="1" flipV="1">
              <a:off x="5562600" y="39624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C110FF1-63F8-B57B-1BDB-687BC93C2683}"/>
              </a:ext>
            </a:extLst>
          </p:cNvPr>
          <p:cNvCxnSpPr>
            <a:cxnSpLocks/>
          </p:cNvCxnSpPr>
          <p:nvPr/>
        </p:nvCxnSpPr>
        <p:spPr>
          <a:xfrm>
            <a:off x="4770178" y="3051512"/>
            <a:ext cx="0" cy="35346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2890987-49D3-82F2-B2FD-F71DA6178476}"/>
              </a:ext>
            </a:extLst>
          </p:cNvPr>
          <p:cNvCxnSpPr>
            <a:cxnSpLocks/>
          </p:cNvCxnSpPr>
          <p:nvPr/>
        </p:nvCxnSpPr>
        <p:spPr>
          <a:xfrm>
            <a:off x="4558502" y="2179452"/>
            <a:ext cx="0" cy="20319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2EEB462-D1C6-6B94-0762-53C06656A11F}"/>
              </a:ext>
            </a:extLst>
          </p:cNvPr>
          <p:cNvSpPr txBox="1"/>
          <p:nvPr/>
        </p:nvSpPr>
        <p:spPr>
          <a:xfrm>
            <a:off x="4787105" y="2458847"/>
            <a:ext cx="763029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dirty="0"/>
              <a:t>R=10</a:t>
            </a:r>
            <a:r>
              <a:rPr lang="en-US" sz="2000" dirty="0">
                <a:cs typeface="Times New Roman" panose="02020603050405020304" pitchFamily="18" charset="0"/>
              </a:rPr>
              <a:t>Ω</a:t>
            </a:r>
            <a:endParaRPr lang="en-US" sz="2000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E349FA2-E8C2-F80C-D574-D67EF869ECA0}"/>
              </a:ext>
            </a:extLst>
          </p:cNvPr>
          <p:cNvCxnSpPr/>
          <p:nvPr/>
        </p:nvCxnSpPr>
        <p:spPr>
          <a:xfrm>
            <a:off x="3325690" y="3404974"/>
            <a:ext cx="1444488" cy="0"/>
          </a:xfrm>
          <a:prstGeom prst="line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E40BDB7-E363-AED8-3660-10722FD8AE33}"/>
              </a:ext>
            </a:extLst>
          </p:cNvPr>
          <p:cNvCxnSpPr>
            <a:cxnSpLocks/>
          </p:cNvCxnSpPr>
          <p:nvPr/>
        </p:nvCxnSpPr>
        <p:spPr>
          <a:xfrm>
            <a:off x="3325690" y="2192399"/>
            <a:ext cx="1225829" cy="0"/>
          </a:xfrm>
          <a:prstGeom prst="line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D1583EF-E21A-6984-A8DB-DCD8D812C0FC}"/>
              </a:ext>
            </a:extLst>
          </p:cNvPr>
          <p:cNvCxnSpPr>
            <a:cxnSpLocks/>
          </p:cNvCxnSpPr>
          <p:nvPr/>
        </p:nvCxnSpPr>
        <p:spPr>
          <a:xfrm>
            <a:off x="3332316" y="2179452"/>
            <a:ext cx="0" cy="423764"/>
          </a:xfrm>
          <a:prstGeom prst="line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BB21F87-FF54-A07C-84F7-AC489254A47D}"/>
              </a:ext>
            </a:extLst>
          </p:cNvPr>
          <p:cNvSpPr txBox="1"/>
          <p:nvPr/>
        </p:nvSpPr>
        <p:spPr>
          <a:xfrm>
            <a:off x="3312357" y="2276262"/>
            <a:ext cx="48387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A781835-02E8-593A-3B53-4D8F35BC8DA5}"/>
              </a:ext>
            </a:extLst>
          </p:cNvPr>
          <p:cNvSpPr txBox="1"/>
          <p:nvPr/>
        </p:nvSpPr>
        <p:spPr>
          <a:xfrm>
            <a:off x="3338945" y="2667747"/>
            <a:ext cx="48387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3002DC9-6837-D9B4-FF93-4C0BFAE248A3}"/>
              </a:ext>
            </a:extLst>
          </p:cNvPr>
          <p:cNvSpPr txBox="1"/>
          <p:nvPr/>
        </p:nvSpPr>
        <p:spPr>
          <a:xfrm>
            <a:off x="3785075" y="3137027"/>
            <a:ext cx="185948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dirty="0"/>
              <a:t>G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F87A241-D4C4-02E8-D7A0-A9EBC0C5D8C1}"/>
              </a:ext>
            </a:extLst>
          </p:cNvPr>
          <p:cNvSpPr txBox="1"/>
          <p:nvPr/>
        </p:nvSpPr>
        <p:spPr>
          <a:xfrm>
            <a:off x="3926045" y="1929257"/>
            <a:ext cx="185948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dirty="0"/>
              <a:t>A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B14857F0-F965-0501-4BE1-0FA3F39CDD42}"/>
              </a:ext>
            </a:extLst>
          </p:cNvPr>
          <p:cNvSpPr txBox="1">
            <a:spLocks/>
          </p:cNvSpPr>
          <p:nvPr/>
        </p:nvSpPr>
        <p:spPr bwMode="auto">
          <a:xfrm>
            <a:off x="689610" y="3440430"/>
            <a:ext cx="7772400" cy="2829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i="1" kern="0" dirty="0"/>
              <a:t>G </a:t>
            </a:r>
            <a:r>
              <a:rPr lang="en-US" kern="0" dirty="0"/>
              <a:t>is the “ground” node (define it as 0V)</a:t>
            </a:r>
          </a:p>
          <a:p>
            <a:r>
              <a:rPr lang="en-US" i="1" kern="0" dirty="0"/>
              <a:t>V</a:t>
            </a:r>
            <a:r>
              <a:rPr lang="en-US" kern="0" baseline="-25000" dirty="0"/>
              <a:t>A</a:t>
            </a:r>
            <a:r>
              <a:rPr lang="en-US" kern="0" dirty="0"/>
              <a:t>=</a:t>
            </a:r>
            <a:r>
              <a:rPr lang="en-US" i="1" kern="0" dirty="0"/>
              <a:t>V</a:t>
            </a:r>
            <a:r>
              <a:rPr lang="en-US" kern="0" baseline="-25000" dirty="0"/>
              <a:t>G</a:t>
            </a:r>
            <a:r>
              <a:rPr lang="en-US" kern="0" dirty="0"/>
              <a:t>+20 (definition of a battery)</a:t>
            </a:r>
          </a:p>
          <a:p>
            <a:r>
              <a:rPr lang="en-US" kern="0" dirty="0"/>
              <a:t>So </a:t>
            </a:r>
            <a:r>
              <a:rPr lang="en-US" i="1" kern="0" dirty="0"/>
              <a:t>V</a:t>
            </a:r>
            <a:r>
              <a:rPr lang="en-US" kern="0" baseline="-25000" dirty="0"/>
              <a:t>AG</a:t>
            </a:r>
            <a:r>
              <a:rPr lang="en-US" kern="0" dirty="0"/>
              <a:t>=20</a:t>
            </a:r>
          </a:p>
          <a:p>
            <a:r>
              <a:rPr lang="en-US" kern="0" dirty="0"/>
              <a:t>Ohm’s Law says that </a:t>
            </a:r>
            <a:r>
              <a:rPr lang="en-US" i="1" kern="0" dirty="0"/>
              <a:t>i</a:t>
            </a:r>
            <a:r>
              <a:rPr lang="en-US" kern="0" baseline="-25000" dirty="0"/>
              <a:t>1</a:t>
            </a:r>
            <a:r>
              <a:rPr lang="en-US" kern="0" dirty="0"/>
              <a:t> = 20V/</a:t>
            </a:r>
            <a:r>
              <a:rPr lang="en-US" sz="2800" dirty="0"/>
              <a:t>10</a:t>
            </a:r>
            <a:r>
              <a:rPr lang="en-US" sz="2800" dirty="0">
                <a:cs typeface="Times New Roman" panose="02020603050405020304" pitchFamily="18" charset="0"/>
              </a:rPr>
              <a:t>Ω = 2A</a:t>
            </a:r>
          </a:p>
          <a:p>
            <a:r>
              <a:rPr lang="en-US" kern="0" dirty="0">
                <a:cs typeface="Times New Roman" panose="02020603050405020304" pitchFamily="18" charset="0"/>
              </a:rPr>
              <a:t>So, 2A </a:t>
            </a:r>
            <a:r>
              <a:rPr lang="en-US" i="1" kern="0" dirty="0">
                <a:cs typeface="Times New Roman" panose="02020603050405020304" pitchFamily="18" charset="0"/>
              </a:rPr>
              <a:t>in the direction of the arrow</a:t>
            </a:r>
          </a:p>
          <a:p>
            <a:pPr lvl="1">
              <a:spcBef>
                <a:spcPts val="0"/>
              </a:spcBef>
            </a:pPr>
            <a:r>
              <a:rPr lang="en-US" kern="0" dirty="0">
                <a:cs typeface="Times New Roman" panose="02020603050405020304" pitchFamily="18" charset="0"/>
              </a:rPr>
              <a:t>current flows from + to -</a:t>
            </a:r>
            <a:endParaRPr lang="en-US" kern="0" dirty="0"/>
          </a:p>
          <a:p>
            <a:endParaRPr lang="en-US" kern="0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7227CB9-7FBE-1333-73CA-36EB70DEF40F}"/>
              </a:ext>
            </a:extLst>
          </p:cNvPr>
          <p:cNvCxnSpPr/>
          <p:nvPr/>
        </p:nvCxnSpPr>
        <p:spPr>
          <a:xfrm>
            <a:off x="5712193" y="2457450"/>
            <a:ext cx="0" cy="610994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9E02BFE-A3F0-0969-D705-104ED304AB35}"/>
              </a:ext>
            </a:extLst>
          </p:cNvPr>
          <p:cNvSpPr txBox="1"/>
          <p:nvPr/>
        </p:nvSpPr>
        <p:spPr>
          <a:xfrm>
            <a:off x="5762465" y="2531237"/>
            <a:ext cx="15549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i="1" dirty="0"/>
              <a:t>i</a:t>
            </a:r>
            <a:r>
              <a:rPr lang="en-US" sz="2000" baseline="-25000" dirty="0"/>
              <a:t>1</a:t>
            </a:r>
            <a:endParaRPr lang="en-US" sz="2000" i="1" dirty="0"/>
          </a:p>
        </p:txBody>
      </p:sp>
    </p:spTree>
    <p:extLst>
      <p:ext uri="{BB962C8B-B14F-4D97-AF65-F5344CB8AC3E}">
        <p14:creationId xmlns:p14="http://schemas.microsoft.com/office/powerpoint/2010/main" val="2688399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7EC0C-57E3-698F-25B1-8155F22F6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Ohm’s Law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E4277-16D4-171B-B637-336AE8030C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436370"/>
            <a:ext cx="7772400" cy="655983"/>
          </a:xfrm>
        </p:spPr>
        <p:txBody>
          <a:bodyPr/>
          <a:lstStyle/>
          <a:p>
            <a:r>
              <a:rPr lang="en-US" dirty="0"/>
              <a:t>Most famous circuit rule: </a:t>
            </a:r>
            <a:r>
              <a:rPr lang="en-US" i="1" dirty="0"/>
              <a:t>V</a:t>
            </a:r>
            <a:r>
              <a:rPr lang="en-US" dirty="0"/>
              <a:t>=</a:t>
            </a:r>
            <a:r>
              <a:rPr lang="en-US" i="1" dirty="0"/>
              <a:t>IR</a:t>
            </a:r>
            <a:r>
              <a:rPr lang="en-US" dirty="0"/>
              <a:t> (</a:t>
            </a:r>
            <a:r>
              <a:rPr lang="en-US" i="1" dirty="0"/>
              <a:t>I</a:t>
            </a:r>
            <a:r>
              <a:rPr lang="en-US" dirty="0"/>
              <a:t>=</a:t>
            </a:r>
            <a:r>
              <a:rPr lang="en-US" i="1" dirty="0"/>
              <a:t>V</a:t>
            </a:r>
            <a:r>
              <a:rPr lang="en-US" dirty="0"/>
              <a:t>/</a:t>
            </a:r>
            <a:r>
              <a:rPr lang="en-US" i="1" dirty="0"/>
              <a:t>R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AF354E-B98F-1478-4A1D-8DEA4A64E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EE 123 Joel Grodstein</a:t>
            </a:r>
            <a:endParaRPr lang="en-US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53F7CC8-C7D6-4EA8-0A89-640F3D9BFBE2}"/>
              </a:ext>
            </a:extLst>
          </p:cNvPr>
          <p:cNvGrpSpPr/>
          <p:nvPr/>
        </p:nvGrpSpPr>
        <p:grpSpPr>
          <a:xfrm flipV="1">
            <a:off x="3088619" y="2640330"/>
            <a:ext cx="457200" cy="101599"/>
            <a:chOff x="3088619" y="3223591"/>
            <a:chExt cx="457200" cy="101599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4A16513-24E1-FEE8-E078-4E3864935E8D}"/>
                </a:ext>
              </a:extLst>
            </p:cNvPr>
            <p:cNvCxnSpPr>
              <a:cxnSpLocks/>
            </p:cNvCxnSpPr>
            <p:nvPr/>
          </p:nvCxnSpPr>
          <p:spPr>
            <a:xfrm>
              <a:off x="3088619" y="3223591"/>
              <a:ext cx="45720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105D4A0-0C6D-710A-811D-54320065AF9A}"/>
                </a:ext>
              </a:extLst>
            </p:cNvPr>
            <p:cNvCxnSpPr>
              <a:cxnSpLocks/>
            </p:cNvCxnSpPr>
            <p:nvPr/>
          </p:nvCxnSpPr>
          <p:spPr>
            <a:xfrm>
              <a:off x="3190218" y="3325190"/>
              <a:ext cx="254003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87483A1A-6A2E-2B88-AB9D-BDB5E3794ABF}"/>
              </a:ext>
            </a:extLst>
          </p:cNvPr>
          <p:cNvSpPr txBox="1"/>
          <p:nvPr/>
        </p:nvSpPr>
        <p:spPr>
          <a:xfrm>
            <a:off x="2694735" y="2367186"/>
            <a:ext cx="39754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800" dirty="0"/>
              <a:t>20V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418FDF8-758C-F527-95E7-A410871D4CD1}"/>
              </a:ext>
            </a:extLst>
          </p:cNvPr>
          <p:cNvCxnSpPr>
            <a:cxnSpLocks/>
          </p:cNvCxnSpPr>
          <p:nvPr/>
        </p:nvCxnSpPr>
        <p:spPr>
          <a:xfrm>
            <a:off x="3325690" y="2750397"/>
            <a:ext cx="0" cy="654577"/>
          </a:xfrm>
          <a:prstGeom prst="line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FDDCA624-960A-7D10-2CBB-E6174BCD2FFD}"/>
              </a:ext>
            </a:extLst>
          </p:cNvPr>
          <p:cNvGrpSpPr/>
          <p:nvPr/>
        </p:nvGrpSpPr>
        <p:grpSpPr>
          <a:xfrm>
            <a:off x="4397645" y="2382644"/>
            <a:ext cx="381000" cy="685800"/>
            <a:chOff x="5562600" y="3429000"/>
            <a:chExt cx="381000" cy="68580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8F6C92D-E87C-0683-6D3A-DF1918FB64E8}"/>
                </a:ext>
              </a:extLst>
            </p:cNvPr>
            <p:cNvCxnSpPr/>
            <p:nvPr/>
          </p:nvCxnSpPr>
          <p:spPr>
            <a:xfrm>
              <a:off x="5715000" y="3429000"/>
              <a:ext cx="228600" cy="762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942BFED-F662-BECB-F723-6CAEDBFA2D7C}"/>
                </a:ext>
              </a:extLst>
            </p:cNvPr>
            <p:cNvCxnSpPr/>
            <p:nvPr/>
          </p:nvCxnSpPr>
          <p:spPr>
            <a:xfrm flipV="1">
              <a:off x="5562600" y="35052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AE9E36E-A3B1-91FB-D141-34DCB1C0140F}"/>
                </a:ext>
              </a:extLst>
            </p:cNvPr>
            <p:cNvCxnSpPr/>
            <p:nvPr/>
          </p:nvCxnSpPr>
          <p:spPr>
            <a:xfrm flipH="1" flipV="1">
              <a:off x="5562600" y="36576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BD6A93C-03E7-6741-A610-75EB9224E996}"/>
                </a:ext>
              </a:extLst>
            </p:cNvPr>
            <p:cNvCxnSpPr/>
            <p:nvPr/>
          </p:nvCxnSpPr>
          <p:spPr>
            <a:xfrm flipV="1">
              <a:off x="5562600" y="38100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4A34DB2-91CC-B904-7E7D-83CA7584B0BD}"/>
                </a:ext>
              </a:extLst>
            </p:cNvPr>
            <p:cNvCxnSpPr/>
            <p:nvPr/>
          </p:nvCxnSpPr>
          <p:spPr>
            <a:xfrm flipH="1" flipV="1">
              <a:off x="5562600" y="39624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C110FF1-63F8-B57B-1BDB-687BC93C2683}"/>
              </a:ext>
            </a:extLst>
          </p:cNvPr>
          <p:cNvCxnSpPr>
            <a:cxnSpLocks/>
          </p:cNvCxnSpPr>
          <p:nvPr/>
        </p:nvCxnSpPr>
        <p:spPr>
          <a:xfrm>
            <a:off x="4770178" y="3051512"/>
            <a:ext cx="0" cy="35346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2890987-49D3-82F2-B2FD-F71DA6178476}"/>
              </a:ext>
            </a:extLst>
          </p:cNvPr>
          <p:cNvCxnSpPr>
            <a:cxnSpLocks/>
          </p:cNvCxnSpPr>
          <p:nvPr/>
        </p:nvCxnSpPr>
        <p:spPr>
          <a:xfrm>
            <a:off x="4558502" y="2179452"/>
            <a:ext cx="0" cy="20319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2EEB462-D1C6-6B94-0762-53C06656A11F}"/>
              </a:ext>
            </a:extLst>
          </p:cNvPr>
          <p:cNvSpPr txBox="1"/>
          <p:nvPr/>
        </p:nvSpPr>
        <p:spPr>
          <a:xfrm>
            <a:off x="4787105" y="2458847"/>
            <a:ext cx="763029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dirty="0"/>
              <a:t>R=10</a:t>
            </a:r>
            <a:r>
              <a:rPr lang="en-US" sz="2000" dirty="0">
                <a:cs typeface="Times New Roman" panose="02020603050405020304" pitchFamily="18" charset="0"/>
              </a:rPr>
              <a:t>Ω</a:t>
            </a:r>
            <a:endParaRPr lang="en-US" sz="2000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E349FA2-E8C2-F80C-D574-D67EF869ECA0}"/>
              </a:ext>
            </a:extLst>
          </p:cNvPr>
          <p:cNvCxnSpPr/>
          <p:nvPr/>
        </p:nvCxnSpPr>
        <p:spPr>
          <a:xfrm>
            <a:off x="3325690" y="3404974"/>
            <a:ext cx="1444488" cy="0"/>
          </a:xfrm>
          <a:prstGeom prst="line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E40BDB7-E363-AED8-3660-10722FD8AE33}"/>
              </a:ext>
            </a:extLst>
          </p:cNvPr>
          <p:cNvCxnSpPr>
            <a:cxnSpLocks/>
          </p:cNvCxnSpPr>
          <p:nvPr/>
        </p:nvCxnSpPr>
        <p:spPr>
          <a:xfrm>
            <a:off x="3325690" y="2192399"/>
            <a:ext cx="1225829" cy="0"/>
          </a:xfrm>
          <a:prstGeom prst="line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D1583EF-E21A-6984-A8DB-DCD8D812C0FC}"/>
              </a:ext>
            </a:extLst>
          </p:cNvPr>
          <p:cNvCxnSpPr>
            <a:cxnSpLocks/>
          </p:cNvCxnSpPr>
          <p:nvPr/>
        </p:nvCxnSpPr>
        <p:spPr>
          <a:xfrm>
            <a:off x="3332316" y="2179452"/>
            <a:ext cx="0" cy="423764"/>
          </a:xfrm>
          <a:prstGeom prst="line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BB21F87-FF54-A07C-84F7-AC489254A47D}"/>
              </a:ext>
            </a:extLst>
          </p:cNvPr>
          <p:cNvSpPr txBox="1"/>
          <p:nvPr/>
        </p:nvSpPr>
        <p:spPr>
          <a:xfrm>
            <a:off x="3312357" y="2276262"/>
            <a:ext cx="48387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A781835-02E8-593A-3B53-4D8F35BC8DA5}"/>
              </a:ext>
            </a:extLst>
          </p:cNvPr>
          <p:cNvSpPr txBox="1"/>
          <p:nvPr/>
        </p:nvSpPr>
        <p:spPr>
          <a:xfrm>
            <a:off x="3338945" y="2667747"/>
            <a:ext cx="48387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3002DC9-6837-D9B4-FF93-4C0BFAE248A3}"/>
              </a:ext>
            </a:extLst>
          </p:cNvPr>
          <p:cNvSpPr txBox="1"/>
          <p:nvPr/>
        </p:nvSpPr>
        <p:spPr>
          <a:xfrm>
            <a:off x="3785075" y="3137027"/>
            <a:ext cx="185948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dirty="0"/>
              <a:t>G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F87A241-D4C4-02E8-D7A0-A9EBC0C5D8C1}"/>
              </a:ext>
            </a:extLst>
          </p:cNvPr>
          <p:cNvSpPr txBox="1"/>
          <p:nvPr/>
        </p:nvSpPr>
        <p:spPr>
          <a:xfrm>
            <a:off x="3926045" y="1929257"/>
            <a:ext cx="185948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dirty="0"/>
              <a:t>A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B14857F0-F965-0501-4BE1-0FA3F39CDD42}"/>
              </a:ext>
            </a:extLst>
          </p:cNvPr>
          <p:cNvSpPr txBox="1">
            <a:spLocks/>
          </p:cNvSpPr>
          <p:nvPr/>
        </p:nvSpPr>
        <p:spPr bwMode="auto">
          <a:xfrm>
            <a:off x="689610" y="3440430"/>
            <a:ext cx="7772400" cy="256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i="1" kern="0" dirty="0"/>
              <a:t>V</a:t>
            </a:r>
            <a:r>
              <a:rPr lang="en-US" kern="0" baseline="-25000" dirty="0"/>
              <a:t>GA</a:t>
            </a:r>
            <a:r>
              <a:rPr lang="en-US" kern="0" dirty="0"/>
              <a:t>=-20</a:t>
            </a:r>
          </a:p>
          <a:p>
            <a:r>
              <a:rPr lang="en-US" i="1" kern="0" dirty="0"/>
              <a:t>i</a:t>
            </a:r>
            <a:r>
              <a:rPr lang="en-US" kern="0" baseline="-25000" dirty="0"/>
              <a:t>1</a:t>
            </a:r>
            <a:r>
              <a:rPr lang="en-US" kern="0" dirty="0"/>
              <a:t> = -20V/</a:t>
            </a:r>
            <a:r>
              <a:rPr lang="en-US" sz="2800" dirty="0"/>
              <a:t>10</a:t>
            </a:r>
            <a:r>
              <a:rPr lang="en-US" sz="2800" dirty="0">
                <a:cs typeface="Times New Roman" panose="02020603050405020304" pitchFamily="18" charset="0"/>
              </a:rPr>
              <a:t>Ω = -2A</a:t>
            </a:r>
          </a:p>
          <a:p>
            <a:r>
              <a:rPr lang="en-US" kern="0" dirty="0">
                <a:cs typeface="Times New Roman" panose="02020603050405020304" pitchFamily="18" charset="0"/>
              </a:rPr>
              <a:t>Definition: current flows from + to –</a:t>
            </a:r>
          </a:p>
          <a:p>
            <a:r>
              <a:rPr lang="en-US" kern="0" dirty="0">
                <a:cs typeface="Times New Roman" panose="02020603050405020304" pitchFamily="18" charset="0"/>
              </a:rPr>
              <a:t>So, -2A </a:t>
            </a:r>
            <a:r>
              <a:rPr lang="en-US" i="1" kern="0" dirty="0">
                <a:cs typeface="Times New Roman" panose="02020603050405020304" pitchFamily="18" charset="0"/>
              </a:rPr>
              <a:t>in the direction of the arrow</a:t>
            </a:r>
            <a:endParaRPr lang="en-US" i="1" kern="0" dirty="0"/>
          </a:p>
          <a:p>
            <a:endParaRPr lang="en-US" kern="0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9107310-075B-126E-4FAD-0C204B602792}"/>
              </a:ext>
            </a:extLst>
          </p:cNvPr>
          <p:cNvCxnSpPr>
            <a:cxnSpLocks/>
          </p:cNvCxnSpPr>
          <p:nvPr/>
        </p:nvCxnSpPr>
        <p:spPr>
          <a:xfrm flipV="1">
            <a:off x="5712193" y="2457450"/>
            <a:ext cx="0" cy="610994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23534AB-D052-EBD2-424A-4AF8816C62A0}"/>
              </a:ext>
            </a:extLst>
          </p:cNvPr>
          <p:cNvSpPr txBox="1"/>
          <p:nvPr/>
        </p:nvSpPr>
        <p:spPr>
          <a:xfrm>
            <a:off x="5762465" y="2531237"/>
            <a:ext cx="15549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i="1" dirty="0"/>
              <a:t>i</a:t>
            </a:r>
            <a:r>
              <a:rPr lang="en-US" sz="2000" baseline="-25000" dirty="0"/>
              <a:t>1</a:t>
            </a:r>
            <a:endParaRPr lang="en-US" sz="2000" i="1" dirty="0"/>
          </a:p>
        </p:txBody>
      </p:sp>
    </p:spTree>
    <p:extLst>
      <p:ext uri="{BB962C8B-B14F-4D97-AF65-F5344CB8AC3E}">
        <p14:creationId xmlns:p14="http://schemas.microsoft.com/office/powerpoint/2010/main" val="25660464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F4152-16E4-B177-B7CF-007FE1119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Kirchoff’s</a:t>
            </a:r>
            <a:r>
              <a:rPr lang="en-US" dirty="0"/>
              <a:t> current law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A9CD96-7E9C-9DD9-F452-2059FD3FD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76400"/>
            <a:ext cx="4989489" cy="3478530"/>
          </a:xfrm>
        </p:spPr>
        <p:txBody>
          <a:bodyPr/>
          <a:lstStyle/>
          <a:p>
            <a:r>
              <a:rPr lang="en-US" dirty="0"/>
              <a:t>The sum of currents at any node is 0</a:t>
            </a:r>
          </a:p>
          <a:p>
            <a:r>
              <a:rPr lang="en-US" dirty="0"/>
              <a:t>So if 2A is flowing down into </a:t>
            </a:r>
            <a:r>
              <a:rPr lang="en-US" i="1" dirty="0"/>
              <a:t>G</a:t>
            </a:r>
            <a:r>
              <a:rPr lang="en-US" dirty="0"/>
              <a:t>, then 2A is flowing up through the battery</a:t>
            </a:r>
          </a:p>
          <a:p>
            <a:r>
              <a:rPr lang="en-US" dirty="0"/>
              <a:t>Note that KCL applies to </a:t>
            </a:r>
            <a:r>
              <a:rPr lang="en-US" i="1" dirty="0"/>
              <a:t>both</a:t>
            </a:r>
            <a:r>
              <a:rPr lang="en-US" dirty="0"/>
              <a:t> nodes  (indeed, </a:t>
            </a:r>
            <a:r>
              <a:rPr lang="en-US" i="1" dirty="0"/>
              <a:t>every </a:t>
            </a:r>
            <a:r>
              <a:rPr lang="en-US" dirty="0"/>
              <a:t>node)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33065A-0427-635F-8B41-ACDA518E9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EE 123 Joel Grodstein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5AB9610-3234-AECB-F2CE-219B2A1CC536}"/>
              </a:ext>
            </a:extLst>
          </p:cNvPr>
          <p:cNvGrpSpPr/>
          <p:nvPr/>
        </p:nvGrpSpPr>
        <p:grpSpPr>
          <a:xfrm flipV="1">
            <a:off x="6163289" y="3143250"/>
            <a:ext cx="457200" cy="101599"/>
            <a:chOff x="3088619" y="3223591"/>
            <a:chExt cx="457200" cy="101599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C5838FA-16CF-6E41-7967-2A969B1C311A}"/>
                </a:ext>
              </a:extLst>
            </p:cNvPr>
            <p:cNvCxnSpPr>
              <a:cxnSpLocks/>
            </p:cNvCxnSpPr>
            <p:nvPr/>
          </p:nvCxnSpPr>
          <p:spPr>
            <a:xfrm>
              <a:off x="3088619" y="3223591"/>
              <a:ext cx="45720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05A78F9E-740E-7A43-7E74-7A2902B017A7}"/>
                </a:ext>
              </a:extLst>
            </p:cNvPr>
            <p:cNvCxnSpPr>
              <a:cxnSpLocks/>
            </p:cNvCxnSpPr>
            <p:nvPr/>
          </p:nvCxnSpPr>
          <p:spPr>
            <a:xfrm>
              <a:off x="3190218" y="3325190"/>
              <a:ext cx="254003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FCC0DB9E-6F9D-AD3B-C36E-27CFE927C07C}"/>
              </a:ext>
            </a:extLst>
          </p:cNvPr>
          <p:cNvSpPr txBox="1"/>
          <p:nvPr/>
        </p:nvSpPr>
        <p:spPr>
          <a:xfrm>
            <a:off x="6660945" y="3087276"/>
            <a:ext cx="39754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800" dirty="0"/>
              <a:t>20V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A574EC0-40E0-80EA-398C-06415B6964E7}"/>
              </a:ext>
            </a:extLst>
          </p:cNvPr>
          <p:cNvCxnSpPr>
            <a:cxnSpLocks/>
          </p:cNvCxnSpPr>
          <p:nvPr/>
        </p:nvCxnSpPr>
        <p:spPr>
          <a:xfrm>
            <a:off x="6400360" y="3253317"/>
            <a:ext cx="0" cy="654577"/>
          </a:xfrm>
          <a:prstGeom prst="line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440AEE-2C49-1576-509C-20255579226E}"/>
              </a:ext>
            </a:extLst>
          </p:cNvPr>
          <p:cNvGrpSpPr/>
          <p:nvPr/>
        </p:nvGrpSpPr>
        <p:grpSpPr>
          <a:xfrm>
            <a:off x="7472315" y="2885564"/>
            <a:ext cx="381000" cy="685800"/>
            <a:chOff x="5562600" y="3429000"/>
            <a:chExt cx="381000" cy="68580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A869047-D534-7216-08F0-DD641F590D10}"/>
                </a:ext>
              </a:extLst>
            </p:cNvPr>
            <p:cNvCxnSpPr/>
            <p:nvPr/>
          </p:nvCxnSpPr>
          <p:spPr>
            <a:xfrm>
              <a:off x="5715000" y="3429000"/>
              <a:ext cx="228600" cy="762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842956F-A947-48C0-9404-5EC4B5C9FE24}"/>
                </a:ext>
              </a:extLst>
            </p:cNvPr>
            <p:cNvCxnSpPr/>
            <p:nvPr/>
          </p:nvCxnSpPr>
          <p:spPr>
            <a:xfrm flipV="1">
              <a:off x="5562600" y="35052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CFFBDEC-6444-E8D8-B9B2-CB4145FB2540}"/>
                </a:ext>
              </a:extLst>
            </p:cNvPr>
            <p:cNvCxnSpPr/>
            <p:nvPr/>
          </p:nvCxnSpPr>
          <p:spPr>
            <a:xfrm flipH="1" flipV="1">
              <a:off x="5562600" y="36576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610363D-ABFB-D1DB-9657-16D32B898FDF}"/>
                </a:ext>
              </a:extLst>
            </p:cNvPr>
            <p:cNvCxnSpPr/>
            <p:nvPr/>
          </p:nvCxnSpPr>
          <p:spPr>
            <a:xfrm flipV="1">
              <a:off x="5562600" y="38100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9DD177F-5E00-D31A-F6B5-03D460F1388D}"/>
                </a:ext>
              </a:extLst>
            </p:cNvPr>
            <p:cNvCxnSpPr/>
            <p:nvPr/>
          </p:nvCxnSpPr>
          <p:spPr>
            <a:xfrm flipH="1" flipV="1">
              <a:off x="5562600" y="39624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40BFF15-47AC-BA75-CF68-5744B5F378AC}"/>
              </a:ext>
            </a:extLst>
          </p:cNvPr>
          <p:cNvCxnSpPr>
            <a:cxnSpLocks/>
          </p:cNvCxnSpPr>
          <p:nvPr/>
        </p:nvCxnSpPr>
        <p:spPr>
          <a:xfrm>
            <a:off x="7844848" y="3554432"/>
            <a:ext cx="0" cy="35346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A1D09B6-2CB6-953D-E731-7D53C6C155DF}"/>
              </a:ext>
            </a:extLst>
          </p:cNvPr>
          <p:cNvCxnSpPr>
            <a:cxnSpLocks/>
          </p:cNvCxnSpPr>
          <p:nvPr/>
        </p:nvCxnSpPr>
        <p:spPr>
          <a:xfrm>
            <a:off x="7633172" y="2682372"/>
            <a:ext cx="0" cy="20319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2EF5957-CAAD-8D3D-E650-4CCE646549C7}"/>
              </a:ext>
            </a:extLst>
          </p:cNvPr>
          <p:cNvSpPr txBox="1"/>
          <p:nvPr/>
        </p:nvSpPr>
        <p:spPr>
          <a:xfrm>
            <a:off x="7713185" y="2961767"/>
            <a:ext cx="763029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dirty="0"/>
              <a:t>R=10</a:t>
            </a:r>
            <a:r>
              <a:rPr lang="en-US" sz="2000" dirty="0">
                <a:cs typeface="Times New Roman" panose="02020603050405020304" pitchFamily="18" charset="0"/>
              </a:rPr>
              <a:t>Ω</a:t>
            </a:r>
            <a:endParaRPr lang="en-US" sz="200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5D630EE-2AE3-BBE7-5635-EC4B91FE760E}"/>
              </a:ext>
            </a:extLst>
          </p:cNvPr>
          <p:cNvCxnSpPr/>
          <p:nvPr/>
        </p:nvCxnSpPr>
        <p:spPr>
          <a:xfrm>
            <a:off x="6400360" y="3907894"/>
            <a:ext cx="1444488" cy="0"/>
          </a:xfrm>
          <a:prstGeom prst="line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B56276F-B594-38D3-04BB-FD58DD1041C1}"/>
              </a:ext>
            </a:extLst>
          </p:cNvPr>
          <p:cNvCxnSpPr>
            <a:cxnSpLocks/>
          </p:cNvCxnSpPr>
          <p:nvPr/>
        </p:nvCxnSpPr>
        <p:spPr>
          <a:xfrm>
            <a:off x="6400360" y="2695319"/>
            <a:ext cx="1225829" cy="0"/>
          </a:xfrm>
          <a:prstGeom prst="line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9FF4039-18D6-00A6-E7B5-6580B7E3A427}"/>
              </a:ext>
            </a:extLst>
          </p:cNvPr>
          <p:cNvCxnSpPr>
            <a:cxnSpLocks/>
          </p:cNvCxnSpPr>
          <p:nvPr/>
        </p:nvCxnSpPr>
        <p:spPr>
          <a:xfrm>
            <a:off x="6406986" y="2682372"/>
            <a:ext cx="0" cy="423764"/>
          </a:xfrm>
          <a:prstGeom prst="line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B1F61C3-54F2-B83A-FCC1-7886AC14E3C9}"/>
              </a:ext>
            </a:extLst>
          </p:cNvPr>
          <p:cNvSpPr txBox="1"/>
          <p:nvPr/>
        </p:nvSpPr>
        <p:spPr>
          <a:xfrm>
            <a:off x="6387027" y="2779182"/>
            <a:ext cx="48387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17D9AD7-23AC-7A19-E883-FF8F424E34A1}"/>
              </a:ext>
            </a:extLst>
          </p:cNvPr>
          <p:cNvSpPr txBox="1"/>
          <p:nvPr/>
        </p:nvSpPr>
        <p:spPr>
          <a:xfrm>
            <a:off x="6413615" y="3170667"/>
            <a:ext cx="48387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36C43CC-4291-4308-B7AA-3C3A54CC5EE7}"/>
              </a:ext>
            </a:extLst>
          </p:cNvPr>
          <p:cNvSpPr txBox="1"/>
          <p:nvPr/>
        </p:nvSpPr>
        <p:spPr>
          <a:xfrm>
            <a:off x="7248087" y="2622972"/>
            <a:ext cx="48387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101A088-C862-2AEC-102A-85F48479B68C}"/>
              </a:ext>
            </a:extLst>
          </p:cNvPr>
          <p:cNvSpPr txBox="1"/>
          <p:nvPr/>
        </p:nvSpPr>
        <p:spPr>
          <a:xfrm>
            <a:off x="7354685" y="3323067"/>
            <a:ext cx="48387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744ECBC-BAFC-E75A-D2E0-475088431E21}"/>
              </a:ext>
            </a:extLst>
          </p:cNvPr>
          <p:cNvSpPr txBox="1"/>
          <p:nvPr/>
        </p:nvSpPr>
        <p:spPr>
          <a:xfrm>
            <a:off x="6859745" y="3639947"/>
            <a:ext cx="185948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dirty="0"/>
              <a:t>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2FF99A0-BFA9-922F-BF5B-025A4CACE1D2}"/>
              </a:ext>
            </a:extLst>
          </p:cNvPr>
          <p:cNvSpPr txBox="1"/>
          <p:nvPr/>
        </p:nvSpPr>
        <p:spPr>
          <a:xfrm>
            <a:off x="7000715" y="2432177"/>
            <a:ext cx="185948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dirty="0"/>
              <a:t>A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8619B67-153B-2821-EFC4-47ACEEE5489D}"/>
              </a:ext>
            </a:extLst>
          </p:cNvPr>
          <p:cNvCxnSpPr/>
          <p:nvPr/>
        </p:nvCxnSpPr>
        <p:spPr>
          <a:xfrm>
            <a:off x="8672563" y="2960370"/>
            <a:ext cx="0" cy="610994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B48BA70-7C9B-3224-830B-67603D402F23}"/>
              </a:ext>
            </a:extLst>
          </p:cNvPr>
          <p:cNvSpPr txBox="1"/>
          <p:nvPr/>
        </p:nvSpPr>
        <p:spPr>
          <a:xfrm>
            <a:off x="8722835" y="3034157"/>
            <a:ext cx="15549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i="1" dirty="0"/>
              <a:t>i</a:t>
            </a:r>
            <a:r>
              <a:rPr lang="en-US" sz="2000" baseline="-25000" dirty="0"/>
              <a:t>1</a:t>
            </a:r>
            <a:endParaRPr lang="en-US" sz="2000" i="1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3415174-B678-DD19-A8AE-DE04F18911A8}"/>
              </a:ext>
            </a:extLst>
          </p:cNvPr>
          <p:cNvCxnSpPr>
            <a:cxnSpLocks/>
          </p:cNvCxnSpPr>
          <p:nvPr/>
        </p:nvCxnSpPr>
        <p:spPr>
          <a:xfrm flipV="1">
            <a:off x="6024613" y="3055620"/>
            <a:ext cx="0" cy="610994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83045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390A0-6C10-3167-FF66-2F8363CEA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KCL example #2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5376F4-0D09-F3D7-6ED2-20C6EC1467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13" y="1418608"/>
            <a:ext cx="7772399" cy="1161596"/>
          </a:xfrm>
        </p:spPr>
        <p:txBody>
          <a:bodyPr/>
          <a:lstStyle/>
          <a:p>
            <a:r>
              <a:rPr lang="en-US" dirty="0"/>
              <a:t>Assume that </a:t>
            </a:r>
            <a:r>
              <a:rPr lang="en-US" i="1" dirty="0"/>
              <a:t>V</a:t>
            </a:r>
            <a:r>
              <a:rPr lang="en-US" baseline="-25000" dirty="0"/>
              <a:t>1</a:t>
            </a:r>
            <a:r>
              <a:rPr lang="en-US" dirty="0"/>
              <a:t>=+10V, </a:t>
            </a:r>
            <a:r>
              <a:rPr lang="en-US" i="1" dirty="0"/>
              <a:t>V</a:t>
            </a:r>
            <a:r>
              <a:rPr lang="en-US" baseline="-25000" dirty="0"/>
              <a:t>2</a:t>
            </a:r>
            <a:r>
              <a:rPr lang="en-US" dirty="0"/>
              <a:t>=+20V, </a:t>
            </a:r>
            <a:r>
              <a:rPr lang="en-US" i="1" dirty="0"/>
              <a:t>V</a:t>
            </a:r>
            <a:r>
              <a:rPr lang="en-US" baseline="-25000" dirty="0"/>
              <a:t>3</a:t>
            </a:r>
            <a:r>
              <a:rPr lang="en-US" dirty="0"/>
              <a:t>=+15V</a:t>
            </a:r>
          </a:p>
          <a:p>
            <a:r>
              <a:rPr lang="en-US" dirty="0"/>
              <a:t>Is KCL satisfied on all four nodes?</a:t>
            </a:r>
            <a:endParaRPr lang="en-US" i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5F11A7-1154-6A0F-0B69-E38EE06F5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EE 123 Joel Grodstein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D6D4567-AD58-94BA-340B-A27AA809F980}"/>
              </a:ext>
            </a:extLst>
          </p:cNvPr>
          <p:cNvCxnSpPr>
            <a:cxnSpLocks/>
          </p:cNvCxnSpPr>
          <p:nvPr/>
        </p:nvCxnSpPr>
        <p:spPr>
          <a:xfrm>
            <a:off x="1516564" y="5198530"/>
            <a:ext cx="1197478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888D8ED-0B66-E480-25DF-E9325C5A83F8}"/>
              </a:ext>
            </a:extLst>
          </p:cNvPr>
          <p:cNvCxnSpPr>
            <a:cxnSpLocks/>
          </p:cNvCxnSpPr>
          <p:nvPr/>
        </p:nvCxnSpPr>
        <p:spPr>
          <a:xfrm>
            <a:off x="1529129" y="3063661"/>
            <a:ext cx="1178441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91C21793-1D02-D254-0F3F-9EA9E9DD5E9B}"/>
              </a:ext>
            </a:extLst>
          </p:cNvPr>
          <p:cNvSpPr/>
          <p:nvPr/>
        </p:nvSpPr>
        <p:spPr>
          <a:xfrm>
            <a:off x="611894" y="4568922"/>
            <a:ext cx="7248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10V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ED29829-BB68-0E3F-8C4D-61E290BAA41B}"/>
              </a:ext>
            </a:extLst>
          </p:cNvPr>
          <p:cNvSpPr txBox="1"/>
          <p:nvPr/>
        </p:nvSpPr>
        <p:spPr>
          <a:xfrm>
            <a:off x="2219165" y="5308727"/>
            <a:ext cx="185948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dirty="0"/>
              <a:t>G</a:t>
            </a:r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9A98B13B-6C07-F3D3-DBEF-28B88CE82DA5}"/>
              </a:ext>
            </a:extLst>
          </p:cNvPr>
          <p:cNvGrpSpPr/>
          <p:nvPr/>
        </p:nvGrpSpPr>
        <p:grpSpPr>
          <a:xfrm>
            <a:off x="1184910" y="3054772"/>
            <a:ext cx="630370" cy="2146717"/>
            <a:chOff x="1184910" y="3740572"/>
            <a:chExt cx="630370" cy="2146717"/>
          </a:xfrm>
        </p:grpSpPr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10FAAC47-49DB-379E-7408-C88B9677383F}"/>
                </a:ext>
              </a:extLst>
            </p:cNvPr>
            <p:cNvCxnSpPr>
              <a:cxnSpLocks/>
            </p:cNvCxnSpPr>
            <p:nvPr/>
          </p:nvCxnSpPr>
          <p:spPr>
            <a:xfrm>
              <a:off x="1529129" y="3740572"/>
              <a:ext cx="0" cy="203198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F74E0F5-94E6-A1B5-BBAC-04B4099130CD}"/>
                </a:ext>
              </a:extLst>
            </p:cNvPr>
            <p:cNvSpPr txBox="1"/>
            <p:nvPr/>
          </p:nvSpPr>
          <p:spPr>
            <a:xfrm>
              <a:off x="1544372" y="4806100"/>
              <a:ext cx="270908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2000" dirty="0"/>
                <a:t>V</a:t>
              </a:r>
              <a:r>
                <a:rPr lang="en-US" sz="2000" baseline="-25000" dirty="0"/>
                <a:t>1</a:t>
              </a:r>
              <a:endParaRPr lang="en-US" sz="2000" dirty="0"/>
            </a:p>
          </p:txBody>
        </p: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8F921FBC-F5A5-373E-A88E-735462E35713}"/>
                </a:ext>
              </a:extLst>
            </p:cNvPr>
            <p:cNvCxnSpPr>
              <a:cxnSpLocks/>
            </p:cNvCxnSpPr>
            <p:nvPr/>
          </p:nvCxnSpPr>
          <p:spPr>
            <a:xfrm>
              <a:off x="1516564" y="4742617"/>
              <a:ext cx="0" cy="668066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E7D8D8F5-5B56-EF09-6678-43BE3E39A490}"/>
                </a:ext>
              </a:extLst>
            </p:cNvPr>
            <p:cNvCxnSpPr>
              <a:cxnSpLocks/>
            </p:cNvCxnSpPr>
            <p:nvPr/>
          </p:nvCxnSpPr>
          <p:spPr>
            <a:xfrm>
              <a:off x="1516564" y="5508427"/>
              <a:ext cx="0" cy="378862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E2223588-31B1-994B-CCAF-BC61D2EB4A51}"/>
                </a:ext>
              </a:extLst>
            </p:cNvPr>
            <p:cNvGrpSpPr/>
            <p:nvPr/>
          </p:nvGrpSpPr>
          <p:grpSpPr>
            <a:xfrm flipV="1">
              <a:off x="1287964" y="5406828"/>
              <a:ext cx="457200" cy="101599"/>
              <a:chOff x="3088619" y="3223591"/>
              <a:chExt cx="457200" cy="101599"/>
            </a:xfrm>
          </p:grpSpPr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58D00946-A5CC-1351-3363-326C81A5A57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88619" y="3223591"/>
                <a:ext cx="4572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3285E578-DF03-E782-96B5-D58A3830EF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90218" y="3325190"/>
                <a:ext cx="254003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C89B27A7-A7C1-7DAF-2DE9-7C5B96AA8D1A}"/>
                </a:ext>
              </a:extLst>
            </p:cNvPr>
            <p:cNvSpPr txBox="1"/>
            <p:nvPr/>
          </p:nvSpPr>
          <p:spPr>
            <a:xfrm>
              <a:off x="1184910" y="5051227"/>
              <a:ext cx="483870" cy="4572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+</a:t>
              </a:r>
            </a:p>
          </p:txBody>
        </p: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43894EB6-0642-D561-9583-5DCD48DCFE17}"/>
                </a:ext>
              </a:extLst>
            </p:cNvPr>
            <p:cNvGrpSpPr/>
            <p:nvPr/>
          </p:nvGrpSpPr>
          <p:grpSpPr>
            <a:xfrm rot="5400000">
              <a:off x="1211764" y="4233601"/>
              <a:ext cx="609600" cy="408432"/>
              <a:chOff x="2590800" y="1592580"/>
              <a:chExt cx="609600" cy="408432"/>
            </a:xfrm>
          </p:grpSpPr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327FD15B-D1FE-75AE-E0B3-D2CE625D784D}"/>
                  </a:ext>
                </a:extLst>
              </p:cNvPr>
              <p:cNvCxnSpPr/>
              <p:nvPr/>
            </p:nvCxnSpPr>
            <p:spPr>
              <a:xfrm rot="5400000">
                <a:off x="3066288" y="1833372"/>
                <a:ext cx="192024" cy="762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CEA5FB7B-C0AF-7250-F878-1B77338DB883}"/>
                  </a:ext>
                </a:extLst>
              </p:cNvPr>
              <p:cNvCxnSpPr/>
              <p:nvPr/>
            </p:nvCxnSpPr>
            <p:spPr>
              <a:xfrm rot="5400000" flipV="1">
                <a:off x="2857500" y="1734312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AD244281-70D0-17F9-1AC5-6E1BEBED73BD}"/>
                  </a:ext>
                </a:extLst>
              </p:cNvPr>
              <p:cNvCxnSpPr/>
              <p:nvPr/>
            </p:nvCxnSpPr>
            <p:spPr>
              <a:xfrm rot="5400000" flipH="1" flipV="1">
                <a:off x="2705100" y="17145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2270E1D2-D83B-E494-D959-75FB8A989498}"/>
                  </a:ext>
                </a:extLst>
              </p:cNvPr>
              <p:cNvCxnSpPr/>
              <p:nvPr/>
            </p:nvCxnSpPr>
            <p:spPr>
              <a:xfrm rot="5400000" flipV="1">
                <a:off x="2552700" y="17145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8744E97A-5155-D79F-BAD7-986B5B4E976A}"/>
                  </a:ext>
                </a:extLst>
              </p:cNvPr>
              <p:cNvCxnSpPr/>
              <p:nvPr/>
            </p:nvCxnSpPr>
            <p:spPr>
              <a:xfrm rot="5400000">
                <a:off x="2532888" y="1650492"/>
                <a:ext cx="192024" cy="762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F44E700B-4645-9D93-B6DE-199C2DE581EA}"/>
                </a:ext>
              </a:extLst>
            </p:cNvPr>
            <p:cNvCxnSpPr>
              <a:cxnSpLocks/>
            </p:cNvCxnSpPr>
            <p:nvPr/>
          </p:nvCxnSpPr>
          <p:spPr>
            <a:xfrm>
              <a:off x="1529080" y="3927277"/>
              <a:ext cx="0" cy="201062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2" name="TextBox 101">
            <a:extLst>
              <a:ext uri="{FF2B5EF4-FFF2-40B4-BE49-F238E27FC236}">
                <a16:creationId xmlns:a16="http://schemas.microsoft.com/office/drawing/2014/main" id="{2DFBEEA0-4BC4-0BB9-B327-6C9920B4B115}"/>
              </a:ext>
            </a:extLst>
          </p:cNvPr>
          <p:cNvSpPr txBox="1"/>
          <p:nvPr/>
        </p:nvSpPr>
        <p:spPr>
          <a:xfrm>
            <a:off x="1845362" y="2718220"/>
            <a:ext cx="26918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dirty="0"/>
              <a:t>V</a:t>
            </a:r>
            <a:r>
              <a:rPr lang="en-US" sz="2000" baseline="-25000" dirty="0"/>
              <a:t>3</a:t>
            </a:r>
            <a:endParaRPr lang="en-US" sz="2000" dirty="0"/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90986D10-4DDC-4632-E14B-3515011191D2}"/>
              </a:ext>
            </a:extLst>
          </p:cNvPr>
          <p:cNvGrpSpPr/>
          <p:nvPr/>
        </p:nvGrpSpPr>
        <p:grpSpPr>
          <a:xfrm>
            <a:off x="2354580" y="3047152"/>
            <a:ext cx="630370" cy="2146717"/>
            <a:chOff x="1184910" y="3740572"/>
            <a:chExt cx="630370" cy="2146717"/>
          </a:xfrm>
        </p:grpSpPr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83F20278-54F9-47E7-D211-94FEC27243EF}"/>
                </a:ext>
              </a:extLst>
            </p:cNvPr>
            <p:cNvCxnSpPr>
              <a:cxnSpLocks/>
            </p:cNvCxnSpPr>
            <p:nvPr/>
          </p:nvCxnSpPr>
          <p:spPr>
            <a:xfrm>
              <a:off x="1529129" y="3740572"/>
              <a:ext cx="0" cy="203198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83D89936-4237-E16E-307A-873AD4D884C7}"/>
                </a:ext>
              </a:extLst>
            </p:cNvPr>
            <p:cNvSpPr txBox="1"/>
            <p:nvPr/>
          </p:nvSpPr>
          <p:spPr>
            <a:xfrm>
              <a:off x="1544372" y="4806100"/>
              <a:ext cx="270908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2000" dirty="0"/>
                <a:t>V</a:t>
              </a:r>
              <a:r>
                <a:rPr lang="en-US" sz="2000" baseline="-25000" dirty="0"/>
                <a:t>2</a:t>
              </a:r>
              <a:endParaRPr lang="en-US" sz="2000" dirty="0"/>
            </a:p>
          </p:txBody>
        </p: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496502B4-CE79-A527-A3D2-94C7C6480EA0}"/>
                </a:ext>
              </a:extLst>
            </p:cNvPr>
            <p:cNvCxnSpPr>
              <a:cxnSpLocks/>
            </p:cNvCxnSpPr>
            <p:nvPr/>
          </p:nvCxnSpPr>
          <p:spPr>
            <a:xfrm>
              <a:off x="1516564" y="4742617"/>
              <a:ext cx="0" cy="668066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0E79D53B-0C2C-1014-E516-3ED32AC6D63F}"/>
                </a:ext>
              </a:extLst>
            </p:cNvPr>
            <p:cNvCxnSpPr>
              <a:cxnSpLocks/>
            </p:cNvCxnSpPr>
            <p:nvPr/>
          </p:nvCxnSpPr>
          <p:spPr>
            <a:xfrm>
              <a:off x="1516564" y="5508427"/>
              <a:ext cx="0" cy="378862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B7393F3E-421B-F174-4061-CF29EFABE86F}"/>
                </a:ext>
              </a:extLst>
            </p:cNvPr>
            <p:cNvGrpSpPr/>
            <p:nvPr/>
          </p:nvGrpSpPr>
          <p:grpSpPr>
            <a:xfrm flipV="1">
              <a:off x="1287964" y="5406828"/>
              <a:ext cx="457200" cy="101599"/>
              <a:chOff x="3088619" y="3223591"/>
              <a:chExt cx="457200" cy="101599"/>
            </a:xfrm>
          </p:grpSpPr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3A4CFC37-F2E1-1257-A193-CFE66C207D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88619" y="3223591"/>
                <a:ext cx="4572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>
                <a:extLst>
                  <a:ext uri="{FF2B5EF4-FFF2-40B4-BE49-F238E27FC236}">
                    <a16:creationId xmlns:a16="http://schemas.microsoft.com/office/drawing/2014/main" id="{6A5B414F-CCD5-2E6C-ADBA-438BC201B6B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90218" y="3325190"/>
                <a:ext cx="254003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9FA532B4-A880-0666-0A89-03C2A7EC7BC3}"/>
                </a:ext>
              </a:extLst>
            </p:cNvPr>
            <p:cNvSpPr txBox="1"/>
            <p:nvPr/>
          </p:nvSpPr>
          <p:spPr>
            <a:xfrm>
              <a:off x="1184910" y="5051227"/>
              <a:ext cx="483870" cy="4572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+</a:t>
              </a:r>
            </a:p>
          </p:txBody>
        </p:sp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D72613BB-5863-EA0D-6182-B56D0BE6B5E0}"/>
                </a:ext>
              </a:extLst>
            </p:cNvPr>
            <p:cNvGrpSpPr/>
            <p:nvPr/>
          </p:nvGrpSpPr>
          <p:grpSpPr>
            <a:xfrm rot="5400000">
              <a:off x="1211764" y="4233601"/>
              <a:ext cx="609600" cy="408432"/>
              <a:chOff x="2590800" y="1592580"/>
              <a:chExt cx="609600" cy="408432"/>
            </a:xfrm>
          </p:grpSpPr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FF2542F8-C1CF-E904-51DE-D02AC4570AEA}"/>
                  </a:ext>
                </a:extLst>
              </p:cNvPr>
              <p:cNvCxnSpPr/>
              <p:nvPr/>
            </p:nvCxnSpPr>
            <p:spPr>
              <a:xfrm rot="5400000">
                <a:off x="3066288" y="1833372"/>
                <a:ext cx="192024" cy="762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>
                <a:extLst>
                  <a:ext uri="{FF2B5EF4-FFF2-40B4-BE49-F238E27FC236}">
                    <a16:creationId xmlns:a16="http://schemas.microsoft.com/office/drawing/2014/main" id="{FF6DBE3A-1842-1598-ADC3-06F7DD73AA7C}"/>
                  </a:ext>
                </a:extLst>
              </p:cNvPr>
              <p:cNvCxnSpPr/>
              <p:nvPr/>
            </p:nvCxnSpPr>
            <p:spPr>
              <a:xfrm rot="5400000" flipV="1">
                <a:off x="2857500" y="1734312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8AE7B4E8-80CB-057A-7529-7D28969CE503}"/>
                  </a:ext>
                </a:extLst>
              </p:cNvPr>
              <p:cNvCxnSpPr/>
              <p:nvPr/>
            </p:nvCxnSpPr>
            <p:spPr>
              <a:xfrm rot="5400000" flipH="1" flipV="1">
                <a:off x="2705100" y="17145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>
                <a:extLst>
                  <a:ext uri="{FF2B5EF4-FFF2-40B4-BE49-F238E27FC236}">
                    <a16:creationId xmlns:a16="http://schemas.microsoft.com/office/drawing/2014/main" id="{9356AC75-4910-A5D1-DFA1-93546F9EF26B}"/>
                  </a:ext>
                </a:extLst>
              </p:cNvPr>
              <p:cNvCxnSpPr/>
              <p:nvPr/>
            </p:nvCxnSpPr>
            <p:spPr>
              <a:xfrm rot="5400000" flipV="1">
                <a:off x="2552700" y="17145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>
                <a:extLst>
                  <a:ext uri="{FF2B5EF4-FFF2-40B4-BE49-F238E27FC236}">
                    <a16:creationId xmlns:a16="http://schemas.microsoft.com/office/drawing/2014/main" id="{0CBD7150-1103-2CEC-3472-F6AE4E999B60}"/>
                  </a:ext>
                </a:extLst>
              </p:cNvPr>
              <p:cNvCxnSpPr/>
              <p:nvPr/>
            </p:nvCxnSpPr>
            <p:spPr>
              <a:xfrm rot="5400000">
                <a:off x="2532888" y="1650492"/>
                <a:ext cx="192024" cy="762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C894BADF-D3A9-32FB-A5BA-13F4D422ECE4}"/>
                </a:ext>
              </a:extLst>
            </p:cNvPr>
            <p:cNvCxnSpPr>
              <a:cxnSpLocks/>
            </p:cNvCxnSpPr>
            <p:nvPr/>
          </p:nvCxnSpPr>
          <p:spPr>
            <a:xfrm>
              <a:off x="1529080" y="3927277"/>
              <a:ext cx="0" cy="201062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2" name="Rectangle 121">
            <a:extLst>
              <a:ext uri="{FF2B5EF4-FFF2-40B4-BE49-F238E27FC236}">
                <a16:creationId xmlns:a16="http://schemas.microsoft.com/office/drawing/2014/main" id="{D891370E-69AB-D16D-8E1C-0CB692844250}"/>
              </a:ext>
            </a:extLst>
          </p:cNvPr>
          <p:cNvSpPr/>
          <p:nvPr/>
        </p:nvSpPr>
        <p:spPr>
          <a:xfrm>
            <a:off x="718574" y="3532602"/>
            <a:ext cx="7248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10</a:t>
            </a:r>
            <a:r>
              <a:rPr lang="el-GR" dirty="0">
                <a:cs typeface="Times New Roman" panose="02020603050405020304" pitchFamily="18" charset="0"/>
              </a:rPr>
              <a:t>Ω</a:t>
            </a:r>
            <a:endParaRPr lang="en-US" dirty="0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A5B9D390-6122-493B-2889-B394E23308AC}"/>
              </a:ext>
            </a:extLst>
          </p:cNvPr>
          <p:cNvSpPr/>
          <p:nvPr/>
        </p:nvSpPr>
        <p:spPr>
          <a:xfrm>
            <a:off x="2844554" y="4584162"/>
            <a:ext cx="7248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20V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43ADDD86-3205-415E-9026-321E5507BB49}"/>
              </a:ext>
            </a:extLst>
          </p:cNvPr>
          <p:cNvSpPr/>
          <p:nvPr/>
        </p:nvSpPr>
        <p:spPr>
          <a:xfrm>
            <a:off x="2768354" y="3524982"/>
            <a:ext cx="7248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10</a:t>
            </a:r>
            <a:r>
              <a:rPr lang="el-GR" dirty="0">
                <a:cs typeface="Times New Roman" panose="02020603050405020304" pitchFamily="18" charset="0"/>
              </a:rPr>
              <a:t>Ω</a:t>
            </a:r>
            <a:endParaRPr lang="en-US" dirty="0"/>
          </a:p>
        </p:txBody>
      </p:sp>
      <p:sp>
        <p:nvSpPr>
          <p:cNvPr id="125" name="Content Placeholder 2">
            <a:extLst>
              <a:ext uri="{FF2B5EF4-FFF2-40B4-BE49-F238E27FC236}">
                <a16:creationId xmlns:a16="http://schemas.microsoft.com/office/drawing/2014/main" id="{A039C003-E1D2-A125-960A-219DD6DD796D}"/>
              </a:ext>
            </a:extLst>
          </p:cNvPr>
          <p:cNvSpPr txBox="1">
            <a:spLocks/>
          </p:cNvSpPr>
          <p:nvPr/>
        </p:nvSpPr>
        <p:spPr bwMode="auto">
          <a:xfrm>
            <a:off x="4240530" y="2588278"/>
            <a:ext cx="4583947" cy="3248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i="1" kern="0" dirty="0"/>
              <a:t>i</a:t>
            </a:r>
            <a:r>
              <a:rPr lang="en-US" kern="0" baseline="-25000" dirty="0"/>
              <a:t>1 </a:t>
            </a:r>
            <a:r>
              <a:rPr lang="en-US" kern="0" dirty="0"/>
              <a:t>= (</a:t>
            </a:r>
            <a:r>
              <a:rPr lang="en-US" i="1" kern="0" dirty="0"/>
              <a:t>V</a:t>
            </a:r>
            <a:r>
              <a:rPr lang="en-US" kern="0" baseline="-25000" dirty="0"/>
              <a:t>1</a:t>
            </a:r>
            <a:r>
              <a:rPr lang="en-US" kern="0" dirty="0"/>
              <a:t>-</a:t>
            </a:r>
            <a:r>
              <a:rPr lang="en-US" i="1" kern="0" dirty="0"/>
              <a:t>V</a:t>
            </a:r>
            <a:r>
              <a:rPr lang="en-US" kern="0" baseline="-25000" dirty="0"/>
              <a:t>3</a:t>
            </a:r>
            <a:r>
              <a:rPr lang="en-US" kern="0" dirty="0"/>
              <a:t>)/10</a:t>
            </a:r>
            <a:r>
              <a:rPr lang="el-GR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kern="0" dirty="0"/>
              <a:t>=-.5A</a:t>
            </a:r>
          </a:p>
          <a:p>
            <a:r>
              <a:rPr lang="en-US" i="1" kern="0" dirty="0"/>
              <a:t>i</a:t>
            </a:r>
            <a:r>
              <a:rPr lang="en-US" kern="0" baseline="-25000" dirty="0"/>
              <a:t>3</a:t>
            </a:r>
            <a:r>
              <a:rPr lang="en-US" i="1" kern="0" dirty="0"/>
              <a:t>=</a:t>
            </a:r>
            <a:r>
              <a:rPr lang="en-US" kern="0" dirty="0"/>
              <a:t> (</a:t>
            </a:r>
            <a:r>
              <a:rPr lang="en-US" i="1" kern="0" dirty="0"/>
              <a:t>V</a:t>
            </a:r>
            <a:r>
              <a:rPr lang="en-US" kern="0" baseline="-25000" dirty="0"/>
              <a:t>2</a:t>
            </a:r>
            <a:r>
              <a:rPr lang="en-US" kern="0" dirty="0"/>
              <a:t>-</a:t>
            </a:r>
            <a:r>
              <a:rPr lang="en-US" i="1" kern="0" dirty="0"/>
              <a:t>V</a:t>
            </a:r>
            <a:r>
              <a:rPr lang="en-US" kern="0" baseline="-25000" dirty="0"/>
              <a:t>3</a:t>
            </a:r>
            <a:r>
              <a:rPr lang="en-US" kern="0" dirty="0"/>
              <a:t>)/10</a:t>
            </a:r>
            <a:r>
              <a:rPr lang="el-GR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Ω </a:t>
            </a:r>
            <a:r>
              <a:rPr lang="en-US" kern="0" dirty="0"/>
              <a:t>=.5A</a:t>
            </a:r>
          </a:p>
          <a:p>
            <a:r>
              <a:rPr lang="en-US" kern="0" dirty="0"/>
              <a:t>KCL at </a:t>
            </a:r>
            <a:r>
              <a:rPr lang="en-US" i="1" kern="0" dirty="0"/>
              <a:t>V</a:t>
            </a:r>
            <a:r>
              <a:rPr lang="en-US" kern="0" baseline="-25000" dirty="0"/>
              <a:t>3</a:t>
            </a:r>
            <a:r>
              <a:rPr lang="en-US" kern="0" dirty="0"/>
              <a:t>: -.5 + .5 = 0</a:t>
            </a:r>
          </a:p>
          <a:p>
            <a:r>
              <a:rPr lang="en-US" kern="0" dirty="0"/>
              <a:t>KCL at </a:t>
            </a:r>
            <a:r>
              <a:rPr lang="en-US" i="1" kern="0" dirty="0"/>
              <a:t>V</a:t>
            </a:r>
            <a:r>
              <a:rPr lang="en-US" kern="0" baseline="-25000" dirty="0"/>
              <a:t>1</a:t>
            </a:r>
            <a:r>
              <a:rPr lang="en-US" kern="0" dirty="0"/>
              <a:t> </a:t>
            </a:r>
            <a:r>
              <a:rPr lang="en-US" kern="0" dirty="0">
                <a:sym typeface="Symbol" panose="05050102010706020507" pitchFamily="18" charset="2"/>
              </a:rPr>
              <a:t> </a:t>
            </a:r>
            <a:r>
              <a:rPr lang="en-US" i="1" kern="0" dirty="0">
                <a:sym typeface="Symbol" panose="05050102010706020507" pitchFamily="18" charset="2"/>
              </a:rPr>
              <a:t>i</a:t>
            </a:r>
            <a:r>
              <a:rPr lang="en-US" kern="0" baseline="-25000" dirty="0">
                <a:sym typeface="Symbol" panose="05050102010706020507" pitchFamily="18" charset="2"/>
              </a:rPr>
              <a:t>2</a:t>
            </a:r>
            <a:r>
              <a:rPr lang="en-US" kern="0" dirty="0">
                <a:sym typeface="Symbol" panose="05050102010706020507" pitchFamily="18" charset="2"/>
              </a:rPr>
              <a:t> = -.5A</a:t>
            </a:r>
          </a:p>
          <a:p>
            <a:r>
              <a:rPr lang="en-US" kern="0" dirty="0"/>
              <a:t>KCL at </a:t>
            </a:r>
            <a:r>
              <a:rPr lang="en-US" i="1" kern="0" dirty="0"/>
              <a:t>V</a:t>
            </a:r>
            <a:r>
              <a:rPr lang="en-US" kern="0" baseline="-25000" dirty="0"/>
              <a:t>2</a:t>
            </a:r>
            <a:r>
              <a:rPr lang="en-US" kern="0" dirty="0"/>
              <a:t> </a:t>
            </a:r>
            <a:r>
              <a:rPr lang="en-US" kern="0" dirty="0">
                <a:sym typeface="Symbol" panose="05050102010706020507" pitchFamily="18" charset="2"/>
              </a:rPr>
              <a:t> </a:t>
            </a:r>
            <a:r>
              <a:rPr lang="en-US" i="1" kern="0" dirty="0">
                <a:sym typeface="Symbol" panose="05050102010706020507" pitchFamily="18" charset="2"/>
              </a:rPr>
              <a:t>i</a:t>
            </a:r>
            <a:r>
              <a:rPr lang="en-US" kern="0" baseline="-25000" dirty="0">
                <a:sym typeface="Symbol" panose="05050102010706020507" pitchFamily="18" charset="2"/>
              </a:rPr>
              <a:t>4</a:t>
            </a:r>
            <a:r>
              <a:rPr lang="en-US" kern="0" dirty="0">
                <a:sym typeface="Symbol" panose="05050102010706020507" pitchFamily="18" charset="2"/>
              </a:rPr>
              <a:t> = .5A</a:t>
            </a:r>
          </a:p>
          <a:p>
            <a:r>
              <a:rPr lang="en-US" kern="0" dirty="0">
                <a:sym typeface="Symbol" panose="05050102010706020507" pitchFamily="18" charset="2"/>
              </a:rPr>
              <a:t>KCL at </a:t>
            </a:r>
            <a:r>
              <a:rPr lang="en-US" i="1" kern="0" dirty="0">
                <a:sym typeface="Symbol" panose="05050102010706020507" pitchFamily="18" charset="2"/>
              </a:rPr>
              <a:t>G</a:t>
            </a:r>
            <a:r>
              <a:rPr lang="en-US" kern="0" dirty="0">
                <a:sym typeface="Symbol" panose="05050102010706020507" pitchFamily="18" charset="2"/>
              </a:rPr>
              <a:t>: -</a:t>
            </a:r>
            <a:r>
              <a:rPr lang="en-US" i="1" kern="0" dirty="0">
                <a:sym typeface="Symbol" panose="05050102010706020507" pitchFamily="18" charset="2"/>
              </a:rPr>
              <a:t>i</a:t>
            </a:r>
            <a:r>
              <a:rPr lang="en-US" kern="0" baseline="-25000" dirty="0">
                <a:sym typeface="Symbol" panose="05050102010706020507" pitchFamily="18" charset="2"/>
              </a:rPr>
              <a:t>2</a:t>
            </a:r>
            <a:r>
              <a:rPr lang="en-US" kern="0" dirty="0">
                <a:sym typeface="Symbol" panose="05050102010706020507" pitchFamily="18" charset="2"/>
              </a:rPr>
              <a:t>-</a:t>
            </a:r>
            <a:r>
              <a:rPr lang="en-US" i="1" kern="0" dirty="0">
                <a:sym typeface="Symbol" panose="05050102010706020507" pitchFamily="18" charset="2"/>
              </a:rPr>
              <a:t>i</a:t>
            </a:r>
            <a:r>
              <a:rPr lang="en-US" kern="0" baseline="-25000" dirty="0">
                <a:sym typeface="Symbol" panose="05050102010706020507" pitchFamily="18" charset="2"/>
              </a:rPr>
              <a:t>4</a:t>
            </a:r>
            <a:r>
              <a:rPr lang="en-US" kern="0" dirty="0">
                <a:sym typeface="Symbol" panose="05050102010706020507" pitchFamily="18" charset="2"/>
              </a:rPr>
              <a:t>=.5A-.5A=0</a:t>
            </a:r>
          </a:p>
          <a:p>
            <a:pPr marL="0" indent="0">
              <a:buNone/>
            </a:pPr>
            <a:endParaRPr lang="en-US" kern="0" dirty="0"/>
          </a:p>
        </p:txBody>
      </p: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894168AC-2BA5-43C2-BD07-74F23B8C1025}"/>
              </a:ext>
            </a:extLst>
          </p:cNvPr>
          <p:cNvGrpSpPr/>
          <p:nvPr/>
        </p:nvGrpSpPr>
        <p:grpSpPr>
          <a:xfrm>
            <a:off x="489002" y="3512820"/>
            <a:ext cx="269188" cy="610994"/>
            <a:chOff x="489002" y="3512820"/>
            <a:chExt cx="269188" cy="610994"/>
          </a:xfrm>
        </p:grpSpPr>
        <p:cxnSp>
          <p:nvCxnSpPr>
            <p:cNvPr id="126" name="Straight Arrow Connector 125">
              <a:extLst>
                <a:ext uri="{FF2B5EF4-FFF2-40B4-BE49-F238E27FC236}">
                  <a16:creationId xmlns:a16="http://schemas.microsoft.com/office/drawing/2014/main" id="{485289EB-400D-1AA4-104E-4CC13BEEEB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2523" y="3512820"/>
              <a:ext cx="0" cy="610994"/>
            </a:xfrm>
            <a:prstGeom prst="straightConnector1">
              <a:avLst/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4510B190-421E-AF6D-C1D3-5E3156ABC501}"/>
                </a:ext>
              </a:extLst>
            </p:cNvPr>
            <p:cNvSpPr txBox="1"/>
            <p:nvPr/>
          </p:nvSpPr>
          <p:spPr>
            <a:xfrm>
              <a:off x="489002" y="3693580"/>
              <a:ext cx="269188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2000" dirty="0"/>
                <a:t>i</a:t>
              </a:r>
              <a:r>
                <a:rPr lang="en-US" sz="2000" baseline="-25000" dirty="0"/>
                <a:t>1</a:t>
              </a:r>
              <a:endParaRPr lang="en-US" sz="2000" dirty="0"/>
            </a:p>
          </p:txBody>
        </p:sp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B9BE4C81-FADF-6FF8-53FE-E240A2FA277A}"/>
              </a:ext>
            </a:extLst>
          </p:cNvPr>
          <p:cNvGrpSpPr/>
          <p:nvPr/>
        </p:nvGrpSpPr>
        <p:grpSpPr>
          <a:xfrm>
            <a:off x="401372" y="4419600"/>
            <a:ext cx="269188" cy="610994"/>
            <a:chOff x="401372" y="4419600"/>
            <a:chExt cx="269188" cy="610994"/>
          </a:xfrm>
        </p:grpSpPr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C2C66DA6-428E-1ED8-5017-5D779E9444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4893" y="4419600"/>
              <a:ext cx="0" cy="610994"/>
            </a:xfrm>
            <a:prstGeom prst="straightConnector1">
              <a:avLst/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41376040-C199-59F9-FA84-B60A61CFCFDA}"/>
                </a:ext>
              </a:extLst>
            </p:cNvPr>
            <p:cNvSpPr txBox="1"/>
            <p:nvPr/>
          </p:nvSpPr>
          <p:spPr>
            <a:xfrm>
              <a:off x="401372" y="4600360"/>
              <a:ext cx="269188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2000" dirty="0"/>
                <a:t>i</a:t>
              </a:r>
              <a:r>
                <a:rPr lang="en-US" sz="2000" baseline="-25000" dirty="0"/>
                <a:t>2</a:t>
              </a:r>
              <a:endParaRPr lang="en-US" sz="2000" dirty="0"/>
            </a:p>
          </p:txBody>
        </p: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00436793-3A66-05C2-923D-BC08EF954D5D}"/>
              </a:ext>
            </a:extLst>
          </p:cNvPr>
          <p:cNvGrpSpPr/>
          <p:nvPr/>
        </p:nvGrpSpPr>
        <p:grpSpPr>
          <a:xfrm>
            <a:off x="3490963" y="3402330"/>
            <a:ext cx="334277" cy="610994"/>
            <a:chOff x="3490963" y="3402330"/>
            <a:chExt cx="334277" cy="610994"/>
          </a:xfrm>
        </p:grpSpPr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63F6C9C0-8FFF-0A20-C389-8478CED165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90963" y="3402330"/>
              <a:ext cx="0" cy="610994"/>
            </a:xfrm>
            <a:prstGeom prst="straightConnector1">
              <a:avLst/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66288553-1B21-06FB-A50F-FA387549BC43}"/>
                </a:ext>
              </a:extLst>
            </p:cNvPr>
            <p:cNvSpPr txBox="1"/>
            <p:nvPr/>
          </p:nvSpPr>
          <p:spPr>
            <a:xfrm>
              <a:off x="3556052" y="3560230"/>
              <a:ext cx="269188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2000" dirty="0"/>
                <a:t>i</a:t>
              </a:r>
              <a:r>
                <a:rPr lang="en-US" sz="2000" baseline="-25000" dirty="0"/>
                <a:t>3</a:t>
              </a:r>
              <a:endParaRPr lang="en-US" sz="2000" dirty="0"/>
            </a:p>
          </p:txBody>
        </p:sp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5FCFD528-0330-8D51-86E4-27E10EA8C274}"/>
              </a:ext>
            </a:extLst>
          </p:cNvPr>
          <p:cNvGrpSpPr/>
          <p:nvPr/>
        </p:nvGrpSpPr>
        <p:grpSpPr>
          <a:xfrm>
            <a:off x="3574783" y="4457700"/>
            <a:ext cx="334277" cy="610994"/>
            <a:chOff x="3574783" y="4457700"/>
            <a:chExt cx="334277" cy="610994"/>
          </a:xfrm>
        </p:grpSpPr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EC2B2330-8BD2-D739-05CD-FAB79819F5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74783" y="4457700"/>
              <a:ext cx="0" cy="610994"/>
            </a:xfrm>
            <a:prstGeom prst="straightConnector1">
              <a:avLst/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3175586B-677F-FA7D-9922-EFB99476A17D}"/>
                </a:ext>
              </a:extLst>
            </p:cNvPr>
            <p:cNvSpPr txBox="1"/>
            <p:nvPr/>
          </p:nvSpPr>
          <p:spPr>
            <a:xfrm>
              <a:off x="3639872" y="4615600"/>
              <a:ext cx="269188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2000" dirty="0"/>
                <a:t>i</a:t>
              </a:r>
              <a:r>
                <a:rPr lang="en-US" sz="2000" baseline="-25000" dirty="0"/>
                <a:t>4</a:t>
              </a:r>
              <a:endParaRPr 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587043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390A0-6C10-3167-FF66-2F8363CEA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KCL example #3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5376F4-0D09-F3D7-6ED2-20C6EC1467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14" y="1418608"/>
            <a:ext cx="6051048" cy="1161596"/>
          </a:xfrm>
        </p:spPr>
        <p:txBody>
          <a:bodyPr/>
          <a:lstStyle/>
          <a:p>
            <a:r>
              <a:rPr lang="en-US" dirty="0"/>
              <a:t>Compute </a:t>
            </a:r>
            <a:r>
              <a:rPr lang="en-US" i="1" dirty="0"/>
              <a:t>V</a:t>
            </a:r>
            <a:r>
              <a:rPr lang="en-US" baseline="-25000" dirty="0"/>
              <a:t>1</a:t>
            </a:r>
            <a:r>
              <a:rPr lang="en-US" dirty="0"/>
              <a:t>, </a:t>
            </a:r>
            <a:r>
              <a:rPr lang="en-US" i="1" dirty="0"/>
              <a:t>V</a:t>
            </a:r>
            <a:r>
              <a:rPr lang="en-US" baseline="-25000" dirty="0"/>
              <a:t>2</a:t>
            </a:r>
            <a:r>
              <a:rPr lang="en-US" dirty="0"/>
              <a:t>, </a:t>
            </a:r>
            <a:r>
              <a:rPr lang="en-US" i="1" dirty="0"/>
              <a:t>V</a:t>
            </a:r>
            <a:r>
              <a:rPr lang="en-US" baseline="-25000" dirty="0"/>
              <a:t>3</a:t>
            </a:r>
            <a:endParaRPr lang="en-US" dirty="0"/>
          </a:p>
          <a:p>
            <a:r>
              <a:rPr lang="en-US" dirty="0"/>
              <a:t>You’ll need some simple algebra</a:t>
            </a:r>
            <a:endParaRPr lang="en-US" i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5F11A7-1154-6A0F-0B69-E38EE06F5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EE 123 Joel Grodstein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D6D4567-AD58-94BA-340B-A27AA809F980}"/>
              </a:ext>
            </a:extLst>
          </p:cNvPr>
          <p:cNvCxnSpPr>
            <a:cxnSpLocks/>
          </p:cNvCxnSpPr>
          <p:nvPr/>
        </p:nvCxnSpPr>
        <p:spPr>
          <a:xfrm>
            <a:off x="325602" y="5198530"/>
            <a:ext cx="2772112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888D8ED-0B66-E480-25DF-E9325C5A83F8}"/>
              </a:ext>
            </a:extLst>
          </p:cNvPr>
          <p:cNvCxnSpPr>
            <a:cxnSpLocks/>
          </p:cNvCxnSpPr>
          <p:nvPr/>
        </p:nvCxnSpPr>
        <p:spPr>
          <a:xfrm>
            <a:off x="325602" y="3063661"/>
            <a:ext cx="2772112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91C21793-1D02-D254-0F3F-9EA9E9DD5E9B}"/>
              </a:ext>
            </a:extLst>
          </p:cNvPr>
          <p:cNvSpPr/>
          <p:nvPr/>
        </p:nvSpPr>
        <p:spPr>
          <a:xfrm>
            <a:off x="1023374" y="4568922"/>
            <a:ext cx="7248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10V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ED29829-BB68-0E3F-8C4D-61E290BAA41B}"/>
              </a:ext>
            </a:extLst>
          </p:cNvPr>
          <p:cNvSpPr txBox="1"/>
          <p:nvPr/>
        </p:nvSpPr>
        <p:spPr>
          <a:xfrm>
            <a:off x="2733515" y="5308727"/>
            <a:ext cx="185948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dirty="0"/>
              <a:t>G</a:t>
            </a:r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9A98B13B-6C07-F3D3-DBEF-28B88CE82DA5}"/>
              </a:ext>
            </a:extLst>
          </p:cNvPr>
          <p:cNvGrpSpPr/>
          <p:nvPr/>
        </p:nvGrpSpPr>
        <p:grpSpPr>
          <a:xfrm>
            <a:off x="1596390" y="3054772"/>
            <a:ext cx="630370" cy="2146717"/>
            <a:chOff x="1184910" y="3740572"/>
            <a:chExt cx="630370" cy="2146717"/>
          </a:xfrm>
        </p:grpSpPr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10FAAC47-49DB-379E-7408-C88B9677383F}"/>
                </a:ext>
              </a:extLst>
            </p:cNvPr>
            <p:cNvCxnSpPr>
              <a:cxnSpLocks/>
            </p:cNvCxnSpPr>
            <p:nvPr/>
          </p:nvCxnSpPr>
          <p:spPr>
            <a:xfrm>
              <a:off x="1529129" y="3740572"/>
              <a:ext cx="0" cy="203198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F74E0F5-94E6-A1B5-BBAC-04B4099130CD}"/>
                </a:ext>
              </a:extLst>
            </p:cNvPr>
            <p:cNvSpPr txBox="1"/>
            <p:nvPr/>
          </p:nvSpPr>
          <p:spPr>
            <a:xfrm>
              <a:off x="1544372" y="4806100"/>
              <a:ext cx="270908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2000" dirty="0"/>
                <a:t>V</a:t>
              </a:r>
              <a:r>
                <a:rPr lang="en-US" sz="2000" baseline="-25000" dirty="0"/>
                <a:t>1</a:t>
              </a:r>
              <a:endParaRPr lang="en-US" sz="2000" dirty="0"/>
            </a:p>
          </p:txBody>
        </p: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8F921FBC-F5A5-373E-A88E-735462E35713}"/>
                </a:ext>
              </a:extLst>
            </p:cNvPr>
            <p:cNvCxnSpPr>
              <a:cxnSpLocks/>
            </p:cNvCxnSpPr>
            <p:nvPr/>
          </p:nvCxnSpPr>
          <p:spPr>
            <a:xfrm>
              <a:off x="1516564" y="4742617"/>
              <a:ext cx="0" cy="668066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E7D8D8F5-5B56-EF09-6678-43BE3E39A490}"/>
                </a:ext>
              </a:extLst>
            </p:cNvPr>
            <p:cNvCxnSpPr>
              <a:cxnSpLocks/>
            </p:cNvCxnSpPr>
            <p:nvPr/>
          </p:nvCxnSpPr>
          <p:spPr>
            <a:xfrm>
              <a:off x="1516564" y="5508427"/>
              <a:ext cx="0" cy="378862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E2223588-31B1-994B-CCAF-BC61D2EB4A51}"/>
                </a:ext>
              </a:extLst>
            </p:cNvPr>
            <p:cNvGrpSpPr/>
            <p:nvPr/>
          </p:nvGrpSpPr>
          <p:grpSpPr>
            <a:xfrm flipV="1">
              <a:off x="1287964" y="5406828"/>
              <a:ext cx="457200" cy="101599"/>
              <a:chOff x="3088619" y="3223591"/>
              <a:chExt cx="457200" cy="101599"/>
            </a:xfrm>
          </p:grpSpPr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58D00946-A5CC-1351-3363-326C81A5A57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88619" y="3223591"/>
                <a:ext cx="4572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3285E578-DF03-E782-96B5-D58A3830EF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90218" y="3325190"/>
                <a:ext cx="254003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C89B27A7-A7C1-7DAF-2DE9-7C5B96AA8D1A}"/>
                </a:ext>
              </a:extLst>
            </p:cNvPr>
            <p:cNvSpPr txBox="1"/>
            <p:nvPr/>
          </p:nvSpPr>
          <p:spPr>
            <a:xfrm>
              <a:off x="1184910" y="5051227"/>
              <a:ext cx="483870" cy="4572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+</a:t>
              </a:r>
            </a:p>
          </p:txBody>
        </p: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43894EB6-0642-D561-9583-5DCD48DCFE17}"/>
                </a:ext>
              </a:extLst>
            </p:cNvPr>
            <p:cNvGrpSpPr/>
            <p:nvPr/>
          </p:nvGrpSpPr>
          <p:grpSpPr>
            <a:xfrm rot="5400000">
              <a:off x="1211764" y="4233601"/>
              <a:ext cx="609600" cy="408432"/>
              <a:chOff x="2590800" y="1592580"/>
              <a:chExt cx="609600" cy="408432"/>
            </a:xfrm>
          </p:grpSpPr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327FD15B-D1FE-75AE-E0B3-D2CE625D784D}"/>
                  </a:ext>
                </a:extLst>
              </p:cNvPr>
              <p:cNvCxnSpPr/>
              <p:nvPr/>
            </p:nvCxnSpPr>
            <p:spPr>
              <a:xfrm rot="5400000">
                <a:off x="3066288" y="1833372"/>
                <a:ext cx="192024" cy="762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CEA5FB7B-C0AF-7250-F878-1B77338DB883}"/>
                  </a:ext>
                </a:extLst>
              </p:cNvPr>
              <p:cNvCxnSpPr/>
              <p:nvPr/>
            </p:nvCxnSpPr>
            <p:spPr>
              <a:xfrm rot="5400000" flipV="1">
                <a:off x="2857500" y="1734312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AD244281-70D0-17F9-1AC5-6E1BEBED73BD}"/>
                  </a:ext>
                </a:extLst>
              </p:cNvPr>
              <p:cNvCxnSpPr/>
              <p:nvPr/>
            </p:nvCxnSpPr>
            <p:spPr>
              <a:xfrm rot="5400000" flipH="1" flipV="1">
                <a:off x="2705100" y="17145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2270E1D2-D83B-E494-D959-75FB8A989498}"/>
                  </a:ext>
                </a:extLst>
              </p:cNvPr>
              <p:cNvCxnSpPr/>
              <p:nvPr/>
            </p:nvCxnSpPr>
            <p:spPr>
              <a:xfrm rot="5400000" flipV="1">
                <a:off x="2552700" y="17145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8744E97A-5155-D79F-BAD7-986B5B4E976A}"/>
                  </a:ext>
                </a:extLst>
              </p:cNvPr>
              <p:cNvCxnSpPr/>
              <p:nvPr/>
            </p:nvCxnSpPr>
            <p:spPr>
              <a:xfrm rot="5400000">
                <a:off x="2532888" y="1650492"/>
                <a:ext cx="192024" cy="762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F44E700B-4645-9D93-B6DE-199C2DE581EA}"/>
                </a:ext>
              </a:extLst>
            </p:cNvPr>
            <p:cNvCxnSpPr>
              <a:cxnSpLocks/>
            </p:cNvCxnSpPr>
            <p:nvPr/>
          </p:nvCxnSpPr>
          <p:spPr>
            <a:xfrm>
              <a:off x="1529080" y="3927277"/>
              <a:ext cx="0" cy="201062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2" name="TextBox 101">
            <a:extLst>
              <a:ext uri="{FF2B5EF4-FFF2-40B4-BE49-F238E27FC236}">
                <a16:creationId xmlns:a16="http://schemas.microsoft.com/office/drawing/2014/main" id="{2DFBEEA0-4BC4-0BB9-B327-6C9920B4B115}"/>
              </a:ext>
            </a:extLst>
          </p:cNvPr>
          <p:cNvSpPr txBox="1"/>
          <p:nvPr/>
        </p:nvSpPr>
        <p:spPr>
          <a:xfrm>
            <a:off x="2256842" y="2718220"/>
            <a:ext cx="26918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dirty="0"/>
              <a:t>V</a:t>
            </a:r>
            <a:r>
              <a:rPr lang="en-US" sz="2000" baseline="-25000" dirty="0"/>
              <a:t>3</a:t>
            </a:r>
            <a:endParaRPr lang="en-US" sz="2000" dirty="0"/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90986D10-4DDC-4632-E14B-3515011191D2}"/>
              </a:ext>
            </a:extLst>
          </p:cNvPr>
          <p:cNvGrpSpPr/>
          <p:nvPr/>
        </p:nvGrpSpPr>
        <p:grpSpPr>
          <a:xfrm>
            <a:off x="2766060" y="3047152"/>
            <a:ext cx="630370" cy="2146717"/>
            <a:chOff x="1184910" y="3740572"/>
            <a:chExt cx="630370" cy="2146717"/>
          </a:xfrm>
        </p:grpSpPr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83F20278-54F9-47E7-D211-94FEC27243EF}"/>
                </a:ext>
              </a:extLst>
            </p:cNvPr>
            <p:cNvCxnSpPr>
              <a:cxnSpLocks/>
            </p:cNvCxnSpPr>
            <p:nvPr/>
          </p:nvCxnSpPr>
          <p:spPr>
            <a:xfrm>
              <a:off x="1529129" y="3740572"/>
              <a:ext cx="0" cy="203198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83D89936-4237-E16E-307A-873AD4D884C7}"/>
                </a:ext>
              </a:extLst>
            </p:cNvPr>
            <p:cNvSpPr txBox="1"/>
            <p:nvPr/>
          </p:nvSpPr>
          <p:spPr>
            <a:xfrm>
              <a:off x="1544372" y="4806100"/>
              <a:ext cx="270908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2000" dirty="0"/>
                <a:t>V</a:t>
              </a:r>
              <a:r>
                <a:rPr lang="en-US" sz="2000" baseline="-25000" dirty="0"/>
                <a:t>2</a:t>
              </a:r>
              <a:endParaRPr lang="en-US" sz="2000" dirty="0"/>
            </a:p>
          </p:txBody>
        </p: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496502B4-CE79-A527-A3D2-94C7C6480EA0}"/>
                </a:ext>
              </a:extLst>
            </p:cNvPr>
            <p:cNvCxnSpPr>
              <a:cxnSpLocks/>
            </p:cNvCxnSpPr>
            <p:nvPr/>
          </p:nvCxnSpPr>
          <p:spPr>
            <a:xfrm>
              <a:off x="1516564" y="4742617"/>
              <a:ext cx="0" cy="668066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0E79D53B-0C2C-1014-E516-3ED32AC6D63F}"/>
                </a:ext>
              </a:extLst>
            </p:cNvPr>
            <p:cNvCxnSpPr>
              <a:cxnSpLocks/>
            </p:cNvCxnSpPr>
            <p:nvPr/>
          </p:nvCxnSpPr>
          <p:spPr>
            <a:xfrm>
              <a:off x="1516564" y="5508427"/>
              <a:ext cx="0" cy="378862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B7393F3E-421B-F174-4061-CF29EFABE86F}"/>
                </a:ext>
              </a:extLst>
            </p:cNvPr>
            <p:cNvGrpSpPr/>
            <p:nvPr/>
          </p:nvGrpSpPr>
          <p:grpSpPr>
            <a:xfrm flipV="1">
              <a:off x="1287964" y="5406828"/>
              <a:ext cx="457200" cy="101599"/>
              <a:chOff x="3088619" y="3223591"/>
              <a:chExt cx="457200" cy="101599"/>
            </a:xfrm>
          </p:grpSpPr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3A4CFC37-F2E1-1257-A193-CFE66C207D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88619" y="3223591"/>
                <a:ext cx="4572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>
                <a:extLst>
                  <a:ext uri="{FF2B5EF4-FFF2-40B4-BE49-F238E27FC236}">
                    <a16:creationId xmlns:a16="http://schemas.microsoft.com/office/drawing/2014/main" id="{6A5B414F-CCD5-2E6C-ADBA-438BC201B6B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90218" y="3325190"/>
                <a:ext cx="254003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9FA532B4-A880-0666-0A89-03C2A7EC7BC3}"/>
                </a:ext>
              </a:extLst>
            </p:cNvPr>
            <p:cNvSpPr txBox="1"/>
            <p:nvPr/>
          </p:nvSpPr>
          <p:spPr>
            <a:xfrm>
              <a:off x="1184910" y="5051227"/>
              <a:ext cx="483870" cy="4572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+</a:t>
              </a:r>
            </a:p>
          </p:txBody>
        </p:sp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D72613BB-5863-EA0D-6182-B56D0BE6B5E0}"/>
                </a:ext>
              </a:extLst>
            </p:cNvPr>
            <p:cNvGrpSpPr/>
            <p:nvPr/>
          </p:nvGrpSpPr>
          <p:grpSpPr>
            <a:xfrm rot="5400000">
              <a:off x="1211764" y="4233601"/>
              <a:ext cx="609600" cy="408432"/>
              <a:chOff x="2590800" y="1592580"/>
              <a:chExt cx="609600" cy="408432"/>
            </a:xfrm>
          </p:grpSpPr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FF2542F8-C1CF-E904-51DE-D02AC4570AEA}"/>
                  </a:ext>
                </a:extLst>
              </p:cNvPr>
              <p:cNvCxnSpPr/>
              <p:nvPr/>
            </p:nvCxnSpPr>
            <p:spPr>
              <a:xfrm rot="5400000">
                <a:off x="3066288" y="1833372"/>
                <a:ext cx="192024" cy="762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>
                <a:extLst>
                  <a:ext uri="{FF2B5EF4-FFF2-40B4-BE49-F238E27FC236}">
                    <a16:creationId xmlns:a16="http://schemas.microsoft.com/office/drawing/2014/main" id="{FF6DBE3A-1842-1598-ADC3-06F7DD73AA7C}"/>
                  </a:ext>
                </a:extLst>
              </p:cNvPr>
              <p:cNvCxnSpPr/>
              <p:nvPr/>
            </p:nvCxnSpPr>
            <p:spPr>
              <a:xfrm rot="5400000" flipV="1">
                <a:off x="2857500" y="1734312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8AE7B4E8-80CB-057A-7529-7D28969CE503}"/>
                  </a:ext>
                </a:extLst>
              </p:cNvPr>
              <p:cNvCxnSpPr/>
              <p:nvPr/>
            </p:nvCxnSpPr>
            <p:spPr>
              <a:xfrm rot="5400000" flipH="1" flipV="1">
                <a:off x="2705100" y="17145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>
                <a:extLst>
                  <a:ext uri="{FF2B5EF4-FFF2-40B4-BE49-F238E27FC236}">
                    <a16:creationId xmlns:a16="http://schemas.microsoft.com/office/drawing/2014/main" id="{9356AC75-4910-A5D1-DFA1-93546F9EF26B}"/>
                  </a:ext>
                </a:extLst>
              </p:cNvPr>
              <p:cNvCxnSpPr/>
              <p:nvPr/>
            </p:nvCxnSpPr>
            <p:spPr>
              <a:xfrm rot="5400000" flipV="1">
                <a:off x="2552700" y="17145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>
                <a:extLst>
                  <a:ext uri="{FF2B5EF4-FFF2-40B4-BE49-F238E27FC236}">
                    <a16:creationId xmlns:a16="http://schemas.microsoft.com/office/drawing/2014/main" id="{0CBD7150-1103-2CEC-3472-F6AE4E999B60}"/>
                  </a:ext>
                </a:extLst>
              </p:cNvPr>
              <p:cNvCxnSpPr/>
              <p:nvPr/>
            </p:nvCxnSpPr>
            <p:spPr>
              <a:xfrm rot="5400000">
                <a:off x="2532888" y="1650492"/>
                <a:ext cx="192024" cy="762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C894BADF-D3A9-32FB-A5BA-13F4D422ECE4}"/>
                </a:ext>
              </a:extLst>
            </p:cNvPr>
            <p:cNvCxnSpPr>
              <a:cxnSpLocks/>
            </p:cNvCxnSpPr>
            <p:nvPr/>
          </p:nvCxnSpPr>
          <p:spPr>
            <a:xfrm>
              <a:off x="1529080" y="3927277"/>
              <a:ext cx="0" cy="201062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2" name="Rectangle 121">
            <a:extLst>
              <a:ext uri="{FF2B5EF4-FFF2-40B4-BE49-F238E27FC236}">
                <a16:creationId xmlns:a16="http://schemas.microsoft.com/office/drawing/2014/main" id="{D891370E-69AB-D16D-8E1C-0CB692844250}"/>
              </a:ext>
            </a:extLst>
          </p:cNvPr>
          <p:cNvSpPr/>
          <p:nvPr/>
        </p:nvSpPr>
        <p:spPr>
          <a:xfrm>
            <a:off x="1130054" y="3532602"/>
            <a:ext cx="7248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10</a:t>
            </a:r>
            <a:r>
              <a:rPr lang="el-GR" dirty="0">
                <a:cs typeface="Times New Roman" panose="02020603050405020304" pitchFamily="18" charset="0"/>
              </a:rPr>
              <a:t>Ω</a:t>
            </a:r>
            <a:endParaRPr lang="en-US" dirty="0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A5B9D390-6122-493B-2889-B394E23308AC}"/>
              </a:ext>
            </a:extLst>
          </p:cNvPr>
          <p:cNvSpPr/>
          <p:nvPr/>
        </p:nvSpPr>
        <p:spPr>
          <a:xfrm>
            <a:off x="3038864" y="4732752"/>
            <a:ext cx="7248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20V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43ADDD86-3205-415E-9026-321E5507BB49}"/>
              </a:ext>
            </a:extLst>
          </p:cNvPr>
          <p:cNvSpPr/>
          <p:nvPr/>
        </p:nvSpPr>
        <p:spPr>
          <a:xfrm>
            <a:off x="3111254" y="3444972"/>
            <a:ext cx="7248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10</a:t>
            </a:r>
            <a:r>
              <a:rPr lang="el-GR" dirty="0">
                <a:cs typeface="Times New Roman" panose="02020603050405020304" pitchFamily="18" charset="0"/>
              </a:rPr>
              <a:t>Ω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Content Placeholder 2">
                <a:extLst>
                  <a:ext uri="{FF2B5EF4-FFF2-40B4-BE49-F238E27FC236}">
                    <a16:creationId xmlns:a16="http://schemas.microsoft.com/office/drawing/2014/main" id="{A039C003-E1D2-A125-960A-219DD6DD796D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246048" y="2588278"/>
                <a:ext cx="4806508" cy="28511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4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r>
                  <a:rPr lang="en-US" sz="2400" i="1" kern="0" dirty="0"/>
                  <a:t>i</a:t>
                </a:r>
                <a:r>
                  <a:rPr lang="en-US" sz="2400" kern="0" baseline="-25000" dirty="0"/>
                  <a:t>1 </a:t>
                </a:r>
                <a:r>
                  <a:rPr lang="en-US" sz="2400" kern="0" dirty="0"/>
                  <a:t>= (</a:t>
                </a:r>
                <a:r>
                  <a:rPr lang="en-US" sz="2400" i="1" kern="0" dirty="0"/>
                  <a:t>V</a:t>
                </a:r>
                <a:r>
                  <a:rPr lang="en-US" sz="2400" kern="0" baseline="-25000" dirty="0"/>
                  <a:t>1</a:t>
                </a:r>
                <a:r>
                  <a:rPr lang="en-US" sz="2400" kern="0" dirty="0"/>
                  <a:t>-</a:t>
                </a:r>
                <a:r>
                  <a:rPr lang="en-US" sz="2400" i="1" kern="0" dirty="0"/>
                  <a:t>V</a:t>
                </a:r>
                <a:r>
                  <a:rPr lang="en-US" sz="2400" kern="0" baseline="-25000" dirty="0"/>
                  <a:t>3</a:t>
                </a:r>
                <a:r>
                  <a:rPr lang="en-US" sz="2400" kern="0" dirty="0"/>
                  <a:t>)/10</a:t>
                </a:r>
                <a:r>
                  <a:rPr lang="el-GR" sz="24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Ω</a:t>
                </a:r>
                <a:r>
                  <a:rPr lang="en-US" sz="24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(10-</a:t>
                </a:r>
                <a:r>
                  <a:rPr lang="en-US" sz="2400" i="1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400" kern="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sz="24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400" kern="0" dirty="0"/>
                  <a:t> /10</a:t>
                </a:r>
              </a:p>
              <a:p>
                <a:r>
                  <a:rPr lang="en-US" sz="2400" i="1" kern="0" dirty="0"/>
                  <a:t>i</a:t>
                </a:r>
                <a:r>
                  <a:rPr lang="en-US" sz="2400" kern="0" baseline="-25000" dirty="0"/>
                  <a:t>3</a:t>
                </a:r>
                <a:r>
                  <a:rPr lang="en-US" sz="2400" i="1" kern="0" dirty="0"/>
                  <a:t>=</a:t>
                </a:r>
                <a:r>
                  <a:rPr lang="en-US" sz="2400" kern="0" dirty="0"/>
                  <a:t> (</a:t>
                </a:r>
                <a:r>
                  <a:rPr lang="en-US" sz="2400" i="1" kern="0" dirty="0"/>
                  <a:t>V</a:t>
                </a:r>
                <a:r>
                  <a:rPr lang="en-US" sz="2400" kern="0" baseline="-25000" dirty="0"/>
                  <a:t>2</a:t>
                </a:r>
                <a:r>
                  <a:rPr lang="en-US" sz="2400" kern="0" dirty="0"/>
                  <a:t>-</a:t>
                </a:r>
                <a:r>
                  <a:rPr lang="en-US" sz="2400" i="1" kern="0" dirty="0"/>
                  <a:t>V</a:t>
                </a:r>
                <a:r>
                  <a:rPr lang="en-US" sz="2400" kern="0" baseline="-25000" dirty="0"/>
                  <a:t>3</a:t>
                </a:r>
                <a:r>
                  <a:rPr lang="en-US" sz="2400" kern="0" dirty="0"/>
                  <a:t>)/10</a:t>
                </a:r>
                <a:r>
                  <a:rPr lang="el-GR" sz="24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Ω</a:t>
                </a:r>
                <a:r>
                  <a:rPr lang="en-US" sz="24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(20-</a:t>
                </a:r>
                <a:r>
                  <a:rPr lang="en-US" sz="2400" i="1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400" kern="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sz="24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400" kern="0" dirty="0"/>
                  <a:t> /10</a:t>
                </a:r>
              </a:p>
              <a:p>
                <a:r>
                  <a:rPr lang="en-US" sz="2400" kern="0" dirty="0"/>
                  <a:t>KCL at </a:t>
                </a:r>
                <a:r>
                  <a:rPr lang="en-US" sz="2400" i="1" kern="0" dirty="0"/>
                  <a:t>V</a:t>
                </a:r>
                <a:r>
                  <a:rPr lang="en-US" sz="2400" kern="0" baseline="-25000" dirty="0"/>
                  <a:t>3</a:t>
                </a:r>
                <a:r>
                  <a:rPr lang="en-US" sz="2400" kern="0" dirty="0"/>
                  <a:t>: </a:t>
                </a:r>
                <a14:m>
                  <m:oMath xmlns:m="http://schemas.openxmlformats.org/officeDocument/2006/math">
                    <m:r>
                      <a:rPr lang="en-US" sz="2400" b="0" i="1" kern="0" smtClean="0">
                        <a:latin typeface="Cambria Math" panose="02040503050406030204" pitchFamily="18" charset="0"/>
                      </a:rPr>
                      <m:t>1+</m:t>
                    </m:r>
                    <m:f>
                      <m:fPr>
                        <m:ctrlPr>
                          <a:rPr lang="en-US" sz="2400" b="0" i="1" kern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kern="0" smtClean="0">
                            <a:latin typeface="Cambria Math" panose="02040503050406030204" pitchFamily="18" charset="0"/>
                          </a:rPr>
                          <m:t>10−</m:t>
                        </m:r>
                        <m:sSub>
                          <m:sSubPr>
                            <m:ctrlPr>
                              <a:rPr lang="en-US" sz="24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ker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400" b="0" i="1" kern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r>
                          <a:rPr lang="en-US" sz="2400" b="0" i="1" kern="0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US" sz="2400" i="1" ker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i="1" kern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 kern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400" b="0" i="1" kern="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400" i="1" ker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4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ker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400" i="1" ker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r>
                          <a:rPr lang="en-US" sz="2400" i="1" ker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US" sz="2400" b="0" i="1" kern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400" kern="0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kern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kern="0" smtClean="0">
                            <a:latin typeface="Cambria Math" panose="02040503050406030204" pitchFamily="18" charset="0"/>
                          </a:rPr>
                          <m:t>40−2</m:t>
                        </m:r>
                        <m:sSub>
                          <m:sSubPr>
                            <m:ctrlPr>
                              <a:rPr lang="en-US" sz="24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ker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400" b="0" i="1" kern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r>
                          <a:rPr lang="en-US" sz="2400" b="0" i="1" kern="0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US" sz="2400" b="0" i="1" kern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400" kern="0" dirty="0"/>
              </a:p>
              <a:p>
                <a:r>
                  <a:rPr lang="en-US" sz="2400" i="1" kern="0" dirty="0"/>
                  <a:t>V</a:t>
                </a:r>
                <a:r>
                  <a:rPr lang="en-US" sz="2400" kern="0" baseline="-25000" dirty="0"/>
                  <a:t>3</a:t>
                </a:r>
                <a:r>
                  <a:rPr lang="en-US" sz="2400" kern="0" dirty="0"/>
                  <a:t>=20</a:t>
                </a:r>
                <a:endParaRPr lang="en-US" sz="2400" i="1" kern="0" dirty="0">
                  <a:sym typeface="Symbol" panose="05050102010706020507" pitchFamily="18" charset="2"/>
                </a:endParaRPr>
              </a:p>
              <a:p>
                <a:pPr marL="0" indent="0">
                  <a:buNone/>
                </a:pPr>
                <a:endParaRPr lang="en-US" kern="0" dirty="0"/>
              </a:p>
            </p:txBody>
          </p:sp>
        </mc:Choice>
        <mc:Fallback xmlns="">
          <p:sp>
            <p:nvSpPr>
              <p:cNvPr id="125" name="Content Placeholder 2">
                <a:extLst>
                  <a:ext uri="{FF2B5EF4-FFF2-40B4-BE49-F238E27FC236}">
                    <a16:creationId xmlns:a16="http://schemas.microsoft.com/office/drawing/2014/main" id="{A039C003-E1D2-A125-960A-219DD6DD79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46048" y="2588278"/>
                <a:ext cx="4806508" cy="2851109"/>
              </a:xfrm>
              <a:prstGeom prst="rect">
                <a:avLst/>
              </a:prstGeom>
              <a:blipFill>
                <a:blip r:embed="rId3"/>
                <a:stretch>
                  <a:fillRect l="-1777" t="-171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7" name="Group 136">
            <a:extLst>
              <a:ext uri="{FF2B5EF4-FFF2-40B4-BE49-F238E27FC236}">
                <a16:creationId xmlns:a16="http://schemas.microsoft.com/office/drawing/2014/main" id="{894168AC-2BA5-43C2-BD07-74F23B8C1025}"/>
              </a:ext>
            </a:extLst>
          </p:cNvPr>
          <p:cNvGrpSpPr/>
          <p:nvPr/>
        </p:nvGrpSpPr>
        <p:grpSpPr>
          <a:xfrm>
            <a:off x="946202" y="3512820"/>
            <a:ext cx="269188" cy="610994"/>
            <a:chOff x="489002" y="3512820"/>
            <a:chExt cx="269188" cy="610994"/>
          </a:xfrm>
        </p:grpSpPr>
        <p:cxnSp>
          <p:nvCxnSpPr>
            <p:cNvPr id="126" name="Straight Arrow Connector 125">
              <a:extLst>
                <a:ext uri="{FF2B5EF4-FFF2-40B4-BE49-F238E27FC236}">
                  <a16:creationId xmlns:a16="http://schemas.microsoft.com/office/drawing/2014/main" id="{485289EB-400D-1AA4-104E-4CC13BEEEB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2523" y="3512820"/>
              <a:ext cx="0" cy="610994"/>
            </a:xfrm>
            <a:prstGeom prst="straightConnector1">
              <a:avLst/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4510B190-421E-AF6D-C1D3-5E3156ABC501}"/>
                </a:ext>
              </a:extLst>
            </p:cNvPr>
            <p:cNvSpPr txBox="1"/>
            <p:nvPr/>
          </p:nvSpPr>
          <p:spPr>
            <a:xfrm>
              <a:off x="489002" y="3693580"/>
              <a:ext cx="269188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2000" dirty="0"/>
                <a:t>i</a:t>
              </a:r>
              <a:r>
                <a:rPr lang="en-US" sz="2000" baseline="-25000" dirty="0"/>
                <a:t>1</a:t>
              </a:r>
              <a:endParaRPr lang="en-US" sz="2000" dirty="0"/>
            </a:p>
          </p:txBody>
        </p:sp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B9BE4C81-FADF-6FF8-53FE-E240A2FA277A}"/>
              </a:ext>
            </a:extLst>
          </p:cNvPr>
          <p:cNvGrpSpPr/>
          <p:nvPr/>
        </p:nvGrpSpPr>
        <p:grpSpPr>
          <a:xfrm>
            <a:off x="858572" y="4419600"/>
            <a:ext cx="269188" cy="610994"/>
            <a:chOff x="401372" y="4419600"/>
            <a:chExt cx="269188" cy="610994"/>
          </a:xfrm>
        </p:grpSpPr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C2C66DA6-428E-1ED8-5017-5D779E9444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4893" y="4419600"/>
              <a:ext cx="0" cy="610994"/>
            </a:xfrm>
            <a:prstGeom prst="straightConnector1">
              <a:avLst/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41376040-C199-59F9-FA84-B60A61CFCFDA}"/>
                </a:ext>
              </a:extLst>
            </p:cNvPr>
            <p:cNvSpPr txBox="1"/>
            <p:nvPr/>
          </p:nvSpPr>
          <p:spPr>
            <a:xfrm>
              <a:off x="401372" y="4600360"/>
              <a:ext cx="269188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2000" dirty="0"/>
                <a:t>i</a:t>
              </a:r>
              <a:r>
                <a:rPr lang="en-US" sz="2000" baseline="-25000" dirty="0"/>
                <a:t>2</a:t>
              </a:r>
              <a:endParaRPr lang="en-US" sz="2000" dirty="0"/>
            </a:p>
          </p:txBody>
        </p: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00436793-3A66-05C2-923D-BC08EF954D5D}"/>
              </a:ext>
            </a:extLst>
          </p:cNvPr>
          <p:cNvGrpSpPr/>
          <p:nvPr/>
        </p:nvGrpSpPr>
        <p:grpSpPr>
          <a:xfrm>
            <a:off x="3811003" y="3402330"/>
            <a:ext cx="334277" cy="610994"/>
            <a:chOff x="3490963" y="3402330"/>
            <a:chExt cx="334277" cy="610994"/>
          </a:xfrm>
        </p:grpSpPr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63F6C9C0-8FFF-0A20-C389-8478CED165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90963" y="3402330"/>
              <a:ext cx="0" cy="610994"/>
            </a:xfrm>
            <a:prstGeom prst="straightConnector1">
              <a:avLst/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66288553-1B21-06FB-A50F-FA387549BC43}"/>
                </a:ext>
              </a:extLst>
            </p:cNvPr>
            <p:cNvSpPr txBox="1"/>
            <p:nvPr/>
          </p:nvSpPr>
          <p:spPr>
            <a:xfrm>
              <a:off x="3556052" y="3560230"/>
              <a:ext cx="269188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2000" dirty="0"/>
                <a:t>i</a:t>
              </a:r>
              <a:r>
                <a:rPr lang="en-US" sz="2000" baseline="-25000" dirty="0"/>
                <a:t>3</a:t>
              </a:r>
              <a:endParaRPr lang="en-US" sz="2000" dirty="0"/>
            </a:p>
          </p:txBody>
        </p:sp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5FCFD528-0330-8D51-86E4-27E10EA8C274}"/>
              </a:ext>
            </a:extLst>
          </p:cNvPr>
          <p:cNvGrpSpPr/>
          <p:nvPr/>
        </p:nvGrpSpPr>
        <p:grpSpPr>
          <a:xfrm>
            <a:off x="3803383" y="4457700"/>
            <a:ext cx="334277" cy="610994"/>
            <a:chOff x="3574783" y="4457700"/>
            <a:chExt cx="334277" cy="610994"/>
          </a:xfrm>
        </p:grpSpPr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EC2B2330-8BD2-D739-05CD-FAB79819F5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74783" y="4457700"/>
              <a:ext cx="0" cy="610994"/>
            </a:xfrm>
            <a:prstGeom prst="straightConnector1">
              <a:avLst/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3175586B-677F-FA7D-9922-EFB99476A17D}"/>
                </a:ext>
              </a:extLst>
            </p:cNvPr>
            <p:cNvSpPr txBox="1"/>
            <p:nvPr/>
          </p:nvSpPr>
          <p:spPr>
            <a:xfrm>
              <a:off x="3639872" y="4615600"/>
              <a:ext cx="269188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2000" dirty="0"/>
                <a:t>i</a:t>
              </a:r>
              <a:r>
                <a:rPr lang="en-US" sz="2000" baseline="-25000" dirty="0"/>
                <a:t>4</a:t>
              </a:r>
              <a:endParaRPr lang="en-US" sz="2000" dirty="0"/>
            </a:p>
          </p:txBody>
        </p:sp>
      </p:grpSp>
      <p:sp>
        <p:nvSpPr>
          <p:cNvPr id="5" name="Oval 4">
            <a:extLst>
              <a:ext uri="{FF2B5EF4-FFF2-40B4-BE49-F238E27FC236}">
                <a16:creationId xmlns:a16="http://schemas.microsoft.com/office/drawing/2014/main" id="{5B8C304E-A32F-BE6C-AA7C-E6808A085C17}"/>
              </a:ext>
            </a:extLst>
          </p:cNvPr>
          <p:cNvSpPr/>
          <p:nvPr/>
        </p:nvSpPr>
        <p:spPr>
          <a:xfrm>
            <a:off x="185902" y="3827357"/>
            <a:ext cx="279400" cy="67733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BE37ACA-82A7-94F6-D8D8-B65116AB738F}"/>
              </a:ext>
            </a:extLst>
          </p:cNvPr>
          <p:cNvCxnSpPr>
            <a:cxnSpLocks/>
          </p:cNvCxnSpPr>
          <p:nvPr/>
        </p:nvCxnSpPr>
        <p:spPr>
          <a:xfrm>
            <a:off x="325602" y="4036484"/>
            <a:ext cx="0" cy="30480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8153F7E-8D15-E86B-7D85-1BE4F01D93C0}"/>
              </a:ext>
            </a:extLst>
          </p:cNvPr>
          <p:cNvCxnSpPr>
            <a:stCxn id="5" idx="0"/>
          </p:cNvCxnSpPr>
          <p:nvPr/>
        </p:nvCxnSpPr>
        <p:spPr>
          <a:xfrm flipV="1">
            <a:off x="325602" y="3063661"/>
            <a:ext cx="0" cy="763696"/>
          </a:xfrm>
          <a:prstGeom prst="line">
            <a:avLst/>
          </a:prstGeom>
          <a:ln w="38100">
            <a:solidFill>
              <a:schemeClr val="accent4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07A6701-1AFB-329B-0BDC-0D63576F8E9D}"/>
              </a:ext>
            </a:extLst>
          </p:cNvPr>
          <p:cNvCxnSpPr>
            <a:cxnSpLocks/>
          </p:cNvCxnSpPr>
          <p:nvPr/>
        </p:nvCxnSpPr>
        <p:spPr>
          <a:xfrm flipV="1">
            <a:off x="317982" y="4507651"/>
            <a:ext cx="0" cy="693838"/>
          </a:xfrm>
          <a:prstGeom prst="line">
            <a:avLst/>
          </a:prstGeom>
          <a:ln w="38100">
            <a:solidFill>
              <a:schemeClr val="accent4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54BB8229-0577-4B55-CF7D-7F40D3EC0FFE}"/>
              </a:ext>
            </a:extLst>
          </p:cNvPr>
          <p:cNvSpPr/>
          <p:nvPr/>
        </p:nvSpPr>
        <p:spPr>
          <a:xfrm>
            <a:off x="409964" y="3921222"/>
            <a:ext cx="7248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1A</a:t>
            </a:r>
          </a:p>
        </p:txBody>
      </p:sp>
    </p:spTree>
    <p:extLst>
      <p:ext uri="{BB962C8B-B14F-4D97-AF65-F5344CB8AC3E}">
        <p14:creationId xmlns:p14="http://schemas.microsoft.com/office/powerpoint/2010/main" val="3274837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359CF-229D-26B4-81F3-09EDBB7BB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Minor new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04802-77A6-FB67-9939-13B7BF6905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Conductance</a:t>
            </a:r>
            <a:r>
              <a:rPr lang="en-US" dirty="0"/>
              <a:t> G is the reciprocal of resistance</a:t>
            </a:r>
          </a:p>
          <a:p>
            <a:r>
              <a:rPr lang="en-US" i="1" dirty="0">
                <a:sym typeface="Symbol" panose="05050102010706020507" pitchFamily="18" charset="2"/>
              </a:rPr>
              <a:t>G</a:t>
            </a:r>
            <a:r>
              <a:rPr lang="en-US" dirty="0">
                <a:sym typeface="Symbol" panose="05050102010706020507" pitchFamily="18" charset="2"/>
              </a:rPr>
              <a:t> 1/</a:t>
            </a:r>
            <a:r>
              <a:rPr lang="en-US" i="1" dirty="0">
                <a:sym typeface="Symbol" panose="05050102010706020507" pitchFamily="18" charset="2"/>
              </a:rPr>
              <a:t>R</a:t>
            </a:r>
          </a:p>
          <a:p>
            <a:r>
              <a:rPr lang="en-US" dirty="0">
                <a:sym typeface="Symbol" panose="05050102010706020507" pitchFamily="18" charset="2"/>
              </a:rPr>
              <a:t>Ohm’s Law is now thus </a:t>
            </a:r>
            <a:r>
              <a:rPr lang="en-US" i="1" dirty="0">
                <a:sym typeface="Symbol" panose="05050102010706020507" pitchFamily="18" charset="2"/>
              </a:rPr>
              <a:t>I</a:t>
            </a:r>
            <a:r>
              <a:rPr lang="en-US" dirty="0">
                <a:sym typeface="Symbol" panose="05050102010706020507" pitchFamily="18" charset="2"/>
              </a:rPr>
              <a:t> = </a:t>
            </a:r>
            <a:r>
              <a:rPr lang="en-US" i="1" dirty="0">
                <a:sym typeface="Symbol" panose="05050102010706020507" pitchFamily="18" charset="2"/>
              </a:rPr>
              <a:t>G</a:t>
            </a:r>
            <a:r>
              <a:rPr lang="en-US" dirty="0">
                <a:sym typeface="Symbol" panose="05050102010706020507" pitchFamily="18" charset="2"/>
              </a:rPr>
              <a:t>*</a:t>
            </a:r>
            <a:r>
              <a:rPr lang="en-US" i="1" dirty="0">
                <a:sym typeface="Symbol" panose="05050102010706020507" pitchFamily="18" charset="2"/>
              </a:rPr>
              <a:t>V</a:t>
            </a:r>
            <a:endParaRPr lang="en-US" dirty="0">
              <a:sym typeface="Symbol" panose="05050102010706020507" pitchFamily="18" charset="2"/>
            </a:endParaRPr>
          </a:p>
          <a:p>
            <a:r>
              <a:rPr lang="en-US" dirty="0">
                <a:sym typeface="Symbol" panose="05050102010706020507" pitchFamily="18" charset="2"/>
              </a:rPr>
              <a:t>No big theoretical advantage to using </a:t>
            </a:r>
            <a:r>
              <a:rPr lang="en-US" i="1" dirty="0">
                <a:sym typeface="Symbol" panose="05050102010706020507" pitchFamily="18" charset="2"/>
              </a:rPr>
              <a:t>G</a:t>
            </a:r>
            <a:r>
              <a:rPr lang="en-US" dirty="0">
                <a:sym typeface="Symbol" panose="05050102010706020507" pitchFamily="18" charset="2"/>
              </a:rPr>
              <a:t> vs. </a:t>
            </a:r>
            <a:r>
              <a:rPr lang="en-US" i="1" dirty="0">
                <a:sym typeface="Symbol" panose="05050102010706020507" pitchFamily="18" charset="2"/>
              </a:rPr>
              <a:t>R</a:t>
            </a:r>
            <a:r>
              <a:rPr lang="en-US" dirty="0">
                <a:sym typeface="Symbol" panose="05050102010706020507" pitchFamily="18" charset="2"/>
              </a:rPr>
              <a:t>, but it’s often more intuitive to think about conductance rather </a:t>
            </a:r>
            <a:r>
              <a:rPr lang="en-US">
                <a:sym typeface="Symbol" panose="05050102010706020507" pitchFamily="18" charset="2"/>
              </a:rPr>
              <a:t>than resistance</a:t>
            </a:r>
            <a:endParaRPr lang="en-US" dirty="0">
              <a:sym typeface="Symbol" panose="05050102010706020507" pitchFamily="18" charset="2"/>
            </a:endParaRPr>
          </a:p>
          <a:p>
            <a:endParaRPr lang="en-US" i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E036FA-68F3-6F0C-55AF-0AB92789C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EE 123 Joel Grodstein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89500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F4152-16E4-B177-B7CF-007FE1119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Solve for </a:t>
            </a:r>
            <a:r>
              <a:rPr lang="en-US" i="1" dirty="0"/>
              <a:t>i</a:t>
            </a:r>
            <a:r>
              <a:rPr lang="en-US" baseline="-25000" dirty="0"/>
              <a:t>1</a:t>
            </a:r>
            <a:r>
              <a:rPr lang="en-US" dirty="0"/>
              <a:t>, </a:t>
            </a:r>
            <a:r>
              <a:rPr lang="en-US" i="1" dirty="0"/>
              <a:t>i</a:t>
            </a:r>
            <a:r>
              <a:rPr lang="en-US" baseline="-25000" dirty="0"/>
              <a:t>2</a:t>
            </a:r>
            <a:r>
              <a:rPr lang="en-US" dirty="0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33065A-0427-635F-8B41-ACDA518E9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EE 123 Joel Grodstein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5AB9610-3234-AECB-F2CE-219B2A1CC536}"/>
              </a:ext>
            </a:extLst>
          </p:cNvPr>
          <p:cNvGrpSpPr/>
          <p:nvPr/>
        </p:nvGrpSpPr>
        <p:grpSpPr>
          <a:xfrm flipV="1">
            <a:off x="1111229" y="2435514"/>
            <a:ext cx="457200" cy="101599"/>
            <a:chOff x="3088619" y="3223591"/>
            <a:chExt cx="457200" cy="101599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C5838FA-16CF-6E41-7967-2A969B1C311A}"/>
                </a:ext>
              </a:extLst>
            </p:cNvPr>
            <p:cNvCxnSpPr>
              <a:cxnSpLocks/>
            </p:cNvCxnSpPr>
            <p:nvPr/>
          </p:nvCxnSpPr>
          <p:spPr>
            <a:xfrm>
              <a:off x="3088619" y="3223591"/>
              <a:ext cx="45720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05A78F9E-740E-7A43-7E74-7A2902B017A7}"/>
                </a:ext>
              </a:extLst>
            </p:cNvPr>
            <p:cNvCxnSpPr>
              <a:cxnSpLocks/>
            </p:cNvCxnSpPr>
            <p:nvPr/>
          </p:nvCxnSpPr>
          <p:spPr>
            <a:xfrm>
              <a:off x="3190218" y="3325190"/>
              <a:ext cx="254003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FCC0DB9E-6F9D-AD3B-C36E-27CFE927C07C}"/>
              </a:ext>
            </a:extLst>
          </p:cNvPr>
          <p:cNvSpPr txBox="1"/>
          <p:nvPr/>
        </p:nvSpPr>
        <p:spPr>
          <a:xfrm>
            <a:off x="1608885" y="2379540"/>
            <a:ext cx="577081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800" dirty="0"/>
              <a:t>50mV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A574EC0-40E0-80EA-398C-06415B6964E7}"/>
              </a:ext>
            </a:extLst>
          </p:cNvPr>
          <p:cNvCxnSpPr>
            <a:cxnSpLocks/>
          </p:cNvCxnSpPr>
          <p:nvPr/>
        </p:nvCxnSpPr>
        <p:spPr>
          <a:xfrm>
            <a:off x="1348300" y="2545581"/>
            <a:ext cx="0" cy="654577"/>
          </a:xfrm>
          <a:prstGeom prst="line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440AEE-2C49-1576-509C-20255579226E}"/>
              </a:ext>
            </a:extLst>
          </p:cNvPr>
          <p:cNvGrpSpPr/>
          <p:nvPr/>
        </p:nvGrpSpPr>
        <p:grpSpPr>
          <a:xfrm>
            <a:off x="2420255" y="2177828"/>
            <a:ext cx="381000" cy="685800"/>
            <a:chOff x="5562600" y="3429000"/>
            <a:chExt cx="381000" cy="68580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A869047-D534-7216-08F0-DD641F590D10}"/>
                </a:ext>
              </a:extLst>
            </p:cNvPr>
            <p:cNvCxnSpPr/>
            <p:nvPr/>
          </p:nvCxnSpPr>
          <p:spPr>
            <a:xfrm>
              <a:off x="5715000" y="3429000"/>
              <a:ext cx="228600" cy="762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842956F-A947-48C0-9404-5EC4B5C9FE24}"/>
                </a:ext>
              </a:extLst>
            </p:cNvPr>
            <p:cNvCxnSpPr/>
            <p:nvPr/>
          </p:nvCxnSpPr>
          <p:spPr>
            <a:xfrm flipV="1">
              <a:off x="5562600" y="35052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CFFBDEC-6444-E8D8-B9B2-CB4145FB2540}"/>
                </a:ext>
              </a:extLst>
            </p:cNvPr>
            <p:cNvCxnSpPr/>
            <p:nvPr/>
          </p:nvCxnSpPr>
          <p:spPr>
            <a:xfrm flipH="1" flipV="1">
              <a:off x="5562600" y="36576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610363D-ABFB-D1DB-9657-16D32B898FDF}"/>
                </a:ext>
              </a:extLst>
            </p:cNvPr>
            <p:cNvCxnSpPr/>
            <p:nvPr/>
          </p:nvCxnSpPr>
          <p:spPr>
            <a:xfrm flipV="1">
              <a:off x="5562600" y="38100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9DD177F-5E00-D31A-F6B5-03D460F1388D}"/>
                </a:ext>
              </a:extLst>
            </p:cNvPr>
            <p:cNvCxnSpPr/>
            <p:nvPr/>
          </p:nvCxnSpPr>
          <p:spPr>
            <a:xfrm flipH="1" flipV="1">
              <a:off x="5562600" y="39624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40BFF15-47AC-BA75-CF68-5744B5F378AC}"/>
              </a:ext>
            </a:extLst>
          </p:cNvPr>
          <p:cNvCxnSpPr>
            <a:cxnSpLocks/>
          </p:cNvCxnSpPr>
          <p:nvPr/>
        </p:nvCxnSpPr>
        <p:spPr>
          <a:xfrm>
            <a:off x="2792788" y="2846696"/>
            <a:ext cx="0" cy="35346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A1D09B6-2CB6-953D-E731-7D53C6C155DF}"/>
              </a:ext>
            </a:extLst>
          </p:cNvPr>
          <p:cNvCxnSpPr>
            <a:cxnSpLocks/>
          </p:cNvCxnSpPr>
          <p:nvPr/>
        </p:nvCxnSpPr>
        <p:spPr>
          <a:xfrm>
            <a:off x="2581112" y="1974636"/>
            <a:ext cx="0" cy="20319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2EF5957-CAAD-8D3D-E650-4CCE646549C7}"/>
              </a:ext>
            </a:extLst>
          </p:cNvPr>
          <p:cNvSpPr txBox="1"/>
          <p:nvPr/>
        </p:nvSpPr>
        <p:spPr>
          <a:xfrm>
            <a:off x="2661125" y="2254031"/>
            <a:ext cx="763029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dirty="0"/>
              <a:t>R=25</a:t>
            </a:r>
            <a:r>
              <a:rPr lang="en-US" sz="2000" dirty="0">
                <a:cs typeface="Times New Roman" panose="02020603050405020304" pitchFamily="18" charset="0"/>
              </a:rPr>
              <a:t>Ω</a:t>
            </a:r>
            <a:endParaRPr lang="en-US" sz="200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5D630EE-2AE3-BBE7-5635-EC4B91FE760E}"/>
              </a:ext>
            </a:extLst>
          </p:cNvPr>
          <p:cNvCxnSpPr/>
          <p:nvPr/>
        </p:nvCxnSpPr>
        <p:spPr>
          <a:xfrm>
            <a:off x="1348300" y="3200158"/>
            <a:ext cx="1444488" cy="0"/>
          </a:xfrm>
          <a:prstGeom prst="line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B56276F-B594-38D3-04BB-FD58DD1041C1}"/>
              </a:ext>
            </a:extLst>
          </p:cNvPr>
          <p:cNvCxnSpPr>
            <a:cxnSpLocks/>
          </p:cNvCxnSpPr>
          <p:nvPr/>
        </p:nvCxnSpPr>
        <p:spPr>
          <a:xfrm>
            <a:off x="1348300" y="1987583"/>
            <a:ext cx="1225829" cy="0"/>
          </a:xfrm>
          <a:prstGeom prst="line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9FF4039-18D6-00A6-E7B5-6580B7E3A427}"/>
              </a:ext>
            </a:extLst>
          </p:cNvPr>
          <p:cNvCxnSpPr>
            <a:cxnSpLocks/>
          </p:cNvCxnSpPr>
          <p:nvPr/>
        </p:nvCxnSpPr>
        <p:spPr>
          <a:xfrm>
            <a:off x="1354926" y="1974636"/>
            <a:ext cx="0" cy="423764"/>
          </a:xfrm>
          <a:prstGeom prst="line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B1F61C3-54F2-B83A-FCC1-7886AC14E3C9}"/>
              </a:ext>
            </a:extLst>
          </p:cNvPr>
          <p:cNvSpPr txBox="1"/>
          <p:nvPr/>
        </p:nvSpPr>
        <p:spPr>
          <a:xfrm>
            <a:off x="1334967" y="2071446"/>
            <a:ext cx="48387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17D9AD7-23AC-7A19-E883-FF8F424E34A1}"/>
              </a:ext>
            </a:extLst>
          </p:cNvPr>
          <p:cNvSpPr txBox="1"/>
          <p:nvPr/>
        </p:nvSpPr>
        <p:spPr>
          <a:xfrm>
            <a:off x="1361555" y="2462931"/>
            <a:ext cx="48387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744ECBC-BAFC-E75A-D2E0-475088431E21}"/>
              </a:ext>
            </a:extLst>
          </p:cNvPr>
          <p:cNvSpPr txBox="1"/>
          <p:nvPr/>
        </p:nvSpPr>
        <p:spPr>
          <a:xfrm>
            <a:off x="1807685" y="2932211"/>
            <a:ext cx="185948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dirty="0"/>
              <a:t>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2FF99A0-BFA9-922F-BF5B-025A4CACE1D2}"/>
              </a:ext>
            </a:extLst>
          </p:cNvPr>
          <p:cNvSpPr txBox="1"/>
          <p:nvPr/>
        </p:nvSpPr>
        <p:spPr>
          <a:xfrm>
            <a:off x="1948655" y="1724441"/>
            <a:ext cx="185948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dirty="0"/>
              <a:t>A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8619B67-153B-2821-EFC4-47ACEEE5489D}"/>
              </a:ext>
            </a:extLst>
          </p:cNvPr>
          <p:cNvCxnSpPr/>
          <p:nvPr/>
        </p:nvCxnSpPr>
        <p:spPr>
          <a:xfrm>
            <a:off x="3620503" y="2252634"/>
            <a:ext cx="0" cy="610994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B48BA70-7C9B-3224-830B-67603D402F23}"/>
              </a:ext>
            </a:extLst>
          </p:cNvPr>
          <p:cNvSpPr txBox="1"/>
          <p:nvPr/>
        </p:nvSpPr>
        <p:spPr>
          <a:xfrm>
            <a:off x="3670775" y="2326421"/>
            <a:ext cx="15549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i="1" dirty="0"/>
              <a:t>i</a:t>
            </a:r>
            <a:r>
              <a:rPr lang="en-US" sz="2000" baseline="-25000" dirty="0"/>
              <a:t>1</a:t>
            </a:r>
            <a:endParaRPr lang="en-US" sz="2000" i="1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25E8664-C2AB-D938-B619-7A011FD6047F}"/>
              </a:ext>
            </a:extLst>
          </p:cNvPr>
          <p:cNvGrpSpPr/>
          <p:nvPr/>
        </p:nvGrpSpPr>
        <p:grpSpPr>
          <a:xfrm flipV="1">
            <a:off x="5572739" y="2439324"/>
            <a:ext cx="457200" cy="101599"/>
            <a:chOff x="3088619" y="3223591"/>
            <a:chExt cx="457200" cy="101599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B64D8071-363D-B738-7D51-BFA92A7ADE9B}"/>
                </a:ext>
              </a:extLst>
            </p:cNvPr>
            <p:cNvCxnSpPr>
              <a:cxnSpLocks/>
            </p:cNvCxnSpPr>
            <p:nvPr/>
          </p:nvCxnSpPr>
          <p:spPr>
            <a:xfrm>
              <a:off x="3088619" y="3223591"/>
              <a:ext cx="45720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70B1AA9-075C-55CA-3B05-524440C96BC7}"/>
                </a:ext>
              </a:extLst>
            </p:cNvPr>
            <p:cNvCxnSpPr>
              <a:cxnSpLocks/>
            </p:cNvCxnSpPr>
            <p:nvPr/>
          </p:nvCxnSpPr>
          <p:spPr>
            <a:xfrm>
              <a:off x="3190218" y="3325190"/>
              <a:ext cx="254003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DD19039A-D7D8-C96B-3DD3-6645F0A99F59}"/>
              </a:ext>
            </a:extLst>
          </p:cNvPr>
          <p:cNvSpPr txBox="1"/>
          <p:nvPr/>
        </p:nvSpPr>
        <p:spPr>
          <a:xfrm>
            <a:off x="6070395" y="2383350"/>
            <a:ext cx="39754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800" dirty="0"/>
              <a:t>50V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363F3EE-FB71-7169-592F-23AE97801807}"/>
              </a:ext>
            </a:extLst>
          </p:cNvPr>
          <p:cNvCxnSpPr>
            <a:cxnSpLocks/>
          </p:cNvCxnSpPr>
          <p:nvPr/>
        </p:nvCxnSpPr>
        <p:spPr>
          <a:xfrm>
            <a:off x="5809810" y="2549391"/>
            <a:ext cx="0" cy="654577"/>
          </a:xfrm>
          <a:prstGeom prst="line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EC64B9C-31F6-72AD-258E-C258F0815D8B}"/>
              </a:ext>
            </a:extLst>
          </p:cNvPr>
          <p:cNvGrpSpPr/>
          <p:nvPr/>
        </p:nvGrpSpPr>
        <p:grpSpPr>
          <a:xfrm>
            <a:off x="6881765" y="2181638"/>
            <a:ext cx="381000" cy="685800"/>
            <a:chOff x="5562600" y="3429000"/>
            <a:chExt cx="381000" cy="685800"/>
          </a:xfrm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49FD0F3-9717-B050-D88C-436466AF9BE7}"/>
                </a:ext>
              </a:extLst>
            </p:cNvPr>
            <p:cNvCxnSpPr/>
            <p:nvPr/>
          </p:nvCxnSpPr>
          <p:spPr>
            <a:xfrm>
              <a:off x="5715000" y="3429000"/>
              <a:ext cx="228600" cy="762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B1D28DE-CC3C-A024-200F-3BAD8810DAAC}"/>
                </a:ext>
              </a:extLst>
            </p:cNvPr>
            <p:cNvCxnSpPr/>
            <p:nvPr/>
          </p:nvCxnSpPr>
          <p:spPr>
            <a:xfrm flipV="1">
              <a:off x="5562600" y="35052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9DA193EA-4649-F6FC-92FF-64A7FEE4A362}"/>
                </a:ext>
              </a:extLst>
            </p:cNvPr>
            <p:cNvCxnSpPr/>
            <p:nvPr/>
          </p:nvCxnSpPr>
          <p:spPr>
            <a:xfrm flipH="1" flipV="1">
              <a:off x="5562600" y="36576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D9D36DD-5ADA-F2E5-D080-EF40AF2923C8}"/>
                </a:ext>
              </a:extLst>
            </p:cNvPr>
            <p:cNvCxnSpPr/>
            <p:nvPr/>
          </p:nvCxnSpPr>
          <p:spPr>
            <a:xfrm flipV="1">
              <a:off x="5562600" y="38100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6424B042-76A8-7276-8E55-543868F12DD6}"/>
                </a:ext>
              </a:extLst>
            </p:cNvPr>
            <p:cNvCxnSpPr/>
            <p:nvPr/>
          </p:nvCxnSpPr>
          <p:spPr>
            <a:xfrm flipH="1" flipV="1">
              <a:off x="5562600" y="39624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5ED3037-3434-F6D0-48E2-45D937B050B4}"/>
              </a:ext>
            </a:extLst>
          </p:cNvPr>
          <p:cNvCxnSpPr>
            <a:cxnSpLocks/>
          </p:cNvCxnSpPr>
          <p:nvPr/>
        </p:nvCxnSpPr>
        <p:spPr>
          <a:xfrm>
            <a:off x="7254298" y="2850506"/>
            <a:ext cx="0" cy="35346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21EBB23-4331-27A5-B147-CFF077E1C221}"/>
              </a:ext>
            </a:extLst>
          </p:cNvPr>
          <p:cNvCxnSpPr>
            <a:cxnSpLocks/>
          </p:cNvCxnSpPr>
          <p:nvPr/>
        </p:nvCxnSpPr>
        <p:spPr>
          <a:xfrm>
            <a:off x="7042622" y="1978446"/>
            <a:ext cx="0" cy="20319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3CA8D864-3CE3-5F0D-8AE8-803D02411C71}"/>
              </a:ext>
            </a:extLst>
          </p:cNvPr>
          <p:cNvSpPr txBox="1"/>
          <p:nvPr/>
        </p:nvSpPr>
        <p:spPr>
          <a:xfrm>
            <a:off x="7122635" y="2257841"/>
            <a:ext cx="763029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dirty="0"/>
              <a:t>R=25</a:t>
            </a:r>
            <a:r>
              <a:rPr lang="en-US" sz="2000" dirty="0">
                <a:cs typeface="Times New Roman" panose="02020603050405020304" pitchFamily="18" charset="0"/>
              </a:rPr>
              <a:t>Ω</a:t>
            </a:r>
            <a:endParaRPr lang="en-US" sz="2000" dirty="0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2E8DA79C-5660-6E4F-CB99-8E2F780BA313}"/>
              </a:ext>
            </a:extLst>
          </p:cNvPr>
          <p:cNvCxnSpPr/>
          <p:nvPr/>
        </p:nvCxnSpPr>
        <p:spPr>
          <a:xfrm>
            <a:off x="5809810" y="3203968"/>
            <a:ext cx="1444488" cy="0"/>
          </a:xfrm>
          <a:prstGeom prst="line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ACE88F0-833F-F7D5-4ACB-73AA2FA1412D}"/>
              </a:ext>
            </a:extLst>
          </p:cNvPr>
          <p:cNvCxnSpPr>
            <a:cxnSpLocks/>
          </p:cNvCxnSpPr>
          <p:nvPr/>
        </p:nvCxnSpPr>
        <p:spPr>
          <a:xfrm>
            <a:off x="5809810" y="1991393"/>
            <a:ext cx="1225829" cy="0"/>
          </a:xfrm>
          <a:prstGeom prst="line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4BE1588-8A28-779D-595A-177CA3E1E16A}"/>
              </a:ext>
            </a:extLst>
          </p:cNvPr>
          <p:cNvCxnSpPr>
            <a:cxnSpLocks/>
          </p:cNvCxnSpPr>
          <p:nvPr/>
        </p:nvCxnSpPr>
        <p:spPr>
          <a:xfrm>
            <a:off x="5816436" y="1978446"/>
            <a:ext cx="0" cy="423764"/>
          </a:xfrm>
          <a:prstGeom prst="line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132D9AC-B0EA-112F-8A62-DE132B4E182C}"/>
              </a:ext>
            </a:extLst>
          </p:cNvPr>
          <p:cNvSpPr txBox="1"/>
          <p:nvPr/>
        </p:nvSpPr>
        <p:spPr>
          <a:xfrm>
            <a:off x="5796477" y="2075256"/>
            <a:ext cx="48387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051C4A5-D20D-F4AA-79C2-FC9F235C2595}"/>
              </a:ext>
            </a:extLst>
          </p:cNvPr>
          <p:cNvSpPr txBox="1"/>
          <p:nvPr/>
        </p:nvSpPr>
        <p:spPr>
          <a:xfrm>
            <a:off x="5823065" y="2466741"/>
            <a:ext cx="48387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90CE0D4-7077-B3C5-8F49-66D7F68CEB2C}"/>
              </a:ext>
            </a:extLst>
          </p:cNvPr>
          <p:cNvSpPr txBox="1"/>
          <p:nvPr/>
        </p:nvSpPr>
        <p:spPr>
          <a:xfrm>
            <a:off x="6269195" y="2936021"/>
            <a:ext cx="185948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dirty="0"/>
              <a:t>G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3CE122E-6382-DE56-1743-CCA15277E6FC}"/>
              </a:ext>
            </a:extLst>
          </p:cNvPr>
          <p:cNvSpPr txBox="1"/>
          <p:nvPr/>
        </p:nvSpPr>
        <p:spPr>
          <a:xfrm>
            <a:off x="6410165" y="1728251"/>
            <a:ext cx="185948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dirty="0"/>
              <a:t>A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4AB0CC05-1123-759F-FAEE-B390CD98C0B7}"/>
              </a:ext>
            </a:extLst>
          </p:cNvPr>
          <p:cNvCxnSpPr/>
          <p:nvPr/>
        </p:nvCxnSpPr>
        <p:spPr>
          <a:xfrm>
            <a:off x="8082013" y="2256444"/>
            <a:ext cx="0" cy="610994"/>
          </a:xfrm>
          <a:prstGeom prst="straightConnector1">
            <a:avLst/>
          </a:prstGeom>
          <a:ln w="28575">
            <a:solidFill>
              <a:schemeClr val="accent2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11327BD0-8293-D630-F525-E9A4369F72E6}"/>
              </a:ext>
            </a:extLst>
          </p:cNvPr>
          <p:cNvSpPr txBox="1"/>
          <p:nvPr/>
        </p:nvSpPr>
        <p:spPr>
          <a:xfrm>
            <a:off x="8132285" y="2330231"/>
            <a:ext cx="15549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i="1" dirty="0"/>
              <a:t>i</a:t>
            </a:r>
            <a:r>
              <a:rPr lang="en-US" sz="2000" i="1" baseline="-25000" dirty="0"/>
              <a:t>2</a:t>
            </a:r>
            <a:endParaRPr lang="en-US" sz="2000" i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75C32D1-8A1F-AA2F-F8F7-2E76C530AB95}"/>
              </a:ext>
            </a:extLst>
          </p:cNvPr>
          <p:cNvSpPr txBox="1"/>
          <p:nvPr/>
        </p:nvSpPr>
        <p:spPr>
          <a:xfrm>
            <a:off x="3014615" y="4263390"/>
            <a:ext cx="2620373" cy="46166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In-class exercise</a:t>
            </a:r>
          </a:p>
        </p:txBody>
      </p:sp>
    </p:spTree>
    <p:extLst>
      <p:ext uri="{BB962C8B-B14F-4D97-AF65-F5344CB8AC3E}">
        <p14:creationId xmlns:p14="http://schemas.microsoft.com/office/powerpoint/2010/main" val="3496388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390A0-6C10-3167-FF66-2F8363CEA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Solve for </a:t>
            </a:r>
            <a:r>
              <a:rPr lang="en-US" i="1" dirty="0"/>
              <a:t>V</a:t>
            </a:r>
            <a:r>
              <a:rPr lang="en-US" baseline="-25000" dirty="0"/>
              <a:t>3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5376F4-0D09-F3D7-6ED2-20C6EC1467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14" y="1418608"/>
            <a:ext cx="6051048" cy="1161596"/>
          </a:xfrm>
        </p:spPr>
        <p:txBody>
          <a:bodyPr/>
          <a:lstStyle/>
          <a:p>
            <a:r>
              <a:rPr lang="en-US" dirty="0"/>
              <a:t>You’ll need some simple algebra</a:t>
            </a:r>
            <a:endParaRPr lang="en-US" i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5F11A7-1154-6A0F-0B69-E38EE06F5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EE 123 Joel Grodstein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D6D4567-AD58-94BA-340B-A27AA809F980}"/>
              </a:ext>
            </a:extLst>
          </p:cNvPr>
          <p:cNvCxnSpPr>
            <a:cxnSpLocks/>
          </p:cNvCxnSpPr>
          <p:nvPr/>
        </p:nvCxnSpPr>
        <p:spPr>
          <a:xfrm>
            <a:off x="325602" y="5198530"/>
            <a:ext cx="2772112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888D8ED-0B66-E480-25DF-E9325C5A83F8}"/>
              </a:ext>
            </a:extLst>
          </p:cNvPr>
          <p:cNvCxnSpPr>
            <a:cxnSpLocks/>
          </p:cNvCxnSpPr>
          <p:nvPr/>
        </p:nvCxnSpPr>
        <p:spPr>
          <a:xfrm>
            <a:off x="325602" y="3063661"/>
            <a:ext cx="2772112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91C21793-1D02-D254-0F3F-9EA9E9DD5E9B}"/>
              </a:ext>
            </a:extLst>
          </p:cNvPr>
          <p:cNvSpPr/>
          <p:nvPr/>
        </p:nvSpPr>
        <p:spPr>
          <a:xfrm>
            <a:off x="817797" y="4568922"/>
            <a:ext cx="98761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80mV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ED29829-BB68-0E3F-8C4D-61E290BAA41B}"/>
              </a:ext>
            </a:extLst>
          </p:cNvPr>
          <p:cNvSpPr txBox="1"/>
          <p:nvPr/>
        </p:nvSpPr>
        <p:spPr>
          <a:xfrm>
            <a:off x="2733515" y="5308727"/>
            <a:ext cx="185948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dirty="0"/>
              <a:t>G</a:t>
            </a:r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9A98B13B-6C07-F3D3-DBEF-28B88CE82DA5}"/>
              </a:ext>
            </a:extLst>
          </p:cNvPr>
          <p:cNvGrpSpPr/>
          <p:nvPr/>
        </p:nvGrpSpPr>
        <p:grpSpPr>
          <a:xfrm>
            <a:off x="1596390" y="3054772"/>
            <a:ext cx="630370" cy="2146717"/>
            <a:chOff x="1184910" y="3740572"/>
            <a:chExt cx="630370" cy="2146717"/>
          </a:xfrm>
        </p:grpSpPr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10FAAC47-49DB-379E-7408-C88B9677383F}"/>
                </a:ext>
              </a:extLst>
            </p:cNvPr>
            <p:cNvCxnSpPr>
              <a:cxnSpLocks/>
            </p:cNvCxnSpPr>
            <p:nvPr/>
          </p:nvCxnSpPr>
          <p:spPr>
            <a:xfrm>
              <a:off x="1529129" y="3740572"/>
              <a:ext cx="0" cy="203198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F74E0F5-94E6-A1B5-BBAC-04B4099130CD}"/>
                </a:ext>
              </a:extLst>
            </p:cNvPr>
            <p:cNvSpPr txBox="1"/>
            <p:nvPr/>
          </p:nvSpPr>
          <p:spPr>
            <a:xfrm>
              <a:off x="1544372" y="4806100"/>
              <a:ext cx="270908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2000" dirty="0"/>
                <a:t>V</a:t>
              </a:r>
              <a:r>
                <a:rPr lang="en-US" sz="2000" baseline="-25000" dirty="0"/>
                <a:t>1</a:t>
              </a:r>
              <a:endParaRPr lang="en-US" sz="2000" dirty="0"/>
            </a:p>
          </p:txBody>
        </p: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8F921FBC-F5A5-373E-A88E-735462E35713}"/>
                </a:ext>
              </a:extLst>
            </p:cNvPr>
            <p:cNvCxnSpPr>
              <a:cxnSpLocks/>
            </p:cNvCxnSpPr>
            <p:nvPr/>
          </p:nvCxnSpPr>
          <p:spPr>
            <a:xfrm>
              <a:off x="1516564" y="4742617"/>
              <a:ext cx="0" cy="668066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E7D8D8F5-5B56-EF09-6678-43BE3E39A490}"/>
                </a:ext>
              </a:extLst>
            </p:cNvPr>
            <p:cNvCxnSpPr>
              <a:cxnSpLocks/>
            </p:cNvCxnSpPr>
            <p:nvPr/>
          </p:nvCxnSpPr>
          <p:spPr>
            <a:xfrm>
              <a:off x="1516564" y="5508427"/>
              <a:ext cx="0" cy="378862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E2223588-31B1-994B-CCAF-BC61D2EB4A51}"/>
                </a:ext>
              </a:extLst>
            </p:cNvPr>
            <p:cNvGrpSpPr/>
            <p:nvPr/>
          </p:nvGrpSpPr>
          <p:grpSpPr>
            <a:xfrm flipV="1">
              <a:off x="1287964" y="5406828"/>
              <a:ext cx="457200" cy="101599"/>
              <a:chOff x="3088619" y="3223591"/>
              <a:chExt cx="457200" cy="101599"/>
            </a:xfrm>
          </p:grpSpPr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58D00946-A5CC-1351-3363-326C81A5A57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88619" y="3223591"/>
                <a:ext cx="4572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3285E578-DF03-E782-96B5-D58A3830EF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90218" y="3325190"/>
                <a:ext cx="254003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C89B27A7-A7C1-7DAF-2DE9-7C5B96AA8D1A}"/>
                </a:ext>
              </a:extLst>
            </p:cNvPr>
            <p:cNvSpPr txBox="1"/>
            <p:nvPr/>
          </p:nvSpPr>
          <p:spPr>
            <a:xfrm>
              <a:off x="1184910" y="5051227"/>
              <a:ext cx="483870" cy="4572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+</a:t>
              </a:r>
            </a:p>
          </p:txBody>
        </p: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43894EB6-0642-D561-9583-5DCD48DCFE17}"/>
                </a:ext>
              </a:extLst>
            </p:cNvPr>
            <p:cNvGrpSpPr/>
            <p:nvPr/>
          </p:nvGrpSpPr>
          <p:grpSpPr>
            <a:xfrm rot="5400000">
              <a:off x="1211764" y="4233601"/>
              <a:ext cx="609600" cy="408432"/>
              <a:chOff x="2590800" y="1592580"/>
              <a:chExt cx="609600" cy="408432"/>
            </a:xfrm>
          </p:grpSpPr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327FD15B-D1FE-75AE-E0B3-D2CE625D784D}"/>
                  </a:ext>
                </a:extLst>
              </p:cNvPr>
              <p:cNvCxnSpPr/>
              <p:nvPr/>
            </p:nvCxnSpPr>
            <p:spPr>
              <a:xfrm rot="5400000">
                <a:off x="3066288" y="1833372"/>
                <a:ext cx="192024" cy="762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CEA5FB7B-C0AF-7250-F878-1B77338DB883}"/>
                  </a:ext>
                </a:extLst>
              </p:cNvPr>
              <p:cNvCxnSpPr/>
              <p:nvPr/>
            </p:nvCxnSpPr>
            <p:spPr>
              <a:xfrm rot="5400000" flipV="1">
                <a:off x="2857500" y="1734312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AD244281-70D0-17F9-1AC5-6E1BEBED73BD}"/>
                  </a:ext>
                </a:extLst>
              </p:cNvPr>
              <p:cNvCxnSpPr/>
              <p:nvPr/>
            </p:nvCxnSpPr>
            <p:spPr>
              <a:xfrm rot="5400000" flipH="1" flipV="1">
                <a:off x="2705100" y="17145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2270E1D2-D83B-E494-D959-75FB8A989498}"/>
                  </a:ext>
                </a:extLst>
              </p:cNvPr>
              <p:cNvCxnSpPr/>
              <p:nvPr/>
            </p:nvCxnSpPr>
            <p:spPr>
              <a:xfrm rot="5400000" flipV="1">
                <a:off x="2552700" y="17145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8744E97A-5155-D79F-BAD7-986B5B4E976A}"/>
                  </a:ext>
                </a:extLst>
              </p:cNvPr>
              <p:cNvCxnSpPr/>
              <p:nvPr/>
            </p:nvCxnSpPr>
            <p:spPr>
              <a:xfrm rot="5400000">
                <a:off x="2532888" y="1650492"/>
                <a:ext cx="192024" cy="762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F44E700B-4645-9D93-B6DE-199C2DE581EA}"/>
                </a:ext>
              </a:extLst>
            </p:cNvPr>
            <p:cNvCxnSpPr>
              <a:cxnSpLocks/>
            </p:cNvCxnSpPr>
            <p:nvPr/>
          </p:nvCxnSpPr>
          <p:spPr>
            <a:xfrm>
              <a:off x="1529080" y="3927277"/>
              <a:ext cx="0" cy="201062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2" name="TextBox 101">
            <a:extLst>
              <a:ext uri="{FF2B5EF4-FFF2-40B4-BE49-F238E27FC236}">
                <a16:creationId xmlns:a16="http://schemas.microsoft.com/office/drawing/2014/main" id="{2DFBEEA0-4BC4-0BB9-B327-6C9920B4B115}"/>
              </a:ext>
            </a:extLst>
          </p:cNvPr>
          <p:cNvSpPr txBox="1"/>
          <p:nvPr/>
        </p:nvSpPr>
        <p:spPr>
          <a:xfrm>
            <a:off x="2256842" y="2718220"/>
            <a:ext cx="26918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dirty="0"/>
              <a:t>V</a:t>
            </a:r>
            <a:r>
              <a:rPr lang="en-US" sz="2000" baseline="-25000" dirty="0"/>
              <a:t>3</a:t>
            </a:r>
            <a:endParaRPr lang="en-US" sz="2000" dirty="0"/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90986D10-4DDC-4632-E14B-3515011191D2}"/>
              </a:ext>
            </a:extLst>
          </p:cNvPr>
          <p:cNvGrpSpPr/>
          <p:nvPr/>
        </p:nvGrpSpPr>
        <p:grpSpPr>
          <a:xfrm>
            <a:off x="2766060" y="3047152"/>
            <a:ext cx="630370" cy="2146717"/>
            <a:chOff x="1184910" y="3740572"/>
            <a:chExt cx="630370" cy="2146717"/>
          </a:xfrm>
        </p:grpSpPr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83F20278-54F9-47E7-D211-94FEC27243EF}"/>
                </a:ext>
              </a:extLst>
            </p:cNvPr>
            <p:cNvCxnSpPr>
              <a:cxnSpLocks/>
            </p:cNvCxnSpPr>
            <p:nvPr/>
          </p:nvCxnSpPr>
          <p:spPr>
            <a:xfrm>
              <a:off x="1529129" y="3740572"/>
              <a:ext cx="0" cy="203198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83D89936-4237-E16E-307A-873AD4D884C7}"/>
                </a:ext>
              </a:extLst>
            </p:cNvPr>
            <p:cNvSpPr txBox="1"/>
            <p:nvPr/>
          </p:nvSpPr>
          <p:spPr>
            <a:xfrm>
              <a:off x="1544372" y="4806100"/>
              <a:ext cx="270908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2000" dirty="0"/>
                <a:t>V</a:t>
              </a:r>
              <a:r>
                <a:rPr lang="en-US" sz="2000" baseline="-25000" dirty="0"/>
                <a:t>2</a:t>
              </a:r>
              <a:endParaRPr lang="en-US" sz="2000" dirty="0"/>
            </a:p>
          </p:txBody>
        </p: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496502B4-CE79-A527-A3D2-94C7C6480EA0}"/>
                </a:ext>
              </a:extLst>
            </p:cNvPr>
            <p:cNvCxnSpPr>
              <a:cxnSpLocks/>
            </p:cNvCxnSpPr>
            <p:nvPr/>
          </p:nvCxnSpPr>
          <p:spPr>
            <a:xfrm>
              <a:off x="1516564" y="4742617"/>
              <a:ext cx="0" cy="668066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0E79D53B-0C2C-1014-E516-3ED32AC6D63F}"/>
                </a:ext>
              </a:extLst>
            </p:cNvPr>
            <p:cNvCxnSpPr>
              <a:cxnSpLocks/>
            </p:cNvCxnSpPr>
            <p:nvPr/>
          </p:nvCxnSpPr>
          <p:spPr>
            <a:xfrm>
              <a:off x="1516564" y="5508427"/>
              <a:ext cx="0" cy="378862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B7393F3E-421B-F174-4061-CF29EFABE86F}"/>
                </a:ext>
              </a:extLst>
            </p:cNvPr>
            <p:cNvGrpSpPr/>
            <p:nvPr/>
          </p:nvGrpSpPr>
          <p:grpSpPr>
            <a:xfrm flipV="1">
              <a:off x="1287964" y="5406828"/>
              <a:ext cx="457200" cy="101599"/>
              <a:chOff x="3088619" y="3223591"/>
              <a:chExt cx="457200" cy="101599"/>
            </a:xfrm>
          </p:grpSpPr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3A4CFC37-F2E1-1257-A193-CFE66C207D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88619" y="3223591"/>
                <a:ext cx="4572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>
                <a:extLst>
                  <a:ext uri="{FF2B5EF4-FFF2-40B4-BE49-F238E27FC236}">
                    <a16:creationId xmlns:a16="http://schemas.microsoft.com/office/drawing/2014/main" id="{6A5B414F-CCD5-2E6C-ADBA-438BC201B6B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90218" y="3325190"/>
                <a:ext cx="254003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9FA532B4-A880-0666-0A89-03C2A7EC7BC3}"/>
                </a:ext>
              </a:extLst>
            </p:cNvPr>
            <p:cNvSpPr txBox="1"/>
            <p:nvPr/>
          </p:nvSpPr>
          <p:spPr>
            <a:xfrm>
              <a:off x="1184910" y="5051227"/>
              <a:ext cx="483870" cy="4572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+</a:t>
              </a:r>
            </a:p>
          </p:txBody>
        </p:sp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D72613BB-5863-EA0D-6182-B56D0BE6B5E0}"/>
                </a:ext>
              </a:extLst>
            </p:cNvPr>
            <p:cNvGrpSpPr/>
            <p:nvPr/>
          </p:nvGrpSpPr>
          <p:grpSpPr>
            <a:xfrm rot="5400000">
              <a:off x="1211764" y="4233601"/>
              <a:ext cx="609600" cy="408432"/>
              <a:chOff x="2590800" y="1592580"/>
              <a:chExt cx="609600" cy="408432"/>
            </a:xfrm>
          </p:grpSpPr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FF2542F8-C1CF-E904-51DE-D02AC4570AEA}"/>
                  </a:ext>
                </a:extLst>
              </p:cNvPr>
              <p:cNvCxnSpPr/>
              <p:nvPr/>
            </p:nvCxnSpPr>
            <p:spPr>
              <a:xfrm rot="5400000">
                <a:off x="3066288" y="1833372"/>
                <a:ext cx="192024" cy="762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>
                <a:extLst>
                  <a:ext uri="{FF2B5EF4-FFF2-40B4-BE49-F238E27FC236}">
                    <a16:creationId xmlns:a16="http://schemas.microsoft.com/office/drawing/2014/main" id="{FF6DBE3A-1842-1598-ADC3-06F7DD73AA7C}"/>
                  </a:ext>
                </a:extLst>
              </p:cNvPr>
              <p:cNvCxnSpPr/>
              <p:nvPr/>
            </p:nvCxnSpPr>
            <p:spPr>
              <a:xfrm rot="5400000" flipV="1">
                <a:off x="2857500" y="1734312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8AE7B4E8-80CB-057A-7529-7D28969CE503}"/>
                  </a:ext>
                </a:extLst>
              </p:cNvPr>
              <p:cNvCxnSpPr/>
              <p:nvPr/>
            </p:nvCxnSpPr>
            <p:spPr>
              <a:xfrm rot="5400000" flipH="1" flipV="1">
                <a:off x="2705100" y="17145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>
                <a:extLst>
                  <a:ext uri="{FF2B5EF4-FFF2-40B4-BE49-F238E27FC236}">
                    <a16:creationId xmlns:a16="http://schemas.microsoft.com/office/drawing/2014/main" id="{9356AC75-4910-A5D1-DFA1-93546F9EF26B}"/>
                  </a:ext>
                </a:extLst>
              </p:cNvPr>
              <p:cNvCxnSpPr/>
              <p:nvPr/>
            </p:nvCxnSpPr>
            <p:spPr>
              <a:xfrm rot="5400000" flipV="1">
                <a:off x="2552700" y="17145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>
                <a:extLst>
                  <a:ext uri="{FF2B5EF4-FFF2-40B4-BE49-F238E27FC236}">
                    <a16:creationId xmlns:a16="http://schemas.microsoft.com/office/drawing/2014/main" id="{0CBD7150-1103-2CEC-3472-F6AE4E999B60}"/>
                  </a:ext>
                </a:extLst>
              </p:cNvPr>
              <p:cNvCxnSpPr/>
              <p:nvPr/>
            </p:nvCxnSpPr>
            <p:spPr>
              <a:xfrm rot="5400000">
                <a:off x="2532888" y="1650492"/>
                <a:ext cx="192024" cy="762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C894BADF-D3A9-32FB-A5BA-13F4D422ECE4}"/>
                </a:ext>
              </a:extLst>
            </p:cNvPr>
            <p:cNvCxnSpPr>
              <a:cxnSpLocks/>
            </p:cNvCxnSpPr>
            <p:nvPr/>
          </p:nvCxnSpPr>
          <p:spPr>
            <a:xfrm>
              <a:off x="1529080" y="3927277"/>
              <a:ext cx="0" cy="201062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2" name="Rectangle 121">
            <a:extLst>
              <a:ext uri="{FF2B5EF4-FFF2-40B4-BE49-F238E27FC236}">
                <a16:creationId xmlns:a16="http://schemas.microsoft.com/office/drawing/2014/main" id="{D891370E-69AB-D16D-8E1C-0CB692844250}"/>
              </a:ext>
            </a:extLst>
          </p:cNvPr>
          <p:cNvSpPr/>
          <p:nvPr/>
        </p:nvSpPr>
        <p:spPr>
          <a:xfrm>
            <a:off x="1130054" y="3532602"/>
            <a:ext cx="7248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40</a:t>
            </a:r>
            <a:r>
              <a:rPr lang="el-GR" dirty="0">
                <a:cs typeface="Times New Roman" panose="02020603050405020304" pitchFamily="18" charset="0"/>
              </a:rPr>
              <a:t>Ω</a:t>
            </a:r>
            <a:endParaRPr lang="en-US" dirty="0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A5B9D390-6122-493B-2889-B394E23308AC}"/>
              </a:ext>
            </a:extLst>
          </p:cNvPr>
          <p:cNvSpPr/>
          <p:nvPr/>
        </p:nvSpPr>
        <p:spPr>
          <a:xfrm>
            <a:off x="3038863" y="4732752"/>
            <a:ext cx="128356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-80mV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43ADDD86-3205-415E-9026-321E5507BB49}"/>
              </a:ext>
            </a:extLst>
          </p:cNvPr>
          <p:cNvSpPr/>
          <p:nvPr/>
        </p:nvSpPr>
        <p:spPr>
          <a:xfrm>
            <a:off x="3111254" y="3444972"/>
            <a:ext cx="7248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10</a:t>
            </a:r>
            <a:r>
              <a:rPr lang="el-GR" dirty="0">
                <a:cs typeface="Times New Roman" panose="02020603050405020304" pitchFamily="18" charset="0"/>
              </a:rPr>
              <a:t>Ω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Content Placeholder 2">
                <a:extLst>
                  <a:ext uri="{FF2B5EF4-FFF2-40B4-BE49-F238E27FC236}">
                    <a16:creationId xmlns:a16="http://schemas.microsoft.com/office/drawing/2014/main" id="{A039C003-E1D2-A125-960A-219DD6DD796D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082979" y="2588278"/>
                <a:ext cx="4969577" cy="28511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4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r>
                  <a:rPr lang="en-US" sz="2400" i="1" kern="0" dirty="0"/>
                  <a:t>i</a:t>
                </a:r>
                <a:r>
                  <a:rPr lang="en-US" sz="2400" kern="0" baseline="-25000" dirty="0"/>
                  <a:t>1 </a:t>
                </a:r>
                <a:r>
                  <a:rPr lang="en-US" sz="2400" kern="0" dirty="0"/>
                  <a:t>= (</a:t>
                </a:r>
                <a:r>
                  <a:rPr lang="en-US" sz="2400" i="1" kern="0" dirty="0"/>
                  <a:t>V</a:t>
                </a:r>
                <a:r>
                  <a:rPr lang="en-US" sz="2400" kern="0" baseline="-25000" dirty="0"/>
                  <a:t>1</a:t>
                </a:r>
                <a:r>
                  <a:rPr lang="en-US" sz="2400" kern="0" dirty="0"/>
                  <a:t>-</a:t>
                </a:r>
                <a:r>
                  <a:rPr lang="en-US" sz="2400" i="1" kern="0" dirty="0"/>
                  <a:t>V</a:t>
                </a:r>
                <a:r>
                  <a:rPr lang="en-US" sz="2400" kern="0" baseline="-25000" dirty="0"/>
                  <a:t>3</a:t>
                </a:r>
                <a:r>
                  <a:rPr lang="en-US" sz="2400" kern="0" dirty="0"/>
                  <a:t>)/40</a:t>
                </a:r>
                <a:r>
                  <a:rPr lang="el-GR" sz="24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Ω</a:t>
                </a:r>
                <a:r>
                  <a:rPr lang="en-US" sz="24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(80-</a:t>
                </a:r>
                <a:r>
                  <a:rPr lang="en-US" sz="2400" i="1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400" kern="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sz="24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400" kern="0" dirty="0"/>
                  <a:t> /40</a:t>
                </a:r>
              </a:p>
              <a:p>
                <a:r>
                  <a:rPr lang="en-US" sz="2400" i="1" kern="0" dirty="0"/>
                  <a:t>i</a:t>
                </a:r>
                <a:r>
                  <a:rPr lang="en-US" sz="2400" kern="0" baseline="-25000" dirty="0"/>
                  <a:t>2</a:t>
                </a:r>
                <a:r>
                  <a:rPr lang="en-US" sz="2400" i="1" kern="0" dirty="0"/>
                  <a:t>=</a:t>
                </a:r>
                <a:r>
                  <a:rPr lang="en-US" sz="2400" kern="0" dirty="0"/>
                  <a:t> (</a:t>
                </a:r>
                <a:r>
                  <a:rPr lang="en-US" sz="2400" i="1" kern="0" dirty="0"/>
                  <a:t>V</a:t>
                </a:r>
                <a:r>
                  <a:rPr lang="en-US" sz="2400" i="1" kern="0" baseline="-25000" dirty="0"/>
                  <a:t>2</a:t>
                </a:r>
                <a:r>
                  <a:rPr lang="en-US" sz="2400" kern="0" dirty="0"/>
                  <a:t>-</a:t>
                </a:r>
                <a:r>
                  <a:rPr lang="en-US" sz="2400" i="1" kern="0" dirty="0"/>
                  <a:t>V</a:t>
                </a:r>
                <a:r>
                  <a:rPr lang="en-US" sz="2400" kern="0" baseline="-25000" dirty="0"/>
                  <a:t>3</a:t>
                </a:r>
                <a:r>
                  <a:rPr lang="en-US" sz="2400" kern="0" dirty="0"/>
                  <a:t>)/10</a:t>
                </a:r>
                <a:r>
                  <a:rPr lang="el-GR" sz="24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Ω</a:t>
                </a:r>
                <a:r>
                  <a:rPr lang="en-US" sz="24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(-80-</a:t>
                </a:r>
                <a:r>
                  <a:rPr lang="en-US" sz="2400" i="1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400" kern="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sz="24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400" kern="0" dirty="0"/>
                  <a:t> /10</a:t>
                </a:r>
              </a:p>
              <a:p>
                <a:r>
                  <a:rPr lang="en-US" sz="2400" kern="0" dirty="0"/>
                  <a:t>KCL at </a:t>
                </a:r>
                <a:r>
                  <a:rPr lang="en-US" sz="2400" i="1" kern="0" dirty="0"/>
                  <a:t>V</a:t>
                </a:r>
                <a:r>
                  <a:rPr lang="en-US" sz="2400" kern="0" baseline="-25000" dirty="0"/>
                  <a:t>3</a:t>
                </a:r>
                <a:r>
                  <a:rPr lang="en-US" sz="2400" kern="0" dirty="0"/>
                  <a:t>: </a:t>
                </a:r>
                <a14:m>
                  <m:oMath xmlns:m="http://schemas.openxmlformats.org/officeDocument/2006/math">
                    <m:r>
                      <a:rPr lang="en-US" sz="2400" b="0" i="1" kern="0" smtClean="0">
                        <a:latin typeface="Cambria Math" panose="02040503050406030204" pitchFamily="18" charset="0"/>
                      </a:rPr>
                      <m:t>1+</m:t>
                    </m:r>
                    <m:f>
                      <m:fPr>
                        <m:ctrlPr>
                          <a:rPr lang="en-US" sz="2400" b="0" i="1" kern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kern="0" smtClean="0">
                            <a:latin typeface="Cambria Math" panose="02040503050406030204" pitchFamily="18" charset="0"/>
                          </a:rPr>
                          <m:t>80−</m:t>
                        </m:r>
                        <m:sSub>
                          <m:sSubPr>
                            <m:ctrlPr>
                              <a:rPr lang="en-US" sz="24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ker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400" b="0" i="1" kern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r>
                          <a:rPr lang="en-US" sz="2400" b="0" i="1" kern="0" smtClean="0">
                            <a:latin typeface="Cambria Math" panose="02040503050406030204" pitchFamily="18" charset="0"/>
                          </a:rPr>
                          <m:t>40</m:t>
                        </m:r>
                      </m:den>
                    </m:f>
                    <m:r>
                      <a:rPr lang="en-US" sz="2400" i="1" ker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b="0" i="1" kern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kern="0" smtClean="0">
                            <a:latin typeface="Cambria Math" panose="02040503050406030204" pitchFamily="18" charset="0"/>
                          </a:rPr>
                          <m:t>−80</m:t>
                        </m:r>
                        <m:r>
                          <a:rPr lang="en-US" sz="2400" i="1" ker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4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ker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400" i="1" ker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r>
                          <a:rPr lang="en-US" sz="2400" i="1" ker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US" sz="2400" b="0" i="1" kern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400" kern="0" dirty="0"/>
              </a:p>
              <a:p>
                <a:r>
                  <a:rPr lang="en-US" sz="2400" kern="0" dirty="0"/>
                  <a:t>40 + (80-</a:t>
                </a:r>
                <a:r>
                  <a:rPr lang="en-US" sz="2400" i="1" kern="0" dirty="0"/>
                  <a:t>V</a:t>
                </a:r>
                <a:r>
                  <a:rPr lang="en-US" sz="2400" kern="0" baseline="-25000" dirty="0"/>
                  <a:t>3</a:t>
                </a:r>
                <a:r>
                  <a:rPr lang="en-US" sz="2400" kern="0" dirty="0"/>
                  <a:t>) + (-320-4</a:t>
                </a:r>
                <a:r>
                  <a:rPr lang="en-US" sz="2400" i="1" kern="0" dirty="0"/>
                  <a:t>V</a:t>
                </a:r>
                <a:r>
                  <a:rPr lang="en-US" sz="2400" kern="0" baseline="-25000" dirty="0"/>
                  <a:t>3</a:t>
                </a:r>
                <a:r>
                  <a:rPr lang="en-US" sz="2400" kern="0" dirty="0"/>
                  <a:t>) = 0</a:t>
                </a:r>
              </a:p>
              <a:p>
                <a:r>
                  <a:rPr lang="en-US" sz="2400" kern="0" dirty="0"/>
                  <a:t>-200 -5</a:t>
                </a:r>
                <a:r>
                  <a:rPr lang="en-US" sz="2400" i="1" kern="0" dirty="0"/>
                  <a:t>V</a:t>
                </a:r>
                <a:r>
                  <a:rPr lang="en-US" sz="2400" kern="0" baseline="-25000" dirty="0"/>
                  <a:t>3</a:t>
                </a:r>
                <a:r>
                  <a:rPr lang="en-US" sz="2400" kern="0" dirty="0"/>
                  <a:t>=0</a:t>
                </a:r>
              </a:p>
              <a:p>
                <a:r>
                  <a:rPr lang="en-US" sz="2400" i="1" kern="0" dirty="0">
                    <a:sym typeface="Symbol" panose="05050102010706020507" pitchFamily="18" charset="2"/>
                  </a:rPr>
                  <a:t>V</a:t>
                </a:r>
                <a:r>
                  <a:rPr lang="en-US" sz="2400" kern="0" baseline="-25000" dirty="0">
                    <a:sym typeface="Symbol" panose="05050102010706020507" pitchFamily="18" charset="2"/>
                  </a:rPr>
                  <a:t>3</a:t>
                </a:r>
                <a:r>
                  <a:rPr lang="en-US" sz="2400" kern="0" dirty="0">
                    <a:sym typeface="Symbol" panose="05050102010706020507" pitchFamily="18" charset="2"/>
                  </a:rPr>
                  <a:t> = -40mV</a:t>
                </a:r>
                <a:endParaRPr lang="en-US" sz="2400" i="1" kern="0" dirty="0">
                  <a:sym typeface="Symbol" panose="05050102010706020507" pitchFamily="18" charset="2"/>
                </a:endParaRPr>
              </a:p>
              <a:p>
                <a:pPr marL="0" indent="0">
                  <a:buNone/>
                </a:pPr>
                <a:endParaRPr lang="en-US" kern="0" dirty="0"/>
              </a:p>
            </p:txBody>
          </p:sp>
        </mc:Choice>
        <mc:Fallback xmlns="">
          <p:sp>
            <p:nvSpPr>
              <p:cNvPr id="125" name="Content Placeholder 2">
                <a:extLst>
                  <a:ext uri="{FF2B5EF4-FFF2-40B4-BE49-F238E27FC236}">
                    <a16:creationId xmlns:a16="http://schemas.microsoft.com/office/drawing/2014/main" id="{A039C003-E1D2-A125-960A-219DD6DD79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82979" y="2588278"/>
                <a:ext cx="4969577" cy="2851109"/>
              </a:xfrm>
              <a:prstGeom prst="rect">
                <a:avLst/>
              </a:prstGeom>
              <a:blipFill>
                <a:blip r:embed="rId3"/>
                <a:stretch>
                  <a:fillRect l="-1718" t="-1713" b="-471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7" name="Group 136">
            <a:extLst>
              <a:ext uri="{FF2B5EF4-FFF2-40B4-BE49-F238E27FC236}">
                <a16:creationId xmlns:a16="http://schemas.microsoft.com/office/drawing/2014/main" id="{894168AC-2BA5-43C2-BD07-74F23B8C1025}"/>
              </a:ext>
            </a:extLst>
          </p:cNvPr>
          <p:cNvGrpSpPr/>
          <p:nvPr/>
        </p:nvGrpSpPr>
        <p:grpSpPr>
          <a:xfrm>
            <a:off x="946202" y="3512820"/>
            <a:ext cx="269188" cy="610994"/>
            <a:chOff x="489002" y="3512820"/>
            <a:chExt cx="269188" cy="610994"/>
          </a:xfrm>
        </p:grpSpPr>
        <p:cxnSp>
          <p:nvCxnSpPr>
            <p:cNvPr id="126" name="Straight Arrow Connector 125">
              <a:extLst>
                <a:ext uri="{FF2B5EF4-FFF2-40B4-BE49-F238E27FC236}">
                  <a16:creationId xmlns:a16="http://schemas.microsoft.com/office/drawing/2014/main" id="{485289EB-400D-1AA4-104E-4CC13BEEEB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2523" y="3512820"/>
              <a:ext cx="0" cy="610994"/>
            </a:xfrm>
            <a:prstGeom prst="straightConnector1">
              <a:avLst/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4510B190-421E-AF6D-C1D3-5E3156ABC501}"/>
                </a:ext>
              </a:extLst>
            </p:cNvPr>
            <p:cNvSpPr txBox="1"/>
            <p:nvPr/>
          </p:nvSpPr>
          <p:spPr>
            <a:xfrm>
              <a:off x="489002" y="3693580"/>
              <a:ext cx="269188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2000" dirty="0"/>
                <a:t>i</a:t>
              </a:r>
              <a:r>
                <a:rPr lang="en-US" sz="2000" baseline="-25000" dirty="0"/>
                <a:t>1</a:t>
              </a:r>
              <a:endParaRPr lang="en-US" sz="2000" dirty="0"/>
            </a:p>
          </p:txBody>
        </p: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00436793-3A66-05C2-923D-BC08EF954D5D}"/>
              </a:ext>
            </a:extLst>
          </p:cNvPr>
          <p:cNvGrpSpPr/>
          <p:nvPr/>
        </p:nvGrpSpPr>
        <p:grpSpPr>
          <a:xfrm>
            <a:off x="3811003" y="3402330"/>
            <a:ext cx="334277" cy="610994"/>
            <a:chOff x="3490963" y="3402330"/>
            <a:chExt cx="334277" cy="610994"/>
          </a:xfrm>
        </p:grpSpPr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63F6C9C0-8FFF-0A20-C389-8478CED165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90963" y="3402330"/>
              <a:ext cx="0" cy="610994"/>
            </a:xfrm>
            <a:prstGeom prst="straightConnector1">
              <a:avLst/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66288553-1B21-06FB-A50F-FA387549BC43}"/>
                </a:ext>
              </a:extLst>
            </p:cNvPr>
            <p:cNvSpPr txBox="1"/>
            <p:nvPr/>
          </p:nvSpPr>
          <p:spPr>
            <a:xfrm>
              <a:off x="3556052" y="3560230"/>
              <a:ext cx="269188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2000" dirty="0"/>
                <a:t>i</a:t>
              </a:r>
              <a:r>
                <a:rPr lang="en-US" sz="2000" baseline="-25000" dirty="0"/>
                <a:t>2</a:t>
              </a:r>
              <a:endParaRPr lang="en-US" sz="2000" dirty="0"/>
            </a:p>
          </p:txBody>
        </p:sp>
      </p:grpSp>
      <p:sp>
        <p:nvSpPr>
          <p:cNvPr id="5" name="Oval 4">
            <a:extLst>
              <a:ext uri="{FF2B5EF4-FFF2-40B4-BE49-F238E27FC236}">
                <a16:creationId xmlns:a16="http://schemas.microsoft.com/office/drawing/2014/main" id="{5B8C304E-A32F-BE6C-AA7C-E6808A085C17}"/>
              </a:ext>
            </a:extLst>
          </p:cNvPr>
          <p:cNvSpPr/>
          <p:nvPr/>
        </p:nvSpPr>
        <p:spPr>
          <a:xfrm>
            <a:off x="185902" y="3827357"/>
            <a:ext cx="279400" cy="67733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BE37ACA-82A7-94F6-D8D8-B65116AB738F}"/>
              </a:ext>
            </a:extLst>
          </p:cNvPr>
          <p:cNvCxnSpPr>
            <a:cxnSpLocks/>
          </p:cNvCxnSpPr>
          <p:nvPr/>
        </p:nvCxnSpPr>
        <p:spPr>
          <a:xfrm>
            <a:off x="325602" y="4036484"/>
            <a:ext cx="0" cy="30480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8153F7E-8D15-E86B-7D85-1BE4F01D93C0}"/>
              </a:ext>
            </a:extLst>
          </p:cNvPr>
          <p:cNvCxnSpPr>
            <a:stCxn id="5" idx="0"/>
          </p:cNvCxnSpPr>
          <p:nvPr/>
        </p:nvCxnSpPr>
        <p:spPr>
          <a:xfrm flipV="1">
            <a:off x="325602" y="3063661"/>
            <a:ext cx="0" cy="763696"/>
          </a:xfrm>
          <a:prstGeom prst="line">
            <a:avLst/>
          </a:prstGeom>
          <a:ln w="38100">
            <a:solidFill>
              <a:schemeClr val="accent4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07A6701-1AFB-329B-0BDC-0D63576F8E9D}"/>
              </a:ext>
            </a:extLst>
          </p:cNvPr>
          <p:cNvCxnSpPr>
            <a:cxnSpLocks/>
          </p:cNvCxnSpPr>
          <p:nvPr/>
        </p:nvCxnSpPr>
        <p:spPr>
          <a:xfrm flipV="1">
            <a:off x="317982" y="4507651"/>
            <a:ext cx="0" cy="693838"/>
          </a:xfrm>
          <a:prstGeom prst="line">
            <a:avLst/>
          </a:prstGeom>
          <a:ln w="38100">
            <a:solidFill>
              <a:schemeClr val="accent4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54BB8229-0577-4B55-CF7D-7F40D3EC0FFE}"/>
              </a:ext>
            </a:extLst>
          </p:cNvPr>
          <p:cNvSpPr/>
          <p:nvPr/>
        </p:nvSpPr>
        <p:spPr>
          <a:xfrm>
            <a:off x="375673" y="3921222"/>
            <a:ext cx="82419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1mA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12CDAC-487F-E720-27D4-609A27DB6C7E}"/>
              </a:ext>
            </a:extLst>
          </p:cNvPr>
          <p:cNvSpPr txBox="1"/>
          <p:nvPr/>
        </p:nvSpPr>
        <p:spPr>
          <a:xfrm>
            <a:off x="5974985" y="5452110"/>
            <a:ext cx="2620373" cy="46166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In-class exercise</a:t>
            </a:r>
          </a:p>
        </p:txBody>
      </p:sp>
    </p:spTree>
    <p:extLst>
      <p:ext uri="{BB962C8B-B14F-4D97-AF65-F5344CB8AC3E}">
        <p14:creationId xmlns:p14="http://schemas.microsoft.com/office/powerpoint/2010/main" val="45363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390A0-6C10-3167-FF66-2F8363CEA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Intuition for cell-like circuits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5376F4-0D09-F3D7-6ED2-20C6EC1467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13" y="1418608"/>
            <a:ext cx="7040885" cy="1161596"/>
          </a:xfrm>
        </p:spPr>
        <p:txBody>
          <a:bodyPr/>
          <a:lstStyle/>
          <a:p>
            <a:r>
              <a:rPr lang="en-US" dirty="0"/>
              <a:t>Do this slide on your own if the next slide is too big of a leap (it uses </a:t>
            </a:r>
            <a:r>
              <a:rPr lang="en-US" i="1" dirty="0"/>
              <a:t>G</a:t>
            </a:r>
            <a:r>
              <a:rPr lang="en-US" dirty="0"/>
              <a:t> rather than </a:t>
            </a:r>
            <a:r>
              <a:rPr lang="en-US" i="1" dirty="0"/>
              <a:t>R</a:t>
            </a:r>
            <a:r>
              <a:rPr lang="en-US" dirty="0"/>
              <a:t>)</a:t>
            </a:r>
            <a:endParaRPr lang="en-US" i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5F11A7-1154-6A0F-0B69-E38EE06F5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EE 123 Joel Grodstein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D6D4567-AD58-94BA-340B-A27AA809F980}"/>
              </a:ext>
            </a:extLst>
          </p:cNvPr>
          <p:cNvCxnSpPr>
            <a:cxnSpLocks/>
          </p:cNvCxnSpPr>
          <p:nvPr/>
        </p:nvCxnSpPr>
        <p:spPr>
          <a:xfrm>
            <a:off x="325602" y="5198530"/>
            <a:ext cx="2772112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888D8ED-0B66-E480-25DF-E9325C5A83F8}"/>
              </a:ext>
            </a:extLst>
          </p:cNvPr>
          <p:cNvCxnSpPr>
            <a:cxnSpLocks/>
          </p:cNvCxnSpPr>
          <p:nvPr/>
        </p:nvCxnSpPr>
        <p:spPr>
          <a:xfrm>
            <a:off x="325602" y="3063661"/>
            <a:ext cx="2772112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9ED29829-BB68-0E3F-8C4D-61E290BAA41B}"/>
              </a:ext>
            </a:extLst>
          </p:cNvPr>
          <p:cNvSpPr txBox="1"/>
          <p:nvPr/>
        </p:nvSpPr>
        <p:spPr>
          <a:xfrm>
            <a:off x="2001995" y="5308727"/>
            <a:ext cx="783869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dirty="0"/>
              <a:t>Ground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10FAAC47-49DB-379E-7408-C88B9677383F}"/>
              </a:ext>
            </a:extLst>
          </p:cNvPr>
          <p:cNvCxnSpPr>
            <a:cxnSpLocks/>
          </p:cNvCxnSpPr>
          <p:nvPr/>
        </p:nvCxnSpPr>
        <p:spPr>
          <a:xfrm>
            <a:off x="1940609" y="3054772"/>
            <a:ext cx="0" cy="203198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4F74E0F5-94E6-A1B5-BBAC-04B4099130CD}"/>
              </a:ext>
            </a:extLst>
          </p:cNvPr>
          <p:cNvSpPr txBox="1"/>
          <p:nvPr/>
        </p:nvSpPr>
        <p:spPr>
          <a:xfrm>
            <a:off x="1372922" y="4657510"/>
            <a:ext cx="242054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i="1" dirty="0"/>
              <a:t>V</a:t>
            </a:r>
            <a:r>
              <a:rPr lang="en-US" sz="2000" baseline="-25000" dirty="0"/>
              <a:t>1</a:t>
            </a:r>
            <a:endParaRPr lang="en-US" sz="2000" dirty="0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8F921FBC-F5A5-373E-A88E-735462E35713}"/>
              </a:ext>
            </a:extLst>
          </p:cNvPr>
          <p:cNvCxnSpPr>
            <a:cxnSpLocks/>
          </p:cNvCxnSpPr>
          <p:nvPr/>
        </p:nvCxnSpPr>
        <p:spPr>
          <a:xfrm>
            <a:off x="1928044" y="4056817"/>
            <a:ext cx="0" cy="668066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E7D8D8F5-5B56-EF09-6678-43BE3E39A490}"/>
              </a:ext>
            </a:extLst>
          </p:cNvPr>
          <p:cNvCxnSpPr>
            <a:cxnSpLocks/>
          </p:cNvCxnSpPr>
          <p:nvPr/>
        </p:nvCxnSpPr>
        <p:spPr>
          <a:xfrm>
            <a:off x="1928044" y="4822627"/>
            <a:ext cx="0" cy="378862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5" name="Group 74">
            <a:extLst>
              <a:ext uri="{FF2B5EF4-FFF2-40B4-BE49-F238E27FC236}">
                <a16:creationId xmlns:a16="http://schemas.microsoft.com/office/drawing/2014/main" id="{E2223588-31B1-994B-CCAF-BC61D2EB4A51}"/>
              </a:ext>
            </a:extLst>
          </p:cNvPr>
          <p:cNvGrpSpPr/>
          <p:nvPr/>
        </p:nvGrpSpPr>
        <p:grpSpPr>
          <a:xfrm flipV="1">
            <a:off x="1699444" y="4721028"/>
            <a:ext cx="457200" cy="101599"/>
            <a:chOff x="3088619" y="3223591"/>
            <a:chExt cx="457200" cy="101599"/>
          </a:xfrm>
        </p:grpSpPr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58D00946-A5CC-1351-3363-326C81A5A571}"/>
                </a:ext>
              </a:extLst>
            </p:cNvPr>
            <p:cNvCxnSpPr>
              <a:cxnSpLocks/>
            </p:cNvCxnSpPr>
            <p:nvPr/>
          </p:nvCxnSpPr>
          <p:spPr>
            <a:xfrm>
              <a:off x="3088619" y="3223591"/>
              <a:ext cx="45720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3285E578-DF03-E782-96B5-D58A3830EF81}"/>
                </a:ext>
              </a:extLst>
            </p:cNvPr>
            <p:cNvCxnSpPr>
              <a:cxnSpLocks/>
            </p:cNvCxnSpPr>
            <p:nvPr/>
          </p:nvCxnSpPr>
          <p:spPr>
            <a:xfrm>
              <a:off x="3190218" y="3325190"/>
              <a:ext cx="254003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C89B27A7-A7C1-7DAF-2DE9-7C5B96AA8D1A}"/>
              </a:ext>
            </a:extLst>
          </p:cNvPr>
          <p:cNvSpPr txBox="1"/>
          <p:nvPr/>
        </p:nvSpPr>
        <p:spPr>
          <a:xfrm>
            <a:off x="1596390" y="4365427"/>
            <a:ext cx="48387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</a:t>
            </a: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43894EB6-0642-D561-9583-5DCD48DCFE17}"/>
              </a:ext>
            </a:extLst>
          </p:cNvPr>
          <p:cNvGrpSpPr/>
          <p:nvPr/>
        </p:nvGrpSpPr>
        <p:grpSpPr>
          <a:xfrm rot="5400000">
            <a:off x="1623244" y="3547801"/>
            <a:ext cx="609600" cy="408432"/>
            <a:chOff x="2590800" y="1592580"/>
            <a:chExt cx="609600" cy="408432"/>
          </a:xfrm>
        </p:grpSpPr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327FD15B-D1FE-75AE-E0B3-D2CE625D784D}"/>
                </a:ext>
              </a:extLst>
            </p:cNvPr>
            <p:cNvCxnSpPr/>
            <p:nvPr/>
          </p:nvCxnSpPr>
          <p:spPr>
            <a:xfrm rot="5400000">
              <a:off x="3066288" y="1833372"/>
              <a:ext cx="192024" cy="762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CEA5FB7B-C0AF-7250-F878-1B77338DB883}"/>
                </a:ext>
              </a:extLst>
            </p:cNvPr>
            <p:cNvCxnSpPr/>
            <p:nvPr/>
          </p:nvCxnSpPr>
          <p:spPr>
            <a:xfrm rot="5400000" flipV="1">
              <a:off x="2857500" y="1734312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AD244281-70D0-17F9-1AC5-6E1BEBED73BD}"/>
                </a:ext>
              </a:extLst>
            </p:cNvPr>
            <p:cNvCxnSpPr/>
            <p:nvPr/>
          </p:nvCxnSpPr>
          <p:spPr>
            <a:xfrm rot="5400000" flipH="1" flipV="1">
              <a:off x="2705100" y="17145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2270E1D2-D83B-E494-D959-75FB8A989498}"/>
                </a:ext>
              </a:extLst>
            </p:cNvPr>
            <p:cNvCxnSpPr/>
            <p:nvPr/>
          </p:nvCxnSpPr>
          <p:spPr>
            <a:xfrm rot="5400000" flipV="1">
              <a:off x="2552700" y="17145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8744E97A-5155-D79F-BAD7-986B5B4E976A}"/>
                </a:ext>
              </a:extLst>
            </p:cNvPr>
            <p:cNvCxnSpPr/>
            <p:nvPr/>
          </p:nvCxnSpPr>
          <p:spPr>
            <a:xfrm rot="5400000">
              <a:off x="2532888" y="1650492"/>
              <a:ext cx="192024" cy="762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F44E700B-4645-9D93-B6DE-199C2DE581EA}"/>
              </a:ext>
            </a:extLst>
          </p:cNvPr>
          <p:cNvCxnSpPr>
            <a:cxnSpLocks/>
          </p:cNvCxnSpPr>
          <p:nvPr/>
        </p:nvCxnSpPr>
        <p:spPr>
          <a:xfrm>
            <a:off x="1940560" y="3241477"/>
            <a:ext cx="0" cy="201062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2DFBEEA0-4BC4-0BB9-B327-6C9920B4B115}"/>
              </a:ext>
            </a:extLst>
          </p:cNvPr>
          <p:cNvSpPr txBox="1"/>
          <p:nvPr/>
        </p:nvSpPr>
        <p:spPr>
          <a:xfrm>
            <a:off x="2256842" y="2718220"/>
            <a:ext cx="26918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dirty="0"/>
              <a:t>V</a:t>
            </a:r>
            <a:r>
              <a:rPr lang="en-US" sz="2000" baseline="-25000" dirty="0"/>
              <a:t>3</a:t>
            </a:r>
            <a:endParaRPr lang="en-US" sz="2000" dirty="0"/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83F20278-54F9-47E7-D211-94FEC27243EF}"/>
              </a:ext>
            </a:extLst>
          </p:cNvPr>
          <p:cNvCxnSpPr>
            <a:cxnSpLocks/>
          </p:cNvCxnSpPr>
          <p:nvPr/>
        </p:nvCxnSpPr>
        <p:spPr>
          <a:xfrm>
            <a:off x="3110279" y="3047152"/>
            <a:ext cx="0" cy="203198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83D89936-4237-E16E-307A-873AD4D884C7}"/>
              </a:ext>
            </a:extLst>
          </p:cNvPr>
          <p:cNvSpPr txBox="1"/>
          <p:nvPr/>
        </p:nvSpPr>
        <p:spPr>
          <a:xfrm>
            <a:off x="2599742" y="4661320"/>
            <a:ext cx="242054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i="1" dirty="0"/>
              <a:t>V</a:t>
            </a:r>
            <a:r>
              <a:rPr lang="en-US" sz="2000" baseline="-25000" dirty="0"/>
              <a:t>2</a:t>
            </a:r>
            <a:endParaRPr lang="en-US" sz="2000" dirty="0"/>
          </a:p>
        </p:txBody>
      </p: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496502B4-CE79-A527-A3D2-94C7C6480EA0}"/>
              </a:ext>
            </a:extLst>
          </p:cNvPr>
          <p:cNvCxnSpPr>
            <a:cxnSpLocks/>
          </p:cNvCxnSpPr>
          <p:nvPr/>
        </p:nvCxnSpPr>
        <p:spPr>
          <a:xfrm>
            <a:off x="3097714" y="4049197"/>
            <a:ext cx="0" cy="668066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0E79D53B-0C2C-1014-E516-3ED32AC6D63F}"/>
              </a:ext>
            </a:extLst>
          </p:cNvPr>
          <p:cNvCxnSpPr>
            <a:cxnSpLocks/>
          </p:cNvCxnSpPr>
          <p:nvPr/>
        </p:nvCxnSpPr>
        <p:spPr>
          <a:xfrm>
            <a:off x="3097714" y="4815007"/>
            <a:ext cx="0" cy="378862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B7393F3E-421B-F174-4061-CF29EFABE86F}"/>
              </a:ext>
            </a:extLst>
          </p:cNvPr>
          <p:cNvGrpSpPr/>
          <p:nvPr/>
        </p:nvGrpSpPr>
        <p:grpSpPr>
          <a:xfrm flipV="1">
            <a:off x="2869114" y="4713408"/>
            <a:ext cx="457200" cy="101599"/>
            <a:chOff x="3088619" y="3223591"/>
            <a:chExt cx="457200" cy="101599"/>
          </a:xfrm>
        </p:grpSpPr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3A4CFC37-F2E1-1257-A193-CFE66C207D47}"/>
                </a:ext>
              </a:extLst>
            </p:cNvPr>
            <p:cNvCxnSpPr>
              <a:cxnSpLocks/>
            </p:cNvCxnSpPr>
            <p:nvPr/>
          </p:nvCxnSpPr>
          <p:spPr>
            <a:xfrm>
              <a:off x="3088619" y="3223591"/>
              <a:ext cx="45720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6A5B414F-CCD5-2E6C-ADBA-438BC201B6BB}"/>
                </a:ext>
              </a:extLst>
            </p:cNvPr>
            <p:cNvCxnSpPr>
              <a:cxnSpLocks/>
            </p:cNvCxnSpPr>
            <p:nvPr/>
          </p:nvCxnSpPr>
          <p:spPr>
            <a:xfrm>
              <a:off x="3190218" y="3325190"/>
              <a:ext cx="254003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0" name="TextBox 109">
            <a:extLst>
              <a:ext uri="{FF2B5EF4-FFF2-40B4-BE49-F238E27FC236}">
                <a16:creationId xmlns:a16="http://schemas.microsoft.com/office/drawing/2014/main" id="{9FA532B4-A880-0666-0A89-03C2A7EC7BC3}"/>
              </a:ext>
            </a:extLst>
          </p:cNvPr>
          <p:cNvSpPr txBox="1"/>
          <p:nvPr/>
        </p:nvSpPr>
        <p:spPr>
          <a:xfrm>
            <a:off x="2766060" y="4357807"/>
            <a:ext cx="48387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</a:t>
            </a:r>
          </a:p>
        </p:txBody>
      </p: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D72613BB-5863-EA0D-6182-B56D0BE6B5E0}"/>
              </a:ext>
            </a:extLst>
          </p:cNvPr>
          <p:cNvGrpSpPr/>
          <p:nvPr/>
        </p:nvGrpSpPr>
        <p:grpSpPr>
          <a:xfrm rot="5400000">
            <a:off x="2792914" y="3540181"/>
            <a:ext cx="609600" cy="408432"/>
            <a:chOff x="2590800" y="1592580"/>
            <a:chExt cx="609600" cy="408432"/>
          </a:xfrm>
        </p:grpSpPr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FF2542F8-C1CF-E904-51DE-D02AC4570AEA}"/>
                </a:ext>
              </a:extLst>
            </p:cNvPr>
            <p:cNvCxnSpPr/>
            <p:nvPr/>
          </p:nvCxnSpPr>
          <p:spPr>
            <a:xfrm rot="5400000">
              <a:off x="3066288" y="1833372"/>
              <a:ext cx="192024" cy="762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FF6DBE3A-1842-1598-ADC3-06F7DD73AA7C}"/>
                </a:ext>
              </a:extLst>
            </p:cNvPr>
            <p:cNvCxnSpPr/>
            <p:nvPr/>
          </p:nvCxnSpPr>
          <p:spPr>
            <a:xfrm rot="5400000" flipV="1">
              <a:off x="2857500" y="1734312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8AE7B4E8-80CB-057A-7529-7D28969CE503}"/>
                </a:ext>
              </a:extLst>
            </p:cNvPr>
            <p:cNvCxnSpPr/>
            <p:nvPr/>
          </p:nvCxnSpPr>
          <p:spPr>
            <a:xfrm rot="5400000" flipH="1" flipV="1">
              <a:off x="2705100" y="17145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9356AC75-4910-A5D1-DFA1-93546F9EF26B}"/>
                </a:ext>
              </a:extLst>
            </p:cNvPr>
            <p:cNvCxnSpPr/>
            <p:nvPr/>
          </p:nvCxnSpPr>
          <p:spPr>
            <a:xfrm rot="5400000" flipV="1">
              <a:off x="2552700" y="17145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0CBD7150-1103-2CEC-3472-F6AE4E999B60}"/>
                </a:ext>
              </a:extLst>
            </p:cNvPr>
            <p:cNvCxnSpPr/>
            <p:nvPr/>
          </p:nvCxnSpPr>
          <p:spPr>
            <a:xfrm rot="5400000">
              <a:off x="2532888" y="1650492"/>
              <a:ext cx="192024" cy="762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C894BADF-D3A9-32FB-A5BA-13F4D422ECE4}"/>
              </a:ext>
            </a:extLst>
          </p:cNvPr>
          <p:cNvCxnSpPr>
            <a:cxnSpLocks/>
          </p:cNvCxnSpPr>
          <p:nvPr/>
        </p:nvCxnSpPr>
        <p:spPr>
          <a:xfrm>
            <a:off x="3110230" y="3233857"/>
            <a:ext cx="0" cy="201062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Rectangle 121">
            <a:extLst>
              <a:ext uri="{FF2B5EF4-FFF2-40B4-BE49-F238E27FC236}">
                <a16:creationId xmlns:a16="http://schemas.microsoft.com/office/drawing/2014/main" id="{D891370E-69AB-D16D-8E1C-0CB692844250}"/>
              </a:ext>
            </a:extLst>
          </p:cNvPr>
          <p:cNvSpPr/>
          <p:nvPr/>
        </p:nvSpPr>
        <p:spPr>
          <a:xfrm>
            <a:off x="1507244" y="3155412"/>
            <a:ext cx="58650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/>
              <a:t>R</a:t>
            </a:r>
            <a:r>
              <a:rPr lang="en-US" baseline="-25000" dirty="0"/>
              <a:t>1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Content Placeholder 2">
                <a:extLst>
                  <a:ext uri="{FF2B5EF4-FFF2-40B4-BE49-F238E27FC236}">
                    <a16:creationId xmlns:a16="http://schemas.microsoft.com/office/drawing/2014/main" id="{A039C003-E1D2-A125-960A-219DD6DD796D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135578" y="2588277"/>
                <a:ext cx="4916978" cy="38353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4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r>
                  <a:rPr lang="en-US" sz="2400" i="1" kern="0" dirty="0"/>
                  <a:t>i</a:t>
                </a:r>
                <a:r>
                  <a:rPr lang="en-US" sz="2400" kern="0" baseline="-25000" dirty="0"/>
                  <a:t>1 </a:t>
                </a:r>
                <a:r>
                  <a:rPr lang="en-US" sz="2400" kern="0" dirty="0"/>
                  <a:t>= (</a:t>
                </a:r>
                <a:r>
                  <a:rPr lang="en-US" sz="2400" i="1" kern="0" dirty="0"/>
                  <a:t>V</a:t>
                </a:r>
                <a:r>
                  <a:rPr lang="en-US" sz="2400" kern="0" baseline="-25000" dirty="0"/>
                  <a:t>1</a:t>
                </a:r>
                <a:r>
                  <a:rPr lang="en-US" sz="2400" kern="0" dirty="0"/>
                  <a:t>-</a:t>
                </a:r>
                <a:r>
                  <a:rPr lang="en-US" sz="2400" i="1" kern="0" dirty="0"/>
                  <a:t>V</a:t>
                </a:r>
                <a:r>
                  <a:rPr lang="en-US" sz="2400" kern="0" baseline="-25000" dirty="0"/>
                  <a:t>3</a:t>
                </a:r>
                <a:r>
                  <a:rPr lang="en-US" sz="2400" kern="0" dirty="0"/>
                  <a:t>)/</a:t>
                </a:r>
                <a:r>
                  <a:rPr lang="en-US" sz="2400" i="1" kern="0" dirty="0"/>
                  <a:t>R</a:t>
                </a:r>
                <a:r>
                  <a:rPr lang="en-US" sz="2400" kern="0" baseline="-25000" dirty="0"/>
                  <a:t>1</a:t>
                </a:r>
                <a:endParaRPr lang="en-US" sz="2400" kern="0" dirty="0"/>
              </a:p>
              <a:p>
                <a:r>
                  <a:rPr lang="en-US" sz="2400" i="1" kern="0" dirty="0"/>
                  <a:t>i</a:t>
                </a:r>
                <a:r>
                  <a:rPr lang="en-US" sz="2400" kern="0" baseline="-25000" dirty="0"/>
                  <a:t>2</a:t>
                </a:r>
                <a:r>
                  <a:rPr lang="en-US" sz="2400" i="1" kern="0" dirty="0"/>
                  <a:t>=</a:t>
                </a:r>
                <a:r>
                  <a:rPr lang="en-US" sz="2400" kern="0" dirty="0"/>
                  <a:t> (</a:t>
                </a:r>
                <a:r>
                  <a:rPr lang="en-US" sz="2400" i="1" kern="0" dirty="0"/>
                  <a:t>V</a:t>
                </a:r>
                <a:r>
                  <a:rPr lang="en-US" sz="2400" i="1" kern="0" baseline="-25000" dirty="0"/>
                  <a:t>2</a:t>
                </a:r>
                <a:r>
                  <a:rPr lang="en-US" sz="2400" kern="0" dirty="0"/>
                  <a:t>-</a:t>
                </a:r>
                <a:r>
                  <a:rPr lang="en-US" sz="2400" i="1" kern="0" dirty="0"/>
                  <a:t>V</a:t>
                </a:r>
                <a:r>
                  <a:rPr lang="en-US" sz="2400" kern="0" baseline="-25000" dirty="0"/>
                  <a:t>3</a:t>
                </a:r>
                <a:r>
                  <a:rPr lang="en-US" sz="2400" kern="0" dirty="0"/>
                  <a:t>)/</a:t>
                </a:r>
                <a:r>
                  <a:rPr lang="en-US" sz="2400" i="1" kern="0" dirty="0"/>
                  <a:t>R</a:t>
                </a:r>
                <a:r>
                  <a:rPr lang="en-US" sz="2400" kern="0" baseline="-25000" dirty="0"/>
                  <a:t>2</a:t>
                </a:r>
                <a:endParaRPr lang="en-US" sz="2400" kern="0" dirty="0"/>
              </a:p>
              <a:p>
                <a:r>
                  <a:rPr lang="en-US" sz="2400" kern="0" dirty="0"/>
                  <a:t>KCL at </a:t>
                </a:r>
                <a:r>
                  <a:rPr lang="en-US" sz="2400" i="1" kern="0" dirty="0"/>
                  <a:t>V</a:t>
                </a:r>
                <a:r>
                  <a:rPr lang="en-US" sz="2400" kern="0" baseline="-25000" dirty="0"/>
                  <a:t>3</a:t>
                </a:r>
                <a:r>
                  <a:rPr lang="en-US" sz="2400" kern="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kern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kern="0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2400" b="0" i="1" kern="0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 sz="2400" b="0" i="1" kern="0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b="0" i="1" kern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b="0" i="1" kern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kern="0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400" b="0" i="1" kern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b="0" i="1" kern="0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4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ker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400" b="0" i="1" kern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b="0" i="1" kern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kern="0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400" b="0" i="1" kern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sz="2400" i="1" ker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i="1" kern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b="0" i="1" kern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kern="0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400" b="0" i="1" kern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i="1" ker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4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ker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400" i="1" ker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b="0" i="1" kern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kern="0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400" b="0" i="1" kern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sz="2400" b="0" i="1" kern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400" kern="0" dirty="0"/>
              </a:p>
              <a:p>
                <a:r>
                  <a:rPr lang="en-US" sz="2400" i="1" kern="0" dirty="0"/>
                  <a:t>R</a:t>
                </a:r>
                <a:r>
                  <a:rPr lang="en-US" sz="2400" kern="0" baseline="-25000" dirty="0"/>
                  <a:t>1</a:t>
                </a:r>
                <a:r>
                  <a:rPr lang="en-US" sz="2400" i="1" kern="0" dirty="0"/>
                  <a:t>R</a:t>
                </a:r>
                <a:r>
                  <a:rPr lang="en-US" sz="2400" kern="0" baseline="-25000" dirty="0"/>
                  <a:t>2</a:t>
                </a:r>
                <a:r>
                  <a:rPr lang="en-US" sz="2400" kern="0" dirty="0"/>
                  <a:t>i</a:t>
                </a:r>
                <a:r>
                  <a:rPr lang="en-US" sz="2400" kern="0" baseline="-25000" dirty="0"/>
                  <a:t>p</a:t>
                </a:r>
                <a:r>
                  <a:rPr lang="en-US" sz="2400" kern="0" dirty="0"/>
                  <a:t>+(</a:t>
                </a:r>
                <a:r>
                  <a:rPr lang="en-US" sz="2400" i="1" kern="0" dirty="0"/>
                  <a:t>V</a:t>
                </a:r>
                <a:r>
                  <a:rPr lang="en-US" sz="2400" kern="0" baseline="-25000" dirty="0"/>
                  <a:t>1</a:t>
                </a:r>
                <a:r>
                  <a:rPr lang="en-US" sz="2400" kern="0" dirty="0"/>
                  <a:t>-</a:t>
                </a:r>
                <a:r>
                  <a:rPr lang="en-US" sz="2400" i="1" kern="0" dirty="0"/>
                  <a:t>V</a:t>
                </a:r>
                <a:r>
                  <a:rPr lang="en-US" sz="2400" kern="0" baseline="-25000" dirty="0"/>
                  <a:t>3</a:t>
                </a:r>
                <a:r>
                  <a:rPr lang="en-US" sz="2400" kern="0" dirty="0"/>
                  <a:t>)</a:t>
                </a:r>
                <a:r>
                  <a:rPr lang="en-US" sz="2400" i="1" kern="0" dirty="0"/>
                  <a:t>R</a:t>
                </a:r>
                <a:r>
                  <a:rPr lang="en-US" sz="2400" kern="0" baseline="-25000" dirty="0"/>
                  <a:t>2</a:t>
                </a:r>
                <a:r>
                  <a:rPr lang="en-US" sz="2400" kern="0" dirty="0"/>
                  <a:t>+(</a:t>
                </a:r>
                <a:r>
                  <a:rPr lang="en-US" sz="2400" i="1" kern="0" dirty="0"/>
                  <a:t>V</a:t>
                </a:r>
                <a:r>
                  <a:rPr lang="en-US" sz="2400" kern="0" baseline="-25000" dirty="0"/>
                  <a:t>2</a:t>
                </a:r>
                <a:r>
                  <a:rPr lang="en-US" sz="2400" kern="0" dirty="0"/>
                  <a:t>-</a:t>
                </a:r>
                <a:r>
                  <a:rPr lang="en-US" sz="2400" i="1" kern="0" dirty="0"/>
                  <a:t>V</a:t>
                </a:r>
                <a:r>
                  <a:rPr lang="en-US" sz="2400" kern="0" baseline="-25000" dirty="0"/>
                  <a:t>3</a:t>
                </a:r>
                <a:r>
                  <a:rPr lang="en-US" sz="2400" kern="0" dirty="0"/>
                  <a:t>)</a:t>
                </a:r>
                <a:r>
                  <a:rPr lang="en-US" sz="2400" i="1" kern="0" dirty="0"/>
                  <a:t>R</a:t>
                </a:r>
                <a:r>
                  <a:rPr lang="en-US" sz="2400" kern="0" baseline="-25000" dirty="0"/>
                  <a:t>1</a:t>
                </a:r>
                <a:r>
                  <a:rPr lang="en-US" sz="2400" kern="0" dirty="0"/>
                  <a:t> = 0</a:t>
                </a:r>
                <a:endParaRPr lang="en-US" sz="2400" i="1" kern="0" dirty="0"/>
              </a:p>
              <a:p>
                <a:r>
                  <a:rPr lang="en-US" sz="2400" i="1" kern="0" dirty="0"/>
                  <a:t>R</a:t>
                </a:r>
                <a:r>
                  <a:rPr lang="en-US" sz="2400" kern="0" baseline="-25000" dirty="0"/>
                  <a:t>1</a:t>
                </a:r>
                <a:r>
                  <a:rPr lang="en-US" sz="2400" i="1" kern="0" dirty="0"/>
                  <a:t>R</a:t>
                </a:r>
                <a:r>
                  <a:rPr lang="en-US" sz="2400" kern="0" baseline="-25000" dirty="0"/>
                  <a:t>2</a:t>
                </a:r>
                <a:r>
                  <a:rPr lang="en-US" sz="2400" kern="0" dirty="0"/>
                  <a:t>i</a:t>
                </a:r>
                <a:r>
                  <a:rPr lang="en-US" sz="2400" kern="0" baseline="-25000" dirty="0"/>
                  <a:t>p</a:t>
                </a:r>
                <a:r>
                  <a:rPr lang="en-US" sz="2400" kern="0" dirty="0"/>
                  <a:t>+</a:t>
                </a:r>
                <a:r>
                  <a:rPr lang="en-US" sz="2400" i="1" kern="0" dirty="0"/>
                  <a:t>V</a:t>
                </a:r>
                <a:r>
                  <a:rPr lang="en-US" sz="2400" kern="0" baseline="-25000" dirty="0"/>
                  <a:t>1</a:t>
                </a:r>
                <a:r>
                  <a:rPr lang="en-US" sz="2400" i="1" kern="0" dirty="0"/>
                  <a:t>R</a:t>
                </a:r>
                <a:r>
                  <a:rPr lang="en-US" sz="2400" kern="0" baseline="-25000" dirty="0"/>
                  <a:t>2</a:t>
                </a:r>
                <a:r>
                  <a:rPr lang="en-US" sz="2400" kern="0" dirty="0"/>
                  <a:t>+</a:t>
                </a:r>
                <a:r>
                  <a:rPr lang="en-US" sz="2400" i="1" kern="0" dirty="0"/>
                  <a:t> V</a:t>
                </a:r>
                <a:r>
                  <a:rPr lang="en-US" sz="2400" kern="0" baseline="-25000" dirty="0"/>
                  <a:t>2</a:t>
                </a:r>
                <a:r>
                  <a:rPr lang="en-US" sz="2400" i="1" kern="0" dirty="0"/>
                  <a:t>R</a:t>
                </a:r>
                <a:r>
                  <a:rPr lang="en-US" sz="2400" kern="0" baseline="-25000" dirty="0"/>
                  <a:t>1</a:t>
                </a:r>
                <a:r>
                  <a:rPr lang="en-US" sz="2400" i="1" kern="0" dirty="0"/>
                  <a:t>=V</a:t>
                </a:r>
                <a:r>
                  <a:rPr lang="en-US" sz="2400" kern="0" baseline="-25000" dirty="0"/>
                  <a:t>3</a:t>
                </a:r>
                <a:r>
                  <a:rPr lang="en-US" sz="2400" kern="0" dirty="0"/>
                  <a:t>(</a:t>
                </a:r>
                <a:r>
                  <a:rPr lang="en-US" sz="2400" i="1" kern="0" dirty="0"/>
                  <a:t>R</a:t>
                </a:r>
                <a:r>
                  <a:rPr lang="en-US" sz="2400" kern="0" baseline="-25000" dirty="0"/>
                  <a:t>1</a:t>
                </a:r>
                <a:r>
                  <a:rPr lang="en-US" sz="2400" kern="0" dirty="0"/>
                  <a:t>+</a:t>
                </a:r>
                <a:r>
                  <a:rPr lang="en-US" sz="2400" i="1" kern="0" dirty="0"/>
                  <a:t>R</a:t>
                </a:r>
                <a:r>
                  <a:rPr lang="en-US" sz="2400" kern="0" baseline="-25000" dirty="0"/>
                  <a:t>2</a:t>
                </a:r>
                <a:r>
                  <a:rPr lang="en-US" sz="2400" kern="0" dirty="0"/>
                  <a:t>)</a:t>
                </a:r>
                <a:endParaRPr lang="en-US" sz="2400" i="1" kern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kern="0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sz="2400" b="0" i="1" kern="0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𝑉</m:t>
                        </m:r>
                      </m:e>
                      <m:sub>
                        <m:r>
                          <a:rPr lang="en-US" sz="2400" b="0" i="1" kern="0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3</m:t>
                        </m:r>
                      </m:sub>
                    </m:sSub>
                    <m:r>
                      <a:rPr lang="en-US" sz="2400" b="0" i="1" kern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f>
                      <m:fPr>
                        <m:ctrlPr>
                          <a:rPr lang="en-US" sz="2400" i="1" ker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ker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400" i="1" ker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ker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400" b="0" i="1" kern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b="0" i="1" kern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kern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sz="2400" b="0" i="1" kern="0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  <m:r>
                          <a:rPr lang="en-US" sz="2400" b="0" i="1" kern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b="0" i="1" kern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kern="0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400" i="1" ker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ker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400" b="0" i="1" kern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i="1" ker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ker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400" b="0" i="1" kern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ker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400" b="0" i="1" kern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ker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400" i="1" ker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b="0" i="1" kern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ker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400" b="0" i="1" kern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i="1" kern="0" dirty="0">
                    <a:sym typeface="Symbol" panose="05050102010706020507" pitchFamily="18" charset="2"/>
                  </a:rPr>
                  <a:t> </a:t>
                </a:r>
              </a:p>
              <a:p>
                <a:pPr marL="457200" indent="0">
                  <a:buNone/>
                </a:pPr>
                <a14:m>
                  <m:oMath xmlns:m="http://schemas.openxmlformats.org/officeDocument/2006/math">
                    <m:r>
                      <a:rPr lang="en-US" sz="2400" b="0" i="1" kern="0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sSub>
                      <m:sSubPr>
                        <m:ctrlPr>
                          <a:rPr lang="en-US" sz="24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ker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f>
                      <m:fPr>
                        <m:ctrlPr>
                          <a:rPr lang="en-US" sz="2400" i="1" ker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ker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400" i="1" ker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ker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400" i="1" ker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 ker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ker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400" i="1" ker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sz="2400" b="0" i="1" kern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ker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kern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f>
                      <m:fPr>
                        <m:ctrlPr>
                          <a:rPr lang="en-US" sz="2400" i="1" ker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ker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400" b="0" i="1" kern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ker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400" i="1" ker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 ker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ker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400" i="1" ker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kern="0" dirty="0"/>
                  <a:t> 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kern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kern="0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b="0" i="1" kern="0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f>
                      <m:fPr>
                        <m:ctrlPr>
                          <a:rPr lang="en-US" sz="2400" i="1" kern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b="0" i="1" kern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kern="0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400" b="0" i="1" kern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ker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400" i="1" ker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ker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400" i="1" ker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 ker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ker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400" i="1" ker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lang="en-US" sz="2400" i="1" kern="0" dirty="0">
                  <a:sym typeface="Symbol" panose="05050102010706020507" pitchFamily="18" charset="2"/>
                </a:endParaRPr>
              </a:p>
              <a:p>
                <a:pPr marL="0" indent="0">
                  <a:buNone/>
                </a:pPr>
                <a:endParaRPr lang="en-US" kern="0" dirty="0"/>
              </a:p>
            </p:txBody>
          </p:sp>
        </mc:Choice>
        <mc:Fallback xmlns="">
          <p:sp>
            <p:nvSpPr>
              <p:cNvPr id="125" name="Content Placeholder 2">
                <a:extLst>
                  <a:ext uri="{FF2B5EF4-FFF2-40B4-BE49-F238E27FC236}">
                    <a16:creationId xmlns:a16="http://schemas.microsoft.com/office/drawing/2014/main" id="{A039C003-E1D2-A125-960A-219DD6DD79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35578" y="2588277"/>
                <a:ext cx="4916978" cy="3835379"/>
              </a:xfrm>
              <a:prstGeom prst="rect">
                <a:avLst/>
              </a:prstGeom>
              <a:blipFill>
                <a:blip r:embed="rId3"/>
                <a:stretch>
                  <a:fillRect l="-1611" t="-127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485289EB-400D-1AA4-104E-4CC13BEEEB45}"/>
              </a:ext>
            </a:extLst>
          </p:cNvPr>
          <p:cNvCxnSpPr>
            <a:cxnSpLocks/>
          </p:cNvCxnSpPr>
          <p:nvPr/>
        </p:nvCxnSpPr>
        <p:spPr>
          <a:xfrm flipV="1">
            <a:off x="1544053" y="3764280"/>
            <a:ext cx="0" cy="610994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4510B190-421E-AF6D-C1D3-5E3156ABC501}"/>
              </a:ext>
            </a:extLst>
          </p:cNvPr>
          <p:cNvSpPr txBox="1"/>
          <p:nvPr/>
        </p:nvSpPr>
        <p:spPr>
          <a:xfrm>
            <a:off x="1300532" y="3945040"/>
            <a:ext cx="26918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i="1" dirty="0"/>
              <a:t>i</a:t>
            </a:r>
            <a:r>
              <a:rPr lang="en-US" sz="2000" baseline="-25000" dirty="0"/>
              <a:t>1</a:t>
            </a:r>
            <a:endParaRPr lang="en-US" sz="2000" dirty="0"/>
          </a:p>
        </p:txBody>
      </p: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00436793-3A66-05C2-923D-BC08EF954D5D}"/>
              </a:ext>
            </a:extLst>
          </p:cNvPr>
          <p:cNvGrpSpPr/>
          <p:nvPr/>
        </p:nvGrpSpPr>
        <p:grpSpPr>
          <a:xfrm>
            <a:off x="3285223" y="3870960"/>
            <a:ext cx="334277" cy="610994"/>
            <a:chOff x="3490963" y="3402330"/>
            <a:chExt cx="334277" cy="610994"/>
          </a:xfrm>
        </p:grpSpPr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63F6C9C0-8FFF-0A20-C389-8478CED165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90963" y="3402330"/>
              <a:ext cx="0" cy="610994"/>
            </a:xfrm>
            <a:prstGeom prst="straightConnector1">
              <a:avLst/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66288553-1B21-06FB-A50F-FA387549BC43}"/>
                </a:ext>
              </a:extLst>
            </p:cNvPr>
            <p:cNvSpPr txBox="1"/>
            <p:nvPr/>
          </p:nvSpPr>
          <p:spPr>
            <a:xfrm>
              <a:off x="3556052" y="3560230"/>
              <a:ext cx="269188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2000" i="1" baseline="-25000" dirty="0"/>
                <a:t>i</a:t>
              </a:r>
              <a:r>
                <a:rPr lang="en-US" sz="2000" baseline="-25000" dirty="0"/>
                <a:t>2</a:t>
              </a:r>
              <a:endParaRPr lang="en-US" sz="2000" dirty="0"/>
            </a:p>
          </p:txBody>
        </p:sp>
      </p:grpSp>
      <p:sp>
        <p:nvSpPr>
          <p:cNvPr id="5" name="Oval 4">
            <a:extLst>
              <a:ext uri="{FF2B5EF4-FFF2-40B4-BE49-F238E27FC236}">
                <a16:creationId xmlns:a16="http://schemas.microsoft.com/office/drawing/2014/main" id="{5B8C304E-A32F-BE6C-AA7C-E6808A085C17}"/>
              </a:ext>
            </a:extLst>
          </p:cNvPr>
          <p:cNvSpPr/>
          <p:nvPr/>
        </p:nvSpPr>
        <p:spPr>
          <a:xfrm>
            <a:off x="185902" y="3827357"/>
            <a:ext cx="279400" cy="67733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BE37ACA-82A7-94F6-D8D8-B65116AB738F}"/>
              </a:ext>
            </a:extLst>
          </p:cNvPr>
          <p:cNvCxnSpPr>
            <a:cxnSpLocks/>
          </p:cNvCxnSpPr>
          <p:nvPr/>
        </p:nvCxnSpPr>
        <p:spPr>
          <a:xfrm>
            <a:off x="325602" y="4036484"/>
            <a:ext cx="0" cy="30480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8153F7E-8D15-E86B-7D85-1BE4F01D93C0}"/>
              </a:ext>
            </a:extLst>
          </p:cNvPr>
          <p:cNvCxnSpPr>
            <a:stCxn id="5" idx="0"/>
          </p:cNvCxnSpPr>
          <p:nvPr/>
        </p:nvCxnSpPr>
        <p:spPr>
          <a:xfrm flipV="1">
            <a:off x="325602" y="3063661"/>
            <a:ext cx="0" cy="763696"/>
          </a:xfrm>
          <a:prstGeom prst="line">
            <a:avLst/>
          </a:prstGeom>
          <a:ln w="38100">
            <a:solidFill>
              <a:schemeClr val="accent4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07A6701-1AFB-329B-0BDC-0D63576F8E9D}"/>
              </a:ext>
            </a:extLst>
          </p:cNvPr>
          <p:cNvCxnSpPr>
            <a:cxnSpLocks/>
          </p:cNvCxnSpPr>
          <p:nvPr/>
        </p:nvCxnSpPr>
        <p:spPr>
          <a:xfrm flipV="1">
            <a:off x="317982" y="4507651"/>
            <a:ext cx="0" cy="693838"/>
          </a:xfrm>
          <a:prstGeom prst="line">
            <a:avLst/>
          </a:prstGeom>
          <a:ln w="38100">
            <a:solidFill>
              <a:schemeClr val="accent4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C35FD370-9BA6-ACF8-662C-E263A752D42B}"/>
              </a:ext>
            </a:extLst>
          </p:cNvPr>
          <p:cNvSpPr/>
          <p:nvPr/>
        </p:nvSpPr>
        <p:spPr>
          <a:xfrm>
            <a:off x="2699774" y="3193512"/>
            <a:ext cx="58650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/>
              <a:t>R</a:t>
            </a:r>
            <a:r>
              <a:rPr lang="en-US" baseline="-25000" dirty="0"/>
              <a:t>2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BA8ADB-656E-12A7-60AA-D61C543CBCB2}"/>
              </a:ext>
            </a:extLst>
          </p:cNvPr>
          <p:cNvSpPr txBox="1"/>
          <p:nvPr/>
        </p:nvSpPr>
        <p:spPr>
          <a:xfrm>
            <a:off x="561392" y="3960280"/>
            <a:ext cx="26918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i="1" dirty="0" err="1"/>
              <a:t>i</a:t>
            </a:r>
            <a:r>
              <a:rPr lang="en-US" sz="2000" baseline="-25000" dirty="0" err="1"/>
              <a:t>P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41671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390A0-6C10-3167-FF66-2F8363CEA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Intuition for cell-like circuits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5F11A7-1154-6A0F-0B69-E38EE06F5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EE 123 Joel Grodstein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D6D4567-AD58-94BA-340B-A27AA809F980}"/>
              </a:ext>
            </a:extLst>
          </p:cNvPr>
          <p:cNvCxnSpPr>
            <a:cxnSpLocks/>
          </p:cNvCxnSpPr>
          <p:nvPr/>
        </p:nvCxnSpPr>
        <p:spPr>
          <a:xfrm>
            <a:off x="325602" y="5198530"/>
            <a:ext cx="2772112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888D8ED-0B66-E480-25DF-E9325C5A83F8}"/>
              </a:ext>
            </a:extLst>
          </p:cNvPr>
          <p:cNvCxnSpPr>
            <a:cxnSpLocks/>
          </p:cNvCxnSpPr>
          <p:nvPr/>
        </p:nvCxnSpPr>
        <p:spPr>
          <a:xfrm>
            <a:off x="325602" y="3063661"/>
            <a:ext cx="2772112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9ED29829-BB68-0E3F-8C4D-61E290BAA41B}"/>
              </a:ext>
            </a:extLst>
          </p:cNvPr>
          <p:cNvSpPr txBox="1"/>
          <p:nvPr/>
        </p:nvSpPr>
        <p:spPr>
          <a:xfrm>
            <a:off x="1921948" y="5285868"/>
            <a:ext cx="90963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dirty="0"/>
              <a:t>Ground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10FAAC47-49DB-379E-7408-C88B9677383F}"/>
              </a:ext>
            </a:extLst>
          </p:cNvPr>
          <p:cNvCxnSpPr>
            <a:cxnSpLocks/>
          </p:cNvCxnSpPr>
          <p:nvPr/>
        </p:nvCxnSpPr>
        <p:spPr>
          <a:xfrm>
            <a:off x="1940609" y="3054772"/>
            <a:ext cx="0" cy="203198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4F74E0F5-94E6-A1B5-BBAC-04B4099130CD}"/>
              </a:ext>
            </a:extLst>
          </p:cNvPr>
          <p:cNvSpPr txBox="1"/>
          <p:nvPr/>
        </p:nvSpPr>
        <p:spPr>
          <a:xfrm>
            <a:off x="1372922" y="4657510"/>
            <a:ext cx="242054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i="1" dirty="0"/>
              <a:t>V</a:t>
            </a:r>
            <a:r>
              <a:rPr lang="en-US" sz="2000" baseline="-25000" dirty="0"/>
              <a:t>1</a:t>
            </a:r>
            <a:endParaRPr lang="en-US" sz="2000" dirty="0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8F921FBC-F5A5-373E-A88E-735462E35713}"/>
              </a:ext>
            </a:extLst>
          </p:cNvPr>
          <p:cNvCxnSpPr>
            <a:cxnSpLocks/>
          </p:cNvCxnSpPr>
          <p:nvPr/>
        </p:nvCxnSpPr>
        <p:spPr>
          <a:xfrm>
            <a:off x="1928044" y="4056817"/>
            <a:ext cx="0" cy="668066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E7D8D8F5-5B56-EF09-6678-43BE3E39A490}"/>
              </a:ext>
            </a:extLst>
          </p:cNvPr>
          <p:cNvCxnSpPr>
            <a:cxnSpLocks/>
          </p:cNvCxnSpPr>
          <p:nvPr/>
        </p:nvCxnSpPr>
        <p:spPr>
          <a:xfrm>
            <a:off x="1928044" y="4822627"/>
            <a:ext cx="0" cy="378862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5" name="Group 74">
            <a:extLst>
              <a:ext uri="{FF2B5EF4-FFF2-40B4-BE49-F238E27FC236}">
                <a16:creationId xmlns:a16="http://schemas.microsoft.com/office/drawing/2014/main" id="{E2223588-31B1-994B-CCAF-BC61D2EB4A51}"/>
              </a:ext>
            </a:extLst>
          </p:cNvPr>
          <p:cNvGrpSpPr/>
          <p:nvPr/>
        </p:nvGrpSpPr>
        <p:grpSpPr>
          <a:xfrm flipV="1">
            <a:off x="1699444" y="4721028"/>
            <a:ext cx="457200" cy="101599"/>
            <a:chOff x="3088619" y="3223591"/>
            <a:chExt cx="457200" cy="101599"/>
          </a:xfrm>
        </p:grpSpPr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58D00946-A5CC-1351-3363-326C81A5A571}"/>
                </a:ext>
              </a:extLst>
            </p:cNvPr>
            <p:cNvCxnSpPr>
              <a:cxnSpLocks/>
            </p:cNvCxnSpPr>
            <p:nvPr/>
          </p:nvCxnSpPr>
          <p:spPr>
            <a:xfrm>
              <a:off x="3088619" y="3223591"/>
              <a:ext cx="45720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3285E578-DF03-E782-96B5-D58A3830EF81}"/>
                </a:ext>
              </a:extLst>
            </p:cNvPr>
            <p:cNvCxnSpPr>
              <a:cxnSpLocks/>
            </p:cNvCxnSpPr>
            <p:nvPr/>
          </p:nvCxnSpPr>
          <p:spPr>
            <a:xfrm>
              <a:off x="3190218" y="3325190"/>
              <a:ext cx="254003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C89B27A7-A7C1-7DAF-2DE9-7C5B96AA8D1A}"/>
              </a:ext>
            </a:extLst>
          </p:cNvPr>
          <p:cNvSpPr txBox="1"/>
          <p:nvPr/>
        </p:nvSpPr>
        <p:spPr>
          <a:xfrm>
            <a:off x="1596390" y="4365427"/>
            <a:ext cx="48387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</a:t>
            </a: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43894EB6-0642-D561-9583-5DCD48DCFE17}"/>
              </a:ext>
            </a:extLst>
          </p:cNvPr>
          <p:cNvGrpSpPr/>
          <p:nvPr/>
        </p:nvGrpSpPr>
        <p:grpSpPr>
          <a:xfrm rot="5400000">
            <a:off x="1623244" y="3547801"/>
            <a:ext cx="609600" cy="408432"/>
            <a:chOff x="2590800" y="1592580"/>
            <a:chExt cx="609600" cy="408432"/>
          </a:xfrm>
        </p:grpSpPr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327FD15B-D1FE-75AE-E0B3-D2CE625D784D}"/>
                </a:ext>
              </a:extLst>
            </p:cNvPr>
            <p:cNvCxnSpPr/>
            <p:nvPr/>
          </p:nvCxnSpPr>
          <p:spPr>
            <a:xfrm rot="5400000">
              <a:off x="3066288" y="1833372"/>
              <a:ext cx="192024" cy="762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CEA5FB7B-C0AF-7250-F878-1B77338DB883}"/>
                </a:ext>
              </a:extLst>
            </p:cNvPr>
            <p:cNvCxnSpPr/>
            <p:nvPr/>
          </p:nvCxnSpPr>
          <p:spPr>
            <a:xfrm rot="5400000" flipV="1">
              <a:off x="2857500" y="1734312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AD244281-70D0-17F9-1AC5-6E1BEBED73BD}"/>
                </a:ext>
              </a:extLst>
            </p:cNvPr>
            <p:cNvCxnSpPr/>
            <p:nvPr/>
          </p:nvCxnSpPr>
          <p:spPr>
            <a:xfrm rot="5400000" flipH="1" flipV="1">
              <a:off x="2705100" y="17145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2270E1D2-D83B-E494-D959-75FB8A989498}"/>
                </a:ext>
              </a:extLst>
            </p:cNvPr>
            <p:cNvCxnSpPr/>
            <p:nvPr/>
          </p:nvCxnSpPr>
          <p:spPr>
            <a:xfrm rot="5400000" flipV="1">
              <a:off x="2552700" y="17145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8744E97A-5155-D79F-BAD7-986B5B4E976A}"/>
                </a:ext>
              </a:extLst>
            </p:cNvPr>
            <p:cNvCxnSpPr/>
            <p:nvPr/>
          </p:nvCxnSpPr>
          <p:spPr>
            <a:xfrm rot="5400000">
              <a:off x="2532888" y="1650492"/>
              <a:ext cx="192024" cy="762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F44E700B-4645-9D93-B6DE-199C2DE581EA}"/>
              </a:ext>
            </a:extLst>
          </p:cNvPr>
          <p:cNvCxnSpPr>
            <a:cxnSpLocks/>
          </p:cNvCxnSpPr>
          <p:nvPr/>
        </p:nvCxnSpPr>
        <p:spPr>
          <a:xfrm>
            <a:off x="1940560" y="3241477"/>
            <a:ext cx="0" cy="201062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2DFBEEA0-4BC4-0BB9-B327-6C9920B4B115}"/>
              </a:ext>
            </a:extLst>
          </p:cNvPr>
          <p:cNvSpPr txBox="1"/>
          <p:nvPr/>
        </p:nvSpPr>
        <p:spPr>
          <a:xfrm>
            <a:off x="2256842" y="2718220"/>
            <a:ext cx="26918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i="1" dirty="0"/>
              <a:t>V</a:t>
            </a:r>
            <a:r>
              <a:rPr lang="en-US" sz="2000" baseline="-25000" dirty="0"/>
              <a:t>3</a:t>
            </a:r>
            <a:endParaRPr lang="en-US" sz="2000" dirty="0"/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83F20278-54F9-47E7-D211-94FEC27243EF}"/>
              </a:ext>
            </a:extLst>
          </p:cNvPr>
          <p:cNvCxnSpPr>
            <a:cxnSpLocks/>
          </p:cNvCxnSpPr>
          <p:nvPr/>
        </p:nvCxnSpPr>
        <p:spPr>
          <a:xfrm>
            <a:off x="3110279" y="3047152"/>
            <a:ext cx="0" cy="203198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83D89936-4237-E16E-307A-873AD4D884C7}"/>
              </a:ext>
            </a:extLst>
          </p:cNvPr>
          <p:cNvSpPr txBox="1"/>
          <p:nvPr/>
        </p:nvSpPr>
        <p:spPr>
          <a:xfrm>
            <a:off x="2599742" y="4661320"/>
            <a:ext cx="242054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i="1" dirty="0"/>
              <a:t>V</a:t>
            </a:r>
            <a:r>
              <a:rPr lang="en-US" sz="2000" baseline="-25000" dirty="0"/>
              <a:t>2</a:t>
            </a:r>
            <a:endParaRPr lang="en-US" sz="2000" dirty="0"/>
          </a:p>
        </p:txBody>
      </p: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496502B4-CE79-A527-A3D2-94C7C6480EA0}"/>
              </a:ext>
            </a:extLst>
          </p:cNvPr>
          <p:cNvCxnSpPr>
            <a:cxnSpLocks/>
          </p:cNvCxnSpPr>
          <p:nvPr/>
        </p:nvCxnSpPr>
        <p:spPr>
          <a:xfrm>
            <a:off x="3097714" y="4049197"/>
            <a:ext cx="0" cy="668066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0E79D53B-0C2C-1014-E516-3ED32AC6D63F}"/>
              </a:ext>
            </a:extLst>
          </p:cNvPr>
          <p:cNvCxnSpPr>
            <a:cxnSpLocks/>
          </p:cNvCxnSpPr>
          <p:nvPr/>
        </p:nvCxnSpPr>
        <p:spPr>
          <a:xfrm>
            <a:off x="3097714" y="4815007"/>
            <a:ext cx="0" cy="378862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B7393F3E-421B-F174-4061-CF29EFABE86F}"/>
              </a:ext>
            </a:extLst>
          </p:cNvPr>
          <p:cNvGrpSpPr/>
          <p:nvPr/>
        </p:nvGrpSpPr>
        <p:grpSpPr>
          <a:xfrm flipV="1">
            <a:off x="2869114" y="4713408"/>
            <a:ext cx="457200" cy="101599"/>
            <a:chOff x="3088619" y="3223591"/>
            <a:chExt cx="457200" cy="101599"/>
          </a:xfrm>
        </p:grpSpPr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3A4CFC37-F2E1-1257-A193-CFE66C207D47}"/>
                </a:ext>
              </a:extLst>
            </p:cNvPr>
            <p:cNvCxnSpPr>
              <a:cxnSpLocks/>
            </p:cNvCxnSpPr>
            <p:nvPr/>
          </p:nvCxnSpPr>
          <p:spPr>
            <a:xfrm>
              <a:off x="3088619" y="3223591"/>
              <a:ext cx="45720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6A5B414F-CCD5-2E6C-ADBA-438BC201B6BB}"/>
                </a:ext>
              </a:extLst>
            </p:cNvPr>
            <p:cNvCxnSpPr>
              <a:cxnSpLocks/>
            </p:cNvCxnSpPr>
            <p:nvPr/>
          </p:nvCxnSpPr>
          <p:spPr>
            <a:xfrm>
              <a:off x="3190218" y="3325190"/>
              <a:ext cx="254003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0" name="TextBox 109">
            <a:extLst>
              <a:ext uri="{FF2B5EF4-FFF2-40B4-BE49-F238E27FC236}">
                <a16:creationId xmlns:a16="http://schemas.microsoft.com/office/drawing/2014/main" id="{9FA532B4-A880-0666-0A89-03C2A7EC7BC3}"/>
              </a:ext>
            </a:extLst>
          </p:cNvPr>
          <p:cNvSpPr txBox="1"/>
          <p:nvPr/>
        </p:nvSpPr>
        <p:spPr>
          <a:xfrm>
            <a:off x="2766060" y="4357807"/>
            <a:ext cx="48387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</a:t>
            </a:r>
          </a:p>
        </p:txBody>
      </p: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D72613BB-5863-EA0D-6182-B56D0BE6B5E0}"/>
              </a:ext>
            </a:extLst>
          </p:cNvPr>
          <p:cNvGrpSpPr/>
          <p:nvPr/>
        </p:nvGrpSpPr>
        <p:grpSpPr>
          <a:xfrm rot="5400000">
            <a:off x="2792914" y="3540181"/>
            <a:ext cx="609600" cy="408432"/>
            <a:chOff x="2590800" y="1592580"/>
            <a:chExt cx="609600" cy="408432"/>
          </a:xfrm>
        </p:grpSpPr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FF2542F8-C1CF-E904-51DE-D02AC4570AEA}"/>
                </a:ext>
              </a:extLst>
            </p:cNvPr>
            <p:cNvCxnSpPr/>
            <p:nvPr/>
          </p:nvCxnSpPr>
          <p:spPr>
            <a:xfrm rot="5400000">
              <a:off x="3066288" y="1833372"/>
              <a:ext cx="192024" cy="762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FF6DBE3A-1842-1598-ADC3-06F7DD73AA7C}"/>
                </a:ext>
              </a:extLst>
            </p:cNvPr>
            <p:cNvCxnSpPr/>
            <p:nvPr/>
          </p:nvCxnSpPr>
          <p:spPr>
            <a:xfrm rot="5400000" flipV="1">
              <a:off x="2857500" y="1734312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8AE7B4E8-80CB-057A-7529-7D28969CE503}"/>
                </a:ext>
              </a:extLst>
            </p:cNvPr>
            <p:cNvCxnSpPr/>
            <p:nvPr/>
          </p:nvCxnSpPr>
          <p:spPr>
            <a:xfrm rot="5400000" flipH="1" flipV="1">
              <a:off x="2705100" y="17145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9356AC75-4910-A5D1-DFA1-93546F9EF26B}"/>
                </a:ext>
              </a:extLst>
            </p:cNvPr>
            <p:cNvCxnSpPr/>
            <p:nvPr/>
          </p:nvCxnSpPr>
          <p:spPr>
            <a:xfrm rot="5400000" flipV="1">
              <a:off x="2552700" y="17145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0CBD7150-1103-2CEC-3472-F6AE4E999B60}"/>
                </a:ext>
              </a:extLst>
            </p:cNvPr>
            <p:cNvCxnSpPr/>
            <p:nvPr/>
          </p:nvCxnSpPr>
          <p:spPr>
            <a:xfrm rot="5400000">
              <a:off x="2532888" y="1650492"/>
              <a:ext cx="192024" cy="762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C894BADF-D3A9-32FB-A5BA-13F4D422ECE4}"/>
              </a:ext>
            </a:extLst>
          </p:cNvPr>
          <p:cNvCxnSpPr>
            <a:cxnSpLocks/>
          </p:cNvCxnSpPr>
          <p:nvPr/>
        </p:nvCxnSpPr>
        <p:spPr>
          <a:xfrm>
            <a:off x="3110230" y="3233857"/>
            <a:ext cx="0" cy="201062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Rectangle 121">
            <a:extLst>
              <a:ext uri="{FF2B5EF4-FFF2-40B4-BE49-F238E27FC236}">
                <a16:creationId xmlns:a16="http://schemas.microsoft.com/office/drawing/2014/main" id="{D891370E-69AB-D16D-8E1C-0CB692844250}"/>
              </a:ext>
            </a:extLst>
          </p:cNvPr>
          <p:cNvSpPr/>
          <p:nvPr/>
        </p:nvSpPr>
        <p:spPr>
          <a:xfrm>
            <a:off x="1507244" y="3155412"/>
            <a:ext cx="58650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/>
              <a:t>G</a:t>
            </a:r>
            <a:r>
              <a:rPr lang="en-US" baseline="-25000" dirty="0"/>
              <a:t>1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5" name="Content Placeholder 2">
                <a:extLst>
                  <a:ext uri="{FF2B5EF4-FFF2-40B4-BE49-F238E27FC236}">
                    <a16:creationId xmlns:a16="http://schemas.microsoft.com/office/drawing/2014/main" id="{A039C003-E1D2-A125-960A-219DD6DD796D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3610654" y="2202025"/>
                <a:ext cx="5441902" cy="33575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4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r>
                  <a:rPr lang="en-US" sz="2400" i="1" kern="0" dirty="0"/>
                  <a:t>i</a:t>
                </a:r>
                <a:r>
                  <a:rPr lang="en-US" sz="2400" kern="0" baseline="-25000" dirty="0"/>
                  <a:t>1 </a:t>
                </a:r>
                <a:r>
                  <a:rPr lang="en-US" sz="2400" kern="0" dirty="0"/>
                  <a:t>= (</a:t>
                </a:r>
                <a:r>
                  <a:rPr lang="en-US" sz="2400" i="1" kern="0" dirty="0"/>
                  <a:t>V</a:t>
                </a:r>
                <a:r>
                  <a:rPr lang="en-US" sz="2400" kern="0" baseline="-25000" dirty="0"/>
                  <a:t>1</a:t>
                </a:r>
                <a:r>
                  <a:rPr lang="en-US" sz="2400" kern="0" dirty="0"/>
                  <a:t>-</a:t>
                </a:r>
                <a:r>
                  <a:rPr lang="en-US" sz="2400" i="1" kern="0" dirty="0"/>
                  <a:t>V</a:t>
                </a:r>
                <a:r>
                  <a:rPr lang="en-US" sz="2400" kern="0" baseline="-25000" dirty="0"/>
                  <a:t>3</a:t>
                </a:r>
                <a:r>
                  <a:rPr lang="en-US" sz="2400" kern="0" dirty="0"/>
                  <a:t>)</a:t>
                </a:r>
                <a:r>
                  <a:rPr lang="en-US" sz="2400" i="1" kern="0" dirty="0"/>
                  <a:t>G</a:t>
                </a:r>
                <a:r>
                  <a:rPr lang="en-US" sz="2400" kern="0" baseline="-25000" dirty="0"/>
                  <a:t>1</a:t>
                </a:r>
                <a:endParaRPr lang="en-US" sz="2400" kern="0" dirty="0"/>
              </a:p>
              <a:p>
                <a:r>
                  <a:rPr lang="en-US" sz="2400" i="1" kern="0" dirty="0"/>
                  <a:t>i</a:t>
                </a:r>
                <a:r>
                  <a:rPr lang="en-US" sz="2400" kern="0" baseline="-25000" dirty="0"/>
                  <a:t>2</a:t>
                </a:r>
                <a:r>
                  <a:rPr lang="en-US" sz="2400" i="1" kern="0" dirty="0"/>
                  <a:t>=</a:t>
                </a:r>
                <a:r>
                  <a:rPr lang="en-US" sz="2400" kern="0" dirty="0"/>
                  <a:t> (</a:t>
                </a:r>
                <a:r>
                  <a:rPr lang="en-US" sz="2400" i="1" kern="0" dirty="0"/>
                  <a:t>V</a:t>
                </a:r>
                <a:r>
                  <a:rPr lang="en-US" sz="2400" kern="0" baseline="-25000" dirty="0"/>
                  <a:t>2</a:t>
                </a:r>
                <a:r>
                  <a:rPr lang="en-US" sz="2400" kern="0" dirty="0"/>
                  <a:t>-</a:t>
                </a:r>
                <a:r>
                  <a:rPr lang="en-US" sz="2400" i="1" kern="0" dirty="0"/>
                  <a:t>V</a:t>
                </a:r>
                <a:r>
                  <a:rPr lang="en-US" sz="2400" kern="0" baseline="-25000" dirty="0"/>
                  <a:t>3</a:t>
                </a:r>
                <a:r>
                  <a:rPr lang="en-US" sz="2400" kern="0" dirty="0"/>
                  <a:t>)</a:t>
                </a:r>
                <a:r>
                  <a:rPr lang="en-US" sz="2400" i="1" kern="0" dirty="0"/>
                  <a:t>G</a:t>
                </a:r>
                <a:r>
                  <a:rPr lang="en-US" sz="2400" kern="0" baseline="-25000" dirty="0"/>
                  <a:t>2</a:t>
                </a:r>
              </a:p>
              <a:p>
                <a:r>
                  <a:rPr lang="en-US" sz="2400" kern="0" dirty="0"/>
                  <a:t>Solve for </a:t>
                </a:r>
                <a:r>
                  <a:rPr lang="en-US" sz="2400" i="1" kern="0" dirty="0"/>
                  <a:t>V</a:t>
                </a:r>
                <a:r>
                  <a:rPr lang="en-US" sz="2400" kern="0" baseline="-25000" dirty="0"/>
                  <a:t>3</a:t>
                </a:r>
                <a:r>
                  <a:rPr lang="en-US" sz="2400" kern="0" dirty="0"/>
                  <a:t>=</a:t>
                </a:r>
                <a:r>
                  <a:rPr lang="en-US" sz="2400" i="1" kern="0" dirty="0"/>
                  <a:t> V</a:t>
                </a:r>
                <a:r>
                  <a:rPr lang="en-US" sz="2400" kern="0" baseline="-25000" dirty="0"/>
                  <a:t>1</a:t>
                </a:r>
                <a:r>
                  <a:rPr lang="en-US" sz="2400" i="1" kern="0" dirty="0"/>
                  <a:t>x</a:t>
                </a:r>
                <a:r>
                  <a:rPr lang="en-US" sz="2400" kern="0" dirty="0"/>
                  <a:t>+</a:t>
                </a:r>
                <a:r>
                  <a:rPr lang="en-US" sz="2400" i="1" kern="0" dirty="0"/>
                  <a:t>V</a:t>
                </a:r>
                <a:r>
                  <a:rPr lang="en-US" sz="2400" kern="0" baseline="-25000" dirty="0"/>
                  <a:t>2</a:t>
                </a:r>
                <a:r>
                  <a:rPr lang="en-US" sz="2400" i="1" kern="0" dirty="0"/>
                  <a:t>y+i</a:t>
                </a:r>
                <a:r>
                  <a:rPr lang="en-US" sz="2400" kern="0" baseline="-25000" dirty="0"/>
                  <a:t>p</a:t>
                </a:r>
                <a:r>
                  <a:rPr lang="en-US" sz="2400" i="1" kern="0" dirty="0"/>
                  <a:t>z</a:t>
                </a:r>
              </a:p>
              <a:p>
                <a:pPr lvl="1"/>
                <a:r>
                  <a:rPr lang="en-US" sz="2000" dirty="0"/>
                  <a:t>You’ll need some simple algebra</a:t>
                </a:r>
                <a:endParaRPr lang="en-US" sz="2000" i="1" dirty="0"/>
              </a:p>
              <a:p>
                <a:r>
                  <a:rPr lang="en-US" sz="2400" kern="0" dirty="0"/>
                  <a:t>KCL at </a:t>
                </a:r>
                <a:r>
                  <a:rPr lang="en-US" sz="2400" i="1" kern="0" dirty="0"/>
                  <a:t>V</a:t>
                </a:r>
                <a:r>
                  <a:rPr lang="en-US" sz="2400" kern="0" baseline="-25000" dirty="0"/>
                  <a:t>3</a:t>
                </a:r>
                <a:r>
                  <a:rPr lang="en-US" sz="2400" kern="0" dirty="0"/>
                  <a:t>: </a:t>
                </a:r>
                <a:r>
                  <a:rPr lang="en-US" sz="2400" i="1" kern="0" dirty="0" err="1"/>
                  <a:t>i</a:t>
                </a:r>
                <a:r>
                  <a:rPr lang="en-US" sz="2400" kern="0" baseline="-25000" dirty="0" err="1"/>
                  <a:t>P</a:t>
                </a:r>
                <a:r>
                  <a:rPr lang="en-US" sz="2400" kern="0" dirty="0"/>
                  <a:t>+ (</a:t>
                </a:r>
                <a:r>
                  <a:rPr lang="en-US" sz="2400" i="1" kern="0" dirty="0"/>
                  <a:t>V</a:t>
                </a:r>
                <a:r>
                  <a:rPr lang="en-US" sz="2400" kern="0" baseline="-25000" dirty="0"/>
                  <a:t>1</a:t>
                </a:r>
                <a:r>
                  <a:rPr lang="en-US" sz="2400" kern="0" dirty="0"/>
                  <a:t>-</a:t>
                </a:r>
                <a:r>
                  <a:rPr lang="en-US" sz="2400" i="1" kern="0" dirty="0"/>
                  <a:t>V</a:t>
                </a:r>
                <a:r>
                  <a:rPr lang="en-US" sz="2400" kern="0" baseline="-25000" dirty="0"/>
                  <a:t>3</a:t>
                </a:r>
                <a:r>
                  <a:rPr lang="en-US" sz="2400" kern="0" dirty="0"/>
                  <a:t>)</a:t>
                </a:r>
                <a:r>
                  <a:rPr lang="en-US" sz="2400" i="1" kern="0" dirty="0"/>
                  <a:t>G</a:t>
                </a:r>
                <a:r>
                  <a:rPr lang="en-US" sz="2400" kern="0" baseline="-25000" dirty="0"/>
                  <a:t>1</a:t>
                </a:r>
                <a:r>
                  <a:rPr lang="en-US" sz="2400" kern="0" dirty="0"/>
                  <a:t>+(</a:t>
                </a:r>
                <a:r>
                  <a:rPr lang="en-US" sz="2400" i="1" kern="0" dirty="0"/>
                  <a:t>V</a:t>
                </a:r>
                <a:r>
                  <a:rPr lang="en-US" sz="2400" kern="0" baseline="-25000" dirty="0"/>
                  <a:t>2</a:t>
                </a:r>
                <a:r>
                  <a:rPr lang="en-US" sz="2400" kern="0" dirty="0"/>
                  <a:t>-</a:t>
                </a:r>
                <a:r>
                  <a:rPr lang="en-US" sz="2400" i="1" kern="0" dirty="0"/>
                  <a:t>V</a:t>
                </a:r>
                <a:r>
                  <a:rPr lang="en-US" sz="2400" kern="0" baseline="-25000" dirty="0"/>
                  <a:t>3</a:t>
                </a:r>
                <a:r>
                  <a:rPr lang="en-US" sz="2400" kern="0" dirty="0"/>
                  <a:t>)</a:t>
                </a:r>
                <a:r>
                  <a:rPr lang="en-US" sz="2400" i="1" kern="0" dirty="0"/>
                  <a:t>G</a:t>
                </a:r>
                <a:r>
                  <a:rPr lang="en-US" sz="2400" kern="0" baseline="-25000" dirty="0"/>
                  <a:t>2 </a:t>
                </a:r>
                <a:r>
                  <a:rPr lang="en-US" sz="2400" kern="0" dirty="0"/>
                  <a:t>=0</a:t>
                </a:r>
              </a:p>
              <a:p>
                <a:r>
                  <a:rPr lang="en-US" sz="2400" i="1" kern="0" dirty="0"/>
                  <a:t>i</a:t>
                </a:r>
                <a:r>
                  <a:rPr lang="en-US" sz="2400" kern="0" baseline="-25000" dirty="0"/>
                  <a:t>p</a:t>
                </a:r>
                <a:r>
                  <a:rPr lang="en-US" sz="2400" kern="0" dirty="0"/>
                  <a:t>+</a:t>
                </a:r>
                <a:r>
                  <a:rPr lang="en-US" sz="2400" i="1" kern="0" dirty="0"/>
                  <a:t>V</a:t>
                </a:r>
                <a:r>
                  <a:rPr lang="en-US" sz="2400" kern="0" baseline="-25000" dirty="0"/>
                  <a:t>1</a:t>
                </a:r>
                <a:r>
                  <a:rPr lang="en-US" sz="2400" i="1" kern="0" dirty="0"/>
                  <a:t>G</a:t>
                </a:r>
                <a:r>
                  <a:rPr lang="en-US" sz="2400" kern="0" baseline="-25000" dirty="0"/>
                  <a:t>1</a:t>
                </a:r>
                <a:r>
                  <a:rPr lang="en-US" sz="2400" kern="0" dirty="0"/>
                  <a:t>+</a:t>
                </a:r>
                <a:r>
                  <a:rPr lang="en-US" sz="2400" i="1" kern="0" dirty="0"/>
                  <a:t>V</a:t>
                </a:r>
                <a:r>
                  <a:rPr lang="en-US" sz="2400" kern="0" baseline="-25000" dirty="0"/>
                  <a:t>2</a:t>
                </a:r>
                <a:r>
                  <a:rPr lang="en-US" sz="2400" i="1" kern="0" dirty="0"/>
                  <a:t>G</a:t>
                </a:r>
                <a:r>
                  <a:rPr lang="en-US" sz="2400" kern="0" baseline="-25000" dirty="0"/>
                  <a:t>2</a:t>
                </a:r>
                <a:r>
                  <a:rPr lang="en-US" sz="2400" kern="0" dirty="0"/>
                  <a:t> =</a:t>
                </a:r>
                <a:r>
                  <a:rPr lang="en-US" sz="2400" i="1" kern="0" dirty="0"/>
                  <a:t>V</a:t>
                </a:r>
                <a:r>
                  <a:rPr lang="en-US" sz="2400" kern="0" baseline="-25000" dirty="0"/>
                  <a:t>3</a:t>
                </a:r>
                <a:r>
                  <a:rPr lang="en-US" sz="2400" kern="0" dirty="0"/>
                  <a:t>(</a:t>
                </a:r>
                <a:r>
                  <a:rPr lang="en-US" sz="2400" i="1" kern="0" dirty="0"/>
                  <a:t>G</a:t>
                </a:r>
                <a:r>
                  <a:rPr lang="en-US" sz="2400" kern="0" baseline="-25000" dirty="0"/>
                  <a:t>1</a:t>
                </a:r>
                <a:r>
                  <a:rPr lang="en-US" sz="2400" kern="0" dirty="0"/>
                  <a:t>+</a:t>
                </a:r>
                <a:r>
                  <a:rPr lang="en-US" sz="2400" i="1" kern="0" dirty="0"/>
                  <a:t>G</a:t>
                </a:r>
                <a:r>
                  <a:rPr lang="en-US" sz="2400" kern="0" baseline="-25000" dirty="0"/>
                  <a:t>2</a:t>
                </a:r>
                <a:r>
                  <a:rPr lang="en-US" sz="2400" kern="0" dirty="0"/>
                  <a:t>) </a:t>
                </a:r>
                <a:endParaRPr lang="en-US" sz="2400" i="1" kern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ker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sz="2400" i="1" ker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𝑉</m:t>
                        </m:r>
                      </m:e>
                      <m:sub>
                        <m:r>
                          <a:rPr lang="en-US" sz="2400" i="1" ker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3</m:t>
                        </m:r>
                      </m:sub>
                    </m:sSub>
                    <m:r>
                      <a:rPr lang="en-US" sz="2400" b="0" i="1" kern="0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sSub>
                      <m:sSubPr>
                        <m:ctrlPr>
                          <a:rPr lang="en-US" sz="24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ker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f>
                      <m:fPr>
                        <m:ctrlPr>
                          <a:rPr lang="en-US" sz="2400" i="1" kern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b="0" i="1" kern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kern="0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2400" b="0" i="1" kern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b="0" i="1" kern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kern="0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2400" i="1" ker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 ker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b="0" i="1" kern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kern="0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2400" i="1" ker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sz="2400" b="0" i="1" kern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ker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kern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f>
                      <m:fPr>
                        <m:ctrlPr>
                          <a:rPr lang="en-US" sz="2400" i="1" kern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b="0" i="1" kern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kern="0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2400" b="0" i="1" kern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ker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2400" i="1" ker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 ker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ker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2400" i="1" ker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kern="0" dirty="0"/>
                  <a:t> </a:t>
                </a:r>
                <a14:m>
                  <m:oMath xmlns:m="http://schemas.openxmlformats.org/officeDocument/2006/math">
                    <m:r>
                      <a:rPr lang="en-US" sz="2400" b="0" i="0" kern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kern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kern="0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2400" b="0" i="1" kern="0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f>
                      <m:fPr>
                        <m:ctrlPr>
                          <a:rPr lang="en-US" sz="2400" b="0" i="1" kern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kern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sz="24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ker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2400" i="1" ker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 ker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ker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2400" i="1" ker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lang="en-US" sz="2400" i="1" kern="0" dirty="0">
                  <a:sym typeface="Symbol" panose="05050102010706020507" pitchFamily="18" charset="2"/>
                </a:endParaRPr>
              </a:p>
              <a:p>
                <a:pPr marL="0" indent="0">
                  <a:buNone/>
                </a:pPr>
                <a:endParaRPr lang="en-US" kern="0" dirty="0"/>
              </a:p>
            </p:txBody>
          </p:sp>
        </mc:Choice>
        <mc:Fallback>
          <p:sp>
            <p:nvSpPr>
              <p:cNvPr id="125" name="Content Placeholder 2">
                <a:extLst>
                  <a:ext uri="{FF2B5EF4-FFF2-40B4-BE49-F238E27FC236}">
                    <a16:creationId xmlns:a16="http://schemas.microsoft.com/office/drawing/2014/main" id="{A039C003-E1D2-A125-960A-219DD6DD79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10654" y="2202025"/>
                <a:ext cx="5441902" cy="3357599"/>
              </a:xfrm>
              <a:prstGeom prst="rect">
                <a:avLst/>
              </a:prstGeom>
              <a:blipFill>
                <a:blip r:embed="rId3"/>
                <a:stretch>
                  <a:fillRect l="-1456" t="-145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485289EB-400D-1AA4-104E-4CC13BEEEB45}"/>
              </a:ext>
            </a:extLst>
          </p:cNvPr>
          <p:cNvCxnSpPr>
            <a:cxnSpLocks/>
          </p:cNvCxnSpPr>
          <p:nvPr/>
        </p:nvCxnSpPr>
        <p:spPr>
          <a:xfrm flipV="1">
            <a:off x="1544053" y="3764280"/>
            <a:ext cx="0" cy="610994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4510B190-421E-AF6D-C1D3-5E3156ABC501}"/>
              </a:ext>
            </a:extLst>
          </p:cNvPr>
          <p:cNvSpPr txBox="1"/>
          <p:nvPr/>
        </p:nvSpPr>
        <p:spPr>
          <a:xfrm>
            <a:off x="1300532" y="3945040"/>
            <a:ext cx="26918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i="1" dirty="0"/>
              <a:t>i</a:t>
            </a:r>
            <a:r>
              <a:rPr lang="en-US" sz="2000" baseline="-25000" dirty="0"/>
              <a:t>1</a:t>
            </a:r>
            <a:endParaRPr lang="en-US" sz="2000" dirty="0"/>
          </a:p>
        </p:txBody>
      </p: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00436793-3A66-05C2-923D-BC08EF954D5D}"/>
              </a:ext>
            </a:extLst>
          </p:cNvPr>
          <p:cNvGrpSpPr/>
          <p:nvPr/>
        </p:nvGrpSpPr>
        <p:grpSpPr>
          <a:xfrm>
            <a:off x="3285223" y="3870960"/>
            <a:ext cx="334277" cy="610994"/>
            <a:chOff x="3490963" y="3402330"/>
            <a:chExt cx="334277" cy="610994"/>
          </a:xfrm>
        </p:grpSpPr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63F6C9C0-8FFF-0A20-C389-8478CED165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90963" y="3402330"/>
              <a:ext cx="0" cy="610994"/>
            </a:xfrm>
            <a:prstGeom prst="straightConnector1">
              <a:avLst/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66288553-1B21-06FB-A50F-FA387549BC43}"/>
                </a:ext>
              </a:extLst>
            </p:cNvPr>
            <p:cNvSpPr txBox="1"/>
            <p:nvPr/>
          </p:nvSpPr>
          <p:spPr>
            <a:xfrm>
              <a:off x="3556052" y="3560230"/>
              <a:ext cx="269188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2000" dirty="0"/>
                <a:t>i</a:t>
              </a:r>
              <a:r>
                <a:rPr lang="en-US" sz="2000" baseline="-25000" dirty="0"/>
                <a:t>2</a:t>
              </a:r>
              <a:endParaRPr lang="en-US" sz="2000" dirty="0"/>
            </a:p>
          </p:txBody>
        </p:sp>
      </p:grpSp>
      <p:sp>
        <p:nvSpPr>
          <p:cNvPr id="5" name="Oval 4">
            <a:extLst>
              <a:ext uri="{FF2B5EF4-FFF2-40B4-BE49-F238E27FC236}">
                <a16:creationId xmlns:a16="http://schemas.microsoft.com/office/drawing/2014/main" id="{5B8C304E-A32F-BE6C-AA7C-E6808A085C17}"/>
              </a:ext>
            </a:extLst>
          </p:cNvPr>
          <p:cNvSpPr/>
          <p:nvPr/>
        </p:nvSpPr>
        <p:spPr>
          <a:xfrm>
            <a:off x="185902" y="3827357"/>
            <a:ext cx="279400" cy="67733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BE37ACA-82A7-94F6-D8D8-B65116AB738F}"/>
              </a:ext>
            </a:extLst>
          </p:cNvPr>
          <p:cNvCxnSpPr>
            <a:cxnSpLocks/>
          </p:cNvCxnSpPr>
          <p:nvPr/>
        </p:nvCxnSpPr>
        <p:spPr>
          <a:xfrm>
            <a:off x="325602" y="4036484"/>
            <a:ext cx="0" cy="30480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8153F7E-8D15-E86B-7D85-1BE4F01D93C0}"/>
              </a:ext>
            </a:extLst>
          </p:cNvPr>
          <p:cNvCxnSpPr>
            <a:stCxn id="5" idx="0"/>
          </p:cNvCxnSpPr>
          <p:nvPr/>
        </p:nvCxnSpPr>
        <p:spPr>
          <a:xfrm flipV="1">
            <a:off x="325602" y="3063661"/>
            <a:ext cx="0" cy="763696"/>
          </a:xfrm>
          <a:prstGeom prst="line">
            <a:avLst/>
          </a:prstGeom>
          <a:ln w="38100">
            <a:solidFill>
              <a:schemeClr val="accent4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07A6701-1AFB-329B-0BDC-0D63576F8E9D}"/>
              </a:ext>
            </a:extLst>
          </p:cNvPr>
          <p:cNvCxnSpPr>
            <a:cxnSpLocks/>
          </p:cNvCxnSpPr>
          <p:nvPr/>
        </p:nvCxnSpPr>
        <p:spPr>
          <a:xfrm flipV="1">
            <a:off x="317982" y="4507651"/>
            <a:ext cx="0" cy="693838"/>
          </a:xfrm>
          <a:prstGeom prst="line">
            <a:avLst/>
          </a:prstGeom>
          <a:ln w="38100">
            <a:solidFill>
              <a:schemeClr val="accent4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C35FD370-9BA6-ACF8-662C-E263A752D42B}"/>
              </a:ext>
            </a:extLst>
          </p:cNvPr>
          <p:cNvSpPr/>
          <p:nvPr/>
        </p:nvSpPr>
        <p:spPr>
          <a:xfrm>
            <a:off x="2699774" y="3193512"/>
            <a:ext cx="58650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/>
              <a:t>G</a:t>
            </a:r>
            <a:r>
              <a:rPr lang="en-US" baseline="-25000" dirty="0"/>
              <a:t>2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BA8ADB-656E-12A7-60AA-D61C543CBCB2}"/>
              </a:ext>
            </a:extLst>
          </p:cNvPr>
          <p:cNvSpPr txBox="1"/>
          <p:nvPr/>
        </p:nvSpPr>
        <p:spPr>
          <a:xfrm>
            <a:off x="561392" y="3960280"/>
            <a:ext cx="26918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i="1" dirty="0" err="1"/>
              <a:t>i</a:t>
            </a:r>
            <a:r>
              <a:rPr lang="en-US" sz="2000" baseline="-25000" dirty="0" err="1"/>
              <a:t>P</a:t>
            </a:r>
            <a:endParaRPr lang="en-US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FC93AC-48D6-34A9-8651-2ACF22A08B43}"/>
              </a:ext>
            </a:extLst>
          </p:cNvPr>
          <p:cNvSpPr txBox="1"/>
          <p:nvPr/>
        </p:nvSpPr>
        <p:spPr>
          <a:xfrm>
            <a:off x="6152268" y="2565562"/>
            <a:ext cx="2702484" cy="474383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In-class exercise</a:t>
            </a:r>
          </a:p>
        </p:txBody>
      </p:sp>
    </p:spTree>
    <p:extLst>
      <p:ext uri="{BB962C8B-B14F-4D97-AF65-F5344CB8AC3E}">
        <p14:creationId xmlns:p14="http://schemas.microsoft.com/office/powerpoint/2010/main" val="2817721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390A0-6C10-3167-FF66-2F8363CEA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for the intuition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5376F4-0D09-F3D7-6ED2-20C6EC1467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17214" y="1418608"/>
                <a:ext cx="6051048" cy="1161596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ker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sz="2800" i="1" ker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𝑉</m:t>
                        </m:r>
                      </m:e>
                      <m:sub>
                        <m:r>
                          <a:rPr lang="en-US" sz="2800" i="1" ker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3</m:t>
                        </m:r>
                      </m:sub>
                    </m:sSub>
                    <m:r>
                      <a:rPr lang="en-US" sz="2800" b="0" i="1" kern="0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sSub>
                      <m:sSubPr>
                        <m:ctrlPr>
                          <a:rPr lang="en-US" sz="2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ker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8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f>
                      <m:fPr>
                        <m:ctrlPr>
                          <a:rPr lang="en-US" sz="2800" i="1" kern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b="0" i="1" kern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kern="0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2800" b="0" i="1" kern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800" b="0" i="1" kern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kern="0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2800" i="1" ker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i="1" ker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800" b="0" i="1" kern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kern="0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2800" i="1" ker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sz="2800" b="0" i="1" kern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ker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800" b="0" i="1" kern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f>
                      <m:fPr>
                        <m:ctrlPr>
                          <a:rPr lang="en-US" sz="2800" i="1" kern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b="0" i="1" kern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kern="0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2800" b="0" i="1" kern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8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ker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2800" i="1" ker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i="1" ker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8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ker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2800" i="1" ker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sz="2800" b="0" i="1" kern="0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2800" kern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kern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kern="0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2800" b="0" i="1" kern="0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f>
                      <m:fPr>
                        <m:ctrlPr>
                          <a:rPr lang="en-US" sz="2800" b="0" i="1" kern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kern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sz="28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ker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2800" i="1" ker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i="1" ker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8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ker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2800" i="1" ker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lang="en-US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5376F4-0D09-F3D7-6ED2-20C6EC1467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7214" y="1418608"/>
                <a:ext cx="6051048" cy="1161596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5F11A7-1154-6A0F-0B69-E38EE06F5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EE 123 Joel Grodstein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D6D4567-AD58-94BA-340B-A27AA809F980}"/>
              </a:ext>
            </a:extLst>
          </p:cNvPr>
          <p:cNvCxnSpPr>
            <a:cxnSpLocks/>
          </p:cNvCxnSpPr>
          <p:nvPr/>
        </p:nvCxnSpPr>
        <p:spPr>
          <a:xfrm>
            <a:off x="325602" y="5198530"/>
            <a:ext cx="2772112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888D8ED-0B66-E480-25DF-E9325C5A83F8}"/>
              </a:ext>
            </a:extLst>
          </p:cNvPr>
          <p:cNvCxnSpPr>
            <a:cxnSpLocks/>
          </p:cNvCxnSpPr>
          <p:nvPr/>
        </p:nvCxnSpPr>
        <p:spPr>
          <a:xfrm>
            <a:off x="325602" y="3063661"/>
            <a:ext cx="2772112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9ED29829-BB68-0E3F-8C4D-61E290BAA41B}"/>
              </a:ext>
            </a:extLst>
          </p:cNvPr>
          <p:cNvSpPr txBox="1"/>
          <p:nvPr/>
        </p:nvSpPr>
        <p:spPr>
          <a:xfrm>
            <a:off x="1921948" y="5285868"/>
            <a:ext cx="90963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dirty="0"/>
              <a:t>Ground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10FAAC47-49DB-379E-7408-C88B9677383F}"/>
              </a:ext>
            </a:extLst>
          </p:cNvPr>
          <p:cNvCxnSpPr>
            <a:cxnSpLocks/>
          </p:cNvCxnSpPr>
          <p:nvPr/>
        </p:nvCxnSpPr>
        <p:spPr>
          <a:xfrm>
            <a:off x="1940609" y="3054772"/>
            <a:ext cx="0" cy="203198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4F74E0F5-94E6-A1B5-BBAC-04B4099130CD}"/>
              </a:ext>
            </a:extLst>
          </p:cNvPr>
          <p:cNvSpPr txBox="1"/>
          <p:nvPr/>
        </p:nvSpPr>
        <p:spPr>
          <a:xfrm>
            <a:off x="1372922" y="4657510"/>
            <a:ext cx="242054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i="1" dirty="0"/>
              <a:t>V</a:t>
            </a:r>
            <a:r>
              <a:rPr lang="en-US" sz="2000" baseline="-25000" dirty="0"/>
              <a:t>1</a:t>
            </a:r>
            <a:endParaRPr lang="en-US" sz="2000" dirty="0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8F921FBC-F5A5-373E-A88E-735462E35713}"/>
              </a:ext>
            </a:extLst>
          </p:cNvPr>
          <p:cNvCxnSpPr>
            <a:cxnSpLocks/>
          </p:cNvCxnSpPr>
          <p:nvPr/>
        </p:nvCxnSpPr>
        <p:spPr>
          <a:xfrm>
            <a:off x="1928044" y="4056817"/>
            <a:ext cx="0" cy="668066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E7D8D8F5-5B56-EF09-6678-43BE3E39A490}"/>
              </a:ext>
            </a:extLst>
          </p:cNvPr>
          <p:cNvCxnSpPr>
            <a:cxnSpLocks/>
          </p:cNvCxnSpPr>
          <p:nvPr/>
        </p:nvCxnSpPr>
        <p:spPr>
          <a:xfrm>
            <a:off x="1928044" y="4822627"/>
            <a:ext cx="0" cy="378862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5" name="Group 74">
            <a:extLst>
              <a:ext uri="{FF2B5EF4-FFF2-40B4-BE49-F238E27FC236}">
                <a16:creationId xmlns:a16="http://schemas.microsoft.com/office/drawing/2014/main" id="{E2223588-31B1-994B-CCAF-BC61D2EB4A51}"/>
              </a:ext>
            </a:extLst>
          </p:cNvPr>
          <p:cNvGrpSpPr/>
          <p:nvPr/>
        </p:nvGrpSpPr>
        <p:grpSpPr>
          <a:xfrm flipV="1">
            <a:off x="1699444" y="4721028"/>
            <a:ext cx="457200" cy="101599"/>
            <a:chOff x="3088619" y="3223591"/>
            <a:chExt cx="457200" cy="101599"/>
          </a:xfrm>
        </p:grpSpPr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58D00946-A5CC-1351-3363-326C81A5A571}"/>
                </a:ext>
              </a:extLst>
            </p:cNvPr>
            <p:cNvCxnSpPr>
              <a:cxnSpLocks/>
            </p:cNvCxnSpPr>
            <p:nvPr/>
          </p:nvCxnSpPr>
          <p:spPr>
            <a:xfrm>
              <a:off x="3088619" y="3223591"/>
              <a:ext cx="45720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3285E578-DF03-E782-96B5-D58A3830EF81}"/>
                </a:ext>
              </a:extLst>
            </p:cNvPr>
            <p:cNvCxnSpPr>
              <a:cxnSpLocks/>
            </p:cNvCxnSpPr>
            <p:nvPr/>
          </p:nvCxnSpPr>
          <p:spPr>
            <a:xfrm>
              <a:off x="3190218" y="3325190"/>
              <a:ext cx="254003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C89B27A7-A7C1-7DAF-2DE9-7C5B96AA8D1A}"/>
              </a:ext>
            </a:extLst>
          </p:cNvPr>
          <p:cNvSpPr txBox="1"/>
          <p:nvPr/>
        </p:nvSpPr>
        <p:spPr>
          <a:xfrm>
            <a:off x="1596390" y="4365427"/>
            <a:ext cx="48387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</a:t>
            </a: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43894EB6-0642-D561-9583-5DCD48DCFE17}"/>
              </a:ext>
            </a:extLst>
          </p:cNvPr>
          <p:cNvGrpSpPr/>
          <p:nvPr/>
        </p:nvGrpSpPr>
        <p:grpSpPr>
          <a:xfrm rot="5400000">
            <a:off x="1623244" y="3547801"/>
            <a:ext cx="609600" cy="408432"/>
            <a:chOff x="2590800" y="1592580"/>
            <a:chExt cx="609600" cy="408432"/>
          </a:xfrm>
        </p:grpSpPr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327FD15B-D1FE-75AE-E0B3-D2CE625D784D}"/>
                </a:ext>
              </a:extLst>
            </p:cNvPr>
            <p:cNvCxnSpPr/>
            <p:nvPr/>
          </p:nvCxnSpPr>
          <p:spPr>
            <a:xfrm rot="5400000">
              <a:off x="3066288" y="1833372"/>
              <a:ext cx="192024" cy="762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CEA5FB7B-C0AF-7250-F878-1B77338DB883}"/>
                </a:ext>
              </a:extLst>
            </p:cNvPr>
            <p:cNvCxnSpPr/>
            <p:nvPr/>
          </p:nvCxnSpPr>
          <p:spPr>
            <a:xfrm rot="5400000" flipV="1">
              <a:off x="2857500" y="1734312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AD244281-70D0-17F9-1AC5-6E1BEBED73BD}"/>
                </a:ext>
              </a:extLst>
            </p:cNvPr>
            <p:cNvCxnSpPr/>
            <p:nvPr/>
          </p:nvCxnSpPr>
          <p:spPr>
            <a:xfrm rot="5400000" flipH="1" flipV="1">
              <a:off x="2705100" y="17145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2270E1D2-D83B-E494-D959-75FB8A989498}"/>
                </a:ext>
              </a:extLst>
            </p:cNvPr>
            <p:cNvCxnSpPr/>
            <p:nvPr/>
          </p:nvCxnSpPr>
          <p:spPr>
            <a:xfrm rot="5400000" flipV="1">
              <a:off x="2552700" y="17145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8744E97A-5155-D79F-BAD7-986B5B4E976A}"/>
                </a:ext>
              </a:extLst>
            </p:cNvPr>
            <p:cNvCxnSpPr/>
            <p:nvPr/>
          </p:nvCxnSpPr>
          <p:spPr>
            <a:xfrm rot="5400000">
              <a:off x="2532888" y="1650492"/>
              <a:ext cx="192024" cy="762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F44E700B-4645-9D93-B6DE-199C2DE581EA}"/>
              </a:ext>
            </a:extLst>
          </p:cNvPr>
          <p:cNvCxnSpPr>
            <a:cxnSpLocks/>
          </p:cNvCxnSpPr>
          <p:nvPr/>
        </p:nvCxnSpPr>
        <p:spPr>
          <a:xfrm>
            <a:off x="1940560" y="3241477"/>
            <a:ext cx="0" cy="201062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2DFBEEA0-4BC4-0BB9-B327-6C9920B4B115}"/>
              </a:ext>
            </a:extLst>
          </p:cNvPr>
          <p:cNvSpPr txBox="1"/>
          <p:nvPr/>
        </p:nvSpPr>
        <p:spPr>
          <a:xfrm>
            <a:off x="2256842" y="2718220"/>
            <a:ext cx="34290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i="1" dirty="0"/>
              <a:t>V</a:t>
            </a:r>
            <a:r>
              <a:rPr lang="en-US" sz="2000" baseline="-25000" dirty="0"/>
              <a:t>3</a:t>
            </a:r>
            <a:endParaRPr lang="en-US" sz="2000" dirty="0"/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83F20278-54F9-47E7-D211-94FEC27243EF}"/>
              </a:ext>
            </a:extLst>
          </p:cNvPr>
          <p:cNvCxnSpPr>
            <a:cxnSpLocks/>
          </p:cNvCxnSpPr>
          <p:nvPr/>
        </p:nvCxnSpPr>
        <p:spPr>
          <a:xfrm>
            <a:off x="3110279" y="3047152"/>
            <a:ext cx="0" cy="203198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83D89936-4237-E16E-307A-873AD4D884C7}"/>
              </a:ext>
            </a:extLst>
          </p:cNvPr>
          <p:cNvSpPr txBox="1"/>
          <p:nvPr/>
        </p:nvSpPr>
        <p:spPr>
          <a:xfrm>
            <a:off x="2599742" y="4661320"/>
            <a:ext cx="242054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i="1" dirty="0"/>
              <a:t>V</a:t>
            </a:r>
            <a:r>
              <a:rPr lang="en-US" sz="2000" baseline="-25000" dirty="0"/>
              <a:t>2</a:t>
            </a:r>
            <a:endParaRPr lang="en-US" sz="2000" dirty="0"/>
          </a:p>
        </p:txBody>
      </p: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496502B4-CE79-A527-A3D2-94C7C6480EA0}"/>
              </a:ext>
            </a:extLst>
          </p:cNvPr>
          <p:cNvCxnSpPr>
            <a:cxnSpLocks/>
          </p:cNvCxnSpPr>
          <p:nvPr/>
        </p:nvCxnSpPr>
        <p:spPr>
          <a:xfrm>
            <a:off x="3097714" y="4049197"/>
            <a:ext cx="0" cy="668066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0E79D53B-0C2C-1014-E516-3ED32AC6D63F}"/>
              </a:ext>
            </a:extLst>
          </p:cNvPr>
          <p:cNvCxnSpPr>
            <a:cxnSpLocks/>
          </p:cNvCxnSpPr>
          <p:nvPr/>
        </p:nvCxnSpPr>
        <p:spPr>
          <a:xfrm>
            <a:off x="3097714" y="4815007"/>
            <a:ext cx="0" cy="378862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B7393F3E-421B-F174-4061-CF29EFABE86F}"/>
              </a:ext>
            </a:extLst>
          </p:cNvPr>
          <p:cNvGrpSpPr/>
          <p:nvPr/>
        </p:nvGrpSpPr>
        <p:grpSpPr>
          <a:xfrm flipV="1">
            <a:off x="2869114" y="4713408"/>
            <a:ext cx="457200" cy="101599"/>
            <a:chOff x="3088619" y="3223591"/>
            <a:chExt cx="457200" cy="101599"/>
          </a:xfrm>
        </p:grpSpPr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3A4CFC37-F2E1-1257-A193-CFE66C207D47}"/>
                </a:ext>
              </a:extLst>
            </p:cNvPr>
            <p:cNvCxnSpPr>
              <a:cxnSpLocks/>
            </p:cNvCxnSpPr>
            <p:nvPr/>
          </p:nvCxnSpPr>
          <p:spPr>
            <a:xfrm>
              <a:off x="3088619" y="3223591"/>
              <a:ext cx="45720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6A5B414F-CCD5-2E6C-ADBA-438BC201B6BB}"/>
                </a:ext>
              </a:extLst>
            </p:cNvPr>
            <p:cNvCxnSpPr>
              <a:cxnSpLocks/>
            </p:cNvCxnSpPr>
            <p:nvPr/>
          </p:nvCxnSpPr>
          <p:spPr>
            <a:xfrm>
              <a:off x="3190218" y="3325190"/>
              <a:ext cx="254003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0" name="TextBox 109">
            <a:extLst>
              <a:ext uri="{FF2B5EF4-FFF2-40B4-BE49-F238E27FC236}">
                <a16:creationId xmlns:a16="http://schemas.microsoft.com/office/drawing/2014/main" id="{9FA532B4-A880-0666-0A89-03C2A7EC7BC3}"/>
              </a:ext>
            </a:extLst>
          </p:cNvPr>
          <p:cNvSpPr txBox="1"/>
          <p:nvPr/>
        </p:nvSpPr>
        <p:spPr>
          <a:xfrm>
            <a:off x="2766060" y="4357807"/>
            <a:ext cx="48387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</a:t>
            </a:r>
          </a:p>
        </p:txBody>
      </p: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D72613BB-5863-EA0D-6182-B56D0BE6B5E0}"/>
              </a:ext>
            </a:extLst>
          </p:cNvPr>
          <p:cNvGrpSpPr/>
          <p:nvPr/>
        </p:nvGrpSpPr>
        <p:grpSpPr>
          <a:xfrm rot="5400000">
            <a:off x="2792914" y="3540181"/>
            <a:ext cx="609600" cy="408432"/>
            <a:chOff x="2590800" y="1592580"/>
            <a:chExt cx="609600" cy="408432"/>
          </a:xfrm>
        </p:grpSpPr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FF2542F8-C1CF-E904-51DE-D02AC4570AEA}"/>
                </a:ext>
              </a:extLst>
            </p:cNvPr>
            <p:cNvCxnSpPr/>
            <p:nvPr/>
          </p:nvCxnSpPr>
          <p:spPr>
            <a:xfrm rot="5400000">
              <a:off x="3066288" y="1833372"/>
              <a:ext cx="192024" cy="762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FF6DBE3A-1842-1598-ADC3-06F7DD73AA7C}"/>
                </a:ext>
              </a:extLst>
            </p:cNvPr>
            <p:cNvCxnSpPr/>
            <p:nvPr/>
          </p:nvCxnSpPr>
          <p:spPr>
            <a:xfrm rot="5400000" flipV="1">
              <a:off x="2857500" y="1734312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8AE7B4E8-80CB-057A-7529-7D28969CE503}"/>
                </a:ext>
              </a:extLst>
            </p:cNvPr>
            <p:cNvCxnSpPr/>
            <p:nvPr/>
          </p:nvCxnSpPr>
          <p:spPr>
            <a:xfrm rot="5400000" flipH="1" flipV="1">
              <a:off x="2705100" y="17145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9356AC75-4910-A5D1-DFA1-93546F9EF26B}"/>
                </a:ext>
              </a:extLst>
            </p:cNvPr>
            <p:cNvCxnSpPr/>
            <p:nvPr/>
          </p:nvCxnSpPr>
          <p:spPr>
            <a:xfrm rot="5400000" flipV="1">
              <a:off x="2552700" y="17145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0CBD7150-1103-2CEC-3472-F6AE4E999B60}"/>
                </a:ext>
              </a:extLst>
            </p:cNvPr>
            <p:cNvCxnSpPr/>
            <p:nvPr/>
          </p:nvCxnSpPr>
          <p:spPr>
            <a:xfrm rot="5400000">
              <a:off x="2532888" y="1650492"/>
              <a:ext cx="192024" cy="762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C894BADF-D3A9-32FB-A5BA-13F4D422ECE4}"/>
              </a:ext>
            </a:extLst>
          </p:cNvPr>
          <p:cNvCxnSpPr>
            <a:cxnSpLocks/>
          </p:cNvCxnSpPr>
          <p:nvPr/>
        </p:nvCxnSpPr>
        <p:spPr>
          <a:xfrm>
            <a:off x="3110230" y="3233857"/>
            <a:ext cx="0" cy="201062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Rectangle 121">
            <a:extLst>
              <a:ext uri="{FF2B5EF4-FFF2-40B4-BE49-F238E27FC236}">
                <a16:creationId xmlns:a16="http://schemas.microsoft.com/office/drawing/2014/main" id="{D891370E-69AB-D16D-8E1C-0CB692844250}"/>
              </a:ext>
            </a:extLst>
          </p:cNvPr>
          <p:cNvSpPr/>
          <p:nvPr/>
        </p:nvSpPr>
        <p:spPr>
          <a:xfrm>
            <a:off x="1507244" y="3155412"/>
            <a:ext cx="58650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/>
              <a:t>G</a:t>
            </a:r>
            <a:r>
              <a:rPr lang="en-US" baseline="-25000" dirty="0"/>
              <a:t>1</a:t>
            </a:r>
            <a:endParaRPr lang="en-US" dirty="0"/>
          </a:p>
        </p:txBody>
      </p:sp>
      <p:sp>
        <p:nvSpPr>
          <p:cNvPr id="125" name="Content Placeholder 2">
            <a:extLst>
              <a:ext uri="{FF2B5EF4-FFF2-40B4-BE49-F238E27FC236}">
                <a16:creationId xmlns:a16="http://schemas.microsoft.com/office/drawing/2014/main" id="{A039C003-E1D2-A125-960A-219DD6DD796D}"/>
              </a:ext>
            </a:extLst>
          </p:cNvPr>
          <p:cNvSpPr txBox="1">
            <a:spLocks/>
          </p:cNvSpPr>
          <p:nvPr/>
        </p:nvSpPr>
        <p:spPr bwMode="auto">
          <a:xfrm>
            <a:off x="4114983" y="2680350"/>
            <a:ext cx="4916977" cy="312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dirty="0">
                <a:sym typeface="Symbol" panose="05050102010706020507" pitchFamily="18" charset="2"/>
              </a:rPr>
              <a:t>Consider the corner cases. With </a:t>
            </a:r>
            <a:r>
              <a:rPr lang="en-US" i="1" kern="0" dirty="0" err="1">
                <a:sym typeface="Symbol" panose="05050102010706020507" pitchFamily="18" charset="2"/>
              </a:rPr>
              <a:t>i</a:t>
            </a:r>
            <a:r>
              <a:rPr lang="en-US" kern="0" baseline="-25000" dirty="0" err="1">
                <a:sym typeface="Symbol" panose="05050102010706020507" pitchFamily="18" charset="2"/>
              </a:rPr>
              <a:t>P</a:t>
            </a:r>
            <a:r>
              <a:rPr lang="en-US" kern="0" dirty="0">
                <a:sym typeface="Symbol" panose="05050102010706020507" pitchFamily="18" charset="2"/>
              </a:rPr>
              <a:t>=0, what if</a:t>
            </a:r>
          </a:p>
          <a:p>
            <a:pPr lvl="1"/>
            <a:r>
              <a:rPr lang="en-US" i="1" kern="0" dirty="0">
                <a:sym typeface="Symbol" panose="05050102010706020507" pitchFamily="18" charset="2"/>
              </a:rPr>
              <a:t>G</a:t>
            </a:r>
            <a:r>
              <a:rPr lang="en-US" kern="0" baseline="-25000" dirty="0">
                <a:sym typeface="Symbol" panose="05050102010706020507" pitchFamily="18" charset="2"/>
              </a:rPr>
              <a:t>1</a:t>
            </a:r>
            <a:r>
              <a:rPr lang="en-US" kern="0" dirty="0">
                <a:sym typeface="Symbol" panose="05050102010706020507" pitchFamily="18" charset="2"/>
              </a:rPr>
              <a:t>=0? </a:t>
            </a:r>
            <a:r>
              <a:rPr lang="en-US" i="1" kern="0" dirty="0">
                <a:sym typeface="Symbol" panose="05050102010706020507" pitchFamily="18" charset="2"/>
              </a:rPr>
              <a:t>G</a:t>
            </a:r>
            <a:r>
              <a:rPr lang="en-US" kern="0" baseline="-25000" dirty="0">
                <a:sym typeface="Symbol" panose="05050102010706020507" pitchFamily="18" charset="2"/>
              </a:rPr>
              <a:t>2</a:t>
            </a:r>
            <a:r>
              <a:rPr lang="en-US" kern="0" dirty="0">
                <a:sym typeface="Symbol" panose="05050102010706020507" pitchFamily="18" charset="2"/>
              </a:rPr>
              <a:t>=0?</a:t>
            </a:r>
          </a:p>
          <a:p>
            <a:pPr lvl="1"/>
            <a:r>
              <a:rPr lang="en-US" i="1" kern="0" dirty="0">
                <a:sym typeface="Symbol" panose="05050102010706020507" pitchFamily="18" charset="2"/>
              </a:rPr>
              <a:t>G</a:t>
            </a:r>
            <a:r>
              <a:rPr lang="en-US" kern="0" baseline="-25000" dirty="0">
                <a:sym typeface="Symbol" panose="05050102010706020507" pitchFamily="18" charset="2"/>
              </a:rPr>
              <a:t>1</a:t>
            </a:r>
            <a:r>
              <a:rPr lang="en-US" kern="0" dirty="0">
                <a:sym typeface="Symbol" panose="05050102010706020507" pitchFamily="18" charset="2"/>
              </a:rPr>
              <a:t> is small and </a:t>
            </a:r>
            <a:r>
              <a:rPr lang="en-US" i="1" kern="0" dirty="0">
                <a:sym typeface="Symbol" panose="05050102010706020507" pitchFamily="18" charset="2"/>
              </a:rPr>
              <a:t>G</a:t>
            </a:r>
            <a:r>
              <a:rPr lang="en-US" kern="0" baseline="-25000" dirty="0">
                <a:sym typeface="Symbol" panose="05050102010706020507" pitchFamily="18" charset="2"/>
              </a:rPr>
              <a:t>2</a:t>
            </a:r>
            <a:r>
              <a:rPr lang="en-US" kern="0" dirty="0">
                <a:sym typeface="Symbol" panose="05050102010706020507" pitchFamily="18" charset="2"/>
              </a:rPr>
              <a:t> is big? Vice versa?</a:t>
            </a:r>
          </a:p>
          <a:p>
            <a:r>
              <a:rPr lang="en-US" kern="0" dirty="0">
                <a:sym typeface="Symbol" panose="05050102010706020507" pitchFamily="18" charset="2"/>
              </a:rPr>
              <a:t>What happens as </a:t>
            </a:r>
            <a:r>
              <a:rPr lang="en-US" i="1" kern="0" dirty="0" err="1">
                <a:sym typeface="Symbol" panose="05050102010706020507" pitchFamily="18" charset="2"/>
              </a:rPr>
              <a:t>i</a:t>
            </a:r>
            <a:r>
              <a:rPr lang="en-US" kern="0" baseline="-25000" dirty="0" err="1">
                <a:sym typeface="Symbol" panose="05050102010706020507" pitchFamily="18" charset="2"/>
              </a:rPr>
              <a:t>P</a:t>
            </a:r>
            <a:r>
              <a:rPr lang="en-US" kern="0" dirty="0">
                <a:sym typeface="Symbol" panose="05050102010706020507" pitchFamily="18" charset="2"/>
              </a:rPr>
              <a:t> gets bigger?</a:t>
            </a:r>
            <a:endParaRPr lang="en-US" i="1" kern="0" dirty="0">
              <a:sym typeface="Symbol" panose="05050102010706020507" pitchFamily="18" charset="2"/>
            </a:endParaRPr>
          </a:p>
        </p:txBody>
      </p: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485289EB-400D-1AA4-104E-4CC13BEEEB45}"/>
              </a:ext>
            </a:extLst>
          </p:cNvPr>
          <p:cNvCxnSpPr>
            <a:cxnSpLocks/>
          </p:cNvCxnSpPr>
          <p:nvPr/>
        </p:nvCxnSpPr>
        <p:spPr>
          <a:xfrm flipV="1">
            <a:off x="1544053" y="3764280"/>
            <a:ext cx="0" cy="610994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4510B190-421E-AF6D-C1D3-5E3156ABC501}"/>
              </a:ext>
            </a:extLst>
          </p:cNvPr>
          <p:cNvSpPr txBox="1"/>
          <p:nvPr/>
        </p:nvSpPr>
        <p:spPr>
          <a:xfrm>
            <a:off x="1300532" y="3945040"/>
            <a:ext cx="26918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i="1" dirty="0"/>
              <a:t>i</a:t>
            </a:r>
            <a:r>
              <a:rPr lang="en-US" sz="2000" baseline="-25000" dirty="0"/>
              <a:t>1</a:t>
            </a:r>
            <a:endParaRPr lang="en-US" sz="2000" dirty="0"/>
          </a:p>
        </p:txBody>
      </p: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00436793-3A66-05C2-923D-BC08EF954D5D}"/>
              </a:ext>
            </a:extLst>
          </p:cNvPr>
          <p:cNvGrpSpPr/>
          <p:nvPr/>
        </p:nvGrpSpPr>
        <p:grpSpPr>
          <a:xfrm>
            <a:off x="3285223" y="3870960"/>
            <a:ext cx="334277" cy="610994"/>
            <a:chOff x="3490963" y="3402330"/>
            <a:chExt cx="334277" cy="610994"/>
          </a:xfrm>
        </p:grpSpPr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63F6C9C0-8FFF-0A20-C389-8478CED165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90963" y="3402330"/>
              <a:ext cx="0" cy="610994"/>
            </a:xfrm>
            <a:prstGeom prst="straightConnector1">
              <a:avLst/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66288553-1B21-06FB-A50F-FA387549BC43}"/>
                </a:ext>
              </a:extLst>
            </p:cNvPr>
            <p:cNvSpPr txBox="1"/>
            <p:nvPr/>
          </p:nvSpPr>
          <p:spPr>
            <a:xfrm>
              <a:off x="3556052" y="3560230"/>
              <a:ext cx="269188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2000" dirty="0"/>
                <a:t>i</a:t>
              </a:r>
              <a:r>
                <a:rPr lang="en-US" sz="2000" baseline="-25000" dirty="0"/>
                <a:t>2</a:t>
              </a:r>
              <a:endParaRPr lang="en-US" sz="2000" dirty="0"/>
            </a:p>
          </p:txBody>
        </p:sp>
      </p:grpSp>
      <p:sp>
        <p:nvSpPr>
          <p:cNvPr id="5" name="Oval 4">
            <a:extLst>
              <a:ext uri="{FF2B5EF4-FFF2-40B4-BE49-F238E27FC236}">
                <a16:creationId xmlns:a16="http://schemas.microsoft.com/office/drawing/2014/main" id="{5B8C304E-A32F-BE6C-AA7C-E6808A085C17}"/>
              </a:ext>
            </a:extLst>
          </p:cNvPr>
          <p:cNvSpPr/>
          <p:nvPr/>
        </p:nvSpPr>
        <p:spPr>
          <a:xfrm>
            <a:off x="185902" y="3827357"/>
            <a:ext cx="279400" cy="67733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BE37ACA-82A7-94F6-D8D8-B65116AB738F}"/>
              </a:ext>
            </a:extLst>
          </p:cNvPr>
          <p:cNvCxnSpPr>
            <a:cxnSpLocks/>
          </p:cNvCxnSpPr>
          <p:nvPr/>
        </p:nvCxnSpPr>
        <p:spPr>
          <a:xfrm>
            <a:off x="325602" y="4036484"/>
            <a:ext cx="0" cy="30480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8153F7E-8D15-E86B-7D85-1BE4F01D93C0}"/>
              </a:ext>
            </a:extLst>
          </p:cNvPr>
          <p:cNvCxnSpPr>
            <a:stCxn id="5" idx="0"/>
          </p:cNvCxnSpPr>
          <p:nvPr/>
        </p:nvCxnSpPr>
        <p:spPr>
          <a:xfrm flipV="1">
            <a:off x="325602" y="3063661"/>
            <a:ext cx="0" cy="763696"/>
          </a:xfrm>
          <a:prstGeom prst="line">
            <a:avLst/>
          </a:prstGeom>
          <a:ln w="38100">
            <a:solidFill>
              <a:schemeClr val="accent4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07A6701-1AFB-329B-0BDC-0D63576F8E9D}"/>
              </a:ext>
            </a:extLst>
          </p:cNvPr>
          <p:cNvCxnSpPr>
            <a:cxnSpLocks/>
          </p:cNvCxnSpPr>
          <p:nvPr/>
        </p:nvCxnSpPr>
        <p:spPr>
          <a:xfrm flipV="1">
            <a:off x="317982" y="4507651"/>
            <a:ext cx="0" cy="693838"/>
          </a:xfrm>
          <a:prstGeom prst="line">
            <a:avLst/>
          </a:prstGeom>
          <a:ln w="38100">
            <a:solidFill>
              <a:schemeClr val="accent4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C35FD370-9BA6-ACF8-662C-E263A752D42B}"/>
              </a:ext>
            </a:extLst>
          </p:cNvPr>
          <p:cNvSpPr/>
          <p:nvPr/>
        </p:nvSpPr>
        <p:spPr>
          <a:xfrm>
            <a:off x="2699774" y="3193512"/>
            <a:ext cx="58650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/>
              <a:t>G</a:t>
            </a:r>
            <a:r>
              <a:rPr lang="en-US" baseline="-25000" dirty="0"/>
              <a:t>2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BA8ADB-656E-12A7-60AA-D61C543CBCB2}"/>
              </a:ext>
            </a:extLst>
          </p:cNvPr>
          <p:cNvSpPr txBox="1"/>
          <p:nvPr/>
        </p:nvSpPr>
        <p:spPr>
          <a:xfrm>
            <a:off x="561392" y="3960280"/>
            <a:ext cx="26918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i="1" dirty="0" err="1"/>
              <a:t>i</a:t>
            </a:r>
            <a:r>
              <a:rPr lang="en-US" sz="2000" baseline="-25000" dirty="0" err="1"/>
              <a:t>P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06906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390A0-6C10-3167-FF66-2F8363CEA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Capacitance (prep for QSS lab)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5F11A7-1154-6A0F-0B69-E38EE06F5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EE 123 Joel Grodstein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D6D4567-AD58-94BA-340B-A27AA809F980}"/>
              </a:ext>
            </a:extLst>
          </p:cNvPr>
          <p:cNvCxnSpPr>
            <a:cxnSpLocks/>
          </p:cNvCxnSpPr>
          <p:nvPr/>
        </p:nvCxnSpPr>
        <p:spPr>
          <a:xfrm>
            <a:off x="325602" y="5198530"/>
            <a:ext cx="2772112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888D8ED-0B66-E480-25DF-E9325C5A83F8}"/>
              </a:ext>
            </a:extLst>
          </p:cNvPr>
          <p:cNvCxnSpPr>
            <a:cxnSpLocks/>
          </p:cNvCxnSpPr>
          <p:nvPr/>
        </p:nvCxnSpPr>
        <p:spPr>
          <a:xfrm>
            <a:off x="325602" y="3063661"/>
            <a:ext cx="2772112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91C21793-1D02-D254-0F3F-9EA9E9DD5E9B}"/>
              </a:ext>
            </a:extLst>
          </p:cNvPr>
          <p:cNvSpPr/>
          <p:nvPr/>
        </p:nvSpPr>
        <p:spPr>
          <a:xfrm>
            <a:off x="817797" y="4568922"/>
            <a:ext cx="98761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80mV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ED29829-BB68-0E3F-8C4D-61E290BAA41B}"/>
              </a:ext>
            </a:extLst>
          </p:cNvPr>
          <p:cNvSpPr txBox="1"/>
          <p:nvPr/>
        </p:nvSpPr>
        <p:spPr>
          <a:xfrm>
            <a:off x="2733515" y="5308727"/>
            <a:ext cx="185948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dirty="0"/>
              <a:t>G</a:t>
            </a:r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9A98B13B-6C07-F3D3-DBEF-28B88CE82DA5}"/>
              </a:ext>
            </a:extLst>
          </p:cNvPr>
          <p:cNvGrpSpPr/>
          <p:nvPr/>
        </p:nvGrpSpPr>
        <p:grpSpPr>
          <a:xfrm>
            <a:off x="1596390" y="3054772"/>
            <a:ext cx="630370" cy="2146717"/>
            <a:chOff x="1184910" y="3740572"/>
            <a:chExt cx="630370" cy="2146717"/>
          </a:xfrm>
        </p:grpSpPr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10FAAC47-49DB-379E-7408-C88B9677383F}"/>
                </a:ext>
              </a:extLst>
            </p:cNvPr>
            <p:cNvCxnSpPr>
              <a:cxnSpLocks/>
            </p:cNvCxnSpPr>
            <p:nvPr/>
          </p:nvCxnSpPr>
          <p:spPr>
            <a:xfrm>
              <a:off x="1529129" y="3740572"/>
              <a:ext cx="0" cy="203198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F74E0F5-94E6-A1B5-BBAC-04B4099130CD}"/>
                </a:ext>
              </a:extLst>
            </p:cNvPr>
            <p:cNvSpPr txBox="1"/>
            <p:nvPr/>
          </p:nvSpPr>
          <p:spPr>
            <a:xfrm>
              <a:off x="1544372" y="4806100"/>
              <a:ext cx="270908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2000" dirty="0"/>
                <a:t>V</a:t>
              </a:r>
              <a:r>
                <a:rPr lang="en-US" sz="2000" baseline="-25000" dirty="0"/>
                <a:t>1</a:t>
              </a:r>
              <a:endParaRPr lang="en-US" sz="2000" dirty="0"/>
            </a:p>
          </p:txBody>
        </p: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8F921FBC-F5A5-373E-A88E-735462E35713}"/>
                </a:ext>
              </a:extLst>
            </p:cNvPr>
            <p:cNvCxnSpPr>
              <a:cxnSpLocks/>
            </p:cNvCxnSpPr>
            <p:nvPr/>
          </p:nvCxnSpPr>
          <p:spPr>
            <a:xfrm>
              <a:off x="1516564" y="4742617"/>
              <a:ext cx="0" cy="668066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E7D8D8F5-5B56-EF09-6678-43BE3E39A490}"/>
                </a:ext>
              </a:extLst>
            </p:cNvPr>
            <p:cNvCxnSpPr>
              <a:cxnSpLocks/>
            </p:cNvCxnSpPr>
            <p:nvPr/>
          </p:nvCxnSpPr>
          <p:spPr>
            <a:xfrm>
              <a:off x="1516564" y="5508427"/>
              <a:ext cx="0" cy="378862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E2223588-31B1-994B-CCAF-BC61D2EB4A51}"/>
                </a:ext>
              </a:extLst>
            </p:cNvPr>
            <p:cNvGrpSpPr/>
            <p:nvPr/>
          </p:nvGrpSpPr>
          <p:grpSpPr>
            <a:xfrm flipV="1">
              <a:off x="1287964" y="5406828"/>
              <a:ext cx="457200" cy="101599"/>
              <a:chOff x="3088619" y="3223591"/>
              <a:chExt cx="457200" cy="101599"/>
            </a:xfrm>
          </p:grpSpPr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58D00946-A5CC-1351-3363-326C81A5A57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88619" y="3223591"/>
                <a:ext cx="4572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3285E578-DF03-E782-96B5-D58A3830EF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90218" y="3325190"/>
                <a:ext cx="254003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C89B27A7-A7C1-7DAF-2DE9-7C5B96AA8D1A}"/>
                </a:ext>
              </a:extLst>
            </p:cNvPr>
            <p:cNvSpPr txBox="1"/>
            <p:nvPr/>
          </p:nvSpPr>
          <p:spPr>
            <a:xfrm>
              <a:off x="1184910" y="5051227"/>
              <a:ext cx="483870" cy="4572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+</a:t>
              </a:r>
            </a:p>
          </p:txBody>
        </p: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43894EB6-0642-D561-9583-5DCD48DCFE17}"/>
                </a:ext>
              </a:extLst>
            </p:cNvPr>
            <p:cNvGrpSpPr/>
            <p:nvPr/>
          </p:nvGrpSpPr>
          <p:grpSpPr>
            <a:xfrm rot="5400000">
              <a:off x="1211764" y="4233601"/>
              <a:ext cx="609600" cy="408432"/>
              <a:chOff x="2590800" y="1592580"/>
              <a:chExt cx="609600" cy="408432"/>
            </a:xfrm>
          </p:grpSpPr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327FD15B-D1FE-75AE-E0B3-D2CE625D784D}"/>
                  </a:ext>
                </a:extLst>
              </p:cNvPr>
              <p:cNvCxnSpPr/>
              <p:nvPr/>
            </p:nvCxnSpPr>
            <p:spPr>
              <a:xfrm rot="5400000">
                <a:off x="3066288" y="1833372"/>
                <a:ext cx="192024" cy="762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CEA5FB7B-C0AF-7250-F878-1B77338DB883}"/>
                  </a:ext>
                </a:extLst>
              </p:cNvPr>
              <p:cNvCxnSpPr/>
              <p:nvPr/>
            </p:nvCxnSpPr>
            <p:spPr>
              <a:xfrm rot="5400000" flipV="1">
                <a:off x="2857500" y="1734312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AD244281-70D0-17F9-1AC5-6E1BEBED73BD}"/>
                  </a:ext>
                </a:extLst>
              </p:cNvPr>
              <p:cNvCxnSpPr/>
              <p:nvPr/>
            </p:nvCxnSpPr>
            <p:spPr>
              <a:xfrm rot="5400000" flipH="1" flipV="1">
                <a:off x="2705100" y="17145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2270E1D2-D83B-E494-D959-75FB8A989498}"/>
                  </a:ext>
                </a:extLst>
              </p:cNvPr>
              <p:cNvCxnSpPr/>
              <p:nvPr/>
            </p:nvCxnSpPr>
            <p:spPr>
              <a:xfrm rot="5400000" flipV="1">
                <a:off x="2552700" y="17145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8744E97A-5155-D79F-BAD7-986B5B4E976A}"/>
                  </a:ext>
                </a:extLst>
              </p:cNvPr>
              <p:cNvCxnSpPr/>
              <p:nvPr/>
            </p:nvCxnSpPr>
            <p:spPr>
              <a:xfrm rot="5400000">
                <a:off x="2532888" y="1650492"/>
                <a:ext cx="192024" cy="762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F44E700B-4645-9D93-B6DE-199C2DE581EA}"/>
                </a:ext>
              </a:extLst>
            </p:cNvPr>
            <p:cNvCxnSpPr>
              <a:cxnSpLocks/>
            </p:cNvCxnSpPr>
            <p:nvPr/>
          </p:nvCxnSpPr>
          <p:spPr>
            <a:xfrm>
              <a:off x="1529080" y="3927277"/>
              <a:ext cx="0" cy="201062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2" name="TextBox 101">
            <a:extLst>
              <a:ext uri="{FF2B5EF4-FFF2-40B4-BE49-F238E27FC236}">
                <a16:creationId xmlns:a16="http://schemas.microsoft.com/office/drawing/2014/main" id="{2DFBEEA0-4BC4-0BB9-B327-6C9920B4B115}"/>
              </a:ext>
            </a:extLst>
          </p:cNvPr>
          <p:cNvSpPr txBox="1"/>
          <p:nvPr/>
        </p:nvSpPr>
        <p:spPr>
          <a:xfrm>
            <a:off x="2256841" y="2718220"/>
            <a:ext cx="89094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dirty="0"/>
              <a:t>V</a:t>
            </a:r>
            <a:r>
              <a:rPr lang="en-US" sz="2000" baseline="-25000" dirty="0"/>
              <a:t>3</a:t>
            </a:r>
            <a:r>
              <a:rPr lang="en-US" sz="2000" dirty="0"/>
              <a:t> = 0V</a:t>
            </a:r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90986D10-4DDC-4632-E14B-3515011191D2}"/>
              </a:ext>
            </a:extLst>
          </p:cNvPr>
          <p:cNvGrpSpPr/>
          <p:nvPr/>
        </p:nvGrpSpPr>
        <p:grpSpPr>
          <a:xfrm>
            <a:off x="2766060" y="3047152"/>
            <a:ext cx="630370" cy="2146717"/>
            <a:chOff x="1184910" y="3740572"/>
            <a:chExt cx="630370" cy="2146717"/>
          </a:xfrm>
        </p:grpSpPr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83F20278-54F9-47E7-D211-94FEC27243EF}"/>
                </a:ext>
              </a:extLst>
            </p:cNvPr>
            <p:cNvCxnSpPr>
              <a:cxnSpLocks/>
            </p:cNvCxnSpPr>
            <p:nvPr/>
          </p:nvCxnSpPr>
          <p:spPr>
            <a:xfrm>
              <a:off x="1529129" y="3740572"/>
              <a:ext cx="0" cy="203198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83D89936-4237-E16E-307A-873AD4D884C7}"/>
                </a:ext>
              </a:extLst>
            </p:cNvPr>
            <p:cNvSpPr txBox="1"/>
            <p:nvPr/>
          </p:nvSpPr>
          <p:spPr>
            <a:xfrm>
              <a:off x="1544372" y="4806100"/>
              <a:ext cx="270908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2000" dirty="0"/>
                <a:t>V</a:t>
              </a:r>
              <a:r>
                <a:rPr lang="en-US" sz="2000" baseline="-25000" dirty="0"/>
                <a:t>2</a:t>
              </a:r>
              <a:endParaRPr lang="en-US" sz="2000" dirty="0"/>
            </a:p>
          </p:txBody>
        </p: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496502B4-CE79-A527-A3D2-94C7C6480EA0}"/>
                </a:ext>
              </a:extLst>
            </p:cNvPr>
            <p:cNvCxnSpPr>
              <a:cxnSpLocks/>
            </p:cNvCxnSpPr>
            <p:nvPr/>
          </p:nvCxnSpPr>
          <p:spPr>
            <a:xfrm>
              <a:off x="1516564" y="4742617"/>
              <a:ext cx="0" cy="668066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0E79D53B-0C2C-1014-E516-3ED32AC6D63F}"/>
                </a:ext>
              </a:extLst>
            </p:cNvPr>
            <p:cNvCxnSpPr>
              <a:cxnSpLocks/>
            </p:cNvCxnSpPr>
            <p:nvPr/>
          </p:nvCxnSpPr>
          <p:spPr>
            <a:xfrm>
              <a:off x="1516564" y="5508427"/>
              <a:ext cx="0" cy="378862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B7393F3E-421B-F174-4061-CF29EFABE86F}"/>
                </a:ext>
              </a:extLst>
            </p:cNvPr>
            <p:cNvGrpSpPr/>
            <p:nvPr/>
          </p:nvGrpSpPr>
          <p:grpSpPr>
            <a:xfrm flipV="1">
              <a:off x="1287964" y="5406828"/>
              <a:ext cx="457200" cy="101599"/>
              <a:chOff x="3088619" y="3223591"/>
              <a:chExt cx="457200" cy="101599"/>
            </a:xfrm>
          </p:grpSpPr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3A4CFC37-F2E1-1257-A193-CFE66C207D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88619" y="3223591"/>
                <a:ext cx="4572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>
                <a:extLst>
                  <a:ext uri="{FF2B5EF4-FFF2-40B4-BE49-F238E27FC236}">
                    <a16:creationId xmlns:a16="http://schemas.microsoft.com/office/drawing/2014/main" id="{6A5B414F-CCD5-2E6C-ADBA-438BC201B6B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90218" y="3325190"/>
                <a:ext cx="254003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9FA532B4-A880-0666-0A89-03C2A7EC7BC3}"/>
                </a:ext>
              </a:extLst>
            </p:cNvPr>
            <p:cNvSpPr txBox="1"/>
            <p:nvPr/>
          </p:nvSpPr>
          <p:spPr>
            <a:xfrm>
              <a:off x="1184910" y="5051227"/>
              <a:ext cx="483870" cy="4572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+</a:t>
              </a:r>
            </a:p>
          </p:txBody>
        </p:sp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D72613BB-5863-EA0D-6182-B56D0BE6B5E0}"/>
                </a:ext>
              </a:extLst>
            </p:cNvPr>
            <p:cNvGrpSpPr/>
            <p:nvPr/>
          </p:nvGrpSpPr>
          <p:grpSpPr>
            <a:xfrm rot="5400000">
              <a:off x="1211764" y="4233601"/>
              <a:ext cx="609600" cy="408432"/>
              <a:chOff x="2590800" y="1592580"/>
              <a:chExt cx="609600" cy="408432"/>
            </a:xfrm>
          </p:grpSpPr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FF2542F8-C1CF-E904-51DE-D02AC4570AEA}"/>
                  </a:ext>
                </a:extLst>
              </p:cNvPr>
              <p:cNvCxnSpPr/>
              <p:nvPr/>
            </p:nvCxnSpPr>
            <p:spPr>
              <a:xfrm rot="5400000">
                <a:off x="3066288" y="1833372"/>
                <a:ext cx="192024" cy="762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>
                <a:extLst>
                  <a:ext uri="{FF2B5EF4-FFF2-40B4-BE49-F238E27FC236}">
                    <a16:creationId xmlns:a16="http://schemas.microsoft.com/office/drawing/2014/main" id="{FF6DBE3A-1842-1598-ADC3-06F7DD73AA7C}"/>
                  </a:ext>
                </a:extLst>
              </p:cNvPr>
              <p:cNvCxnSpPr/>
              <p:nvPr/>
            </p:nvCxnSpPr>
            <p:spPr>
              <a:xfrm rot="5400000" flipV="1">
                <a:off x="2857500" y="1734312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8AE7B4E8-80CB-057A-7529-7D28969CE503}"/>
                  </a:ext>
                </a:extLst>
              </p:cNvPr>
              <p:cNvCxnSpPr/>
              <p:nvPr/>
            </p:nvCxnSpPr>
            <p:spPr>
              <a:xfrm rot="5400000" flipH="1" flipV="1">
                <a:off x="2705100" y="17145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>
                <a:extLst>
                  <a:ext uri="{FF2B5EF4-FFF2-40B4-BE49-F238E27FC236}">
                    <a16:creationId xmlns:a16="http://schemas.microsoft.com/office/drawing/2014/main" id="{9356AC75-4910-A5D1-DFA1-93546F9EF26B}"/>
                  </a:ext>
                </a:extLst>
              </p:cNvPr>
              <p:cNvCxnSpPr/>
              <p:nvPr/>
            </p:nvCxnSpPr>
            <p:spPr>
              <a:xfrm rot="5400000" flipV="1">
                <a:off x="2552700" y="17145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>
                <a:extLst>
                  <a:ext uri="{FF2B5EF4-FFF2-40B4-BE49-F238E27FC236}">
                    <a16:creationId xmlns:a16="http://schemas.microsoft.com/office/drawing/2014/main" id="{0CBD7150-1103-2CEC-3472-F6AE4E999B60}"/>
                  </a:ext>
                </a:extLst>
              </p:cNvPr>
              <p:cNvCxnSpPr/>
              <p:nvPr/>
            </p:nvCxnSpPr>
            <p:spPr>
              <a:xfrm rot="5400000">
                <a:off x="2532888" y="1650492"/>
                <a:ext cx="192024" cy="762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C894BADF-D3A9-32FB-A5BA-13F4D422ECE4}"/>
                </a:ext>
              </a:extLst>
            </p:cNvPr>
            <p:cNvCxnSpPr>
              <a:cxnSpLocks/>
            </p:cNvCxnSpPr>
            <p:nvPr/>
          </p:nvCxnSpPr>
          <p:spPr>
            <a:xfrm>
              <a:off x="1529080" y="3927277"/>
              <a:ext cx="0" cy="201062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2" name="Rectangle 121">
            <a:extLst>
              <a:ext uri="{FF2B5EF4-FFF2-40B4-BE49-F238E27FC236}">
                <a16:creationId xmlns:a16="http://schemas.microsoft.com/office/drawing/2014/main" id="{D891370E-69AB-D16D-8E1C-0CB692844250}"/>
              </a:ext>
            </a:extLst>
          </p:cNvPr>
          <p:cNvSpPr/>
          <p:nvPr/>
        </p:nvSpPr>
        <p:spPr>
          <a:xfrm>
            <a:off x="1130054" y="3532602"/>
            <a:ext cx="7248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40</a:t>
            </a:r>
            <a:r>
              <a:rPr lang="el-GR" dirty="0">
                <a:cs typeface="Times New Roman" panose="02020603050405020304" pitchFamily="18" charset="0"/>
              </a:rPr>
              <a:t>Ω</a:t>
            </a:r>
            <a:endParaRPr lang="en-US" dirty="0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A5B9D390-6122-493B-2889-B394E23308AC}"/>
              </a:ext>
            </a:extLst>
          </p:cNvPr>
          <p:cNvSpPr/>
          <p:nvPr/>
        </p:nvSpPr>
        <p:spPr>
          <a:xfrm>
            <a:off x="3038863" y="4732752"/>
            <a:ext cx="128356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-80mV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43ADDD86-3205-415E-9026-321E5507BB49}"/>
              </a:ext>
            </a:extLst>
          </p:cNvPr>
          <p:cNvSpPr/>
          <p:nvPr/>
        </p:nvSpPr>
        <p:spPr>
          <a:xfrm>
            <a:off x="3111254" y="3444972"/>
            <a:ext cx="7248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10</a:t>
            </a:r>
            <a:r>
              <a:rPr lang="el-GR" dirty="0">
                <a:cs typeface="Times New Roman" panose="02020603050405020304" pitchFamily="18" charset="0"/>
              </a:rPr>
              <a:t>Ω</a:t>
            </a:r>
            <a:endParaRPr lang="en-US" dirty="0"/>
          </a:p>
        </p:txBody>
      </p:sp>
      <p:sp>
        <p:nvSpPr>
          <p:cNvPr id="125" name="Content Placeholder 2">
            <a:extLst>
              <a:ext uri="{FF2B5EF4-FFF2-40B4-BE49-F238E27FC236}">
                <a16:creationId xmlns:a16="http://schemas.microsoft.com/office/drawing/2014/main" id="{A039C003-E1D2-A125-960A-219DD6DD796D}"/>
              </a:ext>
            </a:extLst>
          </p:cNvPr>
          <p:cNvSpPr txBox="1">
            <a:spLocks/>
          </p:cNvSpPr>
          <p:nvPr/>
        </p:nvSpPr>
        <p:spPr bwMode="auto">
          <a:xfrm>
            <a:off x="4048689" y="2588278"/>
            <a:ext cx="5095311" cy="1832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2400" i="1" kern="0" dirty="0"/>
              <a:t>i</a:t>
            </a:r>
            <a:r>
              <a:rPr lang="en-US" sz="2400" kern="0" baseline="-25000" dirty="0"/>
              <a:t>1 </a:t>
            </a:r>
            <a:r>
              <a:rPr lang="en-US" sz="2400" kern="0" dirty="0"/>
              <a:t>= (</a:t>
            </a:r>
            <a:r>
              <a:rPr lang="en-US" sz="2400" i="1" kern="0" dirty="0"/>
              <a:t>V</a:t>
            </a:r>
            <a:r>
              <a:rPr lang="en-US" sz="2400" kern="0" baseline="-25000" dirty="0"/>
              <a:t>1</a:t>
            </a:r>
            <a:r>
              <a:rPr lang="en-US" sz="2400" kern="0" dirty="0"/>
              <a:t>-0)/40</a:t>
            </a:r>
            <a:r>
              <a:rPr lang="el-GR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80</a:t>
            </a:r>
            <a:r>
              <a:rPr lang="en-US" sz="2400" kern="0" dirty="0"/>
              <a:t>/40 = 2mA</a:t>
            </a:r>
          </a:p>
          <a:p>
            <a:r>
              <a:rPr lang="en-US" sz="2400" i="1" kern="0" dirty="0"/>
              <a:t>i</a:t>
            </a:r>
            <a:r>
              <a:rPr lang="en-US" sz="2400" kern="0" baseline="-25000" dirty="0"/>
              <a:t>3</a:t>
            </a:r>
            <a:r>
              <a:rPr lang="en-US" sz="2400" i="1" kern="0" dirty="0"/>
              <a:t>=</a:t>
            </a:r>
            <a:r>
              <a:rPr lang="en-US" sz="2400" kern="0" dirty="0"/>
              <a:t> (</a:t>
            </a:r>
            <a:r>
              <a:rPr lang="en-US" sz="2400" i="1" kern="0" dirty="0"/>
              <a:t>V</a:t>
            </a:r>
            <a:r>
              <a:rPr lang="en-US" sz="2400" i="1" kern="0" baseline="-25000" dirty="0"/>
              <a:t>2</a:t>
            </a:r>
            <a:r>
              <a:rPr lang="en-US" sz="2400" kern="0" dirty="0"/>
              <a:t>-</a:t>
            </a:r>
            <a:r>
              <a:rPr lang="en-US" sz="2400" i="1" kern="0" dirty="0"/>
              <a:t>V</a:t>
            </a:r>
            <a:r>
              <a:rPr lang="en-US" sz="2400" kern="0" baseline="-25000" dirty="0"/>
              <a:t>3</a:t>
            </a:r>
            <a:r>
              <a:rPr lang="en-US" sz="2400" kern="0" dirty="0"/>
              <a:t>)/10</a:t>
            </a:r>
            <a:r>
              <a:rPr lang="el-GR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(-80-0)</a:t>
            </a:r>
            <a:r>
              <a:rPr lang="en-US" sz="2400" kern="0" dirty="0"/>
              <a:t>/10 =-8mA</a:t>
            </a:r>
          </a:p>
          <a:p>
            <a:r>
              <a:rPr lang="en-US" sz="2400" kern="0" dirty="0"/>
              <a:t>Current into </a:t>
            </a:r>
            <a:r>
              <a:rPr lang="en-US" sz="2400" i="1" kern="0" dirty="0"/>
              <a:t>V</a:t>
            </a:r>
            <a:r>
              <a:rPr lang="en-US" sz="2400" kern="0" baseline="-25000" dirty="0"/>
              <a:t>3</a:t>
            </a:r>
            <a:r>
              <a:rPr lang="en-US" sz="2400" kern="0" dirty="0"/>
              <a:t> = 1mA+2mA-8mA</a:t>
            </a:r>
          </a:p>
          <a:p>
            <a:r>
              <a:rPr lang="en-US" sz="2400" kern="0" dirty="0"/>
              <a:t>This seemingly violates KCL!</a:t>
            </a:r>
            <a:endParaRPr lang="en-US" sz="2400" i="1" kern="0" dirty="0"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en-US" kern="0" dirty="0"/>
          </a:p>
        </p:txBody>
      </p: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894168AC-2BA5-43C2-BD07-74F23B8C1025}"/>
              </a:ext>
            </a:extLst>
          </p:cNvPr>
          <p:cNvGrpSpPr/>
          <p:nvPr/>
        </p:nvGrpSpPr>
        <p:grpSpPr>
          <a:xfrm>
            <a:off x="946202" y="3512820"/>
            <a:ext cx="269188" cy="610994"/>
            <a:chOff x="489002" y="3512820"/>
            <a:chExt cx="269188" cy="610994"/>
          </a:xfrm>
        </p:grpSpPr>
        <p:cxnSp>
          <p:nvCxnSpPr>
            <p:cNvPr id="126" name="Straight Arrow Connector 125">
              <a:extLst>
                <a:ext uri="{FF2B5EF4-FFF2-40B4-BE49-F238E27FC236}">
                  <a16:creationId xmlns:a16="http://schemas.microsoft.com/office/drawing/2014/main" id="{485289EB-400D-1AA4-104E-4CC13BEEEB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2523" y="3512820"/>
              <a:ext cx="0" cy="610994"/>
            </a:xfrm>
            <a:prstGeom prst="straightConnector1">
              <a:avLst/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4510B190-421E-AF6D-C1D3-5E3156ABC501}"/>
                </a:ext>
              </a:extLst>
            </p:cNvPr>
            <p:cNvSpPr txBox="1"/>
            <p:nvPr/>
          </p:nvSpPr>
          <p:spPr>
            <a:xfrm>
              <a:off x="489002" y="3693580"/>
              <a:ext cx="269188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2000" dirty="0"/>
                <a:t>i</a:t>
              </a:r>
              <a:r>
                <a:rPr lang="en-US" sz="2000" baseline="-25000" dirty="0"/>
                <a:t>1</a:t>
              </a:r>
              <a:endParaRPr lang="en-US" sz="2000" dirty="0"/>
            </a:p>
          </p:txBody>
        </p: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00436793-3A66-05C2-923D-BC08EF954D5D}"/>
              </a:ext>
            </a:extLst>
          </p:cNvPr>
          <p:cNvGrpSpPr/>
          <p:nvPr/>
        </p:nvGrpSpPr>
        <p:grpSpPr>
          <a:xfrm>
            <a:off x="3811003" y="3402330"/>
            <a:ext cx="334277" cy="610994"/>
            <a:chOff x="3490963" y="3402330"/>
            <a:chExt cx="334277" cy="610994"/>
          </a:xfrm>
        </p:grpSpPr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63F6C9C0-8FFF-0A20-C389-8478CED165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90963" y="3402330"/>
              <a:ext cx="0" cy="610994"/>
            </a:xfrm>
            <a:prstGeom prst="straightConnector1">
              <a:avLst/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66288553-1B21-06FB-A50F-FA387549BC43}"/>
                </a:ext>
              </a:extLst>
            </p:cNvPr>
            <p:cNvSpPr txBox="1"/>
            <p:nvPr/>
          </p:nvSpPr>
          <p:spPr>
            <a:xfrm>
              <a:off x="3556052" y="3560230"/>
              <a:ext cx="269188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2000" dirty="0"/>
                <a:t>i</a:t>
              </a:r>
              <a:r>
                <a:rPr lang="en-US" sz="2000" baseline="-25000" dirty="0"/>
                <a:t>3</a:t>
              </a:r>
              <a:endParaRPr lang="en-US" sz="2000" dirty="0"/>
            </a:p>
          </p:txBody>
        </p:sp>
      </p:grpSp>
      <p:sp>
        <p:nvSpPr>
          <p:cNvPr id="5" name="Oval 4">
            <a:extLst>
              <a:ext uri="{FF2B5EF4-FFF2-40B4-BE49-F238E27FC236}">
                <a16:creationId xmlns:a16="http://schemas.microsoft.com/office/drawing/2014/main" id="{5B8C304E-A32F-BE6C-AA7C-E6808A085C17}"/>
              </a:ext>
            </a:extLst>
          </p:cNvPr>
          <p:cNvSpPr/>
          <p:nvPr/>
        </p:nvSpPr>
        <p:spPr>
          <a:xfrm>
            <a:off x="185902" y="3827357"/>
            <a:ext cx="279400" cy="67733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BE37ACA-82A7-94F6-D8D8-B65116AB738F}"/>
              </a:ext>
            </a:extLst>
          </p:cNvPr>
          <p:cNvCxnSpPr>
            <a:cxnSpLocks/>
          </p:cNvCxnSpPr>
          <p:nvPr/>
        </p:nvCxnSpPr>
        <p:spPr>
          <a:xfrm>
            <a:off x="325602" y="4036484"/>
            <a:ext cx="0" cy="30480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8153F7E-8D15-E86B-7D85-1BE4F01D93C0}"/>
              </a:ext>
            </a:extLst>
          </p:cNvPr>
          <p:cNvCxnSpPr>
            <a:stCxn id="5" idx="0"/>
          </p:cNvCxnSpPr>
          <p:nvPr/>
        </p:nvCxnSpPr>
        <p:spPr>
          <a:xfrm flipV="1">
            <a:off x="325602" y="3063661"/>
            <a:ext cx="0" cy="763696"/>
          </a:xfrm>
          <a:prstGeom prst="line">
            <a:avLst/>
          </a:prstGeom>
          <a:ln w="38100">
            <a:solidFill>
              <a:schemeClr val="accent4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07A6701-1AFB-329B-0BDC-0D63576F8E9D}"/>
              </a:ext>
            </a:extLst>
          </p:cNvPr>
          <p:cNvCxnSpPr>
            <a:cxnSpLocks/>
          </p:cNvCxnSpPr>
          <p:nvPr/>
        </p:nvCxnSpPr>
        <p:spPr>
          <a:xfrm flipV="1">
            <a:off x="317982" y="4507651"/>
            <a:ext cx="0" cy="693838"/>
          </a:xfrm>
          <a:prstGeom prst="line">
            <a:avLst/>
          </a:prstGeom>
          <a:ln w="38100">
            <a:solidFill>
              <a:schemeClr val="accent4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54BB8229-0577-4B55-CF7D-7F40D3EC0FFE}"/>
              </a:ext>
            </a:extLst>
          </p:cNvPr>
          <p:cNvSpPr/>
          <p:nvPr/>
        </p:nvSpPr>
        <p:spPr>
          <a:xfrm>
            <a:off x="375673" y="3921222"/>
            <a:ext cx="82419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1mA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69278D-ADBA-1310-E896-5C494BF8A86C}"/>
              </a:ext>
            </a:extLst>
          </p:cNvPr>
          <p:cNvSpPr txBox="1"/>
          <p:nvPr/>
        </p:nvSpPr>
        <p:spPr>
          <a:xfrm>
            <a:off x="175687" y="1835661"/>
            <a:ext cx="33871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Is KCL at </a:t>
            </a:r>
            <a:r>
              <a:rPr lang="en-US" i="1" dirty="0"/>
              <a:t>V</a:t>
            </a:r>
            <a:r>
              <a:rPr lang="en-US" baseline="-25000" dirty="0"/>
              <a:t>3</a:t>
            </a:r>
            <a:r>
              <a:rPr lang="en-US" dirty="0"/>
              <a:t> satisfied?</a:t>
            </a:r>
          </a:p>
        </p:txBody>
      </p:sp>
    </p:spTree>
    <p:extLst>
      <p:ext uri="{BB962C8B-B14F-4D97-AF65-F5344CB8AC3E}">
        <p14:creationId xmlns:p14="http://schemas.microsoft.com/office/powerpoint/2010/main" val="1162506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390A0-6C10-3167-FF66-2F8363CEA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the membrane capacitor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5376F4-0D09-F3D7-6ED2-20C6EC1467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14" y="1418608"/>
            <a:ext cx="6051048" cy="1161596"/>
          </a:xfrm>
        </p:spPr>
        <p:txBody>
          <a:bodyPr/>
          <a:lstStyle/>
          <a:p>
            <a:r>
              <a:rPr lang="en-US" dirty="0"/>
              <a:t>You’ll need some simple algebra</a:t>
            </a:r>
            <a:endParaRPr lang="en-US" i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5F11A7-1154-6A0F-0B69-E38EE06F5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EE 123 Joel Grodstein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D6D4567-AD58-94BA-340B-A27AA809F980}"/>
              </a:ext>
            </a:extLst>
          </p:cNvPr>
          <p:cNvCxnSpPr>
            <a:cxnSpLocks/>
          </p:cNvCxnSpPr>
          <p:nvPr/>
        </p:nvCxnSpPr>
        <p:spPr>
          <a:xfrm>
            <a:off x="325602" y="5198530"/>
            <a:ext cx="3931621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888D8ED-0B66-E480-25DF-E9325C5A83F8}"/>
              </a:ext>
            </a:extLst>
          </p:cNvPr>
          <p:cNvCxnSpPr>
            <a:cxnSpLocks/>
          </p:cNvCxnSpPr>
          <p:nvPr/>
        </p:nvCxnSpPr>
        <p:spPr>
          <a:xfrm>
            <a:off x="325602" y="3063661"/>
            <a:ext cx="3931621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91C21793-1D02-D254-0F3F-9EA9E9DD5E9B}"/>
              </a:ext>
            </a:extLst>
          </p:cNvPr>
          <p:cNvSpPr/>
          <p:nvPr/>
        </p:nvSpPr>
        <p:spPr>
          <a:xfrm>
            <a:off x="817797" y="4568922"/>
            <a:ext cx="98761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80mV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ED29829-BB68-0E3F-8C4D-61E290BAA41B}"/>
              </a:ext>
            </a:extLst>
          </p:cNvPr>
          <p:cNvSpPr txBox="1"/>
          <p:nvPr/>
        </p:nvSpPr>
        <p:spPr>
          <a:xfrm>
            <a:off x="1121885" y="5308727"/>
            <a:ext cx="143148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dirty="0"/>
              <a:t>ECF (ground)</a:t>
            </a:r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9A98B13B-6C07-F3D3-DBEF-28B88CE82DA5}"/>
              </a:ext>
            </a:extLst>
          </p:cNvPr>
          <p:cNvGrpSpPr/>
          <p:nvPr/>
        </p:nvGrpSpPr>
        <p:grpSpPr>
          <a:xfrm>
            <a:off x="1596390" y="3054772"/>
            <a:ext cx="630370" cy="2146717"/>
            <a:chOff x="1184910" y="3740572"/>
            <a:chExt cx="630370" cy="2146717"/>
          </a:xfrm>
        </p:grpSpPr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10FAAC47-49DB-379E-7408-C88B9677383F}"/>
                </a:ext>
              </a:extLst>
            </p:cNvPr>
            <p:cNvCxnSpPr>
              <a:cxnSpLocks/>
            </p:cNvCxnSpPr>
            <p:nvPr/>
          </p:nvCxnSpPr>
          <p:spPr>
            <a:xfrm>
              <a:off x="1529129" y="3740572"/>
              <a:ext cx="0" cy="203198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F74E0F5-94E6-A1B5-BBAC-04B4099130CD}"/>
                </a:ext>
              </a:extLst>
            </p:cNvPr>
            <p:cNvSpPr txBox="1"/>
            <p:nvPr/>
          </p:nvSpPr>
          <p:spPr>
            <a:xfrm>
              <a:off x="1544372" y="4806100"/>
              <a:ext cx="270908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2000" dirty="0"/>
                <a:t>V</a:t>
              </a:r>
              <a:r>
                <a:rPr lang="en-US" sz="2000" baseline="-25000" dirty="0"/>
                <a:t>1</a:t>
              </a:r>
              <a:endParaRPr lang="en-US" sz="2000" dirty="0"/>
            </a:p>
          </p:txBody>
        </p: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8F921FBC-F5A5-373E-A88E-735462E35713}"/>
                </a:ext>
              </a:extLst>
            </p:cNvPr>
            <p:cNvCxnSpPr>
              <a:cxnSpLocks/>
            </p:cNvCxnSpPr>
            <p:nvPr/>
          </p:nvCxnSpPr>
          <p:spPr>
            <a:xfrm>
              <a:off x="1516564" y="4742617"/>
              <a:ext cx="0" cy="668066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E7D8D8F5-5B56-EF09-6678-43BE3E39A490}"/>
                </a:ext>
              </a:extLst>
            </p:cNvPr>
            <p:cNvCxnSpPr>
              <a:cxnSpLocks/>
            </p:cNvCxnSpPr>
            <p:nvPr/>
          </p:nvCxnSpPr>
          <p:spPr>
            <a:xfrm>
              <a:off x="1516564" y="5508427"/>
              <a:ext cx="0" cy="378862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E2223588-31B1-994B-CCAF-BC61D2EB4A51}"/>
                </a:ext>
              </a:extLst>
            </p:cNvPr>
            <p:cNvGrpSpPr/>
            <p:nvPr/>
          </p:nvGrpSpPr>
          <p:grpSpPr>
            <a:xfrm flipV="1">
              <a:off x="1287964" y="5406828"/>
              <a:ext cx="457200" cy="101599"/>
              <a:chOff x="3088619" y="3223591"/>
              <a:chExt cx="457200" cy="101599"/>
            </a:xfrm>
          </p:grpSpPr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58D00946-A5CC-1351-3363-326C81A5A57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88619" y="3223591"/>
                <a:ext cx="4572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3285E578-DF03-E782-96B5-D58A3830EF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90218" y="3325190"/>
                <a:ext cx="254003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C89B27A7-A7C1-7DAF-2DE9-7C5B96AA8D1A}"/>
                </a:ext>
              </a:extLst>
            </p:cNvPr>
            <p:cNvSpPr txBox="1"/>
            <p:nvPr/>
          </p:nvSpPr>
          <p:spPr>
            <a:xfrm>
              <a:off x="1184910" y="5051227"/>
              <a:ext cx="483870" cy="4572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+</a:t>
              </a:r>
            </a:p>
          </p:txBody>
        </p: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43894EB6-0642-D561-9583-5DCD48DCFE17}"/>
                </a:ext>
              </a:extLst>
            </p:cNvPr>
            <p:cNvGrpSpPr/>
            <p:nvPr/>
          </p:nvGrpSpPr>
          <p:grpSpPr>
            <a:xfrm rot="5400000">
              <a:off x="1211764" y="4233601"/>
              <a:ext cx="609600" cy="408432"/>
              <a:chOff x="2590800" y="1592580"/>
              <a:chExt cx="609600" cy="408432"/>
            </a:xfrm>
          </p:grpSpPr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327FD15B-D1FE-75AE-E0B3-D2CE625D784D}"/>
                  </a:ext>
                </a:extLst>
              </p:cNvPr>
              <p:cNvCxnSpPr/>
              <p:nvPr/>
            </p:nvCxnSpPr>
            <p:spPr>
              <a:xfrm rot="5400000">
                <a:off x="3066288" y="1833372"/>
                <a:ext cx="192024" cy="762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CEA5FB7B-C0AF-7250-F878-1B77338DB883}"/>
                  </a:ext>
                </a:extLst>
              </p:cNvPr>
              <p:cNvCxnSpPr/>
              <p:nvPr/>
            </p:nvCxnSpPr>
            <p:spPr>
              <a:xfrm rot="5400000" flipV="1">
                <a:off x="2857500" y="1734312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AD244281-70D0-17F9-1AC5-6E1BEBED73BD}"/>
                  </a:ext>
                </a:extLst>
              </p:cNvPr>
              <p:cNvCxnSpPr/>
              <p:nvPr/>
            </p:nvCxnSpPr>
            <p:spPr>
              <a:xfrm rot="5400000" flipH="1" flipV="1">
                <a:off x="2705100" y="17145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2270E1D2-D83B-E494-D959-75FB8A989498}"/>
                  </a:ext>
                </a:extLst>
              </p:cNvPr>
              <p:cNvCxnSpPr/>
              <p:nvPr/>
            </p:nvCxnSpPr>
            <p:spPr>
              <a:xfrm rot="5400000" flipV="1">
                <a:off x="2552700" y="17145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8744E97A-5155-D79F-BAD7-986B5B4E976A}"/>
                  </a:ext>
                </a:extLst>
              </p:cNvPr>
              <p:cNvCxnSpPr/>
              <p:nvPr/>
            </p:nvCxnSpPr>
            <p:spPr>
              <a:xfrm rot="5400000">
                <a:off x="2532888" y="1650492"/>
                <a:ext cx="192024" cy="762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F44E700B-4645-9D93-B6DE-199C2DE581EA}"/>
                </a:ext>
              </a:extLst>
            </p:cNvPr>
            <p:cNvCxnSpPr>
              <a:cxnSpLocks/>
            </p:cNvCxnSpPr>
            <p:nvPr/>
          </p:nvCxnSpPr>
          <p:spPr>
            <a:xfrm>
              <a:off x="1529080" y="3927277"/>
              <a:ext cx="0" cy="201062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2" name="TextBox 101">
            <a:extLst>
              <a:ext uri="{FF2B5EF4-FFF2-40B4-BE49-F238E27FC236}">
                <a16:creationId xmlns:a16="http://schemas.microsoft.com/office/drawing/2014/main" id="{2DFBEEA0-4BC4-0BB9-B327-6C9920B4B115}"/>
              </a:ext>
            </a:extLst>
          </p:cNvPr>
          <p:cNvSpPr txBox="1"/>
          <p:nvPr/>
        </p:nvSpPr>
        <p:spPr>
          <a:xfrm>
            <a:off x="908101" y="2718220"/>
            <a:ext cx="89094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dirty="0"/>
              <a:t>V</a:t>
            </a:r>
            <a:r>
              <a:rPr lang="en-US" sz="2000" baseline="-25000" dirty="0"/>
              <a:t>3</a:t>
            </a:r>
            <a:r>
              <a:rPr lang="en-US" sz="2000" dirty="0"/>
              <a:t> = 0V</a:t>
            </a:r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90986D10-4DDC-4632-E14B-3515011191D2}"/>
              </a:ext>
            </a:extLst>
          </p:cNvPr>
          <p:cNvGrpSpPr/>
          <p:nvPr/>
        </p:nvGrpSpPr>
        <p:grpSpPr>
          <a:xfrm>
            <a:off x="2766060" y="3047152"/>
            <a:ext cx="630370" cy="2146717"/>
            <a:chOff x="1184910" y="3740572"/>
            <a:chExt cx="630370" cy="2146717"/>
          </a:xfrm>
        </p:grpSpPr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83F20278-54F9-47E7-D211-94FEC27243EF}"/>
                </a:ext>
              </a:extLst>
            </p:cNvPr>
            <p:cNvCxnSpPr>
              <a:cxnSpLocks/>
            </p:cNvCxnSpPr>
            <p:nvPr/>
          </p:nvCxnSpPr>
          <p:spPr>
            <a:xfrm>
              <a:off x="1529129" y="3740572"/>
              <a:ext cx="0" cy="203198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83D89936-4237-E16E-307A-873AD4D884C7}"/>
                </a:ext>
              </a:extLst>
            </p:cNvPr>
            <p:cNvSpPr txBox="1"/>
            <p:nvPr/>
          </p:nvSpPr>
          <p:spPr>
            <a:xfrm>
              <a:off x="1544372" y="4806100"/>
              <a:ext cx="270908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2000" dirty="0"/>
                <a:t>V</a:t>
              </a:r>
              <a:r>
                <a:rPr lang="en-US" sz="2000" baseline="-25000" dirty="0"/>
                <a:t>2</a:t>
              </a:r>
              <a:endParaRPr lang="en-US" sz="2000" dirty="0"/>
            </a:p>
          </p:txBody>
        </p: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496502B4-CE79-A527-A3D2-94C7C6480EA0}"/>
                </a:ext>
              </a:extLst>
            </p:cNvPr>
            <p:cNvCxnSpPr>
              <a:cxnSpLocks/>
            </p:cNvCxnSpPr>
            <p:nvPr/>
          </p:nvCxnSpPr>
          <p:spPr>
            <a:xfrm>
              <a:off x="1516564" y="4742617"/>
              <a:ext cx="0" cy="668066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0E79D53B-0C2C-1014-E516-3ED32AC6D63F}"/>
                </a:ext>
              </a:extLst>
            </p:cNvPr>
            <p:cNvCxnSpPr>
              <a:cxnSpLocks/>
            </p:cNvCxnSpPr>
            <p:nvPr/>
          </p:nvCxnSpPr>
          <p:spPr>
            <a:xfrm>
              <a:off x="1516564" y="5508427"/>
              <a:ext cx="0" cy="378862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B7393F3E-421B-F174-4061-CF29EFABE86F}"/>
                </a:ext>
              </a:extLst>
            </p:cNvPr>
            <p:cNvGrpSpPr/>
            <p:nvPr/>
          </p:nvGrpSpPr>
          <p:grpSpPr>
            <a:xfrm flipV="1">
              <a:off x="1287964" y="5406828"/>
              <a:ext cx="457200" cy="101599"/>
              <a:chOff x="3088619" y="3223591"/>
              <a:chExt cx="457200" cy="101599"/>
            </a:xfrm>
          </p:grpSpPr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3A4CFC37-F2E1-1257-A193-CFE66C207D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88619" y="3223591"/>
                <a:ext cx="4572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>
                <a:extLst>
                  <a:ext uri="{FF2B5EF4-FFF2-40B4-BE49-F238E27FC236}">
                    <a16:creationId xmlns:a16="http://schemas.microsoft.com/office/drawing/2014/main" id="{6A5B414F-CCD5-2E6C-ADBA-438BC201B6B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90218" y="3325190"/>
                <a:ext cx="254003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9FA532B4-A880-0666-0A89-03C2A7EC7BC3}"/>
                </a:ext>
              </a:extLst>
            </p:cNvPr>
            <p:cNvSpPr txBox="1"/>
            <p:nvPr/>
          </p:nvSpPr>
          <p:spPr>
            <a:xfrm>
              <a:off x="1184910" y="5051227"/>
              <a:ext cx="483870" cy="4572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+</a:t>
              </a:r>
            </a:p>
          </p:txBody>
        </p:sp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D72613BB-5863-EA0D-6182-B56D0BE6B5E0}"/>
                </a:ext>
              </a:extLst>
            </p:cNvPr>
            <p:cNvGrpSpPr/>
            <p:nvPr/>
          </p:nvGrpSpPr>
          <p:grpSpPr>
            <a:xfrm rot="5400000">
              <a:off x="1211764" y="4233601"/>
              <a:ext cx="609600" cy="408432"/>
              <a:chOff x="2590800" y="1592580"/>
              <a:chExt cx="609600" cy="408432"/>
            </a:xfrm>
          </p:grpSpPr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FF2542F8-C1CF-E904-51DE-D02AC4570AEA}"/>
                  </a:ext>
                </a:extLst>
              </p:cNvPr>
              <p:cNvCxnSpPr/>
              <p:nvPr/>
            </p:nvCxnSpPr>
            <p:spPr>
              <a:xfrm rot="5400000">
                <a:off x="3066288" y="1833372"/>
                <a:ext cx="192024" cy="762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>
                <a:extLst>
                  <a:ext uri="{FF2B5EF4-FFF2-40B4-BE49-F238E27FC236}">
                    <a16:creationId xmlns:a16="http://schemas.microsoft.com/office/drawing/2014/main" id="{FF6DBE3A-1842-1598-ADC3-06F7DD73AA7C}"/>
                  </a:ext>
                </a:extLst>
              </p:cNvPr>
              <p:cNvCxnSpPr/>
              <p:nvPr/>
            </p:nvCxnSpPr>
            <p:spPr>
              <a:xfrm rot="5400000" flipV="1">
                <a:off x="2857500" y="1734312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8AE7B4E8-80CB-057A-7529-7D28969CE503}"/>
                  </a:ext>
                </a:extLst>
              </p:cNvPr>
              <p:cNvCxnSpPr/>
              <p:nvPr/>
            </p:nvCxnSpPr>
            <p:spPr>
              <a:xfrm rot="5400000" flipH="1" flipV="1">
                <a:off x="2705100" y="17145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>
                <a:extLst>
                  <a:ext uri="{FF2B5EF4-FFF2-40B4-BE49-F238E27FC236}">
                    <a16:creationId xmlns:a16="http://schemas.microsoft.com/office/drawing/2014/main" id="{9356AC75-4910-A5D1-DFA1-93546F9EF26B}"/>
                  </a:ext>
                </a:extLst>
              </p:cNvPr>
              <p:cNvCxnSpPr/>
              <p:nvPr/>
            </p:nvCxnSpPr>
            <p:spPr>
              <a:xfrm rot="5400000" flipV="1">
                <a:off x="2552700" y="17145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>
                <a:extLst>
                  <a:ext uri="{FF2B5EF4-FFF2-40B4-BE49-F238E27FC236}">
                    <a16:creationId xmlns:a16="http://schemas.microsoft.com/office/drawing/2014/main" id="{0CBD7150-1103-2CEC-3472-F6AE4E999B60}"/>
                  </a:ext>
                </a:extLst>
              </p:cNvPr>
              <p:cNvCxnSpPr/>
              <p:nvPr/>
            </p:nvCxnSpPr>
            <p:spPr>
              <a:xfrm rot="5400000">
                <a:off x="2532888" y="1650492"/>
                <a:ext cx="192024" cy="762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C894BADF-D3A9-32FB-A5BA-13F4D422ECE4}"/>
                </a:ext>
              </a:extLst>
            </p:cNvPr>
            <p:cNvCxnSpPr>
              <a:cxnSpLocks/>
            </p:cNvCxnSpPr>
            <p:nvPr/>
          </p:nvCxnSpPr>
          <p:spPr>
            <a:xfrm>
              <a:off x="1529080" y="3927277"/>
              <a:ext cx="0" cy="201062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2" name="Rectangle 121">
            <a:extLst>
              <a:ext uri="{FF2B5EF4-FFF2-40B4-BE49-F238E27FC236}">
                <a16:creationId xmlns:a16="http://schemas.microsoft.com/office/drawing/2014/main" id="{D891370E-69AB-D16D-8E1C-0CB692844250}"/>
              </a:ext>
            </a:extLst>
          </p:cNvPr>
          <p:cNvSpPr/>
          <p:nvPr/>
        </p:nvSpPr>
        <p:spPr>
          <a:xfrm>
            <a:off x="1130054" y="3532602"/>
            <a:ext cx="7248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40</a:t>
            </a:r>
            <a:r>
              <a:rPr lang="el-GR" dirty="0">
                <a:cs typeface="Times New Roman" panose="02020603050405020304" pitchFamily="18" charset="0"/>
              </a:rPr>
              <a:t>Ω</a:t>
            </a:r>
            <a:endParaRPr lang="en-US" dirty="0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A5B9D390-6122-493B-2889-B394E23308AC}"/>
              </a:ext>
            </a:extLst>
          </p:cNvPr>
          <p:cNvSpPr/>
          <p:nvPr/>
        </p:nvSpPr>
        <p:spPr>
          <a:xfrm>
            <a:off x="3038863" y="4732752"/>
            <a:ext cx="128356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-80mV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43ADDD86-3205-415E-9026-321E5507BB49}"/>
              </a:ext>
            </a:extLst>
          </p:cNvPr>
          <p:cNvSpPr/>
          <p:nvPr/>
        </p:nvSpPr>
        <p:spPr>
          <a:xfrm>
            <a:off x="3111254" y="3444972"/>
            <a:ext cx="7248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10</a:t>
            </a:r>
            <a:r>
              <a:rPr lang="el-GR" dirty="0">
                <a:cs typeface="Times New Roman" panose="02020603050405020304" pitchFamily="18" charset="0"/>
              </a:rPr>
              <a:t>Ω</a:t>
            </a:r>
            <a:endParaRPr lang="en-US" dirty="0"/>
          </a:p>
        </p:txBody>
      </p: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894168AC-2BA5-43C2-BD07-74F23B8C1025}"/>
              </a:ext>
            </a:extLst>
          </p:cNvPr>
          <p:cNvGrpSpPr/>
          <p:nvPr/>
        </p:nvGrpSpPr>
        <p:grpSpPr>
          <a:xfrm>
            <a:off x="946202" y="3512820"/>
            <a:ext cx="269188" cy="610994"/>
            <a:chOff x="489002" y="3512820"/>
            <a:chExt cx="269188" cy="610994"/>
          </a:xfrm>
        </p:grpSpPr>
        <p:cxnSp>
          <p:nvCxnSpPr>
            <p:cNvPr id="126" name="Straight Arrow Connector 125">
              <a:extLst>
                <a:ext uri="{FF2B5EF4-FFF2-40B4-BE49-F238E27FC236}">
                  <a16:creationId xmlns:a16="http://schemas.microsoft.com/office/drawing/2014/main" id="{485289EB-400D-1AA4-104E-4CC13BEEEB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2523" y="3512820"/>
              <a:ext cx="0" cy="610994"/>
            </a:xfrm>
            <a:prstGeom prst="straightConnector1">
              <a:avLst/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4510B190-421E-AF6D-C1D3-5E3156ABC501}"/>
                </a:ext>
              </a:extLst>
            </p:cNvPr>
            <p:cNvSpPr txBox="1"/>
            <p:nvPr/>
          </p:nvSpPr>
          <p:spPr>
            <a:xfrm>
              <a:off x="489002" y="3693580"/>
              <a:ext cx="269188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2000" dirty="0"/>
                <a:t>i</a:t>
              </a:r>
              <a:r>
                <a:rPr lang="en-US" sz="2000" baseline="-25000" dirty="0"/>
                <a:t>1</a:t>
              </a:r>
              <a:endParaRPr lang="en-US" sz="2000" dirty="0"/>
            </a:p>
          </p:txBody>
        </p: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00436793-3A66-05C2-923D-BC08EF954D5D}"/>
              </a:ext>
            </a:extLst>
          </p:cNvPr>
          <p:cNvGrpSpPr/>
          <p:nvPr/>
        </p:nvGrpSpPr>
        <p:grpSpPr>
          <a:xfrm>
            <a:off x="3811003" y="3402330"/>
            <a:ext cx="334277" cy="610994"/>
            <a:chOff x="3490963" y="3402330"/>
            <a:chExt cx="334277" cy="610994"/>
          </a:xfrm>
        </p:grpSpPr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63F6C9C0-8FFF-0A20-C389-8478CED165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90963" y="3402330"/>
              <a:ext cx="0" cy="610994"/>
            </a:xfrm>
            <a:prstGeom prst="straightConnector1">
              <a:avLst/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66288553-1B21-06FB-A50F-FA387549BC43}"/>
                </a:ext>
              </a:extLst>
            </p:cNvPr>
            <p:cNvSpPr txBox="1"/>
            <p:nvPr/>
          </p:nvSpPr>
          <p:spPr>
            <a:xfrm>
              <a:off x="3556052" y="3560230"/>
              <a:ext cx="269188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2000" dirty="0"/>
                <a:t>i</a:t>
              </a:r>
              <a:r>
                <a:rPr lang="en-US" sz="2000" baseline="-25000" dirty="0"/>
                <a:t>3</a:t>
              </a:r>
              <a:endParaRPr lang="en-US" sz="2000" dirty="0"/>
            </a:p>
          </p:txBody>
        </p:sp>
      </p:grpSp>
      <p:sp>
        <p:nvSpPr>
          <p:cNvPr id="5" name="Oval 4">
            <a:extLst>
              <a:ext uri="{FF2B5EF4-FFF2-40B4-BE49-F238E27FC236}">
                <a16:creationId xmlns:a16="http://schemas.microsoft.com/office/drawing/2014/main" id="{5B8C304E-A32F-BE6C-AA7C-E6808A085C17}"/>
              </a:ext>
            </a:extLst>
          </p:cNvPr>
          <p:cNvSpPr/>
          <p:nvPr/>
        </p:nvSpPr>
        <p:spPr>
          <a:xfrm>
            <a:off x="185902" y="3827357"/>
            <a:ext cx="279400" cy="67733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BE37ACA-82A7-94F6-D8D8-B65116AB738F}"/>
              </a:ext>
            </a:extLst>
          </p:cNvPr>
          <p:cNvCxnSpPr>
            <a:cxnSpLocks/>
          </p:cNvCxnSpPr>
          <p:nvPr/>
        </p:nvCxnSpPr>
        <p:spPr>
          <a:xfrm>
            <a:off x="325602" y="4036484"/>
            <a:ext cx="0" cy="30480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8153F7E-8D15-E86B-7D85-1BE4F01D93C0}"/>
              </a:ext>
            </a:extLst>
          </p:cNvPr>
          <p:cNvCxnSpPr>
            <a:stCxn id="5" idx="0"/>
          </p:cNvCxnSpPr>
          <p:nvPr/>
        </p:nvCxnSpPr>
        <p:spPr>
          <a:xfrm flipV="1">
            <a:off x="325602" y="3063661"/>
            <a:ext cx="0" cy="763696"/>
          </a:xfrm>
          <a:prstGeom prst="line">
            <a:avLst/>
          </a:prstGeom>
          <a:ln w="38100">
            <a:solidFill>
              <a:schemeClr val="accent4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07A6701-1AFB-329B-0BDC-0D63576F8E9D}"/>
              </a:ext>
            </a:extLst>
          </p:cNvPr>
          <p:cNvCxnSpPr>
            <a:cxnSpLocks/>
          </p:cNvCxnSpPr>
          <p:nvPr/>
        </p:nvCxnSpPr>
        <p:spPr>
          <a:xfrm flipV="1">
            <a:off x="317982" y="4507651"/>
            <a:ext cx="0" cy="693838"/>
          </a:xfrm>
          <a:prstGeom prst="line">
            <a:avLst/>
          </a:prstGeom>
          <a:ln w="38100">
            <a:solidFill>
              <a:schemeClr val="accent4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54BB8229-0577-4B55-CF7D-7F40D3EC0FFE}"/>
              </a:ext>
            </a:extLst>
          </p:cNvPr>
          <p:cNvSpPr/>
          <p:nvPr/>
        </p:nvSpPr>
        <p:spPr>
          <a:xfrm>
            <a:off x="375673" y="3921222"/>
            <a:ext cx="82419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1mA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700963-773B-44CB-AC35-3FAA8063763B}"/>
              </a:ext>
            </a:extLst>
          </p:cNvPr>
          <p:cNvSpPr txBox="1"/>
          <p:nvPr/>
        </p:nvSpPr>
        <p:spPr>
          <a:xfrm>
            <a:off x="2017235" y="2695067"/>
            <a:ext cx="399148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dirty="0"/>
              <a:t>ICF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DA32152-1DE4-BCD1-4C04-48FFC961EC70}"/>
              </a:ext>
            </a:extLst>
          </p:cNvPr>
          <p:cNvCxnSpPr>
            <a:cxnSpLocks/>
          </p:cNvCxnSpPr>
          <p:nvPr/>
        </p:nvCxnSpPr>
        <p:spPr>
          <a:xfrm>
            <a:off x="4257223" y="3063661"/>
            <a:ext cx="0" cy="1082102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A606DED-4651-096E-EE46-9628E5CFBF88}"/>
              </a:ext>
            </a:extLst>
          </p:cNvPr>
          <p:cNvCxnSpPr>
            <a:cxnSpLocks/>
          </p:cNvCxnSpPr>
          <p:nvPr/>
        </p:nvCxnSpPr>
        <p:spPr>
          <a:xfrm>
            <a:off x="4257223" y="4243507"/>
            <a:ext cx="0" cy="950362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B0E0B2C-742F-6A40-A121-87514E473462}"/>
              </a:ext>
            </a:extLst>
          </p:cNvPr>
          <p:cNvGrpSpPr/>
          <p:nvPr/>
        </p:nvGrpSpPr>
        <p:grpSpPr>
          <a:xfrm>
            <a:off x="4074343" y="4141908"/>
            <a:ext cx="365760" cy="101599"/>
            <a:chOff x="6428923" y="4873428"/>
            <a:chExt cx="365760" cy="101599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074DC5C-E5DF-DE52-FE66-9A3CFE5D47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28923" y="4975027"/>
              <a:ext cx="36576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B4ED655E-FF83-1A16-6C8C-9D5B830EF1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28923" y="4873428"/>
              <a:ext cx="36576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7E8864AE-EB41-37A4-BB26-E519509274DE}"/>
              </a:ext>
            </a:extLst>
          </p:cNvPr>
          <p:cNvSpPr txBox="1"/>
          <p:nvPr/>
        </p:nvSpPr>
        <p:spPr>
          <a:xfrm>
            <a:off x="4318052" y="4333660"/>
            <a:ext cx="512961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dirty="0" err="1"/>
              <a:t>C</a:t>
            </a:r>
            <a:r>
              <a:rPr lang="en-US" sz="2000" baseline="-25000" dirty="0" err="1"/>
              <a:t>mem</a:t>
            </a:r>
            <a:endParaRPr lang="en-US" sz="2000" dirty="0"/>
          </a:p>
        </p:txBody>
      </p:sp>
      <p:sp>
        <p:nvSpPr>
          <p:cNvPr id="257" name="Content Placeholder 2">
            <a:extLst>
              <a:ext uri="{FF2B5EF4-FFF2-40B4-BE49-F238E27FC236}">
                <a16:creationId xmlns:a16="http://schemas.microsoft.com/office/drawing/2014/main" id="{58F1E0F9-F125-EE64-E562-51601236750B}"/>
              </a:ext>
            </a:extLst>
          </p:cNvPr>
          <p:cNvSpPr txBox="1">
            <a:spLocks/>
          </p:cNvSpPr>
          <p:nvPr/>
        </p:nvSpPr>
        <p:spPr bwMode="auto">
          <a:xfrm>
            <a:off x="5095158" y="2588278"/>
            <a:ext cx="3862937" cy="2851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2400" kern="0" dirty="0">
                <a:sym typeface="Symbol" panose="05050102010706020507" pitchFamily="18" charset="2"/>
              </a:rPr>
              <a:t>Capacitors obey </a:t>
            </a:r>
            <a:r>
              <a:rPr lang="en-US" sz="2400" i="1" kern="0" dirty="0">
                <a:sym typeface="Symbol" panose="05050102010706020507" pitchFamily="18" charset="2"/>
              </a:rPr>
              <a:t>Q</a:t>
            </a:r>
            <a:r>
              <a:rPr lang="en-US" sz="2400" kern="0" dirty="0">
                <a:sym typeface="Symbol" panose="05050102010706020507" pitchFamily="18" charset="2"/>
              </a:rPr>
              <a:t> = </a:t>
            </a:r>
            <a:r>
              <a:rPr lang="en-US" sz="2400" i="1" kern="0" dirty="0">
                <a:sym typeface="Symbol" panose="05050102010706020507" pitchFamily="18" charset="2"/>
              </a:rPr>
              <a:t>CV</a:t>
            </a:r>
          </a:p>
          <a:p>
            <a:r>
              <a:rPr lang="en-US" sz="2400" kern="0" dirty="0">
                <a:sym typeface="Symbol" panose="05050102010706020507" pitchFamily="18" charset="2"/>
              </a:rPr>
              <a:t>Current has units </a:t>
            </a:r>
            <a:r>
              <a:rPr lang="en-US" sz="2400" kern="0" dirty="0" err="1">
                <a:sym typeface="Symbol" panose="05050102010706020507" pitchFamily="18" charset="2"/>
              </a:rPr>
              <a:t>coul</a:t>
            </a:r>
            <a:r>
              <a:rPr lang="en-US" sz="2400" kern="0" dirty="0">
                <a:sym typeface="Symbol" panose="05050102010706020507" pitchFamily="18" charset="2"/>
              </a:rPr>
              <a:t>/sec</a:t>
            </a:r>
          </a:p>
          <a:p>
            <a:r>
              <a:rPr lang="en-US" sz="2400" kern="0" dirty="0">
                <a:sym typeface="Symbol" panose="05050102010706020507" pitchFamily="18" charset="2"/>
              </a:rPr>
              <a:t>-5mA flowing into ICF means charge in cell decreases</a:t>
            </a:r>
          </a:p>
          <a:p>
            <a:r>
              <a:rPr lang="en-US" sz="2400" kern="0" dirty="0">
                <a:sym typeface="Symbol" panose="05050102010706020507" pitchFamily="18" charset="2"/>
              </a:rPr>
              <a:t>By </a:t>
            </a:r>
            <a:r>
              <a:rPr lang="en-US" sz="2400" i="1" kern="0" dirty="0">
                <a:sym typeface="Symbol" panose="05050102010706020507" pitchFamily="18" charset="2"/>
              </a:rPr>
              <a:t>Q</a:t>
            </a:r>
            <a:r>
              <a:rPr lang="en-US" sz="2400" kern="0" dirty="0">
                <a:sym typeface="Symbol" panose="05050102010706020507" pitchFamily="18" charset="2"/>
              </a:rPr>
              <a:t> = </a:t>
            </a:r>
            <a:r>
              <a:rPr lang="en-US" sz="2400" i="1" kern="0" dirty="0">
                <a:sym typeface="Symbol" panose="05050102010706020507" pitchFamily="18" charset="2"/>
              </a:rPr>
              <a:t>CV</a:t>
            </a:r>
            <a:r>
              <a:rPr lang="en-US" sz="2400" kern="0" dirty="0">
                <a:sym typeface="Symbol" panose="05050102010706020507" pitchFamily="18" charset="2"/>
              </a:rPr>
              <a:t>, voltage in the cell decreases too</a:t>
            </a:r>
          </a:p>
          <a:p>
            <a:endParaRPr lang="en-US" sz="2400" kern="0" dirty="0"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1751348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390A0-6C10-3167-FF66-2F8363CEA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value will </a:t>
            </a:r>
            <a:r>
              <a:rPr lang="en-US" i="1" dirty="0" err="1"/>
              <a:t>V</a:t>
            </a:r>
            <a:r>
              <a:rPr lang="en-US" baseline="-25000" dirty="0" err="1"/>
              <a:t>mem</a:t>
            </a:r>
            <a:r>
              <a:rPr lang="en-US" dirty="0"/>
              <a:t> settle to?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5376F4-0D09-F3D7-6ED2-20C6EC1467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14" y="1418608"/>
            <a:ext cx="6051048" cy="1161596"/>
          </a:xfrm>
        </p:spPr>
        <p:txBody>
          <a:bodyPr/>
          <a:lstStyle/>
          <a:p>
            <a:r>
              <a:rPr lang="en-US" dirty="0"/>
              <a:t>Hint: look back to slide #14</a:t>
            </a:r>
            <a:endParaRPr lang="en-US" i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5F11A7-1154-6A0F-0B69-E38EE06F5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EE 123 Joel Grodstein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D6D4567-AD58-94BA-340B-A27AA809F980}"/>
              </a:ext>
            </a:extLst>
          </p:cNvPr>
          <p:cNvCxnSpPr>
            <a:cxnSpLocks/>
          </p:cNvCxnSpPr>
          <p:nvPr/>
        </p:nvCxnSpPr>
        <p:spPr>
          <a:xfrm>
            <a:off x="325602" y="5198530"/>
            <a:ext cx="3931621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888D8ED-0B66-E480-25DF-E9325C5A83F8}"/>
              </a:ext>
            </a:extLst>
          </p:cNvPr>
          <p:cNvCxnSpPr>
            <a:cxnSpLocks/>
          </p:cNvCxnSpPr>
          <p:nvPr/>
        </p:nvCxnSpPr>
        <p:spPr>
          <a:xfrm>
            <a:off x="325602" y="3063661"/>
            <a:ext cx="3931621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91C21793-1D02-D254-0F3F-9EA9E9DD5E9B}"/>
              </a:ext>
            </a:extLst>
          </p:cNvPr>
          <p:cNvSpPr/>
          <p:nvPr/>
        </p:nvSpPr>
        <p:spPr>
          <a:xfrm>
            <a:off x="817797" y="4568922"/>
            <a:ext cx="98761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80mV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ED29829-BB68-0E3F-8C4D-61E290BAA41B}"/>
              </a:ext>
            </a:extLst>
          </p:cNvPr>
          <p:cNvSpPr txBox="1"/>
          <p:nvPr/>
        </p:nvSpPr>
        <p:spPr>
          <a:xfrm>
            <a:off x="1121885" y="5308727"/>
            <a:ext cx="143148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dirty="0"/>
              <a:t>ECF (ground)</a:t>
            </a:r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9A98B13B-6C07-F3D3-DBEF-28B88CE82DA5}"/>
              </a:ext>
            </a:extLst>
          </p:cNvPr>
          <p:cNvGrpSpPr/>
          <p:nvPr/>
        </p:nvGrpSpPr>
        <p:grpSpPr>
          <a:xfrm>
            <a:off x="1596390" y="3054772"/>
            <a:ext cx="630370" cy="2146717"/>
            <a:chOff x="1184910" y="3740572"/>
            <a:chExt cx="630370" cy="2146717"/>
          </a:xfrm>
        </p:grpSpPr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10FAAC47-49DB-379E-7408-C88B9677383F}"/>
                </a:ext>
              </a:extLst>
            </p:cNvPr>
            <p:cNvCxnSpPr>
              <a:cxnSpLocks/>
            </p:cNvCxnSpPr>
            <p:nvPr/>
          </p:nvCxnSpPr>
          <p:spPr>
            <a:xfrm>
              <a:off x="1529129" y="3740572"/>
              <a:ext cx="0" cy="203198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F74E0F5-94E6-A1B5-BBAC-04B4099130CD}"/>
                </a:ext>
              </a:extLst>
            </p:cNvPr>
            <p:cNvSpPr txBox="1"/>
            <p:nvPr/>
          </p:nvSpPr>
          <p:spPr>
            <a:xfrm>
              <a:off x="1544372" y="4806100"/>
              <a:ext cx="270908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2000" dirty="0"/>
                <a:t>V</a:t>
              </a:r>
              <a:r>
                <a:rPr lang="en-US" sz="2000" baseline="-25000" dirty="0"/>
                <a:t>1</a:t>
              </a:r>
              <a:endParaRPr lang="en-US" sz="2000" dirty="0"/>
            </a:p>
          </p:txBody>
        </p: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8F921FBC-F5A5-373E-A88E-735462E35713}"/>
                </a:ext>
              </a:extLst>
            </p:cNvPr>
            <p:cNvCxnSpPr>
              <a:cxnSpLocks/>
            </p:cNvCxnSpPr>
            <p:nvPr/>
          </p:nvCxnSpPr>
          <p:spPr>
            <a:xfrm>
              <a:off x="1516564" y="4742617"/>
              <a:ext cx="0" cy="668066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E7D8D8F5-5B56-EF09-6678-43BE3E39A490}"/>
                </a:ext>
              </a:extLst>
            </p:cNvPr>
            <p:cNvCxnSpPr>
              <a:cxnSpLocks/>
            </p:cNvCxnSpPr>
            <p:nvPr/>
          </p:nvCxnSpPr>
          <p:spPr>
            <a:xfrm>
              <a:off x="1516564" y="5508427"/>
              <a:ext cx="0" cy="378862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E2223588-31B1-994B-CCAF-BC61D2EB4A51}"/>
                </a:ext>
              </a:extLst>
            </p:cNvPr>
            <p:cNvGrpSpPr/>
            <p:nvPr/>
          </p:nvGrpSpPr>
          <p:grpSpPr>
            <a:xfrm flipV="1">
              <a:off x="1287964" y="5406828"/>
              <a:ext cx="457200" cy="101599"/>
              <a:chOff x="3088619" y="3223591"/>
              <a:chExt cx="457200" cy="101599"/>
            </a:xfrm>
          </p:grpSpPr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58D00946-A5CC-1351-3363-326C81A5A57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88619" y="3223591"/>
                <a:ext cx="4572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3285E578-DF03-E782-96B5-D58A3830EF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90218" y="3325190"/>
                <a:ext cx="254003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C89B27A7-A7C1-7DAF-2DE9-7C5B96AA8D1A}"/>
                </a:ext>
              </a:extLst>
            </p:cNvPr>
            <p:cNvSpPr txBox="1"/>
            <p:nvPr/>
          </p:nvSpPr>
          <p:spPr>
            <a:xfrm>
              <a:off x="1184910" y="5051227"/>
              <a:ext cx="483870" cy="4572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+</a:t>
              </a:r>
            </a:p>
          </p:txBody>
        </p: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43894EB6-0642-D561-9583-5DCD48DCFE17}"/>
                </a:ext>
              </a:extLst>
            </p:cNvPr>
            <p:cNvGrpSpPr/>
            <p:nvPr/>
          </p:nvGrpSpPr>
          <p:grpSpPr>
            <a:xfrm rot="5400000">
              <a:off x="1211764" y="4233601"/>
              <a:ext cx="609600" cy="408432"/>
              <a:chOff x="2590800" y="1592580"/>
              <a:chExt cx="609600" cy="408432"/>
            </a:xfrm>
          </p:grpSpPr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327FD15B-D1FE-75AE-E0B3-D2CE625D784D}"/>
                  </a:ext>
                </a:extLst>
              </p:cNvPr>
              <p:cNvCxnSpPr/>
              <p:nvPr/>
            </p:nvCxnSpPr>
            <p:spPr>
              <a:xfrm rot="5400000">
                <a:off x="3066288" y="1833372"/>
                <a:ext cx="192024" cy="762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CEA5FB7B-C0AF-7250-F878-1B77338DB883}"/>
                  </a:ext>
                </a:extLst>
              </p:cNvPr>
              <p:cNvCxnSpPr/>
              <p:nvPr/>
            </p:nvCxnSpPr>
            <p:spPr>
              <a:xfrm rot="5400000" flipV="1">
                <a:off x="2857500" y="1734312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AD244281-70D0-17F9-1AC5-6E1BEBED73BD}"/>
                  </a:ext>
                </a:extLst>
              </p:cNvPr>
              <p:cNvCxnSpPr/>
              <p:nvPr/>
            </p:nvCxnSpPr>
            <p:spPr>
              <a:xfrm rot="5400000" flipH="1" flipV="1">
                <a:off x="2705100" y="17145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2270E1D2-D83B-E494-D959-75FB8A989498}"/>
                  </a:ext>
                </a:extLst>
              </p:cNvPr>
              <p:cNvCxnSpPr/>
              <p:nvPr/>
            </p:nvCxnSpPr>
            <p:spPr>
              <a:xfrm rot="5400000" flipV="1">
                <a:off x="2552700" y="17145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8744E97A-5155-D79F-BAD7-986B5B4E976A}"/>
                  </a:ext>
                </a:extLst>
              </p:cNvPr>
              <p:cNvCxnSpPr/>
              <p:nvPr/>
            </p:nvCxnSpPr>
            <p:spPr>
              <a:xfrm rot="5400000">
                <a:off x="2532888" y="1650492"/>
                <a:ext cx="192024" cy="762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F44E700B-4645-9D93-B6DE-199C2DE581EA}"/>
                </a:ext>
              </a:extLst>
            </p:cNvPr>
            <p:cNvCxnSpPr>
              <a:cxnSpLocks/>
            </p:cNvCxnSpPr>
            <p:nvPr/>
          </p:nvCxnSpPr>
          <p:spPr>
            <a:xfrm>
              <a:off x="1529080" y="3927277"/>
              <a:ext cx="0" cy="201062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2" name="TextBox 101">
            <a:extLst>
              <a:ext uri="{FF2B5EF4-FFF2-40B4-BE49-F238E27FC236}">
                <a16:creationId xmlns:a16="http://schemas.microsoft.com/office/drawing/2014/main" id="{2DFBEEA0-4BC4-0BB9-B327-6C9920B4B115}"/>
              </a:ext>
            </a:extLst>
          </p:cNvPr>
          <p:cNvSpPr txBox="1"/>
          <p:nvPr/>
        </p:nvSpPr>
        <p:spPr>
          <a:xfrm>
            <a:off x="908101" y="2718220"/>
            <a:ext cx="89094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dirty="0"/>
              <a:t>V</a:t>
            </a:r>
            <a:r>
              <a:rPr lang="en-US" sz="2000" baseline="-25000" dirty="0"/>
              <a:t>3</a:t>
            </a:r>
            <a:r>
              <a:rPr lang="en-US" sz="2000" dirty="0"/>
              <a:t> = 0V</a:t>
            </a:r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90986D10-4DDC-4632-E14B-3515011191D2}"/>
              </a:ext>
            </a:extLst>
          </p:cNvPr>
          <p:cNvGrpSpPr/>
          <p:nvPr/>
        </p:nvGrpSpPr>
        <p:grpSpPr>
          <a:xfrm>
            <a:off x="2766060" y="3047152"/>
            <a:ext cx="630370" cy="2146717"/>
            <a:chOff x="1184910" y="3740572"/>
            <a:chExt cx="630370" cy="2146717"/>
          </a:xfrm>
        </p:grpSpPr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83F20278-54F9-47E7-D211-94FEC27243EF}"/>
                </a:ext>
              </a:extLst>
            </p:cNvPr>
            <p:cNvCxnSpPr>
              <a:cxnSpLocks/>
            </p:cNvCxnSpPr>
            <p:nvPr/>
          </p:nvCxnSpPr>
          <p:spPr>
            <a:xfrm>
              <a:off x="1529129" y="3740572"/>
              <a:ext cx="0" cy="203198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83D89936-4237-E16E-307A-873AD4D884C7}"/>
                </a:ext>
              </a:extLst>
            </p:cNvPr>
            <p:cNvSpPr txBox="1"/>
            <p:nvPr/>
          </p:nvSpPr>
          <p:spPr>
            <a:xfrm>
              <a:off x="1544372" y="4806100"/>
              <a:ext cx="270908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2000" dirty="0"/>
                <a:t>V</a:t>
              </a:r>
              <a:r>
                <a:rPr lang="en-US" sz="2000" baseline="-25000" dirty="0"/>
                <a:t>2</a:t>
              </a:r>
              <a:endParaRPr lang="en-US" sz="2000" dirty="0"/>
            </a:p>
          </p:txBody>
        </p: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496502B4-CE79-A527-A3D2-94C7C6480EA0}"/>
                </a:ext>
              </a:extLst>
            </p:cNvPr>
            <p:cNvCxnSpPr>
              <a:cxnSpLocks/>
            </p:cNvCxnSpPr>
            <p:nvPr/>
          </p:nvCxnSpPr>
          <p:spPr>
            <a:xfrm>
              <a:off x="1516564" y="4742617"/>
              <a:ext cx="0" cy="668066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0E79D53B-0C2C-1014-E516-3ED32AC6D63F}"/>
                </a:ext>
              </a:extLst>
            </p:cNvPr>
            <p:cNvCxnSpPr>
              <a:cxnSpLocks/>
            </p:cNvCxnSpPr>
            <p:nvPr/>
          </p:nvCxnSpPr>
          <p:spPr>
            <a:xfrm>
              <a:off x="1516564" y="5508427"/>
              <a:ext cx="0" cy="378862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B7393F3E-421B-F174-4061-CF29EFABE86F}"/>
                </a:ext>
              </a:extLst>
            </p:cNvPr>
            <p:cNvGrpSpPr/>
            <p:nvPr/>
          </p:nvGrpSpPr>
          <p:grpSpPr>
            <a:xfrm flipV="1">
              <a:off x="1287964" y="5406828"/>
              <a:ext cx="457200" cy="101599"/>
              <a:chOff x="3088619" y="3223591"/>
              <a:chExt cx="457200" cy="101599"/>
            </a:xfrm>
          </p:grpSpPr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3A4CFC37-F2E1-1257-A193-CFE66C207D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88619" y="3223591"/>
                <a:ext cx="4572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>
                <a:extLst>
                  <a:ext uri="{FF2B5EF4-FFF2-40B4-BE49-F238E27FC236}">
                    <a16:creationId xmlns:a16="http://schemas.microsoft.com/office/drawing/2014/main" id="{6A5B414F-CCD5-2E6C-ADBA-438BC201B6B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90218" y="3325190"/>
                <a:ext cx="254003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9FA532B4-A880-0666-0A89-03C2A7EC7BC3}"/>
                </a:ext>
              </a:extLst>
            </p:cNvPr>
            <p:cNvSpPr txBox="1"/>
            <p:nvPr/>
          </p:nvSpPr>
          <p:spPr>
            <a:xfrm>
              <a:off x="1184910" y="5051227"/>
              <a:ext cx="483870" cy="4572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+</a:t>
              </a:r>
            </a:p>
          </p:txBody>
        </p:sp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D72613BB-5863-EA0D-6182-B56D0BE6B5E0}"/>
                </a:ext>
              </a:extLst>
            </p:cNvPr>
            <p:cNvGrpSpPr/>
            <p:nvPr/>
          </p:nvGrpSpPr>
          <p:grpSpPr>
            <a:xfrm rot="5400000">
              <a:off x="1211764" y="4233601"/>
              <a:ext cx="609600" cy="408432"/>
              <a:chOff x="2590800" y="1592580"/>
              <a:chExt cx="609600" cy="408432"/>
            </a:xfrm>
          </p:grpSpPr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FF2542F8-C1CF-E904-51DE-D02AC4570AEA}"/>
                  </a:ext>
                </a:extLst>
              </p:cNvPr>
              <p:cNvCxnSpPr/>
              <p:nvPr/>
            </p:nvCxnSpPr>
            <p:spPr>
              <a:xfrm rot="5400000">
                <a:off x="3066288" y="1833372"/>
                <a:ext cx="192024" cy="762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>
                <a:extLst>
                  <a:ext uri="{FF2B5EF4-FFF2-40B4-BE49-F238E27FC236}">
                    <a16:creationId xmlns:a16="http://schemas.microsoft.com/office/drawing/2014/main" id="{FF6DBE3A-1842-1598-ADC3-06F7DD73AA7C}"/>
                  </a:ext>
                </a:extLst>
              </p:cNvPr>
              <p:cNvCxnSpPr/>
              <p:nvPr/>
            </p:nvCxnSpPr>
            <p:spPr>
              <a:xfrm rot="5400000" flipV="1">
                <a:off x="2857500" y="1734312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8AE7B4E8-80CB-057A-7529-7D28969CE503}"/>
                  </a:ext>
                </a:extLst>
              </p:cNvPr>
              <p:cNvCxnSpPr/>
              <p:nvPr/>
            </p:nvCxnSpPr>
            <p:spPr>
              <a:xfrm rot="5400000" flipH="1" flipV="1">
                <a:off x="2705100" y="17145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>
                <a:extLst>
                  <a:ext uri="{FF2B5EF4-FFF2-40B4-BE49-F238E27FC236}">
                    <a16:creationId xmlns:a16="http://schemas.microsoft.com/office/drawing/2014/main" id="{9356AC75-4910-A5D1-DFA1-93546F9EF26B}"/>
                  </a:ext>
                </a:extLst>
              </p:cNvPr>
              <p:cNvCxnSpPr/>
              <p:nvPr/>
            </p:nvCxnSpPr>
            <p:spPr>
              <a:xfrm rot="5400000" flipV="1">
                <a:off x="2552700" y="17145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>
                <a:extLst>
                  <a:ext uri="{FF2B5EF4-FFF2-40B4-BE49-F238E27FC236}">
                    <a16:creationId xmlns:a16="http://schemas.microsoft.com/office/drawing/2014/main" id="{0CBD7150-1103-2CEC-3472-F6AE4E999B60}"/>
                  </a:ext>
                </a:extLst>
              </p:cNvPr>
              <p:cNvCxnSpPr/>
              <p:nvPr/>
            </p:nvCxnSpPr>
            <p:spPr>
              <a:xfrm rot="5400000">
                <a:off x="2532888" y="1650492"/>
                <a:ext cx="192024" cy="762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C894BADF-D3A9-32FB-A5BA-13F4D422ECE4}"/>
                </a:ext>
              </a:extLst>
            </p:cNvPr>
            <p:cNvCxnSpPr>
              <a:cxnSpLocks/>
            </p:cNvCxnSpPr>
            <p:nvPr/>
          </p:nvCxnSpPr>
          <p:spPr>
            <a:xfrm>
              <a:off x="1529080" y="3927277"/>
              <a:ext cx="0" cy="201062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2" name="Rectangle 121">
            <a:extLst>
              <a:ext uri="{FF2B5EF4-FFF2-40B4-BE49-F238E27FC236}">
                <a16:creationId xmlns:a16="http://schemas.microsoft.com/office/drawing/2014/main" id="{D891370E-69AB-D16D-8E1C-0CB692844250}"/>
              </a:ext>
            </a:extLst>
          </p:cNvPr>
          <p:cNvSpPr/>
          <p:nvPr/>
        </p:nvSpPr>
        <p:spPr>
          <a:xfrm>
            <a:off x="1130054" y="3532602"/>
            <a:ext cx="7248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40</a:t>
            </a:r>
            <a:r>
              <a:rPr lang="el-GR" dirty="0">
                <a:cs typeface="Times New Roman" panose="02020603050405020304" pitchFamily="18" charset="0"/>
              </a:rPr>
              <a:t>Ω</a:t>
            </a:r>
            <a:endParaRPr lang="en-US" dirty="0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A5B9D390-6122-493B-2889-B394E23308AC}"/>
              </a:ext>
            </a:extLst>
          </p:cNvPr>
          <p:cNvSpPr/>
          <p:nvPr/>
        </p:nvSpPr>
        <p:spPr>
          <a:xfrm>
            <a:off x="3038863" y="4732752"/>
            <a:ext cx="128356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-80mV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43ADDD86-3205-415E-9026-321E5507BB49}"/>
              </a:ext>
            </a:extLst>
          </p:cNvPr>
          <p:cNvSpPr/>
          <p:nvPr/>
        </p:nvSpPr>
        <p:spPr>
          <a:xfrm>
            <a:off x="3111254" y="3444972"/>
            <a:ext cx="7248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10</a:t>
            </a:r>
            <a:r>
              <a:rPr lang="el-GR" dirty="0">
                <a:cs typeface="Times New Roman" panose="02020603050405020304" pitchFamily="18" charset="0"/>
              </a:rPr>
              <a:t>Ω</a:t>
            </a:r>
            <a:endParaRPr lang="en-US" dirty="0"/>
          </a:p>
        </p:txBody>
      </p: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894168AC-2BA5-43C2-BD07-74F23B8C1025}"/>
              </a:ext>
            </a:extLst>
          </p:cNvPr>
          <p:cNvGrpSpPr/>
          <p:nvPr/>
        </p:nvGrpSpPr>
        <p:grpSpPr>
          <a:xfrm>
            <a:off x="946202" y="3512820"/>
            <a:ext cx="269188" cy="610994"/>
            <a:chOff x="489002" y="3512820"/>
            <a:chExt cx="269188" cy="610994"/>
          </a:xfrm>
        </p:grpSpPr>
        <p:cxnSp>
          <p:nvCxnSpPr>
            <p:cNvPr id="126" name="Straight Arrow Connector 125">
              <a:extLst>
                <a:ext uri="{FF2B5EF4-FFF2-40B4-BE49-F238E27FC236}">
                  <a16:creationId xmlns:a16="http://schemas.microsoft.com/office/drawing/2014/main" id="{485289EB-400D-1AA4-104E-4CC13BEEEB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2523" y="3512820"/>
              <a:ext cx="0" cy="610994"/>
            </a:xfrm>
            <a:prstGeom prst="straightConnector1">
              <a:avLst/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4510B190-421E-AF6D-C1D3-5E3156ABC501}"/>
                </a:ext>
              </a:extLst>
            </p:cNvPr>
            <p:cNvSpPr txBox="1"/>
            <p:nvPr/>
          </p:nvSpPr>
          <p:spPr>
            <a:xfrm>
              <a:off x="489002" y="3693580"/>
              <a:ext cx="269188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2000" dirty="0"/>
                <a:t>i</a:t>
              </a:r>
              <a:r>
                <a:rPr lang="en-US" sz="2000" baseline="-25000" dirty="0"/>
                <a:t>1</a:t>
              </a:r>
              <a:endParaRPr lang="en-US" sz="2000" dirty="0"/>
            </a:p>
          </p:txBody>
        </p: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00436793-3A66-05C2-923D-BC08EF954D5D}"/>
              </a:ext>
            </a:extLst>
          </p:cNvPr>
          <p:cNvGrpSpPr/>
          <p:nvPr/>
        </p:nvGrpSpPr>
        <p:grpSpPr>
          <a:xfrm>
            <a:off x="3811003" y="3402330"/>
            <a:ext cx="334277" cy="610994"/>
            <a:chOff x="3490963" y="3402330"/>
            <a:chExt cx="334277" cy="610994"/>
          </a:xfrm>
        </p:grpSpPr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63F6C9C0-8FFF-0A20-C389-8478CED165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90963" y="3402330"/>
              <a:ext cx="0" cy="610994"/>
            </a:xfrm>
            <a:prstGeom prst="straightConnector1">
              <a:avLst/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66288553-1B21-06FB-A50F-FA387549BC43}"/>
                </a:ext>
              </a:extLst>
            </p:cNvPr>
            <p:cNvSpPr txBox="1"/>
            <p:nvPr/>
          </p:nvSpPr>
          <p:spPr>
            <a:xfrm>
              <a:off x="3556052" y="3560230"/>
              <a:ext cx="269188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2000" dirty="0"/>
                <a:t>i</a:t>
              </a:r>
              <a:r>
                <a:rPr lang="en-US" sz="2000" baseline="-25000" dirty="0"/>
                <a:t>3</a:t>
              </a:r>
              <a:endParaRPr lang="en-US" sz="2000" dirty="0"/>
            </a:p>
          </p:txBody>
        </p:sp>
      </p:grpSp>
      <p:sp>
        <p:nvSpPr>
          <p:cNvPr id="5" name="Oval 4">
            <a:extLst>
              <a:ext uri="{FF2B5EF4-FFF2-40B4-BE49-F238E27FC236}">
                <a16:creationId xmlns:a16="http://schemas.microsoft.com/office/drawing/2014/main" id="{5B8C304E-A32F-BE6C-AA7C-E6808A085C17}"/>
              </a:ext>
            </a:extLst>
          </p:cNvPr>
          <p:cNvSpPr/>
          <p:nvPr/>
        </p:nvSpPr>
        <p:spPr>
          <a:xfrm>
            <a:off x="185902" y="3827357"/>
            <a:ext cx="279400" cy="67733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BE37ACA-82A7-94F6-D8D8-B65116AB738F}"/>
              </a:ext>
            </a:extLst>
          </p:cNvPr>
          <p:cNvCxnSpPr>
            <a:cxnSpLocks/>
          </p:cNvCxnSpPr>
          <p:nvPr/>
        </p:nvCxnSpPr>
        <p:spPr>
          <a:xfrm>
            <a:off x="325602" y="4036484"/>
            <a:ext cx="0" cy="30480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8153F7E-8D15-E86B-7D85-1BE4F01D93C0}"/>
              </a:ext>
            </a:extLst>
          </p:cNvPr>
          <p:cNvCxnSpPr>
            <a:stCxn id="5" idx="0"/>
          </p:cNvCxnSpPr>
          <p:nvPr/>
        </p:nvCxnSpPr>
        <p:spPr>
          <a:xfrm flipV="1">
            <a:off x="325602" y="3063661"/>
            <a:ext cx="0" cy="763696"/>
          </a:xfrm>
          <a:prstGeom prst="line">
            <a:avLst/>
          </a:prstGeom>
          <a:ln w="38100">
            <a:solidFill>
              <a:schemeClr val="accent4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07A6701-1AFB-329B-0BDC-0D63576F8E9D}"/>
              </a:ext>
            </a:extLst>
          </p:cNvPr>
          <p:cNvCxnSpPr>
            <a:cxnSpLocks/>
          </p:cNvCxnSpPr>
          <p:nvPr/>
        </p:nvCxnSpPr>
        <p:spPr>
          <a:xfrm flipV="1">
            <a:off x="317982" y="4507651"/>
            <a:ext cx="0" cy="693838"/>
          </a:xfrm>
          <a:prstGeom prst="line">
            <a:avLst/>
          </a:prstGeom>
          <a:ln w="38100">
            <a:solidFill>
              <a:schemeClr val="accent4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54BB8229-0577-4B55-CF7D-7F40D3EC0FFE}"/>
              </a:ext>
            </a:extLst>
          </p:cNvPr>
          <p:cNvSpPr/>
          <p:nvPr/>
        </p:nvSpPr>
        <p:spPr>
          <a:xfrm>
            <a:off x="375673" y="3921222"/>
            <a:ext cx="82419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1mA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700963-773B-44CB-AC35-3FAA8063763B}"/>
              </a:ext>
            </a:extLst>
          </p:cNvPr>
          <p:cNvSpPr txBox="1"/>
          <p:nvPr/>
        </p:nvSpPr>
        <p:spPr>
          <a:xfrm>
            <a:off x="2017235" y="2695067"/>
            <a:ext cx="399148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dirty="0"/>
              <a:t>ICF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DA32152-1DE4-BCD1-4C04-48FFC961EC70}"/>
              </a:ext>
            </a:extLst>
          </p:cNvPr>
          <p:cNvCxnSpPr>
            <a:cxnSpLocks/>
          </p:cNvCxnSpPr>
          <p:nvPr/>
        </p:nvCxnSpPr>
        <p:spPr>
          <a:xfrm>
            <a:off x="4257223" y="3063661"/>
            <a:ext cx="0" cy="1082102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A606DED-4651-096E-EE46-9628E5CFBF88}"/>
              </a:ext>
            </a:extLst>
          </p:cNvPr>
          <p:cNvCxnSpPr>
            <a:cxnSpLocks/>
          </p:cNvCxnSpPr>
          <p:nvPr/>
        </p:nvCxnSpPr>
        <p:spPr>
          <a:xfrm>
            <a:off x="4257223" y="4243507"/>
            <a:ext cx="0" cy="950362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B0E0B2C-742F-6A40-A121-87514E473462}"/>
              </a:ext>
            </a:extLst>
          </p:cNvPr>
          <p:cNvGrpSpPr/>
          <p:nvPr/>
        </p:nvGrpSpPr>
        <p:grpSpPr>
          <a:xfrm>
            <a:off x="4074343" y="4141908"/>
            <a:ext cx="365760" cy="101599"/>
            <a:chOff x="6428923" y="4873428"/>
            <a:chExt cx="365760" cy="101599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074DC5C-E5DF-DE52-FE66-9A3CFE5D47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28923" y="4975027"/>
              <a:ext cx="36576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B4ED655E-FF83-1A16-6C8C-9D5B830EF1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28923" y="4873428"/>
              <a:ext cx="36576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7E8864AE-EB41-37A4-BB26-E519509274DE}"/>
              </a:ext>
            </a:extLst>
          </p:cNvPr>
          <p:cNvSpPr txBox="1"/>
          <p:nvPr/>
        </p:nvSpPr>
        <p:spPr>
          <a:xfrm>
            <a:off x="4318052" y="4333660"/>
            <a:ext cx="512961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dirty="0" err="1"/>
              <a:t>C</a:t>
            </a:r>
            <a:r>
              <a:rPr lang="en-US" sz="2000" baseline="-25000" dirty="0" err="1"/>
              <a:t>mem</a:t>
            </a:r>
            <a:endParaRPr lang="en-US" sz="2000" dirty="0"/>
          </a:p>
        </p:txBody>
      </p:sp>
      <p:sp>
        <p:nvSpPr>
          <p:cNvPr id="257" name="Content Placeholder 2">
            <a:extLst>
              <a:ext uri="{FF2B5EF4-FFF2-40B4-BE49-F238E27FC236}">
                <a16:creationId xmlns:a16="http://schemas.microsoft.com/office/drawing/2014/main" id="{58F1E0F9-F125-EE64-E562-51601236750B}"/>
              </a:ext>
            </a:extLst>
          </p:cNvPr>
          <p:cNvSpPr txBox="1">
            <a:spLocks/>
          </p:cNvSpPr>
          <p:nvPr/>
        </p:nvSpPr>
        <p:spPr bwMode="auto">
          <a:xfrm>
            <a:off x="5095158" y="2588278"/>
            <a:ext cx="3862937" cy="3515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2400" kern="0" dirty="0">
                <a:sym typeface="Symbol" panose="05050102010706020507" pitchFamily="18" charset="2"/>
              </a:rPr>
              <a:t>If current into ICF is positive  </a:t>
            </a:r>
            <a:r>
              <a:rPr lang="en-US" sz="2400" i="1" kern="0" dirty="0" err="1">
                <a:sym typeface="Symbol" panose="05050102010706020507" pitchFamily="18" charset="2"/>
              </a:rPr>
              <a:t>V</a:t>
            </a:r>
            <a:r>
              <a:rPr lang="en-US" sz="2400" kern="0" baseline="-25000" dirty="0" err="1">
                <a:sym typeface="Symbol" panose="05050102010706020507" pitchFamily="18" charset="2"/>
              </a:rPr>
              <a:t>mem</a:t>
            </a:r>
            <a:r>
              <a:rPr lang="en-US" sz="2400" kern="0" dirty="0">
                <a:sym typeface="Symbol" panose="05050102010706020507" pitchFamily="18" charset="2"/>
              </a:rPr>
              <a:t> rises</a:t>
            </a:r>
          </a:p>
          <a:p>
            <a:r>
              <a:rPr lang="en-US" sz="2400" kern="0" dirty="0">
                <a:sym typeface="Symbol" panose="05050102010706020507" pitchFamily="18" charset="2"/>
              </a:rPr>
              <a:t>If negative  </a:t>
            </a:r>
            <a:r>
              <a:rPr lang="en-US" sz="2400" i="1" kern="0" dirty="0" err="1">
                <a:sym typeface="Symbol" panose="05050102010706020507" pitchFamily="18" charset="2"/>
              </a:rPr>
              <a:t>V</a:t>
            </a:r>
            <a:r>
              <a:rPr lang="en-US" sz="2400" kern="0" baseline="-25000" dirty="0" err="1">
                <a:sym typeface="Symbol" panose="05050102010706020507" pitchFamily="18" charset="2"/>
              </a:rPr>
              <a:t>mem</a:t>
            </a:r>
            <a:r>
              <a:rPr lang="en-US" sz="2400" kern="0" dirty="0">
                <a:sym typeface="Symbol" panose="05050102010706020507" pitchFamily="18" charset="2"/>
              </a:rPr>
              <a:t> falls</a:t>
            </a:r>
          </a:p>
          <a:p>
            <a:r>
              <a:rPr lang="en-US" sz="2400" i="1" kern="0" dirty="0" err="1">
                <a:sym typeface="Symbol" panose="05050102010706020507" pitchFamily="18" charset="2"/>
              </a:rPr>
              <a:t>V</a:t>
            </a:r>
            <a:r>
              <a:rPr lang="en-US" sz="2400" kern="0" baseline="-25000" dirty="0" err="1">
                <a:sym typeface="Symbol" panose="05050102010706020507" pitchFamily="18" charset="2"/>
              </a:rPr>
              <a:t>mem</a:t>
            </a:r>
            <a:r>
              <a:rPr lang="en-US" sz="2400" kern="0" dirty="0">
                <a:sym typeface="Symbol" panose="05050102010706020507" pitchFamily="18" charset="2"/>
              </a:rPr>
              <a:t> settles when current into it is 0 (i.e., when KCL is met without the capacitor)</a:t>
            </a:r>
          </a:p>
          <a:p>
            <a:r>
              <a:rPr lang="en-US" sz="2400" kern="0" dirty="0">
                <a:sym typeface="Symbol" panose="05050102010706020507" pitchFamily="18" charset="2"/>
              </a:rPr>
              <a:t>Slide #14 says that was -40mV</a:t>
            </a:r>
          </a:p>
          <a:p>
            <a:pPr marL="0" indent="0">
              <a:buNone/>
            </a:pP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3116425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FAF10-91B6-E371-6EA1-996541105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Interconnected cells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53B76-A986-5032-1828-7FEF8B1BD2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</a:t>
            </a:r>
            <a:r>
              <a:rPr lang="en-US"/>
              <a:t>prep for our cardiac unit…</a:t>
            </a:r>
          </a:p>
          <a:p>
            <a:r>
              <a:rPr lang="en-US" dirty="0"/>
              <a:t>We are multi-cellular organisms </a:t>
            </a:r>
            <a:r>
              <a:rPr lang="en-US" dirty="0">
                <a:sym typeface="Wingdings" panose="05000000000000000000" pitchFamily="2" charset="2"/>
              </a:rPr>
              <a:t></a:t>
            </a:r>
          </a:p>
          <a:p>
            <a:r>
              <a:rPr lang="en-US" dirty="0">
                <a:sym typeface="Wingdings" panose="05000000000000000000" pitchFamily="2" charset="2"/>
              </a:rPr>
              <a:t>Cells are often connected by gap junctions</a:t>
            </a:r>
          </a:p>
          <a:p>
            <a:r>
              <a:rPr lang="en-US" dirty="0">
                <a:sym typeface="Wingdings" panose="05000000000000000000" pitchFamily="2" charset="2"/>
              </a:rPr>
              <a:t>Let’s learn to analyze these systems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474449-1B31-35B9-CA90-508DD3974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EE 123 Joel Grodstein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86115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FCBB0-D126-C7F4-B52D-609F81F98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Multicellular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AF3A2-B382-F6AE-72A5-62987CAA2E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569" y="2245996"/>
            <a:ext cx="3737250" cy="2958018"/>
          </a:xfrm>
        </p:spPr>
        <p:txBody>
          <a:bodyPr/>
          <a:lstStyle/>
          <a:p>
            <a:r>
              <a:rPr lang="en-US" dirty="0"/>
              <a:t>Start with 3 cells interconnected by GJs</a:t>
            </a:r>
          </a:p>
          <a:p>
            <a:r>
              <a:rPr lang="en-US" dirty="0"/>
              <a:t>Each cell is the usual equivalent circuit</a:t>
            </a:r>
          </a:p>
          <a:p>
            <a:r>
              <a:rPr lang="en-US" dirty="0"/>
              <a:t>This is getting too detailed!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EA5D1B-F71D-286E-FD4E-6ACE915EE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EE 123 Joel Grodstein</a:t>
            </a:r>
            <a:endParaRPr lang="en-US" dirty="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70966197-0D36-7459-A0EE-94EEAC5D529A}"/>
              </a:ext>
            </a:extLst>
          </p:cNvPr>
          <p:cNvSpPr/>
          <p:nvPr/>
        </p:nvSpPr>
        <p:spPr>
          <a:xfrm>
            <a:off x="1496731" y="2137410"/>
            <a:ext cx="2497600" cy="18288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B385FEF0-DA2C-EC12-0930-4D94FF9E7922}"/>
              </a:ext>
            </a:extLst>
          </p:cNvPr>
          <p:cNvSpPr/>
          <p:nvPr/>
        </p:nvSpPr>
        <p:spPr>
          <a:xfrm>
            <a:off x="685800" y="1834515"/>
            <a:ext cx="890941" cy="781471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cell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C9A9F289-F1ED-BCC2-CE3B-2527B38D7B5E}"/>
              </a:ext>
            </a:extLst>
          </p:cNvPr>
          <p:cNvSpPr/>
          <p:nvPr/>
        </p:nvSpPr>
        <p:spPr>
          <a:xfrm>
            <a:off x="2289810" y="1834515"/>
            <a:ext cx="890941" cy="781471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cell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3DB4C2CC-63CD-D291-F358-9883749FCD76}"/>
              </a:ext>
            </a:extLst>
          </p:cNvPr>
          <p:cNvSpPr/>
          <p:nvPr/>
        </p:nvSpPr>
        <p:spPr>
          <a:xfrm>
            <a:off x="3802380" y="1834515"/>
            <a:ext cx="890941" cy="781471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cell</a:t>
            </a:r>
          </a:p>
        </p:txBody>
      </p:sp>
      <p:sp>
        <p:nvSpPr>
          <p:cNvPr id="72" name="Arrow: Right 71">
            <a:extLst>
              <a:ext uri="{FF2B5EF4-FFF2-40B4-BE49-F238E27FC236}">
                <a16:creationId xmlns:a16="http://schemas.microsoft.com/office/drawing/2014/main" id="{611FC391-4835-4A32-DB79-3991C7DB6D6F}"/>
              </a:ext>
            </a:extLst>
          </p:cNvPr>
          <p:cNvSpPr/>
          <p:nvPr/>
        </p:nvSpPr>
        <p:spPr>
          <a:xfrm rot="14712558">
            <a:off x="810803" y="2908437"/>
            <a:ext cx="1074417" cy="5066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0508F624-6487-72C7-D60F-42A5FEF4356E}"/>
              </a:ext>
            </a:extLst>
          </p:cNvPr>
          <p:cNvGrpSpPr/>
          <p:nvPr/>
        </p:nvGrpSpPr>
        <p:grpSpPr>
          <a:xfrm>
            <a:off x="390903" y="3878136"/>
            <a:ext cx="4362858" cy="2023250"/>
            <a:chOff x="376114" y="3848195"/>
            <a:chExt cx="4362858" cy="2023250"/>
          </a:xfrm>
        </p:grpSpPr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10F5987E-C54B-228B-09DB-F0CAB6F52CB1}"/>
                </a:ext>
              </a:extLst>
            </p:cNvPr>
            <p:cNvCxnSpPr>
              <a:cxnSpLocks/>
            </p:cNvCxnSpPr>
            <p:nvPr/>
          </p:nvCxnSpPr>
          <p:spPr>
            <a:xfrm>
              <a:off x="1011107" y="3856664"/>
              <a:ext cx="0" cy="160020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B0FB2292-5AB6-8E3F-969B-5180ED58FB66}"/>
                </a:ext>
              </a:extLst>
            </p:cNvPr>
            <p:cNvSpPr/>
            <p:nvPr/>
          </p:nvSpPr>
          <p:spPr>
            <a:xfrm>
              <a:off x="867184" y="4271530"/>
              <a:ext cx="279400" cy="67733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20F7624C-56B5-D66C-499E-3EE71BD8DC47}"/>
                </a:ext>
              </a:extLst>
            </p:cNvPr>
            <p:cNvCxnSpPr>
              <a:cxnSpLocks/>
            </p:cNvCxnSpPr>
            <p:nvPr/>
          </p:nvCxnSpPr>
          <p:spPr>
            <a:xfrm>
              <a:off x="702785" y="5448393"/>
              <a:ext cx="3305529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2ECAB743-F80D-DAB1-7DF1-5187DEA3DAE4}"/>
                </a:ext>
              </a:extLst>
            </p:cNvPr>
            <p:cNvGrpSpPr/>
            <p:nvPr/>
          </p:nvGrpSpPr>
          <p:grpSpPr>
            <a:xfrm>
              <a:off x="1442913" y="4996194"/>
              <a:ext cx="926979" cy="377814"/>
              <a:chOff x="5892800" y="3496733"/>
              <a:chExt cx="852363" cy="346805"/>
            </a:xfrm>
          </p:grpSpPr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26533689-EE28-F8C0-6C55-1738B4EAD7AB}"/>
                  </a:ext>
                </a:extLst>
              </p:cNvPr>
              <p:cNvCxnSpPr/>
              <p:nvPr/>
            </p:nvCxnSpPr>
            <p:spPr>
              <a:xfrm>
                <a:off x="5892800" y="3496733"/>
                <a:ext cx="4572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08E854D0-00E2-1220-C41E-2568967090D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94399" y="3598332"/>
                <a:ext cx="254003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3B1CD3B5-CDFC-DD93-1CA5-43DF46BE5CD5}"/>
                  </a:ext>
                </a:extLst>
              </p:cNvPr>
              <p:cNvSpPr txBox="1"/>
              <p:nvPr/>
            </p:nvSpPr>
            <p:spPr>
              <a:xfrm>
                <a:off x="6214533" y="3589275"/>
                <a:ext cx="530630" cy="2542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800" dirty="0"/>
                  <a:t>77mV</a:t>
                </a:r>
              </a:p>
            </p:txBody>
          </p: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0AE1D614-C7A6-601D-EDA9-515623B44B21}"/>
                </a:ext>
              </a:extLst>
            </p:cNvPr>
            <p:cNvGrpSpPr/>
            <p:nvPr/>
          </p:nvGrpSpPr>
          <p:grpSpPr>
            <a:xfrm>
              <a:off x="2670579" y="4974261"/>
              <a:ext cx="975758" cy="336266"/>
              <a:chOff x="5892800" y="3496733"/>
              <a:chExt cx="975758" cy="336266"/>
            </a:xfrm>
          </p:grpSpPr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7618013F-9839-B076-8C2D-2B766D36F7D1}"/>
                  </a:ext>
                </a:extLst>
              </p:cNvPr>
              <p:cNvCxnSpPr/>
              <p:nvPr/>
            </p:nvCxnSpPr>
            <p:spPr>
              <a:xfrm>
                <a:off x="5892800" y="3496733"/>
                <a:ext cx="4572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886A647E-BF36-2FA8-9798-88BED6EE34A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94399" y="3598332"/>
                <a:ext cx="254003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A238909D-985E-E587-D493-74891BAC4587}"/>
                  </a:ext>
                </a:extLst>
              </p:cNvPr>
              <p:cNvSpPr txBox="1"/>
              <p:nvPr/>
            </p:nvSpPr>
            <p:spPr>
              <a:xfrm>
                <a:off x="6214533" y="3556000"/>
                <a:ext cx="65402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800" dirty="0"/>
                  <a:t>-89mV</a:t>
                </a:r>
              </a:p>
            </p:txBody>
          </p:sp>
        </p:grp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1E023912-AAC4-B2AD-87D2-EEC9060A659B}"/>
                </a:ext>
              </a:extLst>
            </p:cNvPr>
            <p:cNvGrpSpPr/>
            <p:nvPr/>
          </p:nvGrpSpPr>
          <p:grpSpPr>
            <a:xfrm>
              <a:off x="3762778" y="4974261"/>
              <a:ext cx="975758" cy="361666"/>
              <a:chOff x="5892800" y="3496733"/>
              <a:chExt cx="975758" cy="361666"/>
            </a:xfrm>
          </p:grpSpPr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E8B94F54-AE48-32C4-E71A-314F7B651C9A}"/>
                  </a:ext>
                </a:extLst>
              </p:cNvPr>
              <p:cNvCxnSpPr/>
              <p:nvPr/>
            </p:nvCxnSpPr>
            <p:spPr>
              <a:xfrm>
                <a:off x="5892800" y="3496733"/>
                <a:ext cx="4572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B15D2D01-5BBC-DF06-4A03-1CED62C3DE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94399" y="3598332"/>
                <a:ext cx="254003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0157A2DB-EF04-F357-0D13-DADFBC1268FD}"/>
                  </a:ext>
                </a:extLst>
              </p:cNvPr>
              <p:cNvSpPr txBox="1"/>
              <p:nvPr/>
            </p:nvSpPr>
            <p:spPr>
              <a:xfrm>
                <a:off x="6214533" y="3581400"/>
                <a:ext cx="65402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800" dirty="0"/>
                  <a:t>-71mV</a:t>
                </a:r>
              </a:p>
            </p:txBody>
          </p:sp>
        </p:grp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7E216413-3591-F03A-89F6-30B2FAB2CB8A}"/>
                </a:ext>
              </a:extLst>
            </p:cNvPr>
            <p:cNvCxnSpPr>
              <a:cxnSpLocks/>
            </p:cNvCxnSpPr>
            <p:nvPr/>
          </p:nvCxnSpPr>
          <p:spPr>
            <a:xfrm>
              <a:off x="1679982" y="5075862"/>
              <a:ext cx="0" cy="38100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2D2D3511-6958-DF2B-AC4F-21DF90A49083}"/>
                </a:ext>
              </a:extLst>
            </p:cNvPr>
            <p:cNvCxnSpPr>
              <a:cxnSpLocks/>
            </p:cNvCxnSpPr>
            <p:nvPr/>
          </p:nvCxnSpPr>
          <p:spPr>
            <a:xfrm>
              <a:off x="2899184" y="5084323"/>
              <a:ext cx="0" cy="38100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98B39D5F-FFA7-1D4A-3D85-99F615B0D2D9}"/>
                </a:ext>
              </a:extLst>
            </p:cNvPr>
            <p:cNvCxnSpPr>
              <a:cxnSpLocks/>
            </p:cNvCxnSpPr>
            <p:nvPr/>
          </p:nvCxnSpPr>
          <p:spPr>
            <a:xfrm>
              <a:off x="3999849" y="5084328"/>
              <a:ext cx="0" cy="38100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AED6E2C6-AB6B-1C5E-3B45-AFCC3EF624E9}"/>
                </a:ext>
              </a:extLst>
            </p:cNvPr>
            <p:cNvGrpSpPr/>
            <p:nvPr/>
          </p:nvGrpSpPr>
          <p:grpSpPr>
            <a:xfrm>
              <a:off x="1307447" y="4093729"/>
              <a:ext cx="381000" cy="685800"/>
              <a:chOff x="5562600" y="3429000"/>
              <a:chExt cx="381000" cy="685800"/>
            </a:xfrm>
          </p:grpSpPr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EB07D04C-20FE-1C11-AEA2-C06C25820453}"/>
                  </a:ext>
                </a:extLst>
              </p:cNvPr>
              <p:cNvCxnSpPr/>
              <p:nvPr/>
            </p:nvCxnSpPr>
            <p:spPr>
              <a:xfrm>
                <a:off x="5715000" y="3429000"/>
                <a:ext cx="228600" cy="762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5EEBDD9A-6AE8-BB2B-3B4A-838140850EEB}"/>
                  </a:ext>
                </a:extLst>
              </p:cNvPr>
              <p:cNvCxnSpPr/>
              <p:nvPr/>
            </p:nvCxnSpPr>
            <p:spPr>
              <a:xfrm flipV="1">
                <a:off x="5562600" y="35052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8AFF86DB-6709-A1E0-D28E-E026555543C7}"/>
                  </a:ext>
                </a:extLst>
              </p:cNvPr>
              <p:cNvCxnSpPr/>
              <p:nvPr/>
            </p:nvCxnSpPr>
            <p:spPr>
              <a:xfrm flipH="1" flipV="1">
                <a:off x="5562600" y="36576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2B4658FA-FB06-E4E3-428A-5A601BECBDE0}"/>
                  </a:ext>
                </a:extLst>
              </p:cNvPr>
              <p:cNvCxnSpPr/>
              <p:nvPr/>
            </p:nvCxnSpPr>
            <p:spPr>
              <a:xfrm flipV="1">
                <a:off x="5562600" y="38100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A81CFF2F-B671-F19C-7B4C-E8EE03CE0168}"/>
                  </a:ext>
                </a:extLst>
              </p:cNvPr>
              <p:cNvCxnSpPr/>
              <p:nvPr/>
            </p:nvCxnSpPr>
            <p:spPr>
              <a:xfrm flipH="1" flipV="1">
                <a:off x="5562600" y="39624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31B7F076-33B9-8CCA-F1F2-AEA819ED3C97}"/>
                </a:ext>
              </a:extLst>
            </p:cNvPr>
            <p:cNvCxnSpPr>
              <a:cxnSpLocks/>
            </p:cNvCxnSpPr>
            <p:nvPr/>
          </p:nvCxnSpPr>
          <p:spPr>
            <a:xfrm>
              <a:off x="1679980" y="4762597"/>
              <a:ext cx="0" cy="203198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4B476C3D-7AD6-D6EA-2534-82E411667EAE}"/>
                </a:ext>
              </a:extLst>
            </p:cNvPr>
            <p:cNvGrpSpPr/>
            <p:nvPr/>
          </p:nvGrpSpPr>
          <p:grpSpPr>
            <a:xfrm>
              <a:off x="2509713" y="4093727"/>
              <a:ext cx="381000" cy="685800"/>
              <a:chOff x="5562600" y="3429000"/>
              <a:chExt cx="381000" cy="685800"/>
            </a:xfrm>
          </p:grpSpPr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15BC8D52-39A7-7E4A-E98F-020578DF0BBB}"/>
                  </a:ext>
                </a:extLst>
              </p:cNvPr>
              <p:cNvCxnSpPr/>
              <p:nvPr/>
            </p:nvCxnSpPr>
            <p:spPr>
              <a:xfrm>
                <a:off x="5715000" y="3429000"/>
                <a:ext cx="228600" cy="762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80D4810D-8557-422C-E5E5-8AE84384EEAC}"/>
                  </a:ext>
                </a:extLst>
              </p:cNvPr>
              <p:cNvCxnSpPr/>
              <p:nvPr/>
            </p:nvCxnSpPr>
            <p:spPr>
              <a:xfrm flipV="1">
                <a:off x="5562600" y="35052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4C1E1A4F-F9C7-376E-F346-7F7681F57ABB}"/>
                  </a:ext>
                </a:extLst>
              </p:cNvPr>
              <p:cNvCxnSpPr/>
              <p:nvPr/>
            </p:nvCxnSpPr>
            <p:spPr>
              <a:xfrm flipH="1" flipV="1">
                <a:off x="5562600" y="36576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1951742B-48E1-8526-40BB-2D6995A9AE20}"/>
                  </a:ext>
                </a:extLst>
              </p:cNvPr>
              <p:cNvCxnSpPr/>
              <p:nvPr/>
            </p:nvCxnSpPr>
            <p:spPr>
              <a:xfrm flipV="1">
                <a:off x="5562600" y="38100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ADA925DD-B15D-FE95-B82E-DF2E022206CF}"/>
                  </a:ext>
                </a:extLst>
              </p:cNvPr>
              <p:cNvCxnSpPr/>
              <p:nvPr/>
            </p:nvCxnSpPr>
            <p:spPr>
              <a:xfrm flipH="1" flipV="1">
                <a:off x="5562600" y="39624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EC7564A3-181E-CF09-6160-312E8BB0C921}"/>
                </a:ext>
              </a:extLst>
            </p:cNvPr>
            <p:cNvCxnSpPr>
              <a:cxnSpLocks/>
            </p:cNvCxnSpPr>
            <p:nvPr/>
          </p:nvCxnSpPr>
          <p:spPr>
            <a:xfrm>
              <a:off x="2882246" y="4762595"/>
              <a:ext cx="0" cy="203198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D1896E03-6E79-1DF3-4BFD-88DFC6EB8636}"/>
                </a:ext>
              </a:extLst>
            </p:cNvPr>
            <p:cNvGrpSpPr/>
            <p:nvPr/>
          </p:nvGrpSpPr>
          <p:grpSpPr>
            <a:xfrm>
              <a:off x="3627317" y="4093724"/>
              <a:ext cx="381000" cy="685800"/>
              <a:chOff x="5562600" y="3429000"/>
              <a:chExt cx="381000" cy="685800"/>
            </a:xfrm>
          </p:grpSpPr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244F04F4-F55E-A3BA-C602-5155F910EB2B}"/>
                  </a:ext>
                </a:extLst>
              </p:cNvPr>
              <p:cNvCxnSpPr/>
              <p:nvPr/>
            </p:nvCxnSpPr>
            <p:spPr>
              <a:xfrm>
                <a:off x="5715000" y="3429000"/>
                <a:ext cx="228600" cy="762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>
                <a:extLst>
                  <a:ext uri="{FF2B5EF4-FFF2-40B4-BE49-F238E27FC236}">
                    <a16:creationId xmlns:a16="http://schemas.microsoft.com/office/drawing/2014/main" id="{BB99A3C5-9238-D157-8F37-6EBB2F9C3D55}"/>
                  </a:ext>
                </a:extLst>
              </p:cNvPr>
              <p:cNvCxnSpPr/>
              <p:nvPr/>
            </p:nvCxnSpPr>
            <p:spPr>
              <a:xfrm flipV="1">
                <a:off x="5562600" y="35052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>
                <a:extLst>
                  <a:ext uri="{FF2B5EF4-FFF2-40B4-BE49-F238E27FC236}">
                    <a16:creationId xmlns:a16="http://schemas.microsoft.com/office/drawing/2014/main" id="{8CFEE8A9-7135-AED8-5632-F713E7794104}"/>
                  </a:ext>
                </a:extLst>
              </p:cNvPr>
              <p:cNvCxnSpPr/>
              <p:nvPr/>
            </p:nvCxnSpPr>
            <p:spPr>
              <a:xfrm flipH="1" flipV="1">
                <a:off x="5562600" y="36576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C0A6617F-EE4D-D1BC-93CE-11AA5BBC5DC7}"/>
                  </a:ext>
                </a:extLst>
              </p:cNvPr>
              <p:cNvCxnSpPr/>
              <p:nvPr/>
            </p:nvCxnSpPr>
            <p:spPr>
              <a:xfrm flipV="1">
                <a:off x="5562600" y="38100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044A684E-0579-520D-A46C-32C30612CBC9}"/>
                  </a:ext>
                </a:extLst>
              </p:cNvPr>
              <p:cNvCxnSpPr/>
              <p:nvPr/>
            </p:nvCxnSpPr>
            <p:spPr>
              <a:xfrm flipH="1" flipV="1">
                <a:off x="5562600" y="39624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B9DD0F53-168F-E264-D9D6-5CC8BFF41F1E}"/>
                </a:ext>
              </a:extLst>
            </p:cNvPr>
            <p:cNvCxnSpPr>
              <a:cxnSpLocks/>
            </p:cNvCxnSpPr>
            <p:nvPr/>
          </p:nvCxnSpPr>
          <p:spPr>
            <a:xfrm>
              <a:off x="3999850" y="4762592"/>
              <a:ext cx="0" cy="203198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644D8A82-91E7-E6B7-F9F9-54414DC0D553}"/>
                </a:ext>
              </a:extLst>
            </p:cNvPr>
            <p:cNvCxnSpPr>
              <a:cxnSpLocks/>
            </p:cNvCxnSpPr>
            <p:nvPr/>
          </p:nvCxnSpPr>
          <p:spPr>
            <a:xfrm>
              <a:off x="694318" y="3873594"/>
              <a:ext cx="3110796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CFF3AE7F-6764-A156-DAD4-F8144B674D69}"/>
                </a:ext>
              </a:extLst>
            </p:cNvPr>
            <p:cNvCxnSpPr>
              <a:cxnSpLocks/>
            </p:cNvCxnSpPr>
            <p:nvPr/>
          </p:nvCxnSpPr>
          <p:spPr>
            <a:xfrm>
              <a:off x="1476775" y="3882065"/>
              <a:ext cx="0" cy="203198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D929C89C-E59C-5908-44C5-A576A8486EB1}"/>
                </a:ext>
              </a:extLst>
            </p:cNvPr>
            <p:cNvCxnSpPr>
              <a:cxnSpLocks/>
            </p:cNvCxnSpPr>
            <p:nvPr/>
          </p:nvCxnSpPr>
          <p:spPr>
            <a:xfrm>
              <a:off x="2679041" y="3898995"/>
              <a:ext cx="0" cy="203198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B0393CF6-3764-DD3D-90F4-DA2538249465}"/>
                </a:ext>
              </a:extLst>
            </p:cNvPr>
            <p:cNvCxnSpPr>
              <a:cxnSpLocks/>
            </p:cNvCxnSpPr>
            <p:nvPr/>
          </p:nvCxnSpPr>
          <p:spPr>
            <a:xfrm>
              <a:off x="3788174" y="3890532"/>
              <a:ext cx="0" cy="203198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920998FF-C705-8111-BB8D-F319D42A0265}"/>
                </a:ext>
              </a:extLst>
            </p:cNvPr>
            <p:cNvSpPr txBox="1"/>
            <p:nvPr/>
          </p:nvSpPr>
          <p:spPr>
            <a:xfrm>
              <a:off x="1679977" y="4169927"/>
              <a:ext cx="384721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2000" i="1" dirty="0" err="1"/>
                <a:t>G</a:t>
              </a:r>
              <a:r>
                <a:rPr lang="en-US" sz="2000" baseline="-25000" dirty="0" err="1"/>
                <a:t>Na</a:t>
              </a:r>
              <a:endParaRPr lang="en-US" sz="2000" dirty="0"/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F9D919E4-20FE-F5D5-085C-0F759A1A7214}"/>
                </a:ext>
              </a:extLst>
            </p:cNvPr>
            <p:cNvSpPr txBox="1"/>
            <p:nvPr/>
          </p:nvSpPr>
          <p:spPr>
            <a:xfrm>
              <a:off x="2831444" y="4152993"/>
              <a:ext cx="309380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2000" i="1" dirty="0"/>
                <a:t>G</a:t>
              </a:r>
              <a:r>
                <a:rPr lang="en-US" sz="2000" baseline="-25000" dirty="0"/>
                <a:t>K</a:t>
              </a:r>
              <a:endParaRPr lang="en-US" sz="2000" dirty="0"/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E0327CF5-7F3C-6825-D6C2-BA283578BA71}"/>
                </a:ext>
              </a:extLst>
            </p:cNvPr>
            <p:cNvSpPr txBox="1"/>
            <p:nvPr/>
          </p:nvSpPr>
          <p:spPr>
            <a:xfrm>
              <a:off x="4016777" y="4169927"/>
              <a:ext cx="347852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2000" i="1" dirty="0" err="1"/>
                <a:t>G</a:t>
              </a:r>
              <a:r>
                <a:rPr lang="en-US" sz="2000" baseline="-25000" dirty="0" err="1"/>
                <a:t>Cl</a:t>
              </a:r>
              <a:endParaRPr lang="en-US" sz="2000" dirty="0"/>
            </a:p>
          </p:txBody>
        </p:sp>
        <p:cxnSp>
          <p:nvCxnSpPr>
            <p:cNvPr id="119" name="Straight Arrow Connector 118">
              <a:extLst>
                <a:ext uri="{FF2B5EF4-FFF2-40B4-BE49-F238E27FC236}">
                  <a16:creationId xmlns:a16="http://schemas.microsoft.com/office/drawing/2014/main" id="{3B02C0D4-BBB7-A00A-7CAA-829D3C65208C}"/>
                </a:ext>
              </a:extLst>
            </p:cNvPr>
            <p:cNvCxnSpPr>
              <a:cxnSpLocks/>
            </p:cNvCxnSpPr>
            <p:nvPr/>
          </p:nvCxnSpPr>
          <p:spPr>
            <a:xfrm>
              <a:off x="1006884" y="4457797"/>
              <a:ext cx="0" cy="30480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9E9ADC19-D1BF-BA2E-6ADB-837F9E71B525}"/>
                </a:ext>
              </a:extLst>
            </p:cNvPr>
            <p:cNvCxnSpPr>
              <a:cxnSpLocks/>
            </p:cNvCxnSpPr>
            <p:nvPr/>
          </p:nvCxnSpPr>
          <p:spPr>
            <a:xfrm>
              <a:off x="697841" y="3848195"/>
              <a:ext cx="0" cy="160020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EED384C4-9BFE-1A5B-5D8D-6BAB91405A52}"/>
                </a:ext>
              </a:extLst>
            </p:cNvPr>
            <p:cNvSpPr/>
            <p:nvPr/>
          </p:nvSpPr>
          <p:spPr>
            <a:xfrm>
              <a:off x="553918" y="4263061"/>
              <a:ext cx="279400" cy="67733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2" name="Straight Arrow Connector 121">
              <a:extLst>
                <a:ext uri="{FF2B5EF4-FFF2-40B4-BE49-F238E27FC236}">
                  <a16:creationId xmlns:a16="http://schemas.microsoft.com/office/drawing/2014/main" id="{489E77C6-EE6F-752B-F1E2-3CEAF787D1DD}"/>
                </a:ext>
              </a:extLst>
            </p:cNvPr>
            <p:cNvCxnSpPr>
              <a:cxnSpLocks/>
            </p:cNvCxnSpPr>
            <p:nvPr/>
          </p:nvCxnSpPr>
          <p:spPr>
            <a:xfrm>
              <a:off x="693618" y="4449328"/>
              <a:ext cx="0" cy="3048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6661CBAF-CDF7-3A75-A537-5575F1E2936D}"/>
                </a:ext>
              </a:extLst>
            </p:cNvPr>
            <p:cNvSpPr txBox="1"/>
            <p:nvPr/>
          </p:nvSpPr>
          <p:spPr>
            <a:xfrm>
              <a:off x="376114" y="3924391"/>
              <a:ext cx="269304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2000" i="1" dirty="0" err="1"/>
                <a:t>j</a:t>
              </a:r>
              <a:r>
                <a:rPr lang="en-US" sz="2000" baseline="-25000" dirty="0" err="1"/>
                <a:t>Na</a:t>
              </a:r>
              <a:endParaRPr lang="en-US" sz="2000" dirty="0"/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CEA04384-DDD1-0C47-1271-75FF6C08EC7F}"/>
                </a:ext>
              </a:extLst>
            </p:cNvPr>
            <p:cNvSpPr txBox="1"/>
            <p:nvPr/>
          </p:nvSpPr>
          <p:spPr>
            <a:xfrm>
              <a:off x="1064184" y="3915926"/>
              <a:ext cx="193964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2000" i="1" dirty="0" err="1"/>
                <a:t>j</a:t>
              </a:r>
              <a:r>
                <a:rPr lang="en-US" sz="2000" baseline="-25000" dirty="0" err="1"/>
                <a:t>K</a:t>
              </a:r>
              <a:endParaRPr lang="en-US" sz="20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Rectangle 124">
                  <a:extLst>
                    <a:ext uri="{FF2B5EF4-FFF2-40B4-BE49-F238E27FC236}">
                      <a16:creationId xmlns:a16="http://schemas.microsoft.com/office/drawing/2014/main" id="{B0BB978C-E6F0-5963-873B-66EBDE1B96C7}"/>
                    </a:ext>
                  </a:extLst>
                </p:cNvPr>
                <p:cNvSpPr/>
                <p:nvPr/>
              </p:nvSpPr>
              <p:spPr>
                <a:xfrm>
                  <a:off x="1864702" y="4751944"/>
                  <a:ext cx="479991" cy="406201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𝑁𝑎</m:t>
                            </m:r>
                          </m:sub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5" name="Rectangle 124">
                  <a:extLst>
                    <a:ext uri="{FF2B5EF4-FFF2-40B4-BE49-F238E27FC236}">
                      <a16:creationId xmlns:a16="http://schemas.microsoft.com/office/drawing/2014/main" id="{B0BB978C-E6F0-5963-873B-66EBDE1B96C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64702" y="4751944"/>
                  <a:ext cx="479991" cy="406201"/>
                </a:xfrm>
                <a:prstGeom prst="rect">
                  <a:avLst/>
                </a:prstGeom>
                <a:blipFill>
                  <a:blip r:embed="rId2"/>
                  <a:stretch>
                    <a:fillRect r="-11392" b="-298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Rectangle 125">
                  <a:extLst>
                    <a:ext uri="{FF2B5EF4-FFF2-40B4-BE49-F238E27FC236}">
                      <a16:creationId xmlns:a16="http://schemas.microsoft.com/office/drawing/2014/main" id="{4E674DF3-4FA9-D549-17D0-C2E7A7F4FF12}"/>
                    </a:ext>
                  </a:extLst>
                </p:cNvPr>
                <p:cNvSpPr/>
                <p:nvPr/>
              </p:nvSpPr>
              <p:spPr>
                <a:xfrm>
                  <a:off x="3121976" y="4727345"/>
                  <a:ext cx="479991" cy="404598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6" name="Rectangle 125">
                  <a:extLst>
                    <a:ext uri="{FF2B5EF4-FFF2-40B4-BE49-F238E27FC236}">
                      <a16:creationId xmlns:a16="http://schemas.microsoft.com/office/drawing/2014/main" id="{4E674DF3-4FA9-D549-17D0-C2E7A7F4FF1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1976" y="4727345"/>
                  <a:ext cx="479991" cy="404598"/>
                </a:xfrm>
                <a:prstGeom prst="rect">
                  <a:avLst/>
                </a:prstGeom>
                <a:blipFill>
                  <a:blip r:embed="rId3"/>
                  <a:stretch>
                    <a:fillRect b="-298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Rectangle 126">
                  <a:extLst>
                    <a:ext uri="{FF2B5EF4-FFF2-40B4-BE49-F238E27FC236}">
                      <a16:creationId xmlns:a16="http://schemas.microsoft.com/office/drawing/2014/main" id="{99BD9093-C0C1-35BD-0E51-9FE56AA6A994}"/>
                    </a:ext>
                  </a:extLst>
                </p:cNvPr>
                <p:cNvSpPr/>
                <p:nvPr/>
              </p:nvSpPr>
              <p:spPr>
                <a:xfrm>
                  <a:off x="4258981" y="4703184"/>
                  <a:ext cx="479991" cy="41287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𝐶𝑙</m:t>
                            </m:r>
                          </m:sub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7" name="Rectangle 126">
                  <a:extLst>
                    <a:ext uri="{FF2B5EF4-FFF2-40B4-BE49-F238E27FC236}">
                      <a16:creationId xmlns:a16="http://schemas.microsoft.com/office/drawing/2014/main" id="{99BD9093-C0C1-35BD-0E51-9FE56AA6A99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58981" y="4703184"/>
                  <a:ext cx="479991" cy="412870"/>
                </a:xfrm>
                <a:prstGeom prst="rect">
                  <a:avLst/>
                </a:prstGeom>
                <a:blipFill>
                  <a:blip r:embed="rId4"/>
                  <a:stretch>
                    <a:fillRect b="-441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E8AAAC9E-4892-E777-BC6B-134526C17D19}"/>
                </a:ext>
              </a:extLst>
            </p:cNvPr>
            <p:cNvSpPr txBox="1"/>
            <p:nvPr/>
          </p:nvSpPr>
          <p:spPr>
            <a:xfrm>
              <a:off x="1484391" y="5409780"/>
              <a:ext cx="7958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ECF</a:t>
              </a:r>
            </a:p>
          </p:txBody>
        </p:sp>
      </p:grpSp>
      <p:sp>
        <p:nvSpPr>
          <p:cNvPr id="130" name="Arrow: Right 129">
            <a:extLst>
              <a:ext uri="{FF2B5EF4-FFF2-40B4-BE49-F238E27FC236}">
                <a16:creationId xmlns:a16="http://schemas.microsoft.com/office/drawing/2014/main" id="{BBBAAAAC-A486-327F-7725-CF70130221E6}"/>
              </a:ext>
            </a:extLst>
          </p:cNvPr>
          <p:cNvSpPr/>
          <p:nvPr/>
        </p:nvSpPr>
        <p:spPr>
          <a:xfrm rot="16200000">
            <a:off x="2189238" y="2935221"/>
            <a:ext cx="1074417" cy="5066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Arrow: Right 130">
            <a:extLst>
              <a:ext uri="{FF2B5EF4-FFF2-40B4-BE49-F238E27FC236}">
                <a16:creationId xmlns:a16="http://schemas.microsoft.com/office/drawing/2014/main" id="{03C84739-39E3-3B12-2A8B-EEA5AEB75A7C}"/>
              </a:ext>
            </a:extLst>
          </p:cNvPr>
          <p:cNvSpPr/>
          <p:nvPr/>
        </p:nvSpPr>
        <p:spPr>
          <a:xfrm rot="17772357">
            <a:off x="3246140" y="2938044"/>
            <a:ext cx="1074417" cy="5066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6CABA881-D89C-4EB4-8B66-045A103A803C}"/>
              </a:ext>
            </a:extLst>
          </p:cNvPr>
          <p:cNvSpPr/>
          <p:nvPr/>
        </p:nvSpPr>
        <p:spPr>
          <a:xfrm>
            <a:off x="1416721" y="2160270"/>
            <a:ext cx="914400" cy="1371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7A7E057D-A324-EA19-E865-8B13E31FCC1C}"/>
              </a:ext>
            </a:extLst>
          </p:cNvPr>
          <p:cNvSpPr/>
          <p:nvPr/>
        </p:nvSpPr>
        <p:spPr>
          <a:xfrm>
            <a:off x="3032161" y="2160270"/>
            <a:ext cx="914400" cy="1371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902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animBg="1"/>
      <p:bldP spid="130" grpId="0" animBg="1"/>
      <p:bldP spid="13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0D429-022E-E31D-E756-75FA37E55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FD233-717F-38FA-078B-60A79B352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Thevenin equivalent circuit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5AC664-8FCC-51A7-419E-03336BF3DE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3083" y="3739278"/>
            <a:ext cx="7825146" cy="2355028"/>
          </a:xfrm>
        </p:spPr>
        <p:txBody>
          <a:bodyPr/>
          <a:lstStyle/>
          <a:p>
            <a:r>
              <a:rPr lang="en-US" dirty="0"/>
              <a:t>Any arbitrary collection of resistors, batteries, current sources can be replaced by a single battery + resistor</a:t>
            </a:r>
          </a:p>
          <a:p>
            <a:r>
              <a:rPr lang="en-US" dirty="0"/>
              <a:t>Behavior at two external ports is equivalent!</a:t>
            </a:r>
          </a:p>
          <a:p>
            <a:r>
              <a:rPr lang="en-US" dirty="0"/>
              <a:t>Math: it’s a linear-algebra thing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8B684B-3172-1479-365D-C79732114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EE 123 Joel Grodstein</a:t>
            </a:r>
            <a:endParaRPr lang="en-US" dirty="0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EA392E17-EA43-EE4E-7DFB-87FB1EA5BB42}"/>
              </a:ext>
            </a:extLst>
          </p:cNvPr>
          <p:cNvCxnSpPr>
            <a:cxnSpLocks/>
          </p:cNvCxnSpPr>
          <p:nvPr/>
        </p:nvCxnSpPr>
        <p:spPr>
          <a:xfrm>
            <a:off x="1025896" y="1726335"/>
            <a:ext cx="0" cy="16002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Oval 73">
            <a:extLst>
              <a:ext uri="{FF2B5EF4-FFF2-40B4-BE49-F238E27FC236}">
                <a16:creationId xmlns:a16="http://schemas.microsoft.com/office/drawing/2014/main" id="{3B1FBA49-CE7C-D4D7-CD63-60D95CD225CD}"/>
              </a:ext>
            </a:extLst>
          </p:cNvPr>
          <p:cNvSpPr/>
          <p:nvPr/>
        </p:nvSpPr>
        <p:spPr>
          <a:xfrm>
            <a:off x="881973" y="2141201"/>
            <a:ext cx="279400" cy="67733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A7A7B36C-FD90-4701-AD95-1A4230D0D91B}"/>
              </a:ext>
            </a:extLst>
          </p:cNvPr>
          <p:cNvCxnSpPr>
            <a:cxnSpLocks/>
          </p:cNvCxnSpPr>
          <p:nvPr/>
        </p:nvCxnSpPr>
        <p:spPr>
          <a:xfrm>
            <a:off x="717574" y="3318064"/>
            <a:ext cx="4391995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6" name="Group 75">
            <a:extLst>
              <a:ext uri="{FF2B5EF4-FFF2-40B4-BE49-F238E27FC236}">
                <a16:creationId xmlns:a16="http://schemas.microsoft.com/office/drawing/2014/main" id="{563542D3-672B-D3E6-CE66-684CF45C529D}"/>
              </a:ext>
            </a:extLst>
          </p:cNvPr>
          <p:cNvGrpSpPr/>
          <p:nvPr/>
        </p:nvGrpSpPr>
        <p:grpSpPr>
          <a:xfrm>
            <a:off x="1457702" y="2865865"/>
            <a:ext cx="926979" cy="377814"/>
            <a:chOff x="5892800" y="3496733"/>
            <a:chExt cx="852363" cy="346805"/>
          </a:xfrm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F348A564-0C56-44C5-4F93-7419E3B7AC12}"/>
                </a:ext>
              </a:extLst>
            </p:cNvPr>
            <p:cNvCxnSpPr/>
            <p:nvPr/>
          </p:nvCxnSpPr>
          <p:spPr>
            <a:xfrm>
              <a:off x="5892800" y="3496733"/>
              <a:ext cx="45720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8546695B-07D2-E185-8517-E30583A69598}"/>
                </a:ext>
              </a:extLst>
            </p:cNvPr>
            <p:cNvCxnSpPr>
              <a:cxnSpLocks/>
            </p:cNvCxnSpPr>
            <p:nvPr/>
          </p:nvCxnSpPr>
          <p:spPr>
            <a:xfrm>
              <a:off x="5994399" y="3598332"/>
              <a:ext cx="254003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284B42AB-293A-340E-2E4C-3A5AF8680003}"/>
                </a:ext>
              </a:extLst>
            </p:cNvPr>
            <p:cNvSpPr txBox="1"/>
            <p:nvPr/>
          </p:nvSpPr>
          <p:spPr>
            <a:xfrm>
              <a:off x="6214533" y="3589275"/>
              <a:ext cx="530630" cy="25426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800" dirty="0"/>
                <a:t>77mV</a:t>
              </a: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8436C37B-A135-B0A0-84A4-A949D26651B2}"/>
              </a:ext>
            </a:extLst>
          </p:cNvPr>
          <p:cNvGrpSpPr/>
          <p:nvPr/>
        </p:nvGrpSpPr>
        <p:grpSpPr>
          <a:xfrm>
            <a:off x="2685368" y="2843932"/>
            <a:ext cx="975758" cy="336266"/>
            <a:chOff x="5892800" y="3496733"/>
            <a:chExt cx="975758" cy="336266"/>
          </a:xfrm>
        </p:grpSpPr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718A1863-24A6-06A1-DB6A-C99470CF7433}"/>
                </a:ext>
              </a:extLst>
            </p:cNvPr>
            <p:cNvCxnSpPr/>
            <p:nvPr/>
          </p:nvCxnSpPr>
          <p:spPr>
            <a:xfrm>
              <a:off x="5892800" y="3496733"/>
              <a:ext cx="45720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CEDDE2EF-0D70-918C-8C94-39803D0A72C0}"/>
                </a:ext>
              </a:extLst>
            </p:cNvPr>
            <p:cNvCxnSpPr>
              <a:cxnSpLocks/>
            </p:cNvCxnSpPr>
            <p:nvPr/>
          </p:nvCxnSpPr>
          <p:spPr>
            <a:xfrm>
              <a:off x="5994399" y="3598332"/>
              <a:ext cx="254003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DDB8B810-2003-77F0-AE10-287387B0C099}"/>
                </a:ext>
              </a:extLst>
            </p:cNvPr>
            <p:cNvSpPr txBox="1"/>
            <p:nvPr/>
          </p:nvSpPr>
          <p:spPr>
            <a:xfrm>
              <a:off x="6214533" y="3556000"/>
              <a:ext cx="654025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800" dirty="0"/>
                <a:t>-89mV</a:t>
              </a:r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325D3287-B44D-DF88-DF8B-F291A50078BF}"/>
              </a:ext>
            </a:extLst>
          </p:cNvPr>
          <p:cNvGrpSpPr/>
          <p:nvPr/>
        </p:nvGrpSpPr>
        <p:grpSpPr>
          <a:xfrm>
            <a:off x="3777567" y="2843932"/>
            <a:ext cx="975758" cy="361666"/>
            <a:chOff x="5892800" y="3496733"/>
            <a:chExt cx="975758" cy="361666"/>
          </a:xfrm>
        </p:grpSpPr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9525D5D0-6F47-E199-ACE6-8AFBBA03C648}"/>
                </a:ext>
              </a:extLst>
            </p:cNvPr>
            <p:cNvCxnSpPr/>
            <p:nvPr/>
          </p:nvCxnSpPr>
          <p:spPr>
            <a:xfrm>
              <a:off x="5892800" y="3496733"/>
              <a:ext cx="45720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82AFE1B5-ACBF-D974-80D9-A7610D726794}"/>
                </a:ext>
              </a:extLst>
            </p:cNvPr>
            <p:cNvCxnSpPr>
              <a:cxnSpLocks/>
            </p:cNvCxnSpPr>
            <p:nvPr/>
          </p:nvCxnSpPr>
          <p:spPr>
            <a:xfrm>
              <a:off x="5994399" y="3598332"/>
              <a:ext cx="254003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24A5D06B-58F0-A254-34D4-2ECE582ABD41}"/>
                </a:ext>
              </a:extLst>
            </p:cNvPr>
            <p:cNvSpPr txBox="1"/>
            <p:nvPr/>
          </p:nvSpPr>
          <p:spPr>
            <a:xfrm>
              <a:off x="6214533" y="3581400"/>
              <a:ext cx="654025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800" dirty="0"/>
                <a:t>-71mV</a:t>
              </a:r>
            </a:p>
          </p:txBody>
        </p:sp>
      </p:grp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E7AF2D28-2FEB-83F1-A058-F94BF573B615}"/>
              </a:ext>
            </a:extLst>
          </p:cNvPr>
          <p:cNvCxnSpPr>
            <a:cxnSpLocks/>
          </p:cNvCxnSpPr>
          <p:nvPr/>
        </p:nvCxnSpPr>
        <p:spPr>
          <a:xfrm>
            <a:off x="1694771" y="2945533"/>
            <a:ext cx="0" cy="38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83309A72-19F6-AD00-0EE7-E9B0C02E7EA4}"/>
              </a:ext>
            </a:extLst>
          </p:cNvPr>
          <p:cNvCxnSpPr>
            <a:cxnSpLocks/>
          </p:cNvCxnSpPr>
          <p:nvPr/>
        </p:nvCxnSpPr>
        <p:spPr>
          <a:xfrm>
            <a:off x="2913973" y="2953994"/>
            <a:ext cx="0" cy="38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6399829D-61C5-74B9-BCC3-0431EDF6C31A}"/>
              </a:ext>
            </a:extLst>
          </p:cNvPr>
          <p:cNvCxnSpPr>
            <a:cxnSpLocks/>
          </p:cNvCxnSpPr>
          <p:nvPr/>
        </p:nvCxnSpPr>
        <p:spPr>
          <a:xfrm>
            <a:off x="4014638" y="2953999"/>
            <a:ext cx="0" cy="38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1" name="Group 90">
            <a:extLst>
              <a:ext uri="{FF2B5EF4-FFF2-40B4-BE49-F238E27FC236}">
                <a16:creationId xmlns:a16="http://schemas.microsoft.com/office/drawing/2014/main" id="{C738699D-A6C0-65EB-2433-CD14B5BE6CBA}"/>
              </a:ext>
            </a:extLst>
          </p:cNvPr>
          <p:cNvGrpSpPr/>
          <p:nvPr/>
        </p:nvGrpSpPr>
        <p:grpSpPr>
          <a:xfrm>
            <a:off x="1322236" y="1963400"/>
            <a:ext cx="381000" cy="685800"/>
            <a:chOff x="5562600" y="3429000"/>
            <a:chExt cx="381000" cy="685800"/>
          </a:xfrm>
        </p:grpSpPr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97CD0261-EF1B-428A-5D89-0C7AFBA387E9}"/>
                </a:ext>
              </a:extLst>
            </p:cNvPr>
            <p:cNvCxnSpPr/>
            <p:nvPr/>
          </p:nvCxnSpPr>
          <p:spPr>
            <a:xfrm>
              <a:off x="5715000" y="3429000"/>
              <a:ext cx="228600" cy="762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70C227D3-1438-1B5F-B48F-68B24D92F0D0}"/>
                </a:ext>
              </a:extLst>
            </p:cNvPr>
            <p:cNvCxnSpPr/>
            <p:nvPr/>
          </p:nvCxnSpPr>
          <p:spPr>
            <a:xfrm flipV="1">
              <a:off x="5562600" y="35052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E2ECB6FF-6CBF-555D-F480-74B2B9AF3766}"/>
                </a:ext>
              </a:extLst>
            </p:cNvPr>
            <p:cNvCxnSpPr/>
            <p:nvPr/>
          </p:nvCxnSpPr>
          <p:spPr>
            <a:xfrm flipH="1" flipV="1">
              <a:off x="5562600" y="36576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6E9929BD-30CC-05EC-7598-99B4A88E785D}"/>
                </a:ext>
              </a:extLst>
            </p:cNvPr>
            <p:cNvCxnSpPr/>
            <p:nvPr/>
          </p:nvCxnSpPr>
          <p:spPr>
            <a:xfrm flipV="1">
              <a:off x="5562600" y="38100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51E9B818-6ABC-3C87-3F17-CC1FA4C9A508}"/>
                </a:ext>
              </a:extLst>
            </p:cNvPr>
            <p:cNvCxnSpPr/>
            <p:nvPr/>
          </p:nvCxnSpPr>
          <p:spPr>
            <a:xfrm flipH="1" flipV="1">
              <a:off x="5562600" y="39624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64A82527-AD23-A3DC-0DF4-F1DA2057BB11}"/>
              </a:ext>
            </a:extLst>
          </p:cNvPr>
          <p:cNvCxnSpPr>
            <a:cxnSpLocks/>
          </p:cNvCxnSpPr>
          <p:nvPr/>
        </p:nvCxnSpPr>
        <p:spPr>
          <a:xfrm>
            <a:off x="1694769" y="2632268"/>
            <a:ext cx="0" cy="20319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8" name="Group 97">
            <a:extLst>
              <a:ext uri="{FF2B5EF4-FFF2-40B4-BE49-F238E27FC236}">
                <a16:creationId xmlns:a16="http://schemas.microsoft.com/office/drawing/2014/main" id="{CC5D3095-015A-CBE3-0297-D5387C9FBDBC}"/>
              </a:ext>
            </a:extLst>
          </p:cNvPr>
          <p:cNvGrpSpPr/>
          <p:nvPr/>
        </p:nvGrpSpPr>
        <p:grpSpPr>
          <a:xfrm>
            <a:off x="2524502" y="1963398"/>
            <a:ext cx="381000" cy="685800"/>
            <a:chOff x="5562600" y="3429000"/>
            <a:chExt cx="381000" cy="685800"/>
          </a:xfrm>
        </p:grpSpPr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639E40B2-AE94-46DE-0385-418A0E3E162F}"/>
                </a:ext>
              </a:extLst>
            </p:cNvPr>
            <p:cNvCxnSpPr/>
            <p:nvPr/>
          </p:nvCxnSpPr>
          <p:spPr>
            <a:xfrm>
              <a:off x="5715000" y="3429000"/>
              <a:ext cx="228600" cy="762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213FDD3A-B6CA-1468-7AC6-B24CA4998D0E}"/>
                </a:ext>
              </a:extLst>
            </p:cNvPr>
            <p:cNvCxnSpPr/>
            <p:nvPr/>
          </p:nvCxnSpPr>
          <p:spPr>
            <a:xfrm flipV="1">
              <a:off x="5562600" y="35052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D0BAE059-2B55-0E69-558E-8D468FD0635D}"/>
                </a:ext>
              </a:extLst>
            </p:cNvPr>
            <p:cNvCxnSpPr/>
            <p:nvPr/>
          </p:nvCxnSpPr>
          <p:spPr>
            <a:xfrm flipH="1" flipV="1">
              <a:off x="5562600" y="36576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435C1B61-584D-549A-B20C-7D241F7A2498}"/>
                </a:ext>
              </a:extLst>
            </p:cNvPr>
            <p:cNvCxnSpPr/>
            <p:nvPr/>
          </p:nvCxnSpPr>
          <p:spPr>
            <a:xfrm flipV="1">
              <a:off x="5562600" y="38100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66732A1F-3631-FE19-E76F-9BCFC6BF4B51}"/>
                </a:ext>
              </a:extLst>
            </p:cNvPr>
            <p:cNvCxnSpPr/>
            <p:nvPr/>
          </p:nvCxnSpPr>
          <p:spPr>
            <a:xfrm flipH="1" flipV="1">
              <a:off x="5562600" y="39624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57E0D279-98ED-6B77-DC1E-13BCEE735179}"/>
              </a:ext>
            </a:extLst>
          </p:cNvPr>
          <p:cNvCxnSpPr>
            <a:cxnSpLocks/>
          </p:cNvCxnSpPr>
          <p:nvPr/>
        </p:nvCxnSpPr>
        <p:spPr>
          <a:xfrm>
            <a:off x="2897035" y="2632266"/>
            <a:ext cx="0" cy="20319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EEBDB966-8D75-5BDA-30B7-A1813D130A0C}"/>
              </a:ext>
            </a:extLst>
          </p:cNvPr>
          <p:cNvGrpSpPr/>
          <p:nvPr/>
        </p:nvGrpSpPr>
        <p:grpSpPr>
          <a:xfrm>
            <a:off x="3642106" y="1963395"/>
            <a:ext cx="381000" cy="685800"/>
            <a:chOff x="5562600" y="3429000"/>
            <a:chExt cx="381000" cy="685800"/>
          </a:xfrm>
        </p:grpSpPr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1655C1F7-8A57-A708-8894-5D92C82A655A}"/>
                </a:ext>
              </a:extLst>
            </p:cNvPr>
            <p:cNvCxnSpPr/>
            <p:nvPr/>
          </p:nvCxnSpPr>
          <p:spPr>
            <a:xfrm>
              <a:off x="5715000" y="3429000"/>
              <a:ext cx="228600" cy="762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3254B1CE-8CDC-6B6A-6778-0F52DB061069}"/>
                </a:ext>
              </a:extLst>
            </p:cNvPr>
            <p:cNvCxnSpPr/>
            <p:nvPr/>
          </p:nvCxnSpPr>
          <p:spPr>
            <a:xfrm flipV="1">
              <a:off x="5562600" y="35052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978B43A2-A3FB-A580-EE0C-8159091E5242}"/>
                </a:ext>
              </a:extLst>
            </p:cNvPr>
            <p:cNvCxnSpPr/>
            <p:nvPr/>
          </p:nvCxnSpPr>
          <p:spPr>
            <a:xfrm flipH="1" flipV="1">
              <a:off x="5562600" y="36576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2017BF0A-5DD5-A67E-DEEF-24C5F991B94D}"/>
                </a:ext>
              </a:extLst>
            </p:cNvPr>
            <p:cNvCxnSpPr/>
            <p:nvPr/>
          </p:nvCxnSpPr>
          <p:spPr>
            <a:xfrm flipV="1">
              <a:off x="5562600" y="38100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F8701310-CC14-0BB2-DD15-2752DE2DFA46}"/>
                </a:ext>
              </a:extLst>
            </p:cNvPr>
            <p:cNvCxnSpPr/>
            <p:nvPr/>
          </p:nvCxnSpPr>
          <p:spPr>
            <a:xfrm flipH="1" flipV="1">
              <a:off x="5562600" y="39624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60E31CB6-9CC0-CF88-7434-C536034A1075}"/>
              </a:ext>
            </a:extLst>
          </p:cNvPr>
          <p:cNvCxnSpPr>
            <a:cxnSpLocks/>
          </p:cNvCxnSpPr>
          <p:nvPr/>
        </p:nvCxnSpPr>
        <p:spPr>
          <a:xfrm>
            <a:off x="4014639" y="2632263"/>
            <a:ext cx="0" cy="20319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13604557-4022-5037-8A1F-4DA59A29ECD3}"/>
              </a:ext>
            </a:extLst>
          </p:cNvPr>
          <p:cNvCxnSpPr>
            <a:cxnSpLocks/>
          </p:cNvCxnSpPr>
          <p:nvPr/>
        </p:nvCxnSpPr>
        <p:spPr>
          <a:xfrm>
            <a:off x="709107" y="1743265"/>
            <a:ext cx="4400462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0CD3C2BA-EC25-7F03-0F73-6510443317C1}"/>
              </a:ext>
            </a:extLst>
          </p:cNvPr>
          <p:cNvCxnSpPr>
            <a:cxnSpLocks/>
          </p:cNvCxnSpPr>
          <p:nvPr/>
        </p:nvCxnSpPr>
        <p:spPr>
          <a:xfrm>
            <a:off x="1491564" y="1751736"/>
            <a:ext cx="0" cy="20319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2DBA9072-F69B-8AD4-49CB-9B9099C31494}"/>
              </a:ext>
            </a:extLst>
          </p:cNvPr>
          <p:cNvCxnSpPr>
            <a:cxnSpLocks/>
          </p:cNvCxnSpPr>
          <p:nvPr/>
        </p:nvCxnSpPr>
        <p:spPr>
          <a:xfrm>
            <a:off x="2693830" y="1768666"/>
            <a:ext cx="0" cy="20319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46842142-9174-9F44-9F88-2133656276EB}"/>
              </a:ext>
            </a:extLst>
          </p:cNvPr>
          <p:cNvCxnSpPr>
            <a:cxnSpLocks/>
          </p:cNvCxnSpPr>
          <p:nvPr/>
        </p:nvCxnSpPr>
        <p:spPr>
          <a:xfrm>
            <a:off x="3802963" y="1760203"/>
            <a:ext cx="0" cy="20319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242FA334-02A4-988D-D36F-04DA69E01500}"/>
              </a:ext>
            </a:extLst>
          </p:cNvPr>
          <p:cNvSpPr txBox="1"/>
          <p:nvPr/>
        </p:nvSpPr>
        <p:spPr>
          <a:xfrm>
            <a:off x="1694766" y="2039598"/>
            <a:ext cx="384721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i="1" dirty="0" err="1"/>
              <a:t>G</a:t>
            </a:r>
            <a:r>
              <a:rPr lang="en-US" sz="2000" baseline="-25000" dirty="0" err="1"/>
              <a:t>Na</a:t>
            </a:r>
            <a:endParaRPr lang="en-US" sz="2000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002D6F87-1DD2-58E4-E258-0425FFD4076A}"/>
              </a:ext>
            </a:extLst>
          </p:cNvPr>
          <p:cNvSpPr txBox="1"/>
          <p:nvPr/>
        </p:nvSpPr>
        <p:spPr>
          <a:xfrm>
            <a:off x="2846233" y="2022664"/>
            <a:ext cx="30938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i="1" dirty="0"/>
              <a:t>G</a:t>
            </a:r>
            <a:r>
              <a:rPr lang="en-US" sz="2000" baseline="-25000" dirty="0"/>
              <a:t>K</a:t>
            </a:r>
            <a:endParaRPr lang="en-US" sz="2000" dirty="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ACC6A012-6255-FB36-BC7B-97F479F43381}"/>
              </a:ext>
            </a:extLst>
          </p:cNvPr>
          <p:cNvSpPr txBox="1"/>
          <p:nvPr/>
        </p:nvSpPr>
        <p:spPr>
          <a:xfrm>
            <a:off x="4031566" y="2039598"/>
            <a:ext cx="34785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i="1" dirty="0" err="1"/>
              <a:t>G</a:t>
            </a:r>
            <a:r>
              <a:rPr lang="en-US" sz="2000" baseline="-25000" dirty="0" err="1"/>
              <a:t>Cl</a:t>
            </a:r>
            <a:endParaRPr lang="en-US" sz="2000" dirty="0"/>
          </a:p>
        </p:txBody>
      </p: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2968EA50-B4DC-B009-399E-FA60B6CE52E7}"/>
              </a:ext>
            </a:extLst>
          </p:cNvPr>
          <p:cNvCxnSpPr>
            <a:cxnSpLocks/>
          </p:cNvCxnSpPr>
          <p:nvPr/>
        </p:nvCxnSpPr>
        <p:spPr>
          <a:xfrm>
            <a:off x="1021673" y="2327468"/>
            <a:ext cx="0" cy="30480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F987EB44-A4F7-156D-2B94-D975C365157D}"/>
              </a:ext>
            </a:extLst>
          </p:cNvPr>
          <p:cNvCxnSpPr>
            <a:cxnSpLocks/>
          </p:cNvCxnSpPr>
          <p:nvPr/>
        </p:nvCxnSpPr>
        <p:spPr>
          <a:xfrm>
            <a:off x="712630" y="1717866"/>
            <a:ext cx="0" cy="16002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Oval 120">
            <a:extLst>
              <a:ext uri="{FF2B5EF4-FFF2-40B4-BE49-F238E27FC236}">
                <a16:creationId xmlns:a16="http://schemas.microsoft.com/office/drawing/2014/main" id="{2E98F46E-A860-3309-0148-1AF44518A507}"/>
              </a:ext>
            </a:extLst>
          </p:cNvPr>
          <p:cNvSpPr/>
          <p:nvPr/>
        </p:nvSpPr>
        <p:spPr>
          <a:xfrm>
            <a:off x="568707" y="2132732"/>
            <a:ext cx="279400" cy="67733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DF9077E2-A682-0BD9-92D1-ECFE519FB1B8}"/>
              </a:ext>
            </a:extLst>
          </p:cNvPr>
          <p:cNvCxnSpPr>
            <a:cxnSpLocks/>
          </p:cNvCxnSpPr>
          <p:nvPr/>
        </p:nvCxnSpPr>
        <p:spPr>
          <a:xfrm>
            <a:off x="708407" y="2318999"/>
            <a:ext cx="0" cy="304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4B8B9B78-E376-90A9-84D4-E131B94BA68A}"/>
              </a:ext>
            </a:extLst>
          </p:cNvPr>
          <p:cNvSpPr txBox="1"/>
          <p:nvPr/>
        </p:nvSpPr>
        <p:spPr>
          <a:xfrm>
            <a:off x="390903" y="1794062"/>
            <a:ext cx="269304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i="1" dirty="0" err="1"/>
              <a:t>j</a:t>
            </a:r>
            <a:r>
              <a:rPr lang="en-US" sz="2000" baseline="-25000" dirty="0" err="1"/>
              <a:t>Na</a:t>
            </a:r>
            <a:endParaRPr lang="en-US" sz="2000" dirty="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081B021C-E228-197A-E125-A71E7DB68CDD}"/>
              </a:ext>
            </a:extLst>
          </p:cNvPr>
          <p:cNvSpPr txBox="1"/>
          <p:nvPr/>
        </p:nvSpPr>
        <p:spPr>
          <a:xfrm>
            <a:off x="1078973" y="1785597"/>
            <a:ext cx="193964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i="1" dirty="0" err="1"/>
              <a:t>j</a:t>
            </a:r>
            <a:r>
              <a:rPr lang="en-US" sz="2000" baseline="-25000" dirty="0" err="1"/>
              <a:t>K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Rectangle 124">
                <a:extLst>
                  <a:ext uri="{FF2B5EF4-FFF2-40B4-BE49-F238E27FC236}">
                    <a16:creationId xmlns:a16="http://schemas.microsoft.com/office/drawing/2014/main" id="{4A6194DC-F246-5CFC-1CC4-21BDDDFE7BC5}"/>
                  </a:ext>
                </a:extLst>
              </p:cNvPr>
              <p:cNvSpPr/>
              <p:nvPr/>
            </p:nvSpPr>
            <p:spPr>
              <a:xfrm>
                <a:off x="1879491" y="2621615"/>
                <a:ext cx="479991" cy="40620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𝑁𝑎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5" name="Rectangle 124">
                <a:extLst>
                  <a:ext uri="{FF2B5EF4-FFF2-40B4-BE49-F238E27FC236}">
                    <a16:creationId xmlns:a16="http://schemas.microsoft.com/office/drawing/2014/main" id="{4A6194DC-F246-5CFC-1CC4-21BDDDFE7B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9491" y="2621615"/>
                <a:ext cx="479991" cy="406201"/>
              </a:xfrm>
              <a:prstGeom prst="rect">
                <a:avLst/>
              </a:prstGeom>
              <a:blipFill>
                <a:blip r:embed="rId3"/>
                <a:stretch>
                  <a:fillRect r="-11392" b="-29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A16A296D-53A6-A903-56F4-FDD09E42FE21}"/>
                  </a:ext>
                </a:extLst>
              </p:cNvPr>
              <p:cNvSpPr/>
              <p:nvPr/>
            </p:nvSpPr>
            <p:spPr>
              <a:xfrm>
                <a:off x="3136765" y="2597016"/>
                <a:ext cx="479991" cy="4045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A16A296D-53A6-A903-56F4-FDD09E42FE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6765" y="2597016"/>
                <a:ext cx="479991" cy="404598"/>
              </a:xfrm>
              <a:prstGeom prst="rect">
                <a:avLst/>
              </a:prstGeom>
              <a:blipFill>
                <a:blip r:embed="rId4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Rectangle 126">
                <a:extLst>
                  <a:ext uri="{FF2B5EF4-FFF2-40B4-BE49-F238E27FC236}">
                    <a16:creationId xmlns:a16="http://schemas.microsoft.com/office/drawing/2014/main" id="{CDFDD574-02B2-CF25-4D1F-05C5FD34A908}"/>
                  </a:ext>
                </a:extLst>
              </p:cNvPr>
              <p:cNvSpPr/>
              <p:nvPr/>
            </p:nvSpPr>
            <p:spPr>
              <a:xfrm>
                <a:off x="4273770" y="2572855"/>
                <a:ext cx="479991" cy="4128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𝐶𝑙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7" name="Rectangle 126">
                <a:extLst>
                  <a:ext uri="{FF2B5EF4-FFF2-40B4-BE49-F238E27FC236}">
                    <a16:creationId xmlns:a16="http://schemas.microsoft.com/office/drawing/2014/main" id="{CDFDD574-02B2-CF25-4D1F-05C5FD34A9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3770" y="2572855"/>
                <a:ext cx="479991" cy="412870"/>
              </a:xfrm>
              <a:prstGeom prst="rect">
                <a:avLst/>
              </a:prstGeom>
              <a:blipFill>
                <a:blip r:embed="rId5"/>
                <a:stretch>
                  <a:fillRect b="-4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8" name="TextBox 127">
            <a:extLst>
              <a:ext uri="{FF2B5EF4-FFF2-40B4-BE49-F238E27FC236}">
                <a16:creationId xmlns:a16="http://schemas.microsoft.com/office/drawing/2014/main" id="{0506B8BF-FC43-B49E-B58A-6583A7880855}"/>
              </a:ext>
            </a:extLst>
          </p:cNvPr>
          <p:cNvSpPr txBox="1"/>
          <p:nvPr/>
        </p:nvSpPr>
        <p:spPr>
          <a:xfrm>
            <a:off x="1499180" y="3279451"/>
            <a:ext cx="7958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ECF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C249E74-E2EE-DECB-E42C-E619C7393A5C}"/>
              </a:ext>
            </a:extLst>
          </p:cNvPr>
          <p:cNvGrpSpPr/>
          <p:nvPr/>
        </p:nvGrpSpPr>
        <p:grpSpPr>
          <a:xfrm>
            <a:off x="6913197" y="2847742"/>
            <a:ext cx="457200" cy="101599"/>
            <a:chOff x="5892800" y="3496733"/>
            <a:chExt cx="457200" cy="101599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A1C9BE32-DD75-DCBD-8BD5-09EB098A0147}"/>
                </a:ext>
              </a:extLst>
            </p:cNvPr>
            <p:cNvCxnSpPr/>
            <p:nvPr/>
          </p:nvCxnSpPr>
          <p:spPr>
            <a:xfrm>
              <a:off x="5892800" y="3496733"/>
              <a:ext cx="45720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F24712B-7EE1-FAB1-A8F7-813A61F0269B}"/>
                </a:ext>
              </a:extLst>
            </p:cNvPr>
            <p:cNvCxnSpPr>
              <a:cxnSpLocks/>
            </p:cNvCxnSpPr>
            <p:nvPr/>
          </p:nvCxnSpPr>
          <p:spPr>
            <a:xfrm>
              <a:off x="5994399" y="3598332"/>
              <a:ext cx="254003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CB0E505-C820-DD33-6AD8-3C320CAD8380}"/>
              </a:ext>
            </a:extLst>
          </p:cNvPr>
          <p:cNvCxnSpPr>
            <a:cxnSpLocks/>
          </p:cNvCxnSpPr>
          <p:nvPr/>
        </p:nvCxnSpPr>
        <p:spPr>
          <a:xfrm>
            <a:off x="7150268" y="2957809"/>
            <a:ext cx="0" cy="38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B56C3F7-821A-7415-91B4-26E6565E95D8}"/>
              </a:ext>
            </a:extLst>
          </p:cNvPr>
          <p:cNvGrpSpPr/>
          <p:nvPr/>
        </p:nvGrpSpPr>
        <p:grpSpPr>
          <a:xfrm>
            <a:off x="6777736" y="1967205"/>
            <a:ext cx="381000" cy="685800"/>
            <a:chOff x="5562600" y="3429000"/>
            <a:chExt cx="381000" cy="6858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176A47F-D606-994A-610E-5F69C330BAC6}"/>
                </a:ext>
              </a:extLst>
            </p:cNvPr>
            <p:cNvCxnSpPr/>
            <p:nvPr/>
          </p:nvCxnSpPr>
          <p:spPr>
            <a:xfrm>
              <a:off x="5715000" y="3429000"/>
              <a:ext cx="228600" cy="762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AAE79EC-EDA2-7706-F5C9-F73C09FF6EEC}"/>
                </a:ext>
              </a:extLst>
            </p:cNvPr>
            <p:cNvCxnSpPr/>
            <p:nvPr/>
          </p:nvCxnSpPr>
          <p:spPr>
            <a:xfrm flipV="1">
              <a:off x="5562600" y="35052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5D42CDC-69A4-3CB8-652D-889802C01FD0}"/>
                </a:ext>
              </a:extLst>
            </p:cNvPr>
            <p:cNvCxnSpPr/>
            <p:nvPr/>
          </p:nvCxnSpPr>
          <p:spPr>
            <a:xfrm flipH="1" flipV="1">
              <a:off x="5562600" y="36576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39E4DAE-4D40-996B-DE7E-B82FFAFF34D8}"/>
                </a:ext>
              </a:extLst>
            </p:cNvPr>
            <p:cNvCxnSpPr/>
            <p:nvPr/>
          </p:nvCxnSpPr>
          <p:spPr>
            <a:xfrm flipV="1">
              <a:off x="5562600" y="38100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A166209-F6E0-3EFC-84CA-D279C116EA39}"/>
                </a:ext>
              </a:extLst>
            </p:cNvPr>
            <p:cNvCxnSpPr/>
            <p:nvPr/>
          </p:nvCxnSpPr>
          <p:spPr>
            <a:xfrm flipH="1" flipV="1">
              <a:off x="5562600" y="39624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77BF78C-D26C-83C3-EF85-B90C141C8ABC}"/>
              </a:ext>
            </a:extLst>
          </p:cNvPr>
          <p:cNvCxnSpPr>
            <a:cxnSpLocks/>
          </p:cNvCxnSpPr>
          <p:nvPr/>
        </p:nvCxnSpPr>
        <p:spPr>
          <a:xfrm>
            <a:off x="7150269" y="2636073"/>
            <a:ext cx="0" cy="20319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4F7688A-F7D0-A7E0-CAAD-B8549E89247F}"/>
              </a:ext>
            </a:extLst>
          </p:cNvPr>
          <p:cNvCxnSpPr>
            <a:cxnSpLocks/>
          </p:cNvCxnSpPr>
          <p:nvPr/>
        </p:nvCxnSpPr>
        <p:spPr>
          <a:xfrm>
            <a:off x="6938593" y="1764013"/>
            <a:ext cx="0" cy="20319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94FB1A6-CFF3-F8B3-B7A9-6DB01AF1640D}"/>
              </a:ext>
            </a:extLst>
          </p:cNvPr>
          <p:cNvSpPr txBox="1"/>
          <p:nvPr/>
        </p:nvSpPr>
        <p:spPr>
          <a:xfrm>
            <a:off x="7167196" y="2043408"/>
            <a:ext cx="346249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i="1" dirty="0" err="1"/>
              <a:t>G</a:t>
            </a:r>
            <a:r>
              <a:rPr lang="en-US" sz="2000" baseline="-25000" dirty="0" err="1"/>
              <a:t>eq</a:t>
            </a:r>
            <a:endParaRPr lang="en-US" sz="20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D1445FD-5081-D51D-F842-3CE5912273EE}"/>
              </a:ext>
            </a:extLst>
          </p:cNvPr>
          <p:cNvSpPr/>
          <p:nvPr/>
        </p:nvSpPr>
        <p:spPr>
          <a:xfrm>
            <a:off x="7180800" y="2782405"/>
            <a:ext cx="7769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 err="1"/>
              <a:t>V</a:t>
            </a:r>
            <a:r>
              <a:rPr lang="en-US" baseline="-25000" dirty="0" err="1"/>
              <a:t>oc</a:t>
            </a:r>
            <a:endParaRPr lang="en-US" i="1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93650AE-51A7-2144-6DCE-17972A541F9B}"/>
              </a:ext>
            </a:extLst>
          </p:cNvPr>
          <p:cNvCxnSpPr>
            <a:cxnSpLocks/>
          </p:cNvCxnSpPr>
          <p:nvPr/>
        </p:nvCxnSpPr>
        <p:spPr>
          <a:xfrm>
            <a:off x="6913197" y="1747075"/>
            <a:ext cx="1304973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F2B7313-5DBA-918D-014D-AF81BF791E00}"/>
              </a:ext>
            </a:extLst>
          </p:cNvPr>
          <p:cNvCxnSpPr>
            <a:cxnSpLocks/>
          </p:cNvCxnSpPr>
          <p:nvPr/>
        </p:nvCxnSpPr>
        <p:spPr>
          <a:xfrm>
            <a:off x="7157037" y="3328225"/>
            <a:ext cx="1061133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F3704761-4AC3-BB01-DBBE-37FFE556058A}"/>
              </a:ext>
            </a:extLst>
          </p:cNvPr>
          <p:cNvSpPr/>
          <p:nvPr/>
        </p:nvSpPr>
        <p:spPr>
          <a:xfrm>
            <a:off x="5467011" y="2344395"/>
            <a:ext cx="1013799" cy="41287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9308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5E93F-B86A-DF3E-187B-AEBA1F188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Two-cell circuit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10714E-4817-B4D7-1A9D-770E08A018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04512" y="1600217"/>
                <a:ext cx="4048598" cy="4290604"/>
              </a:xfrm>
            </p:spPr>
            <p:txBody>
              <a:bodyPr/>
              <a:lstStyle/>
              <a:p>
                <a:r>
                  <a:rPr lang="en-US" dirty="0"/>
                  <a:t>Solve for </a:t>
                </a:r>
                <a:r>
                  <a:rPr lang="en-US" i="1" dirty="0"/>
                  <a:t>V</a:t>
                </a:r>
                <a:r>
                  <a:rPr lang="en-US" baseline="-25000" dirty="0"/>
                  <a:t>3</a:t>
                </a:r>
                <a:r>
                  <a:rPr lang="en-US" dirty="0"/>
                  <a:t>, </a:t>
                </a:r>
                <a:r>
                  <a:rPr lang="en-US" i="1" dirty="0"/>
                  <a:t>V</a:t>
                </a:r>
                <a:r>
                  <a:rPr lang="en-US" baseline="-25000" dirty="0"/>
                  <a:t>4</a:t>
                </a:r>
                <a:r>
                  <a:rPr lang="en-US" dirty="0"/>
                  <a:t> (given </a:t>
                </a:r>
                <a:r>
                  <a:rPr lang="en-US" i="1" dirty="0"/>
                  <a:t>V</a:t>
                </a:r>
                <a:r>
                  <a:rPr lang="en-US" baseline="-25000" dirty="0"/>
                  <a:t>1</a:t>
                </a:r>
                <a:r>
                  <a:rPr lang="en-US" dirty="0"/>
                  <a:t>, </a:t>
                </a:r>
                <a:r>
                  <a:rPr lang="en-US" i="1" dirty="0"/>
                  <a:t>R</a:t>
                </a:r>
                <a:r>
                  <a:rPr lang="en-US" baseline="-25000" dirty="0"/>
                  <a:t>1</a:t>
                </a:r>
                <a:r>
                  <a:rPr lang="en-US" dirty="0"/>
                  <a:t>, </a:t>
                </a:r>
                <a:r>
                  <a:rPr lang="en-US" i="1" dirty="0"/>
                  <a:t>V</a:t>
                </a:r>
                <a:r>
                  <a:rPr lang="en-US" baseline="-25000" dirty="0"/>
                  <a:t>2</a:t>
                </a:r>
                <a:r>
                  <a:rPr lang="en-US" dirty="0"/>
                  <a:t>, </a:t>
                </a:r>
                <a:r>
                  <a:rPr lang="en-US" i="1" dirty="0"/>
                  <a:t>R</a:t>
                </a:r>
                <a:r>
                  <a:rPr lang="en-US" baseline="-25000" dirty="0"/>
                  <a:t>2</a:t>
                </a:r>
                <a:r>
                  <a:rPr lang="en-US" dirty="0"/>
                  <a:t>, </a:t>
                </a:r>
                <a:r>
                  <a:rPr lang="en-US" i="1" dirty="0"/>
                  <a:t>R</a:t>
                </a:r>
                <a:r>
                  <a:rPr lang="en-US" baseline="-25000" dirty="0"/>
                  <a:t>GJ</a:t>
                </a:r>
                <a:r>
                  <a:rPr lang="en-US" dirty="0"/>
                  <a:t>)</a:t>
                </a:r>
              </a:p>
              <a:p>
                <a:r>
                  <a:rPr lang="en-US" dirty="0"/>
                  <a:t>Simplify: </a:t>
                </a:r>
                <a:r>
                  <a:rPr lang="en-US" i="1" dirty="0"/>
                  <a:t>i</a:t>
                </a:r>
                <a:r>
                  <a:rPr lang="en-US" baseline="-25000" dirty="0"/>
                  <a:t>1</a:t>
                </a:r>
                <a:r>
                  <a:rPr lang="en-US" dirty="0"/>
                  <a:t>=-</a:t>
                </a:r>
                <a:r>
                  <a:rPr lang="en-US" i="1" dirty="0"/>
                  <a:t>i</a:t>
                </a:r>
                <a:r>
                  <a:rPr lang="en-US" baseline="-25000" dirty="0"/>
                  <a:t>2</a:t>
                </a:r>
                <a:r>
                  <a:rPr lang="en-US" dirty="0"/>
                  <a:t>=</a:t>
                </a:r>
                <a:r>
                  <a:rPr lang="en-US" i="1" dirty="0"/>
                  <a:t>i</a:t>
                </a:r>
                <a:r>
                  <a:rPr lang="en-US" baseline="-25000" dirty="0"/>
                  <a:t>3</a:t>
                </a:r>
                <a:r>
                  <a:rPr lang="en-US" dirty="0"/>
                  <a:t>, then just keep one variable</a:t>
                </a:r>
              </a:p>
              <a:p>
                <a:r>
                  <a:rPr lang="en-US" dirty="0"/>
                  <a:t>Simplify: </a:t>
                </a:r>
                <a:r>
                  <a:rPr lang="en-US" i="1" dirty="0" err="1"/>
                  <a:t>R</a:t>
                </a:r>
                <a:r>
                  <a:rPr lang="en-US" baseline="-25000" dirty="0" err="1"/>
                  <a:t>series</a:t>
                </a:r>
                <a:r>
                  <a:rPr lang="en-US" dirty="0"/>
                  <a:t> = </a:t>
                </a:r>
                <a:r>
                  <a:rPr lang="en-US" i="1" dirty="0"/>
                  <a:t>R</a:t>
                </a:r>
                <a:r>
                  <a:rPr lang="en-US" baseline="-25000" dirty="0"/>
                  <a:t>1</a:t>
                </a:r>
                <a:r>
                  <a:rPr lang="en-US" dirty="0"/>
                  <a:t>+</a:t>
                </a:r>
                <a:r>
                  <a:rPr lang="en-US" i="1" dirty="0"/>
                  <a:t>R</a:t>
                </a:r>
                <a:r>
                  <a:rPr lang="en-US" i="1" baseline="-25000" dirty="0"/>
                  <a:t>GJ</a:t>
                </a:r>
                <a:r>
                  <a:rPr lang="en-US" i="1" dirty="0"/>
                  <a:t>+</a:t>
                </a:r>
                <a:r>
                  <a:rPr lang="en-US" dirty="0"/>
                  <a:t>R</a:t>
                </a:r>
                <a:r>
                  <a:rPr lang="en-US" baseline="-25000" dirty="0"/>
                  <a:t>2</a:t>
                </a:r>
                <a:endParaRPr lang="en-US" dirty="0"/>
              </a:p>
              <a:p>
                <a:r>
                  <a:rPr lang="en-US" dirty="0"/>
                  <a:t>Corner cases: what happens with </a:t>
                </a:r>
                <a:r>
                  <a:rPr lang="en-US" i="1" dirty="0"/>
                  <a:t>R</a:t>
                </a:r>
                <a:r>
                  <a:rPr lang="en-US" baseline="-25000" dirty="0"/>
                  <a:t>GJ</a:t>
                </a:r>
                <a:r>
                  <a:rPr lang="en-US" dirty="0"/>
                  <a:t>=0? </a:t>
                </a:r>
                <a:r>
                  <a:rPr lang="en-US" i="1" dirty="0"/>
                  <a:t>R</a:t>
                </a:r>
                <a:r>
                  <a:rPr lang="en-US" baseline="-25000" dirty="0"/>
                  <a:t>GJ</a:t>
                </a:r>
                <a:r>
                  <a:rPr lang="en-US" dirty="0"/>
                  <a:t>=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dirty="0"/>
                  <a:t>?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10714E-4817-B4D7-1A9D-770E08A018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04512" y="1600217"/>
                <a:ext cx="4048598" cy="4290604"/>
              </a:xfrm>
              <a:blipFill>
                <a:blip r:embed="rId2"/>
                <a:stretch>
                  <a:fillRect l="-2711" t="-1565" r="-2108" b="-17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83ED54-58B5-F751-5AEF-CC04596EE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EE 123 Joel Grodstein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20AC92-258D-DCA2-3DE6-2AE629FBC0B3}"/>
              </a:ext>
            </a:extLst>
          </p:cNvPr>
          <p:cNvSpPr txBox="1"/>
          <p:nvPr/>
        </p:nvSpPr>
        <p:spPr>
          <a:xfrm>
            <a:off x="1716245" y="5583047"/>
            <a:ext cx="143148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dirty="0"/>
              <a:t>ECF (ground)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BAD3BE4-E826-3E21-5D56-7AAD8BBBB677}"/>
              </a:ext>
            </a:extLst>
          </p:cNvPr>
          <p:cNvSpPr txBox="1"/>
          <p:nvPr/>
        </p:nvSpPr>
        <p:spPr>
          <a:xfrm>
            <a:off x="1478610" y="2066070"/>
            <a:ext cx="41834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i="1" dirty="0"/>
              <a:t>V</a:t>
            </a:r>
            <a:r>
              <a:rPr lang="en-US" sz="2000" baseline="-25000" dirty="0"/>
              <a:t>3</a:t>
            </a:r>
            <a:endParaRPr lang="en-US" sz="20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4C4FAB4-C246-CF24-FB3B-0C22AF1904AA}"/>
              </a:ext>
            </a:extLst>
          </p:cNvPr>
          <p:cNvGrpSpPr/>
          <p:nvPr/>
        </p:nvGrpSpPr>
        <p:grpSpPr>
          <a:xfrm>
            <a:off x="290881" y="2457450"/>
            <a:ext cx="1857959" cy="3143250"/>
            <a:chOff x="988111" y="2457450"/>
            <a:chExt cx="1857959" cy="3143250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D419C4C-B0B2-8A48-6C4D-CE98B6D7C91E}"/>
                </a:ext>
              </a:extLst>
            </p:cNvPr>
            <p:cNvSpPr/>
            <p:nvPr/>
          </p:nvSpPr>
          <p:spPr>
            <a:xfrm>
              <a:off x="988111" y="2708910"/>
              <a:ext cx="1857959" cy="2599817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28DF2D6-A68C-060E-F100-5409D4196F83}"/>
                </a:ext>
              </a:extLst>
            </p:cNvPr>
            <p:cNvSpPr/>
            <p:nvPr/>
          </p:nvSpPr>
          <p:spPr>
            <a:xfrm>
              <a:off x="1318260" y="4568922"/>
              <a:ext cx="59002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i="1" dirty="0"/>
                <a:t>V</a:t>
              </a:r>
              <a:r>
                <a:rPr lang="en-US" baseline="-25000" dirty="0"/>
                <a:t>1</a:t>
              </a:r>
              <a:endParaRPr lang="en-US" i="1" dirty="0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ADC687C1-B6EF-48A3-0082-C90464282E77}"/>
                </a:ext>
              </a:extLst>
            </p:cNvPr>
            <p:cNvCxnSpPr>
              <a:cxnSpLocks/>
            </p:cNvCxnSpPr>
            <p:nvPr/>
          </p:nvCxnSpPr>
          <p:spPr>
            <a:xfrm>
              <a:off x="1940609" y="2457450"/>
              <a:ext cx="0" cy="985089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2206160-58A5-9FCF-8E2E-97B779A9FF7C}"/>
                </a:ext>
              </a:extLst>
            </p:cNvPr>
            <p:cNvSpPr txBox="1"/>
            <p:nvPr/>
          </p:nvSpPr>
          <p:spPr>
            <a:xfrm>
              <a:off x="1955852" y="4120300"/>
              <a:ext cx="270908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2000" dirty="0"/>
                <a:t>V</a:t>
              </a:r>
              <a:r>
                <a:rPr lang="en-US" sz="2000" baseline="-25000" dirty="0"/>
                <a:t>1</a:t>
              </a:r>
              <a:endParaRPr lang="en-US" sz="2000" dirty="0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EC0F0FC-A14D-040E-9ADD-500D1CBDE4E2}"/>
                </a:ext>
              </a:extLst>
            </p:cNvPr>
            <p:cNvCxnSpPr>
              <a:cxnSpLocks/>
            </p:cNvCxnSpPr>
            <p:nvPr/>
          </p:nvCxnSpPr>
          <p:spPr>
            <a:xfrm>
              <a:off x="1928044" y="4056817"/>
              <a:ext cx="0" cy="668066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248D8E9-8D69-0647-040A-9BCC26EE37B1}"/>
                </a:ext>
              </a:extLst>
            </p:cNvPr>
            <p:cNvCxnSpPr>
              <a:cxnSpLocks/>
            </p:cNvCxnSpPr>
            <p:nvPr/>
          </p:nvCxnSpPr>
          <p:spPr>
            <a:xfrm>
              <a:off x="1928044" y="4822627"/>
              <a:ext cx="0" cy="778073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D90B55E-B28D-5A4C-8837-D1A014C88D32}"/>
                </a:ext>
              </a:extLst>
            </p:cNvPr>
            <p:cNvGrpSpPr/>
            <p:nvPr/>
          </p:nvGrpSpPr>
          <p:grpSpPr>
            <a:xfrm flipV="1">
              <a:off x="1699444" y="4721028"/>
              <a:ext cx="457200" cy="101599"/>
              <a:chOff x="3088619" y="3223591"/>
              <a:chExt cx="457200" cy="101599"/>
            </a:xfrm>
          </p:grpSpPr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96744327-9505-DFFE-1FDF-0443B2810E2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88619" y="3223591"/>
                <a:ext cx="4572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4944702C-62C2-DA4C-92CF-03ED0F80696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90218" y="3325190"/>
                <a:ext cx="254003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1B96390-0D52-5D24-152D-1CA243FD36E1}"/>
                </a:ext>
              </a:extLst>
            </p:cNvPr>
            <p:cNvSpPr txBox="1"/>
            <p:nvPr/>
          </p:nvSpPr>
          <p:spPr>
            <a:xfrm>
              <a:off x="1596390" y="4365427"/>
              <a:ext cx="483870" cy="4572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+</a:t>
              </a: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3FB672AD-33AC-69F4-B67A-215E9383A9DE}"/>
                </a:ext>
              </a:extLst>
            </p:cNvPr>
            <p:cNvGrpSpPr/>
            <p:nvPr/>
          </p:nvGrpSpPr>
          <p:grpSpPr>
            <a:xfrm rot="5400000">
              <a:off x="1623244" y="3547801"/>
              <a:ext cx="609600" cy="408432"/>
              <a:chOff x="2590800" y="1592580"/>
              <a:chExt cx="609600" cy="408432"/>
            </a:xfrm>
          </p:grpSpPr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74ABC6D1-D616-3DCA-D050-F318F37551F1}"/>
                  </a:ext>
                </a:extLst>
              </p:cNvPr>
              <p:cNvCxnSpPr/>
              <p:nvPr/>
            </p:nvCxnSpPr>
            <p:spPr>
              <a:xfrm rot="5400000">
                <a:off x="3066288" y="1833372"/>
                <a:ext cx="192024" cy="762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4AA1175E-3330-D74F-245D-0A74F2503411}"/>
                  </a:ext>
                </a:extLst>
              </p:cNvPr>
              <p:cNvCxnSpPr/>
              <p:nvPr/>
            </p:nvCxnSpPr>
            <p:spPr>
              <a:xfrm rot="5400000" flipV="1">
                <a:off x="2857500" y="1734312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A4767E6E-96E4-252D-5951-29B461C7F382}"/>
                  </a:ext>
                </a:extLst>
              </p:cNvPr>
              <p:cNvCxnSpPr/>
              <p:nvPr/>
            </p:nvCxnSpPr>
            <p:spPr>
              <a:xfrm rot="5400000" flipH="1" flipV="1">
                <a:off x="2705100" y="17145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98CA9D7D-EEF2-4410-FDAF-4A4B68C0B8B8}"/>
                  </a:ext>
                </a:extLst>
              </p:cNvPr>
              <p:cNvCxnSpPr/>
              <p:nvPr/>
            </p:nvCxnSpPr>
            <p:spPr>
              <a:xfrm rot="5400000" flipV="1">
                <a:off x="2552700" y="17145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72E2D250-41D2-F929-8FBF-72194F6734BA}"/>
                  </a:ext>
                </a:extLst>
              </p:cNvPr>
              <p:cNvCxnSpPr/>
              <p:nvPr/>
            </p:nvCxnSpPr>
            <p:spPr>
              <a:xfrm rot="5400000">
                <a:off x="2532888" y="1650492"/>
                <a:ext cx="192024" cy="762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C37FF7AC-3F80-E76A-5568-69CCBCC368D4}"/>
                </a:ext>
              </a:extLst>
            </p:cNvPr>
            <p:cNvSpPr/>
            <p:nvPr/>
          </p:nvSpPr>
          <p:spPr>
            <a:xfrm>
              <a:off x="1347224" y="3532602"/>
              <a:ext cx="72489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i="1" dirty="0"/>
                <a:t>R</a:t>
              </a:r>
              <a:r>
                <a:rPr lang="en-US" baseline="-25000" dirty="0"/>
                <a:t>1</a:t>
              </a:r>
              <a:endParaRPr lang="en-US" i="1" dirty="0"/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35F6D8DA-B9D2-AD9D-DABE-671BD0776FFA}"/>
                </a:ext>
              </a:extLst>
            </p:cNvPr>
            <p:cNvGrpSpPr/>
            <p:nvPr/>
          </p:nvGrpSpPr>
          <p:grpSpPr>
            <a:xfrm>
              <a:off x="1163372" y="3512820"/>
              <a:ext cx="269188" cy="610994"/>
              <a:chOff x="489002" y="3512820"/>
              <a:chExt cx="269188" cy="610994"/>
            </a:xfrm>
          </p:grpSpPr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243B73A0-989F-A3AD-0D96-C45F66CC914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32523" y="3512820"/>
                <a:ext cx="0" cy="610994"/>
              </a:xfrm>
              <a:prstGeom prst="straightConnector1">
                <a:avLst/>
              </a:prstGeom>
              <a:ln w="28575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3D3E606-6EB9-88F6-0EE1-68FC9BF1F9AB}"/>
                  </a:ext>
                </a:extLst>
              </p:cNvPr>
              <p:cNvSpPr txBox="1"/>
              <p:nvPr/>
            </p:nvSpPr>
            <p:spPr>
              <a:xfrm>
                <a:off x="489002" y="3693580"/>
                <a:ext cx="269188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2000" i="1" dirty="0"/>
                  <a:t>i</a:t>
                </a:r>
                <a:r>
                  <a:rPr lang="en-US" sz="2000" baseline="-25000" dirty="0"/>
                  <a:t>1</a:t>
                </a:r>
                <a:endParaRPr lang="en-US" sz="2000" dirty="0"/>
              </a:p>
            </p:txBody>
          </p:sp>
        </p:grp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9E84E48-5EB6-F064-2743-014ECF6E48E3}"/>
              </a:ext>
            </a:extLst>
          </p:cNvPr>
          <p:cNvGrpSpPr/>
          <p:nvPr/>
        </p:nvGrpSpPr>
        <p:grpSpPr>
          <a:xfrm>
            <a:off x="2820721" y="2461260"/>
            <a:ext cx="1857959" cy="3143250"/>
            <a:chOff x="988111" y="2457450"/>
            <a:chExt cx="1857959" cy="314325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180B5A1C-9055-14FD-3DDE-F397220B405A}"/>
                </a:ext>
              </a:extLst>
            </p:cNvPr>
            <p:cNvSpPr/>
            <p:nvPr/>
          </p:nvSpPr>
          <p:spPr>
            <a:xfrm>
              <a:off x="988111" y="2708910"/>
              <a:ext cx="1857959" cy="2599817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9B08518B-572A-8EE0-3884-3F974F686AE4}"/>
                </a:ext>
              </a:extLst>
            </p:cNvPr>
            <p:cNvSpPr/>
            <p:nvPr/>
          </p:nvSpPr>
          <p:spPr>
            <a:xfrm>
              <a:off x="1318260" y="4568922"/>
              <a:ext cx="59002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i="1" dirty="0"/>
                <a:t>V</a:t>
              </a:r>
              <a:r>
                <a:rPr lang="en-US" baseline="-25000" dirty="0"/>
                <a:t>2</a:t>
              </a:r>
              <a:endParaRPr lang="en-US" i="1" dirty="0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880B3578-3D87-9592-CC87-A439CF6BD7D6}"/>
                </a:ext>
              </a:extLst>
            </p:cNvPr>
            <p:cNvCxnSpPr>
              <a:cxnSpLocks/>
            </p:cNvCxnSpPr>
            <p:nvPr/>
          </p:nvCxnSpPr>
          <p:spPr>
            <a:xfrm>
              <a:off x="1940609" y="2457450"/>
              <a:ext cx="0" cy="985089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91506019-58F2-02A1-1D61-06BE6ABDCE54}"/>
                </a:ext>
              </a:extLst>
            </p:cNvPr>
            <p:cNvSpPr txBox="1"/>
            <p:nvPr/>
          </p:nvSpPr>
          <p:spPr>
            <a:xfrm>
              <a:off x="1955852" y="4120300"/>
              <a:ext cx="242054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2000" i="1" dirty="0"/>
                <a:t>V</a:t>
              </a:r>
              <a:r>
                <a:rPr lang="en-US" sz="2000" baseline="-25000" dirty="0"/>
                <a:t>2</a:t>
              </a:r>
              <a:endParaRPr lang="en-US" sz="2000" dirty="0"/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4862AFE-4037-A12B-FB00-C7F7E43E1388}"/>
                </a:ext>
              </a:extLst>
            </p:cNvPr>
            <p:cNvCxnSpPr>
              <a:cxnSpLocks/>
            </p:cNvCxnSpPr>
            <p:nvPr/>
          </p:nvCxnSpPr>
          <p:spPr>
            <a:xfrm>
              <a:off x="1928044" y="4056817"/>
              <a:ext cx="0" cy="668066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F79E170-D63D-6CFF-807A-8B306542FC84}"/>
                </a:ext>
              </a:extLst>
            </p:cNvPr>
            <p:cNvCxnSpPr>
              <a:cxnSpLocks/>
            </p:cNvCxnSpPr>
            <p:nvPr/>
          </p:nvCxnSpPr>
          <p:spPr>
            <a:xfrm>
              <a:off x="1928044" y="4822627"/>
              <a:ext cx="0" cy="778073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EC729CFE-C1A5-2B4D-CBE7-09E4CA16E1B4}"/>
                </a:ext>
              </a:extLst>
            </p:cNvPr>
            <p:cNvGrpSpPr/>
            <p:nvPr/>
          </p:nvGrpSpPr>
          <p:grpSpPr>
            <a:xfrm flipV="1">
              <a:off x="1699444" y="4721028"/>
              <a:ext cx="457200" cy="101599"/>
              <a:chOff x="3088619" y="3223591"/>
              <a:chExt cx="457200" cy="101599"/>
            </a:xfrm>
          </p:grpSpPr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66FA297F-7CB0-D412-042C-D680B9B444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88619" y="3223591"/>
                <a:ext cx="4572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8E8A4C49-801D-4626-008C-8E03259D2F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90218" y="3325190"/>
                <a:ext cx="254003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685C774-CA14-6A0C-947D-923254CCDFBC}"/>
                </a:ext>
              </a:extLst>
            </p:cNvPr>
            <p:cNvSpPr txBox="1"/>
            <p:nvPr/>
          </p:nvSpPr>
          <p:spPr>
            <a:xfrm>
              <a:off x="1596390" y="4365427"/>
              <a:ext cx="483870" cy="4572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+</a:t>
              </a:r>
            </a:p>
          </p:txBody>
        </p: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F5E517A-4E92-9B16-3D0E-27942943B31D}"/>
                </a:ext>
              </a:extLst>
            </p:cNvPr>
            <p:cNvGrpSpPr/>
            <p:nvPr/>
          </p:nvGrpSpPr>
          <p:grpSpPr>
            <a:xfrm rot="5400000">
              <a:off x="1623244" y="3547801"/>
              <a:ext cx="609600" cy="408432"/>
              <a:chOff x="2590800" y="1592580"/>
              <a:chExt cx="609600" cy="408432"/>
            </a:xfrm>
          </p:grpSpPr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6FA7A008-FEB1-B86F-B6F1-84F9688A5A79}"/>
                  </a:ext>
                </a:extLst>
              </p:cNvPr>
              <p:cNvCxnSpPr/>
              <p:nvPr/>
            </p:nvCxnSpPr>
            <p:spPr>
              <a:xfrm rot="5400000">
                <a:off x="3066288" y="1833372"/>
                <a:ext cx="192024" cy="762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E87BA8B1-17C3-33D3-6AD4-939612CBB198}"/>
                  </a:ext>
                </a:extLst>
              </p:cNvPr>
              <p:cNvCxnSpPr/>
              <p:nvPr/>
            </p:nvCxnSpPr>
            <p:spPr>
              <a:xfrm rot="5400000" flipV="1">
                <a:off x="2857500" y="1734312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BB5693C6-93D4-E371-A47A-678881FCD61E}"/>
                  </a:ext>
                </a:extLst>
              </p:cNvPr>
              <p:cNvCxnSpPr/>
              <p:nvPr/>
            </p:nvCxnSpPr>
            <p:spPr>
              <a:xfrm rot="5400000" flipH="1" flipV="1">
                <a:off x="2705100" y="17145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226AFAA6-4C79-85AA-D3D4-CBD4AE56236D}"/>
                  </a:ext>
                </a:extLst>
              </p:cNvPr>
              <p:cNvCxnSpPr/>
              <p:nvPr/>
            </p:nvCxnSpPr>
            <p:spPr>
              <a:xfrm rot="5400000" flipV="1">
                <a:off x="2552700" y="17145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D7FDFC6B-6197-8A53-801E-47EA13FD4444}"/>
                  </a:ext>
                </a:extLst>
              </p:cNvPr>
              <p:cNvCxnSpPr/>
              <p:nvPr/>
            </p:nvCxnSpPr>
            <p:spPr>
              <a:xfrm rot="5400000">
                <a:off x="2532888" y="1650492"/>
                <a:ext cx="192024" cy="762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D14C35E8-7178-2AA7-030C-92FDB5C1F96D}"/>
                </a:ext>
              </a:extLst>
            </p:cNvPr>
            <p:cNvSpPr/>
            <p:nvPr/>
          </p:nvSpPr>
          <p:spPr>
            <a:xfrm>
              <a:off x="1347224" y="3532602"/>
              <a:ext cx="72489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i="1" dirty="0"/>
                <a:t>R</a:t>
              </a:r>
              <a:r>
                <a:rPr lang="en-US" baseline="-25000" dirty="0"/>
                <a:t>2</a:t>
              </a:r>
              <a:endParaRPr lang="en-US" i="1" dirty="0"/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439275FF-5368-2CE1-71DD-84FF74B333AA}"/>
                </a:ext>
              </a:extLst>
            </p:cNvPr>
            <p:cNvGrpSpPr/>
            <p:nvPr/>
          </p:nvGrpSpPr>
          <p:grpSpPr>
            <a:xfrm>
              <a:off x="1163372" y="3512820"/>
              <a:ext cx="269188" cy="610994"/>
              <a:chOff x="489002" y="3512820"/>
              <a:chExt cx="269188" cy="610994"/>
            </a:xfrm>
          </p:grpSpPr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AD73CD09-EFDC-DA30-A6CA-06DDFC0DB18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32523" y="3512820"/>
                <a:ext cx="0" cy="610994"/>
              </a:xfrm>
              <a:prstGeom prst="straightConnector1">
                <a:avLst/>
              </a:prstGeom>
              <a:ln w="28575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DB116FC-0CED-24E4-4081-6709BC96750D}"/>
                  </a:ext>
                </a:extLst>
              </p:cNvPr>
              <p:cNvSpPr txBox="1"/>
              <p:nvPr/>
            </p:nvSpPr>
            <p:spPr>
              <a:xfrm>
                <a:off x="489002" y="3693580"/>
                <a:ext cx="269188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2000" i="1" dirty="0"/>
                  <a:t>i</a:t>
                </a:r>
                <a:r>
                  <a:rPr lang="en-US" sz="2000" baseline="-25000" dirty="0"/>
                  <a:t>2</a:t>
                </a:r>
                <a:endParaRPr lang="en-US" sz="2000" dirty="0"/>
              </a:p>
            </p:txBody>
          </p:sp>
        </p:grp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1C645174-2F75-E4CE-A016-3A4576595CCE}"/>
              </a:ext>
            </a:extLst>
          </p:cNvPr>
          <p:cNvGrpSpPr/>
          <p:nvPr/>
        </p:nvGrpSpPr>
        <p:grpSpPr>
          <a:xfrm rot="10800000">
            <a:off x="2246763" y="2249448"/>
            <a:ext cx="609600" cy="408432"/>
            <a:chOff x="2590800" y="1592580"/>
            <a:chExt cx="609600" cy="408432"/>
          </a:xfrm>
        </p:grpSpPr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94D3D608-AD2B-3E9C-6D9D-8BC2229AF553}"/>
                </a:ext>
              </a:extLst>
            </p:cNvPr>
            <p:cNvCxnSpPr/>
            <p:nvPr/>
          </p:nvCxnSpPr>
          <p:spPr>
            <a:xfrm rot="5400000">
              <a:off x="3066288" y="1833372"/>
              <a:ext cx="192024" cy="762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989EB6CD-F18E-C565-5361-C8BCFD38A0E4}"/>
                </a:ext>
              </a:extLst>
            </p:cNvPr>
            <p:cNvCxnSpPr/>
            <p:nvPr/>
          </p:nvCxnSpPr>
          <p:spPr>
            <a:xfrm rot="5400000" flipV="1">
              <a:off x="2857500" y="1734312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5F77415-3684-D6C5-C3C5-7AF3BBB057BA}"/>
                </a:ext>
              </a:extLst>
            </p:cNvPr>
            <p:cNvCxnSpPr/>
            <p:nvPr/>
          </p:nvCxnSpPr>
          <p:spPr>
            <a:xfrm rot="5400000" flipH="1" flipV="1">
              <a:off x="2705100" y="17145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5E4A1C70-5C7F-D914-AE97-3C52550BBDB5}"/>
                </a:ext>
              </a:extLst>
            </p:cNvPr>
            <p:cNvCxnSpPr/>
            <p:nvPr/>
          </p:nvCxnSpPr>
          <p:spPr>
            <a:xfrm rot="5400000" flipV="1">
              <a:off x="2552700" y="17145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1B187073-D9D2-3483-DE8D-6F55BE86EE12}"/>
                </a:ext>
              </a:extLst>
            </p:cNvPr>
            <p:cNvCxnSpPr/>
            <p:nvPr/>
          </p:nvCxnSpPr>
          <p:spPr>
            <a:xfrm rot="5400000">
              <a:off x="2532888" y="1650492"/>
              <a:ext cx="192024" cy="762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" name="Rectangle 64">
            <a:extLst>
              <a:ext uri="{FF2B5EF4-FFF2-40B4-BE49-F238E27FC236}">
                <a16:creationId xmlns:a16="http://schemas.microsoft.com/office/drawing/2014/main" id="{4B8B44E2-C033-5C07-3631-D8E4B8DD33BE}"/>
              </a:ext>
            </a:extLst>
          </p:cNvPr>
          <p:cNvSpPr/>
          <p:nvPr/>
        </p:nvSpPr>
        <p:spPr>
          <a:xfrm>
            <a:off x="2176483" y="1822769"/>
            <a:ext cx="7248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/>
              <a:t>R</a:t>
            </a:r>
            <a:r>
              <a:rPr lang="en-US" baseline="-25000" dirty="0"/>
              <a:t>GJ</a:t>
            </a:r>
            <a:endParaRPr lang="en-US" i="1" dirty="0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71146C4D-9B0C-7179-DDF9-BD1B3083E1DB}"/>
              </a:ext>
            </a:extLst>
          </p:cNvPr>
          <p:cNvCxnSpPr>
            <a:cxnSpLocks/>
          </p:cNvCxnSpPr>
          <p:nvPr/>
        </p:nvCxnSpPr>
        <p:spPr>
          <a:xfrm>
            <a:off x="1245870" y="2454497"/>
            <a:ext cx="1000893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3007696F-D37D-CEFF-77A1-EB398165D26F}"/>
              </a:ext>
            </a:extLst>
          </p:cNvPr>
          <p:cNvCxnSpPr>
            <a:cxnSpLocks/>
          </p:cNvCxnSpPr>
          <p:nvPr/>
        </p:nvCxnSpPr>
        <p:spPr>
          <a:xfrm>
            <a:off x="2849880" y="2458307"/>
            <a:ext cx="910774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A3B47FD5-E88B-660B-BD97-BADB02E94684}"/>
              </a:ext>
            </a:extLst>
          </p:cNvPr>
          <p:cNvCxnSpPr>
            <a:cxnSpLocks/>
          </p:cNvCxnSpPr>
          <p:nvPr/>
        </p:nvCxnSpPr>
        <p:spPr>
          <a:xfrm>
            <a:off x="1238250" y="5590127"/>
            <a:ext cx="253459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A73081FE-E200-7EC5-0368-3FB5DC16371E}"/>
              </a:ext>
            </a:extLst>
          </p:cNvPr>
          <p:cNvSpPr txBox="1"/>
          <p:nvPr/>
        </p:nvSpPr>
        <p:spPr>
          <a:xfrm>
            <a:off x="3151200" y="2069880"/>
            <a:ext cx="41834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i="1" dirty="0"/>
              <a:t>V</a:t>
            </a:r>
            <a:r>
              <a:rPr lang="en-US" sz="2000" baseline="-25000" dirty="0"/>
              <a:t>4</a:t>
            </a:r>
            <a:endParaRPr lang="en-US" sz="2000" dirty="0"/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EBAC8918-381A-241C-E4AB-C1DDF9EA8309}"/>
              </a:ext>
            </a:extLst>
          </p:cNvPr>
          <p:cNvCxnSpPr>
            <a:cxnSpLocks/>
          </p:cNvCxnSpPr>
          <p:nvPr/>
        </p:nvCxnSpPr>
        <p:spPr>
          <a:xfrm rot="5400000" flipV="1">
            <a:off x="2526532" y="1589272"/>
            <a:ext cx="0" cy="610994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45168C09-BEE0-4C9A-03F3-B4A8FD6473B9}"/>
              </a:ext>
            </a:extLst>
          </p:cNvPr>
          <p:cNvSpPr txBox="1"/>
          <p:nvPr/>
        </p:nvSpPr>
        <p:spPr>
          <a:xfrm>
            <a:off x="2385646" y="1506223"/>
            <a:ext cx="26918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i="1" dirty="0"/>
              <a:t>i</a:t>
            </a:r>
            <a:r>
              <a:rPr lang="en-US" sz="2000" baseline="-25000" dirty="0"/>
              <a:t>3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552224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9B7E2-0AAF-B160-A8E3-99A1F8854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RC delay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ACD210-7A05-6837-3DFC-49D6FC144A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981683" y="1059179"/>
                <a:ext cx="3871435" cy="5295899"/>
              </a:xfrm>
            </p:spPr>
            <p:txBody>
              <a:bodyPr/>
              <a:lstStyle/>
              <a:p>
                <a:r>
                  <a:rPr lang="en-US" i="1" dirty="0"/>
                  <a:t>i</a:t>
                </a:r>
                <a:r>
                  <a:rPr lang="en-US" dirty="0"/>
                  <a:t>=(</a:t>
                </a:r>
                <a:r>
                  <a:rPr lang="en-US" i="1" dirty="0"/>
                  <a:t>V</a:t>
                </a:r>
                <a:r>
                  <a:rPr lang="en-US" baseline="-25000" dirty="0"/>
                  <a:t>1</a:t>
                </a:r>
                <a:r>
                  <a:rPr lang="en-US" dirty="0"/>
                  <a:t>-</a:t>
                </a:r>
                <a:r>
                  <a:rPr lang="en-US" i="1" dirty="0"/>
                  <a:t>V</a:t>
                </a:r>
                <a:r>
                  <a:rPr lang="en-US" baseline="-25000" dirty="0"/>
                  <a:t>2</a:t>
                </a:r>
                <a:r>
                  <a:rPr lang="en-US" dirty="0"/>
                  <a:t>)/</a:t>
                </a:r>
                <a:r>
                  <a:rPr lang="en-US" i="1" dirty="0" err="1"/>
                  <a:t>R</a:t>
                </a:r>
                <a:r>
                  <a:rPr lang="en-US" baseline="-25000" dirty="0" err="1"/>
                  <a:t>series</a:t>
                </a:r>
                <a:endParaRPr lang="en-US" dirty="0"/>
              </a:p>
              <a:p>
                <a:r>
                  <a:rPr lang="en-US" i="1" dirty="0"/>
                  <a:t>Q=C</a:t>
                </a:r>
                <a:r>
                  <a:rPr lang="en-US" baseline="-25000" dirty="0"/>
                  <a:t>mem</a:t>
                </a:r>
                <a:r>
                  <a:rPr lang="en-US" i="1" dirty="0"/>
                  <a:t>V</a:t>
                </a:r>
                <a:r>
                  <a:rPr lang="en-US" baseline="-25000" dirty="0"/>
                  <a:t>2</a:t>
                </a:r>
                <a:endParaRPr lang="en-US" i="1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𝑚𝑒𝑚</m:t>
                        </m:r>
                      </m:sub>
                    </m:sSub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𝑑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𝑑𝑡</m:t>
                        </m:r>
                      </m:den>
                    </m:f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𝑑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𝑑𝑡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𝑠𝑒𝑟𝑖𝑒𝑠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𝑚𝑒𝑚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Slowness of </a:t>
                </a:r>
                <a:r>
                  <a:rPr lang="en-US" i="1" dirty="0" err="1"/>
                  <a:t>V</a:t>
                </a:r>
                <a:r>
                  <a:rPr lang="en-US" baseline="-25000" dirty="0" err="1"/>
                  <a:t>mem</a:t>
                </a:r>
                <a:r>
                  <a:rPr lang="en-US" dirty="0"/>
                  <a:t> change is proportional to </a:t>
                </a:r>
                <a:r>
                  <a:rPr lang="en-US" i="1" dirty="0"/>
                  <a:t>RC</a:t>
                </a:r>
              </a:p>
              <a:p>
                <a:r>
                  <a:rPr lang="en-US" dirty="0"/>
                  <a:t>In general, RC is a measure of delay; it has units of time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ACD210-7A05-6837-3DFC-49D6FC144A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981683" y="1059179"/>
                <a:ext cx="3871435" cy="5295899"/>
              </a:xfrm>
              <a:blipFill>
                <a:blip r:embed="rId2"/>
                <a:stretch>
                  <a:fillRect l="-2835" t="-1267" r="-1260" b="-34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B1D66D-5841-9BB2-4E86-B368EFEFE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EE 123 Joel Grodstein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5A6078-4520-F91A-5023-86BAB8A765D9}"/>
              </a:ext>
            </a:extLst>
          </p:cNvPr>
          <p:cNvSpPr txBox="1"/>
          <p:nvPr/>
        </p:nvSpPr>
        <p:spPr>
          <a:xfrm>
            <a:off x="1716245" y="5583047"/>
            <a:ext cx="143148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dirty="0"/>
              <a:t>ECF (ground)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8A302D9-4DA1-11DD-B0AE-757EAF4FD8F2}"/>
              </a:ext>
            </a:extLst>
          </p:cNvPr>
          <p:cNvSpPr/>
          <p:nvPr/>
        </p:nvSpPr>
        <p:spPr>
          <a:xfrm>
            <a:off x="290881" y="2708910"/>
            <a:ext cx="1857959" cy="2599817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17B24E-64FD-44C2-44FB-1495B3E041B8}"/>
              </a:ext>
            </a:extLst>
          </p:cNvPr>
          <p:cNvSpPr/>
          <p:nvPr/>
        </p:nvSpPr>
        <p:spPr>
          <a:xfrm>
            <a:off x="621030" y="4568922"/>
            <a:ext cx="5900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/>
              <a:t>V</a:t>
            </a:r>
            <a:r>
              <a:rPr lang="en-US" baseline="-25000" dirty="0"/>
              <a:t>1</a:t>
            </a:r>
            <a:endParaRPr lang="en-US" i="1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53BBB5D-31F1-2BBC-0BAF-3FD6A55C4382}"/>
              </a:ext>
            </a:extLst>
          </p:cNvPr>
          <p:cNvCxnSpPr>
            <a:cxnSpLocks/>
          </p:cNvCxnSpPr>
          <p:nvPr/>
        </p:nvCxnSpPr>
        <p:spPr>
          <a:xfrm>
            <a:off x="1243379" y="2457450"/>
            <a:ext cx="0" cy="2263578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6C5EDAC-3652-1768-E621-8186E803C722}"/>
              </a:ext>
            </a:extLst>
          </p:cNvPr>
          <p:cNvSpPr txBox="1"/>
          <p:nvPr/>
        </p:nvSpPr>
        <p:spPr>
          <a:xfrm>
            <a:off x="1258622" y="4120300"/>
            <a:ext cx="242054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i="1" dirty="0"/>
              <a:t>V</a:t>
            </a:r>
            <a:r>
              <a:rPr lang="en-US" sz="2000" baseline="-25000" dirty="0"/>
              <a:t>1</a:t>
            </a:r>
            <a:endParaRPr lang="en-US" sz="20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14E487C-FE65-70C7-501A-54D7D88E6C21}"/>
              </a:ext>
            </a:extLst>
          </p:cNvPr>
          <p:cNvCxnSpPr>
            <a:cxnSpLocks/>
          </p:cNvCxnSpPr>
          <p:nvPr/>
        </p:nvCxnSpPr>
        <p:spPr>
          <a:xfrm>
            <a:off x="1230814" y="4822627"/>
            <a:ext cx="0" cy="778073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2D2FC34-F86E-BAD1-689E-0F3AC2025B94}"/>
              </a:ext>
            </a:extLst>
          </p:cNvPr>
          <p:cNvGrpSpPr/>
          <p:nvPr/>
        </p:nvGrpSpPr>
        <p:grpSpPr>
          <a:xfrm flipV="1">
            <a:off x="1002214" y="4721028"/>
            <a:ext cx="457200" cy="101599"/>
            <a:chOff x="3088619" y="3223591"/>
            <a:chExt cx="457200" cy="101599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9506EB90-205B-981C-7B1F-3869F4D60939}"/>
                </a:ext>
              </a:extLst>
            </p:cNvPr>
            <p:cNvCxnSpPr>
              <a:cxnSpLocks/>
            </p:cNvCxnSpPr>
            <p:nvPr/>
          </p:nvCxnSpPr>
          <p:spPr>
            <a:xfrm>
              <a:off x="3088619" y="3223591"/>
              <a:ext cx="45720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F0A122C-9D03-7CF7-1BFA-6D81C9AC8B03}"/>
                </a:ext>
              </a:extLst>
            </p:cNvPr>
            <p:cNvCxnSpPr>
              <a:cxnSpLocks/>
            </p:cNvCxnSpPr>
            <p:nvPr/>
          </p:nvCxnSpPr>
          <p:spPr>
            <a:xfrm>
              <a:off x="3190218" y="3325190"/>
              <a:ext cx="254003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0A43B471-231A-01F4-724C-BDEBBB0F451E}"/>
              </a:ext>
            </a:extLst>
          </p:cNvPr>
          <p:cNvSpPr txBox="1"/>
          <p:nvPr/>
        </p:nvSpPr>
        <p:spPr>
          <a:xfrm>
            <a:off x="899160" y="4365427"/>
            <a:ext cx="48387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1ECFEFA-B611-8996-A066-605CDB51F0E2}"/>
              </a:ext>
            </a:extLst>
          </p:cNvPr>
          <p:cNvSpPr/>
          <p:nvPr/>
        </p:nvSpPr>
        <p:spPr>
          <a:xfrm>
            <a:off x="2820721" y="2712720"/>
            <a:ext cx="1857959" cy="2599817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028E8E6-CB27-8615-91CF-8D1CE292406A}"/>
              </a:ext>
            </a:extLst>
          </p:cNvPr>
          <p:cNvSpPr/>
          <p:nvPr/>
        </p:nvSpPr>
        <p:spPr>
          <a:xfrm>
            <a:off x="3253740" y="3498312"/>
            <a:ext cx="5900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/>
              <a:t>C</a:t>
            </a:r>
            <a:r>
              <a:rPr lang="en-US" baseline="-25000" dirty="0"/>
              <a:t>m</a:t>
            </a:r>
            <a:endParaRPr lang="en-US" i="1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35D67AA-949B-7AE0-0D02-A7B8F1E53BD0}"/>
              </a:ext>
            </a:extLst>
          </p:cNvPr>
          <p:cNvCxnSpPr>
            <a:cxnSpLocks/>
          </p:cNvCxnSpPr>
          <p:nvPr/>
        </p:nvCxnSpPr>
        <p:spPr>
          <a:xfrm>
            <a:off x="3749700" y="2461260"/>
            <a:ext cx="0" cy="1540097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A076CC1-7F3F-DA2F-FE99-27D59F0CC4E3}"/>
              </a:ext>
            </a:extLst>
          </p:cNvPr>
          <p:cNvCxnSpPr>
            <a:cxnSpLocks/>
          </p:cNvCxnSpPr>
          <p:nvPr/>
        </p:nvCxnSpPr>
        <p:spPr>
          <a:xfrm>
            <a:off x="3749700" y="4197787"/>
            <a:ext cx="0" cy="1406723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92458619-6CAB-3947-C58A-AE1E986A0327}"/>
              </a:ext>
            </a:extLst>
          </p:cNvPr>
          <p:cNvCxnSpPr>
            <a:cxnSpLocks/>
          </p:cNvCxnSpPr>
          <p:nvPr/>
        </p:nvCxnSpPr>
        <p:spPr>
          <a:xfrm flipV="1">
            <a:off x="3521100" y="4197787"/>
            <a:ext cx="457200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4F9C909-B6CE-FC06-EA14-BAC1605F207A}"/>
              </a:ext>
            </a:extLst>
          </p:cNvPr>
          <p:cNvGrpSpPr/>
          <p:nvPr/>
        </p:nvGrpSpPr>
        <p:grpSpPr>
          <a:xfrm rot="10800000">
            <a:off x="2246763" y="2249448"/>
            <a:ext cx="609600" cy="408432"/>
            <a:chOff x="2590800" y="1592580"/>
            <a:chExt cx="609600" cy="408432"/>
          </a:xfrm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70FC75C3-DA1F-65C2-4045-D2289177A517}"/>
                </a:ext>
              </a:extLst>
            </p:cNvPr>
            <p:cNvCxnSpPr/>
            <p:nvPr/>
          </p:nvCxnSpPr>
          <p:spPr>
            <a:xfrm rot="5400000">
              <a:off x="3066288" y="1833372"/>
              <a:ext cx="192024" cy="762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1177727C-8725-EC4C-AFCF-9B2A15C13FDA}"/>
                </a:ext>
              </a:extLst>
            </p:cNvPr>
            <p:cNvCxnSpPr/>
            <p:nvPr/>
          </p:nvCxnSpPr>
          <p:spPr>
            <a:xfrm rot="5400000" flipV="1">
              <a:off x="2857500" y="1734312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10A6F61A-BC08-9231-AA81-B67397D69189}"/>
                </a:ext>
              </a:extLst>
            </p:cNvPr>
            <p:cNvCxnSpPr/>
            <p:nvPr/>
          </p:nvCxnSpPr>
          <p:spPr>
            <a:xfrm rot="5400000" flipH="1" flipV="1">
              <a:off x="2705100" y="17145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0ECCFE1A-561F-DEC8-830B-B0F8DA9275CA}"/>
                </a:ext>
              </a:extLst>
            </p:cNvPr>
            <p:cNvCxnSpPr/>
            <p:nvPr/>
          </p:nvCxnSpPr>
          <p:spPr>
            <a:xfrm rot="5400000" flipV="1">
              <a:off x="2552700" y="17145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7072202-6A0B-5BA2-9131-C1031969D16D}"/>
                </a:ext>
              </a:extLst>
            </p:cNvPr>
            <p:cNvCxnSpPr/>
            <p:nvPr/>
          </p:nvCxnSpPr>
          <p:spPr>
            <a:xfrm rot="5400000">
              <a:off x="2532888" y="1650492"/>
              <a:ext cx="192024" cy="762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Rectangle 54">
            <a:extLst>
              <a:ext uri="{FF2B5EF4-FFF2-40B4-BE49-F238E27FC236}">
                <a16:creationId xmlns:a16="http://schemas.microsoft.com/office/drawing/2014/main" id="{C4234767-D03C-9408-8FA0-2AA491A9129D}"/>
              </a:ext>
            </a:extLst>
          </p:cNvPr>
          <p:cNvSpPr/>
          <p:nvPr/>
        </p:nvSpPr>
        <p:spPr>
          <a:xfrm>
            <a:off x="2176482" y="1822769"/>
            <a:ext cx="91076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 err="1"/>
              <a:t>R</a:t>
            </a:r>
            <a:r>
              <a:rPr lang="en-US" baseline="-25000" dirty="0" err="1"/>
              <a:t>series</a:t>
            </a:r>
            <a:endParaRPr lang="en-US" dirty="0"/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CB6B308B-5068-D09B-DA5E-40206BD6DF06}"/>
              </a:ext>
            </a:extLst>
          </p:cNvPr>
          <p:cNvCxnSpPr>
            <a:cxnSpLocks/>
          </p:cNvCxnSpPr>
          <p:nvPr/>
        </p:nvCxnSpPr>
        <p:spPr>
          <a:xfrm>
            <a:off x="1245870" y="2454497"/>
            <a:ext cx="1000893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8900DD66-739F-23CB-A796-1B82F4F09875}"/>
              </a:ext>
            </a:extLst>
          </p:cNvPr>
          <p:cNvCxnSpPr>
            <a:cxnSpLocks/>
          </p:cNvCxnSpPr>
          <p:nvPr/>
        </p:nvCxnSpPr>
        <p:spPr>
          <a:xfrm>
            <a:off x="2849880" y="2458307"/>
            <a:ext cx="910774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FCE951DB-85DF-CA7C-CAC5-BF61B7811A92}"/>
              </a:ext>
            </a:extLst>
          </p:cNvPr>
          <p:cNvCxnSpPr>
            <a:cxnSpLocks/>
          </p:cNvCxnSpPr>
          <p:nvPr/>
        </p:nvCxnSpPr>
        <p:spPr>
          <a:xfrm>
            <a:off x="1238250" y="5590127"/>
            <a:ext cx="253459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4863A96B-9EE6-7C16-97C0-99DB45672774}"/>
              </a:ext>
            </a:extLst>
          </p:cNvPr>
          <p:cNvCxnSpPr>
            <a:cxnSpLocks/>
          </p:cNvCxnSpPr>
          <p:nvPr/>
        </p:nvCxnSpPr>
        <p:spPr>
          <a:xfrm rot="5400000" flipV="1">
            <a:off x="2526532" y="1589272"/>
            <a:ext cx="0" cy="610994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DCBF289C-BAAA-091E-B9A3-B4E4EF63DCDC}"/>
              </a:ext>
            </a:extLst>
          </p:cNvPr>
          <p:cNvSpPr txBox="1"/>
          <p:nvPr/>
        </p:nvSpPr>
        <p:spPr>
          <a:xfrm>
            <a:off x="2385646" y="1506223"/>
            <a:ext cx="26918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i="1" dirty="0" err="1"/>
              <a:t>i</a:t>
            </a:r>
            <a:endParaRPr lang="en-US" sz="2000" i="1" dirty="0"/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5E092B93-702E-7215-FECF-55F0A3775039}"/>
              </a:ext>
            </a:extLst>
          </p:cNvPr>
          <p:cNvCxnSpPr>
            <a:cxnSpLocks/>
          </p:cNvCxnSpPr>
          <p:nvPr/>
        </p:nvCxnSpPr>
        <p:spPr>
          <a:xfrm flipV="1">
            <a:off x="3521100" y="4018717"/>
            <a:ext cx="457200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F375C6B3-F3BE-4841-AFD3-9DC45DB6BAB4}"/>
              </a:ext>
            </a:extLst>
          </p:cNvPr>
          <p:cNvSpPr txBox="1"/>
          <p:nvPr/>
        </p:nvSpPr>
        <p:spPr>
          <a:xfrm>
            <a:off x="3811322" y="3255430"/>
            <a:ext cx="242054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i="1" dirty="0"/>
              <a:t>V</a:t>
            </a:r>
            <a:r>
              <a:rPr lang="en-US" sz="2000" baseline="-25000" dirty="0"/>
              <a:t>2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60888918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Custom 4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3333CC"/>
      </a:hlink>
      <a:folHlink>
        <a:srgbClr val="7030A0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28575">
          <a:solidFill>
            <a:schemeClr val="accent2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45144</TotalTime>
  <Words>1854</Words>
  <Application>Microsoft Office PowerPoint</Application>
  <PresentationFormat>On-screen Show (4:3)</PresentationFormat>
  <Paragraphs>414</Paragraphs>
  <Slides>25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Cambria Math</vt:lpstr>
      <vt:lpstr>Symbol</vt:lpstr>
      <vt:lpstr>Times New Roman</vt:lpstr>
      <vt:lpstr>Wingdings</vt:lpstr>
      <vt:lpstr>Default Design</vt:lpstr>
      <vt:lpstr>EE 123 Bioelectricity</vt:lpstr>
      <vt:lpstr>What we’ll cover</vt:lpstr>
      <vt:lpstr>Voltage, current and resistance</vt:lpstr>
      <vt:lpstr>Kirchoff’s Voltage Law</vt:lpstr>
      <vt:lpstr>Kirchoff’s Voltage Law</vt:lpstr>
      <vt:lpstr>Kirchoff’s Voltage Law</vt:lpstr>
      <vt:lpstr>Ohm’s Law</vt:lpstr>
      <vt:lpstr>Ohm’s Law</vt:lpstr>
      <vt:lpstr>Kirchoff’s current law</vt:lpstr>
      <vt:lpstr>KCL example #2 </vt:lpstr>
      <vt:lpstr>KCL example #3 </vt:lpstr>
      <vt:lpstr>Minor new definition</vt:lpstr>
      <vt:lpstr>Solve for i1, i2 </vt:lpstr>
      <vt:lpstr>Solve for V3</vt:lpstr>
      <vt:lpstr>Intuition for cell-like circuits</vt:lpstr>
      <vt:lpstr>Intuition for cell-like circuits</vt:lpstr>
      <vt:lpstr>Time for the intuition</vt:lpstr>
      <vt:lpstr>Capacitance (prep for QSS lab)</vt:lpstr>
      <vt:lpstr>Add the membrane capacitor</vt:lpstr>
      <vt:lpstr>What value will Vmem settle to?</vt:lpstr>
      <vt:lpstr>Interconnected cells</vt:lpstr>
      <vt:lpstr>Multicellular model</vt:lpstr>
      <vt:lpstr>Thevenin equivalent circuit</vt:lpstr>
      <vt:lpstr>Two-cell circuit</vt:lpstr>
      <vt:lpstr>RC delay</vt:lpstr>
    </vt:vector>
  </TitlesOfParts>
  <Company>Drexel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Computing with biological parts</dc:title>
  <dc:creator>JoelG</dc:creator>
  <cp:lastModifiedBy>Joel Grodstein</cp:lastModifiedBy>
  <cp:revision>1382</cp:revision>
  <cp:lastPrinted>2005-02-07T17:53:54Z</cp:lastPrinted>
  <dcterms:created xsi:type="dcterms:W3CDTF">2002-09-07T18:50:54Z</dcterms:created>
  <dcterms:modified xsi:type="dcterms:W3CDTF">2026-09-22T14:40:29Z</dcterms:modified>
</cp:coreProperties>
</file>