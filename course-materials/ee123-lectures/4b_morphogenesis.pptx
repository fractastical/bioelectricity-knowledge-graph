
<file path=[Content_Types].xml><?xml version="1.0" encoding="utf-8"?>
<Types xmlns="http://schemas.openxmlformats.org/package/2006/content-types">
  <Default Extension="gif" ContentType="image/gi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5"/>
  </p:notesMasterIdLst>
  <p:handoutMasterIdLst>
    <p:handoutMasterId r:id="rId56"/>
  </p:handoutMasterIdLst>
  <p:sldIdLst>
    <p:sldId id="328" r:id="rId2"/>
    <p:sldId id="832" r:id="rId3"/>
    <p:sldId id="796" r:id="rId4"/>
    <p:sldId id="771" r:id="rId5"/>
    <p:sldId id="772" r:id="rId6"/>
    <p:sldId id="736" r:id="rId7"/>
    <p:sldId id="799" r:id="rId8"/>
    <p:sldId id="739" r:id="rId9"/>
    <p:sldId id="749" r:id="rId10"/>
    <p:sldId id="797" r:id="rId11"/>
    <p:sldId id="789" r:id="rId12"/>
    <p:sldId id="750" r:id="rId13"/>
    <p:sldId id="761" r:id="rId14"/>
    <p:sldId id="779" r:id="rId15"/>
    <p:sldId id="780" r:id="rId16"/>
    <p:sldId id="781" r:id="rId17"/>
    <p:sldId id="782" r:id="rId18"/>
    <p:sldId id="801" r:id="rId19"/>
    <p:sldId id="834" r:id="rId20"/>
    <p:sldId id="766" r:id="rId21"/>
    <p:sldId id="741" r:id="rId22"/>
    <p:sldId id="743" r:id="rId23"/>
    <p:sldId id="836" r:id="rId24"/>
    <p:sldId id="785" r:id="rId25"/>
    <p:sldId id="756" r:id="rId26"/>
    <p:sldId id="835" r:id="rId27"/>
    <p:sldId id="744" r:id="rId28"/>
    <p:sldId id="776" r:id="rId29"/>
    <p:sldId id="745" r:id="rId30"/>
    <p:sldId id="775" r:id="rId31"/>
    <p:sldId id="759" r:id="rId32"/>
    <p:sldId id="833" r:id="rId33"/>
    <p:sldId id="764" r:id="rId34"/>
    <p:sldId id="792" r:id="rId35"/>
    <p:sldId id="751" r:id="rId36"/>
    <p:sldId id="787" r:id="rId37"/>
    <p:sldId id="809" r:id="rId38"/>
    <p:sldId id="798" r:id="rId39"/>
    <p:sldId id="794" r:id="rId40"/>
    <p:sldId id="800" r:id="rId41"/>
    <p:sldId id="804" r:id="rId42"/>
    <p:sldId id="762" r:id="rId43"/>
    <p:sldId id="788" r:id="rId44"/>
    <p:sldId id="747" r:id="rId45"/>
    <p:sldId id="740" r:id="rId46"/>
    <p:sldId id="742" r:id="rId47"/>
    <p:sldId id="808" r:id="rId48"/>
    <p:sldId id="748" r:id="rId49"/>
    <p:sldId id="760" r:id="rId50"/>
    <p:sldId id="778" r:id="rId51"/>
    <p:sldId id="805" r:id="rId52"/>
    <p:sldId id="777" r:id="rId53"/>
    <p:sldId id="786" r:id="rId54"/>
  </p:sldIdLst>
  <p:sldSz cx="9144000" cy="6858000" type="screen4x3"/>
  <p:notesSz cx="9296400" cy="7010400"/>
  <p:defaultTextStyle>
    <a:defPPr>
      <a:defRPr lang="en-US"/>
    </a:defPPr>
    <a:lvl1pPr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Arial" panose="020B0604020202020204" pitchFamily="34" charset="0"/>
      </a:defRPr>
    </a:lvl1pPr>
    <a:lvl2pPr marL="4572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Arial" panose="020B0604020202020204" pitchFamily="34" charset="0"/>
      </a:defRPr>
    </a:lvl2pPr>
    <a:lvl3pPr marL="9144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Arial" panose="020B0604020202020204" pitchFamily="34" charset="0"/>
      </a:defRPr>
    </a:lvl3pPr>
    <a:lvl4pPr marL="13716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Arial" panose="020B0604020202020204" pitchFamily="34" charset="0"/>
      </a:defRPr>
    </a:lvl4pPr>
    <a:lvl5pPr marL="18288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Arial" panose="020B0604020202020204" pitchFamily="34" charset="0"/>
      </a:defRPr>
    </a:lvl5pPr>
    <a:lvl6pPr marL="2286000" algn="l" defTabSz="914400" rtl="0" eaLnBrk="1" latinLnBrk="0" hangingPunct="1">
      <a:defRPr sz="2400" kern="1200">
        <a:solidFill>
          <a:schemeClr val="tx1"/>
        </a:solidFill>
        <a:latin typeface="Times New Roman" panose="02020603050405020304" pitchFamily="18" charset="0"/>
        <a:ea typeface="+mn-ea"/>
        <a:cs typeface="Arial" panose="020B0604020202020204" pitchFamily="34" charset="0"/>
      </a:defRPr>
    </a:lvl6pPr>
    <a:lvl7pPr marL="2743200" algn="l" defTabSz="914400" rtl="0" eaLnBrk="1" latinLnBrk="0" hangingPunct="1">
      <a:defRPr sz="2400" kern="1200">
        <a:solidFill>
          <a:schemeClr val="tx1"/>
        </a:solidFill>
        <a:latin typeface="Times New Roman" panose="02020603050405020304" pitchFamily="18" charset="0"/>
        <a:ea typeface="+mn-ea"/>
        <a:cs typeface="Arial" panose="020B0604020202020204" pitchFamily="34" charset="0"/>
      </a:defRPr>
    </a:lvl7pPr>
    <a:lvl8pPr marL="3200400" algn="l" defTabSz="914400" rtl="0" eaLnBrk="1" latinLnBrk="0" hangingPunct="1">
      <a:defRPr sz="2400" kern="1200">
        <a:solidFill>
          <a:schemeClr val="tx1"/>
        </a:solidFill>
        <a:latin typeface="Times New Roman" panose="02020603050405020304" pitchFamily="18" charset="0"/>
        <a:ea typeface="+mn-ea"/>
        <a:cs typeface="Arial" panose="020B0604020202020204" pitchFamily="34" charset="0"/>
      </a:defRPr>
    </a:lvl8pPr>
    <a:lvl9pPr marL="3657600" algn="l" defTabSz="914400" rtl="0" eaLnBrk="1" latinLnBrk="0" hangingPunct="1">
      <a:defRPr sz="2400" kern="1200">
        <a:solidFill>
          <a:schemeClr val="tx1"/>
        </a:solidFill>
        <a:latin typeface="Times New Roman" panose="02020603050405020304" pitchFamily="18" charset="0"/>
        <a:ea typeface="+mn-ea"/>
        <a:cs typeface="Arial" panose="020B0604020202020204" pitchFamily="34" charset="0"/>
      </a:defRPr>
    </a:lvl9pPr>
  </p:defaultTextStyle>
  <p:extLst>
    <p:ext uri="{521415D9-36F7-43E2-AB2F-B90AF26B5E84}">
      <p14:sectionLst xmlns:p14="http://schemas.microsoft.com/office/powerpoint/2010/main">
        <p14:section name="Default Section" id="{02658ED4-02B7-407F-B04E-0B16F0BB8C04}">
          <p14:sldIdLst>
            <p14:sldId id="328"/>
            <p14:sldId id="832"/>
            <p14:sldId id="796"/>
            <p14:sldId id="771"/>
            <p14:sldId id="772"/>
            <p14:sldId id="736"/>
            <p14:sldId id="799"/>
            <p14:sldId id="739"/>
            <p14:sldId id="749"/>
            <p14:sldId id="797"/>
            <p14:sldId id="789"/>
            <p14:sldId id="750"/>
            <p14:sldId id="761"/>
            <p14:sldId id="779"/>
            <p14:sldId id="780"/>
            <p14:sldId id="781"/>
            <p14:sldId id="782"/>
            <p14:sldId id="801"/>
            <p14:sldId id="834"/>
            <p14:sldId id="766"/>
            <p14:sldId id="741"/>
            <p14:sldId id="743"/>
            <p14:sldId id="836"/>
            <p14:sldId id="785"/>
            <p14:sldId id="756"/>
            <p14:sldId id="835"/>
            <p14:sldId id="744"/>
            <p14:sldId id="776"/>
            <p14:sldId id="745"/>
            <p14:sldId id="775"/>
            <p14:sldId id="759"/>
            <p14:sldId id="833"/>
            <p14:sldId id="764"/>
            <p14:sldId id="792"/>
            <p14:sldId id="751"/>
            <p14:sldId id="787"/>
            <p14:sldId id="809"/>
            <p14:sldId id="798"/>
            <p14:sldId id="794"/>
            <p14:sldId id="800"/>
            <p14:sldId id="804"/>
            <p14:sldId id="762"/>
            <p14:sldId id="788"/>
            <p14:sldId id="747"/>
            <p14:sldId id="740"/>
            <p14:sldId id="742"/>
            <p14:sldId id="808"/>
            <p14:sldId id="748"/>
            <p14:sldId id="760"/>
            <p14:sldId id="778"/>
            <p14:sldId id="805"/>
            <p14:sldId id="777"/>
            <p14:sldId id="786"/>
          </p14:sldIdLst>
        </p14:section>
      </p14:sectionLst>
    </p:ex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006600"/>
    <a:srgbClr val="F1B283"/>
    <a:srgbClr val="008000"/>
    <a:srgbClr val="FFFF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919" autoAdjust="0"/>
    <p:restoredTop sz="83934" autoAdjust="0"/>
  </p:normalViewPr>
  <p:slideViewPr>
    <p:cSldViewPr snapToGrid="0">
      <p:cViewPr varScale="1">
        <p:scale>
          <a:sx n="131" d="100"/>
          <a:sy n="131" d="100"/>
        </p:scale>
        <p:origin x="2016" y="12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varScale="1">
      <p:scale>
        <a:sx n="100" d="100"/>
        <a:sy n="100" d="100"/>
      </p:scale>
      <p:origin x="0" y="0"/>
    </p:cViewPr>
  </p:sorterViewPr>
  <p:gridSpacing cx="38100" cy="381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notesMaster" Target="notesMasters/notes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viewProps" Target="viewProps.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handoutMaster" Target="handoutMasters/handoutMaster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presProps" Target="pres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9634" name="Rectangle 2"/>
          <p:cNvSpPr>
            <a:spLocks noGrp="1" noChangeArrowheads="1"/>
          </p:cNvSpPr>
          <p:nvPr>
            <p:ph type="hdr" sz="quarter"/>
          </p:nvPr>
        </p:nvSpPr>
        <p:spPr bwMode="auto">
          <a:xfrm>
            <a:off x="0" y="0"/>
            <a:ext cx="4028844" cy="348898"/>
          </a:xfrm>
          <a:prstGeom prst="rect">
            <a:avLst/>
          </a:prstGeom>
          <a:noFill/>
          <a:ln w="9525">
            <a:noFill/>
            <a:miter lim="800000"/>
            <a:headEnd/>
            <a:tailEnd/>
          </a:ln>
          <a:effectLst/>
        </p:spPr>
        <p:txBody>
          <a:bodyPr vert="horz" wrap="square" lIns="93117" tIns="46561" rIns="93117" bIns="46561" numCol="1" anchor="t" anchorCtr="0" compatLnSpc="1">
            <a:prstTxWarp prst="textNoShape">
              <a:avLst/>
            </a:prstTxWarp>
          </a:bodyPr>
          <a:lstStyle>
            <a:lvl1pPr defTabSz="931939" eaLnBrk="1" hangingPunct="1">
              <a:defRPr sz="1300">
                <a:cs typeface="+mn-cs"/>
              </a:defRPr>
            </a:lvl1pPr>
          </a:lstStyle>
          <a:p>
            <a:pPr>
              <a:defRPr/>
            </a:pPr>
            <a:endParaRPr lang="en-US"/>
          </a:p>
        </p:txBody>
      </p:sp>
      <p:sp>
        <p:nvSpPr>
          <p:cNvPr id="69635" name="Rectangle 3"/>
          <p:cNvSpPr>
            <a:spLocks noGrp="1" noChangeArrowheads="1"/>
          </p:cNvSpPr>
          <p:nvPr>
            <p:ph type="dt" sz="quarter" idx="1"/>
          </p:nvPr>
        </p:nvSpPr>
        <p:spPr bwMode="auto">
          <a:xfrm>
            <a:off x="5267558" y="0"/>
            <a:ext cx="4028843" cy="348898"/>
          </a:xfrm>
          <a:prstGeom prst="rect">
            <a:avLst/>
          </a:prstGeom>
          <a:noFill/>
          <a:ln w="9525">
            <a:noFill/>
            <a:miter lim="800000"/>
            <a:headEnd/>
            <a:tailEnd/>
          </a:ln>
          <a:effectLst/>
        </p:spPr>
        <p:txBody>
          <a:bodyPr vert="horz" wrap="square" lIns="93117" tIns="46561" rIns="93117" bIns="46561" numCol="1" anchor="t" anchorCtr="0" compatLnSpc="1">
            <a:prstTxWarp prst="textNoShape">
              <a:avLst/>
            </a:prstTxWarp>
          </a:bodyPr>
          <a:lstStyle>
            <a:lvl1pPr algn="r" defTabSz="931939" eaLnBrk="1" hangingPunct="1">
              <a:defRPr sz="1300">
                <a:cs typeface="+mn-cs"/>
              </a:defRPr>
            </a:lvl1pPr>
          </a:lstStyle>
          <a:p>
            <a:pPr>
              <a:defRPr/>
            </a:pPr>
            <a:endParaRPr lang="en-US"/>
          </a:p>
        </p:txBody>
      </p:sp>
      <p:sp>
        <p:nvSpPr>
          <p:cNvPr id="69636" name="Rectangle 4"/>
          <p:cNvSpPr>
            <a:spLocks noGrp="1" noChangeArrowheads="1"/>
          </p:cNvSpPr>
          <p:nvPr>
            <p:ph type="ftr" sz="quarter" idx="2"/>
          </p:nvPr>
        </p:nvSpPr>
        <p:spPr bwMode="auto">
          <a:xfrm>
            <a:off x="0" y="6661503"/>
            <a:ext cx="4028844" cy="348897"/>
          </a:xfrm>
          <a:prstGeom prst="rect">
            <a:avLst/>
          </a:prstGeom>
          <a:noFill/>
          <a:ln w="9525">
            <a:noFill/>
            <a:miter lim="800000"/>
            <a:headEnd/>
            <a:tailEnd/>
          </a:ln>
          <a:effectLst/>
        </p:spPr>
        <p:txBody>
          <a:bodyPr vert="horz" wrap="square" lIns="93117" tIns="46561" rIns="93117" bIns="46561" numCol="1" anchor="b" anchorCtr="0" compatLnSpc="1">
            <a:prstTxWarp prst="textNoShape">
              <a:avLst/>
            </a:prstTxWarp>
          </a:bodyPr>
          <a:lstStyle>
            <a:lvl1pPr defTabSz="931939" eaLnBrk="1" hangingPunct="1">
              <a:defRPr sz="1300">
                <a:cs typeface="+mn-cs"/>
              </a:defRPr>
            </a:lvl1pPr>
          </a:lstStyle>
          <a:p>
            <a:pPr>
              <a:defRPr/>
            </a:pPr>
            <a:endParaRPr lang="en-US"/>
          </a:p>
        </p:txBody>
      </p:sp>
      <p:sp>
        <p:nvSpPr>
          <p:cNvPr id="69637" name="Rectangle 5"/>
          <p:cNvSpPr>
            <a:spLocks noGrp="1" noChangeArrowheads="1"/>
          </p:cNvSpPr>
          <p:nvPr>
            <p:ph type="sldNum" sz="quarter" idx="3"/>
          </p:nvPr>
        </p:nvSpPr>
        <p:spPr bwMode="auto">
          <a:xfrm>
            <a:off x="5267558" y="6661503"/>
            <a:ext cx="4028843" cy="348897"/>
          </a:xfrm>
          <a:prstGeom prst="rect">
            <a:avLst/>
          </a:prstGeom>
          <a:noFill/>
          <a:ln w="9525">
            <a:noFill/>
            <a:miter lim="800000"/>
            <a:headEnd/>
            <a:tailEnd/>
          </a:ln>
          <a:effectLst/>
        </p:spPr>
        <p:txBody>
          <a:bodyPr vert="horz" wrap="square" lIns="93117" tIns="46561" rIns="93117" bIns="46561" numCol="1" anchor="b" anchorCtr="0" compatLnSpc="1">
            <a:prstTxWarp prst="textNoShape">
              <a:avLst/>
            </a:prstTxWarp>
          </a:bodyPr>
          <a:lstStyle>
            <a:lvl1pPr algn="r" defTabSz="931887" eaLnBrk="1" hangingPunct="1">
              <a:defRPr sz="1300"/>
            </a:lvl1pPr>
          </a:lstStyle>
          <a:p>
            <a:pPr>
              <a:defRPr/>
            </a:pPr>
            <a:fld id="{549A7FA7-E1B8-4CDD-8F7C-1E113DA1F1E0}" type="slidenum">
              <a:rPr lang="en-US" altLang="en-US"/>
              <a:pPr>
                <a:defRPr/>
              </a:pPr>
              <a:t>‹#›</a:t>
            </a:fld>
            <a:endParaRPr lang="en-US" altLang="en-US"/>
          </a:p>
        </p:txBody>
      </p:sp>
    </p:spTree>
    <p:extLst>
      <p:ext uri="{BB962C8B-B14F-4D97-AF65-F5344CB8AC3E}">
        <p14:creationId xmlns:p14="http://schemas.microsoft.com/office/powerpoint/2010/main" val="116943957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4930" name="Rectangle 2"/>
          <p:cNvSpPr>
            <a:spLocks noGrp="1" noChangeArrowheads="1"/>
          </p:cNvSpPr>
          <p:nvPr>
            <p:ph type="hdr" sz="quarter"/>
          </p:nvPr>
        </p:nvSpPr>
        <p:spPr bwMode="auto">
          <a:xfrm>
            <a:off x="0" y="0"/>
            <a:ext cx="4028844" cy="348898"/>
          </a:xfrm>
          <a:prstGeom prst="rect">
            <a:avLst/>
          </a:prstGeom>
          <a:noFill/>
          <a:ln w="9525">
            <a:noFill/>
            <a:miter lim="800000"/>
            <a:headEnd/>
            <a:tailEnd/>
          </a:ln>
          <a:effectLst/>
        </p:spPr>
        <p:txBody>
          <a:bodyPr vert="horz" wrap="square" lIns="92172" tIns="46087" rIns="92172" bIns="46087" numCol="1" anchor="t" anchorCtr="0" compatLnSpc="1">
            <a:prstTxWarp prst="textNoShape">
              <a:avLst/>
            </a:prstTxWarp>
          </a:bodyPr>
          <a:lstStyle>
            <a:lvl1pPr defTabSz="922346" eaLnBrk="1" hangingPunct="1">
              <a:defRPr sz="1300">
                <a:cs typeface="+mn-cs"/>
              </a:defRPr>
            </a:lvl1pPr>
          </a:lstStyle>
          <a:p>
            <a:pPr>
              <a:defRPr/>
            </a:pPr>
            <a:endParaRPr lang="en-US"/>
          </a:p>
        </p:txBody>
      </p:sp>
      <p:sp>
        <p:nvSpPr>
          <p:cNvPr id="124931" name="Rectangle 3"/>
          <p:cNvSpPr>
            <a:spLocks noGrp="1" noChangeArrowheads="1"/>
          </p:cNvSpPr>
          <p:nvPr>
            <p:ph type="dt" idx="1"/>
          </p:nvPr>
        </p:nvSpPr>
        <p:spPr bwMode="auto">
          <a:xfrm>
            <a:off x="5265540" y="0"/>
            <a:ext cx="4028844" cy="348898"/>
          </a:xfrm>
          <a:prstGeom prst="rect">
            <a:avLst/>
          </a:prstGeom>
          <a:noFill/>
          <a:ln w="9525">
            <a:noFill/>
            <a:miter lim="800000"/>
            <a:headEnd/>
            <a:tailEnd/>
          </a:ln>
          <a:effectLst/>
        </p:spPr>
        <p:txBody>
          <a:bodyPr vert="horz" wrap="square" lIns="92172" tIns="46087" rIns="92172" bIns="46087" numCol="1" anchor="t" anchorCtr="0" compatLnSpc="1">
            <a:prstTxWarp prst="textNoShape">
              <a:avLst/>
            </a:prstTxWarp>
          </a:bodyPr>
          <a:lstStyle>
            <a:lvl1pPr algn="r" defTabSz="922346" eaLnBrk="1" hangingPunct="1">
              <a:defRPr sz="1300">
                <a:cs typeface="+mn-cs"/>
              </a:defRPr>
            </a:lvl1pPr>
          </a:lstStyle>
          <a:p>
            <a:pPr>
              <a:defRPr/>
            </a:pPr>
            <a:endParaRPr lang="en-US"/>
          </a:p>
        </p:txBody>
      </p:sp>
      <p:sp>
        <p:nvSpPr>
          <p:cNvPr id="2052" name="Rectangle 4"/>
          <p:cNvSpPr>
            <a:spLocks noGrp="1" noRot="1" noChangeAspect="1" noChangeArrowheads="1" noTextEdit="1"/>
          </p:cNvSpPr>
          <p:nvPr>
            <p:ph type="sldImg" idx="2"/>
          </p:nvPr>
        </p:nvSpPr>
        <p:spPr bwMode="auto">
          <a:xfrm>
            <a:off x="2895600" y="527050"/>
            <a:ext cx="3506788" cy="2630488"/>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4933" name="Rectangle 5"/>
          <p:cNvSpPr>
            <a:spLocks noGrp="1" noChangeArrowheads="1"/>
          </p:cNvSpPr>
          <p:nvPr>
            <p:ph type="body" sz="quarter" idx="3"/>
          </p:nvPr>
        </p:nvSpPr>
        <p:spPr bwMode="auto">
          <a:xfrm>
            <a:off x="930045" y="3330173"/>
            <a:ext cx="7436313" cy="3153984"/>
          </a:xfrm>
          <a:prstGeom prst="rect">
            <a:avLst/>
          </a:prstGeom>
          <a:noFill/>
          <a:ln w="9525">
            <a:noFill/>
            <a:miter lim="800000"/>
            <a:headEnd/>
            <a:tailEnd/>
          </a:ln>
          <a:effectLst/>
        </p:spPr>
        <p:txBody>
          <a:bodyPr vert="horz" wrap="square" lIns="92172" tIns="46087" rIns="92172" bIns="46087"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24934" name="Rectangle 6"/>
          <p:cNvSpPr>
            <a:spLocks noGrp="1" noChangeArrowheads="1"/>
          </p:cNvSpPr>
          <p:nvPr>
            <p:ph type="ftr" sz="quarter" idx="4"/>
          </p:nvPr>
        </p:nvSpPr>
        <p:spPr bwMode="auto">
          <a:xfrm>
            <a:off x="0" y="6658026"/>
            <a:ext cx="4028844" cy="351216"/>
          </a:xfrm>
          <a:prstGeom prst="rect">
            <a:avLst/>
          </a:prstGeom>
          <a:noFill/>
          <a:ln w="9525">
            <a:noFill/>
            <a:miter lim="800000"/>
            <a:headEnd/>
            <a:tailEnd/>
          </a:ln>
          <a:effectLst/>
        </p:spPr>
        <p:txBody>
          <a:bodyPr vert="horz" wrap="square" lIns="92172" tIns="46087" rIns="92172" bIns="46087" numCol="1" anchor="b" anchorCtr="0" compatLnSpc="1">
            <a:prstTxWarp prst="textNoShape">
              <a:avLst/>
            </a:prstTxWarp>
          </a:bodyPr>
          <a:lstStyle>
            <a:lvl1pPr defTabSz="922346" eaLnBrk="1" hangingPunct="1">
              <a:defRPr sz="1300">
                <a:cs typeface="+mn-cs"/>
              </a:defRPr>
            </a:lvl1pPr>
          </a:lstStyle>
          <a:p>
            <a:pPr>
              <a:defRPr/>
            </a:pPr>
            <a:endParaRPr lang="en-US"/>
          </a:p>
        </p:txBody>
      </p:sp>
      <p:sp>
        <p:nvSpPr>
          <p:cNvPr id="124935" name="Rectangle 7"/>
          <p:cNvSpPr>
            <a:spLocks noGrp="1" noChangeArrowheads="1"/>
          </p:cNvSpPr>
          <p:nvPr>
            <p:ph type="sldNum" sz="quarter" idx="5"/>
          </p:nvPr>
        </p:nvSpPr>
        <p:spPr bwMode="auto">
          <a:xfrm>
            <a:off x="5265540" y="6658026"/>
            <a:ext cx="4028844" cy="351216"/>
          </a:xfrm>
          <a:prstGeom prst="rect">
            <a:avLst/>
          </a:prstGeom>
          <a:noFill/>
          <a:ln w="9525">
            <a:noFill/>
            <a:miter lim="800000"/>
            <a:headEnd/>
            <a:tailEnd/>
          </a:ln>
          <a:effectLst/>
        </p:spPr>
        <p:txBody>
          <a:bodyPr vert="horz" wrap="square" lIns="92172" tIns="46087" rIns="92172" bIns="46087" numCol="1" anchor="b" anchorCtr="0" compatLnSpc="1">
            <a:prstTxWarp prst="textNoShape">
              <a:avLst/>
            </a:prstTxWarp>
          </a:bodyPr>
          <a:lstStyle>
            <a:lvl1pPr algn="r" defTabSz="921175" eaLnBrk="1" hangingPunct="1">
              <a:defRPr sz="1300"/>
            </a:lvl1pPr>
          </a:lstStyle>
          <a:p>
            <a:pPr>
              <a:defRPr/>
            </a:pPr>
            <a:fld id="{5B598F11-C2C5-40D4-B32B-C1AF9DA155A1}" type="slidenum">
              <a:rPr lang="en-US" altLang="en-US"/>
              <a:pPr>
                <a:defRPr/>
              </a:pPr>
              <a:t>‹#›</a:t>
            </a:fld>
            <a:endParaRPr lang="en-US" altLang="en-US"/>
          </a:p>
        </p:txBody>
      </p:sp>
    </p:spTree>
    <p:extLst>
      <p:ext uri="{BB962C8B-B14F-4D97-AF65-F5344CB8AC3E}">
        <p14:creationId xmlns:p14="http://schemas.microsoft.com/office/powerpoint/2010/main" val="1990710423"/>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Note – hold an actual discussion!</a:t>
            </a:r>
          </a:p>
          <a:p>
            <a:r>
              <a:rPr lang="en-US" dirty="0"/>
              <a:t>The “yes” side might be that the zebra leg would eventually express the right proteins due to its environment.</a:t>
            </a:r>
          </a:p>
          <a:p>
            <a:r>
              <a:rPr lang="en-US" dirty="0"/>
              <a:t>The “no” side might be that this just sounds impractical; it’s an entire leg, after all, and is thus big enough to hold its own and keep its stripes. Plus, like human organ replacements it may just get rejected.</a:t>
            </a:r>
          </a:p>
        </p:txBody>
      </p:sp>
      <p:sp>
        <p:nvSpPr>
          <p:cNvPr id="4" name="Slide Number Placeholder 3"/>
          <p:cNvSpPr>
            <a:spLocks noGrp="1"/>
          </p:cNvSpPr>
          <p:nvPr>
            <p:ph type="sldNum" sz="quarter" idx="5"/>
          </p:nvPr>
        </p:nvSpPr>
        <p:spPr/>
        <p:txBody>
          <a:bodyPr/>
          <a:lstStyle/>
          <a:p>
            <a:pPr>
              <a:defRPr/>
            </a:pPr>
            <a:fld id="{5B598F11-C2C5-40D4-B32B-C1AF9DA155A1}" type="slidenum">
              <a:rPr lang="en-US" altLang="en-US" smtClean="0"/>
              <a:pPr>
                <a:defRPr/>
              </a:pPr>
              <a:t>3</a:t>
            </a:fld>
            <a:endParaRPr lang="en-US" altLang="en-US"/>
          </a:p>
        </p:txBody>
      </p:sp>
    </p:spTree>
    <p:extLst>
      <p:ext uri="{BB962C8B-B14F-4D97-AF65-F5344CB8AC3E}">
        <p14:creationId xmlns:p14="http://schemas.microsoft.com/office/powerpoint/2010/main" val="341475687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Heart transplants are not super common, but are not uncommon either. They are a last resort if drugs, pacemaker, &amp; other surgeries have not worked</a:t>
            </a:r>
          </a:p>
        </p:txBody>
      </p:sp>
      <p:sp>
        <p:nvSpPr>
          <p:cNvPr id="4" name="Slide Number Placeholder 3"/>
          <p:cNvSpPr>
            <a:spLocks noGrp="1"/>
          </p:cNvSpPr>
          <p:nvPr>
            <p:ph type="sldNum" sz="quarter" idx="5"/>
          </p:nvPr>
        </p:nvSpPr>
        <p:spPr/>
        <p:txBody>
          <a:bodyPr/>
          <a:lstStyle/>
          <a:p>
            <a:pPr>
              <a:defRPr/>
            </a:pPr>
            <a:fld id="{5B598F11-C2C5-40D4-B32B-C1AF9DA155A1}" type="slidenum">
              <a:rPr lang="en-US" altLang="en-US" smtClean="0"/>
              <a:pPr>
                <a:defRPr/>
              </a:pPr>
              <a:t>4</a:t>
            </a:fld>
            <a:endParaRPr lang="en-US" altLang="en-US"/>
          </a:p>
        </p:txBody>
      </p:sp>
    </p:spTree>
    <p:extLst>
      <p:ext uri="{BB962C8B-B14F-4D97-AF65-F5344CB8AC3E}">
        <p14:creationId xmlns:p14="http://schemas.microsoft.com/office/powerpoint/2010/main" val="213929790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“babies” joke is like “how hard can it be to talk French… look at all these little kids doing it!”</a:t>
            </a:r>
          </a:p>
          <a:p>
            <a:r>
              <a:rPr lang="en-US" dirty="0"/>
              <a:t>The Hydra quote came from a talk by Rafael </a:t>
            </a:r>
            <a:r>
              <a:rPr lang="en-US" dirty="0" err="1"/>
              <a:t>Yuste</a:t>
            </a:r>
            <a:r>
              <a:rPr lang="en-US" dirty="0"/>
              <a:t> at the Allen Center seminar series on Nov 28, 2018</a:t>
            </a:r>
          </a:p>
          <a:p>
            <a:r>
              <a:rPr lang="en-US" dirty="0"/>
              <a:t>Another interesting fact: mice &amp; people share about 97.5% of our DNA! (that’s why we use them for drug trials).</a:t>
            </a:r>
          </a:p>
          <a:p>
            <a:r>
              <a:rPr lang="en-US" dirty="0"/>
              <a:t>The Hydra was a Greek serpent that could regrow its heads – Hercules killed it with fire.</a:t>
            </a:r>
          </a:p>
          <a:p>
            <a:r>
              <a:rPr lang="en-US" dirty="0"/>
              <a:t>Real Hydra are good enough at regenerating the we mostly believe them to be immortal</a:t>
            </a:r>
          </a:p>
        </p:txBody>
      </p:sp>
      <p:sp>
        <p:nvSpPr>
          <p:cNvPr id="4" name="Slide Number Placeholder 3"/>
          <p:cNvSpPr>
            <a:spLocks noGrp="1"/>
          </p:cNvSpPr>
          <p:nvPr>
            <p:ph type="sldNum" sz="quarter" idx="10"/>
          </p:nvPr>
        </p:nvSpPr>
        <p:spPr/>
        <p:txBody>
          <a:bodyPr/>
          <a:lstStyle/>
          <a:p>
            <a:pPr>
              <a:defRPr/>
            </a:pPr>
            <a:fld id="{5B598F11-C2C5-40D4-B32B-C1AF9DA155A1}" type="slidenum">
              <a:rPr lang="en-US" altLang="en-US" smtClean="0"/>
              <a:pPr>
                <a:defRPr/>
              </a:pPr>
              <a:t>7</a:t>
            </a:fld>
            <a:endParaRPr lang="en-US" altLang="en-US"/>
          </a:p>
        </p:txBody>
      </p:sp>
    </p:spTree>
    <p:extLst>
      <p:ext uri="{BB962C8B-B14F-4D97-AF65-F5344CB8AC3E}">
        <p14:creationId xmlns:p14="http://schemas.microsoft.com/office/powerpoint/2010/main" val="69143505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sz="1200" dirty="0"/>
              <a:t>Albert Ebeneezer Fox and Ebeneezer Albert Fox, born 1857</a:t>
            </a:r>
          </a:p>
          <a:p>
            <a:r>
              <a:rPr lang="en-US" dirty="0"/>
              <a:t>Even if DNA encoded extremely-detailed instructions (e.g., cell #9 becomes a nose), the cells would still have to know their positions. Otherwise, all the identical processors would all reach the same decisions.</a:t>
            </a:r>
          </a:p>
        </p:txBody>
      </p:sp>
      <p:sp>
        <p:nvSpPr>
          <p:cNvPr id="4" name="Slide Number Placeholder 3"/>
          <p:cNvSpPr>
            <a:spLocks noGrp="1"/>
          </p:cNvSpPr>
          <p:nvPr>
            <p:ph type="sldNum" sz="quarter" idx="5"/>
          </p:nvPr>
        </p:nvSpPr>
        <p:spPr/>
        <p:txBody>
          <a:bodyPr/>
          <a:lstStyle/>
          <a:p>
            <a:pPr>
              <a:defRPr/>
            </a:pPr>
            <a:fld id="{5B598F11-C2C5-40D4-B32B-C1AF9DA155A1}" type="slidenum">
              <a:rPr lang="en-US" altLang="en-US" smtClean="0"/>
              <a:pPr>
                <a:defRPr/>
              </a:pPr>
              <a:t>8</a:t>
            </a:fld>
            <a:endParaRPr lang="en-US" altLang="en-US"/>
          </a:p>
        </p:txBody>
      </p:sp>
    </p:spTree>
    <p:extLst>
      <p:ext uri="{BB962C8B-B14F-4D97-AF65-F5344CB8AC3E}">
        <p14:creationId xmlns:p14="http://schemas.microsoft.com/office/powerpoint/2010/main" val="54693305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endParaRPr lang="en-US" sz="1200" dirty="0"/>
          </a:p>
        </p:txBody>
      </p:sp>
      <p:sp>
        <p:nvSpPr>
          <p:cNvPr id="4" name="Slide Number Placeholder 3"/>
          <p:cNvSpPr>
            <a:spLocks noGrp="1"/>
          </p:cNvSpPr>
          <p:nvPr>
            <p:ph type="sldNum" sz="quarter" idx="10"/>
          </p:nvPr>
        </p:nvSpPr>
        <p:spPr/>
        <p:txBody>
          <a:bodyPr/>
          <a:lstStyle/>
          <a:p>
            <a:pPr>
              <a:defRPr/>
            </a:pPr>
            <a:fld id="{5B598F11-C2C5-40D4-B32B-C1AF9DA155A1}" type="slidenum">
              <a:rPr lang="en-US" altLang="en-US" smtClean="0"/>
              <a:pPr>
                <a:defRPr/>
              </a:pPr>
              <a:t>9</a:t>
            </a:fld>
            <a:endParaRPr lang="en-US" altLang="en-US"/>
          </a:p>
        </p:txBody>
      </p:sp>
    </p:spTree>
    <p:extLst>
      <p:ext uri="{BB962C8B-B14F-4D97-AF65-F5344CB8AC3E}">
        <p14:creationId xmlns:p14="http://schemas.microsoft.com/office/powerpoint/2010/main" val="234265510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Remember diffusion? That was our first experience of how noisy biology is</a:t>
            </a:r>
          </a:p>
        </p:txBody>
      </p:sp>
      <p:sp>
        <p:nvSpPr>
          <p:cNvPr id="4" name="Slide Number Placeholder 3"/>
          <p:cNvSpPr>
            <a:spLocks noGrp="1"/>
          </p:cNvSpPr>
          <p:nvPr>
            <p:ph type="sldNum" sz="quarter" idx="5"/>
          </p:nvPr>
        </p:nvSpPr>
        <p:spPr/>
        <p:txBody>
          <a:bodyPr/>
          <a:lstStyle/>
          <a:p>
            <a:pPr>
              <a:defRPr/>
            </a:pPr>
            <a:fld id="{5B598F11-C2C5-40D4-B32B-C1AF9DA155A1}" type="slidenum">
              <a:rPr lang="en-US" altLang="en-US" smtClean="0"/>
              <a:pPr>
                <a:defRPr/>
              </a:pPr>
              <a:t>10</a:t>
            </a:fld>
            <a:endParaRPr lang="en-US" altLang="en-US"/>
          </a:p>
        </p:txBody>
      </p:sp>
    </p:spTree>
    <p:extLst>
      <p:ext uri="{BB962C8B-B14F-4D97-AF65-F5344CB8AC3E}">
        <p14:creationId xmlns:p14="http://schemas.microsoft.com/office/powerpoint/2010/main" val="33417923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brain manages to see out of the ectopic eye! So it sees this visual input coming </a:t>
            </a:r>
            <a:r>
              <a:rPr lang="en-US" i="1" dirty="0"/>
              <a:t>through the spinal cord </a:t>
            </a:r>
            <a:r>
              <a:rPr lang="en-US" i="0" dirty="0"/>
              <a:t>(whereas normal eyes come in on the optic nerve and bypass the spine altogether), and figures out what to do with it. This is growing new and useful body shape </a:t>
            </a:r>
            <a:r>
              <a:rPr lang="en-US" i="1" dirty="0"/>
              <a:t>much</a:t>
            </a:r>
            <a:r>
              <a:rPr lang="en-US" i="0" dirty="0"/>
              <a:t> faster than an evolutionary timeframe.</a:t>
            </a:r>
            <a:endParaRPr lang="en-US" dirty="0"/>
          </a:p>
        </p:txBody>
      </p:sp>
      <p:sp>
        <p:nvSpPr>
          <p:cNvPr id="4" name="Slide Number Placeholder 3"/>
          <p:cNvSpPr>
            <a:spLocks noGrp="1"/>
          </p:cNvSpPr>
          <p:nvPr>
            <p:ph type="sldNum" sz="quarter" idx="5"/>
          </p:nvPr>
        </p:nvSpPr>
        <p:spPr/>
        <p:txBody>
          <a:bodyPr/>
          <a:lstStyle/>
          <a:p>
            <a:pPr>
              <a:defRPr/>
            </a:pPr>
            <a:fld id="{5B598F11-C2C5-40D4-B32B-C1AF9DA155A1}" type="slidenum">
              <a:rPr lang="en-US" altLang="en-US" smtClean="0"/>
              <a:pPr>
                <a:defRPr/>
              </a:pPr>
              <a:t>11</a:t>
            </a:fld>
            <a:endParaRPr lang="en-US" altLang="en-US"/>
          </a:p>
        </p:txBody>
      </p:sp>
    </p:spTree>
    <p:extLst>
      <p:ext uri="{BB962C8B-B14F-4D97-AF65-F5344CB8AC3E}">
        <p14:creationId xmlns:p14="http://schemas.microsoft.com/office/powerpoint/2010/main" val="269695744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might think that Notch is having brain-damaging effects that have nothing to do with bioelectricity</a:t>
            </a:r>
          </a:p>
          <a:p>
            <a:r>
              <a:rPr lang="en-US" dirty="0"/>
              <a:t>But then Kv1.5 and Bir10 would be unlikely to cancel out Notch’s effects</a:t>
            </a:r>
          </a:p>
          <a:p>
            <a:endParaRPr lang="en-US" dirty="0"/>
          </a:p>
        </p:txBody>
      </p:sp>
      <p:sp>
        <p:nvSpPr>
          <p:cNvPr id="4" name="Slide Number Placeholder 3"/>
          <p:cNvSpPr>
            <a:spLocks noGrp="1"/>
          </p:cNvSpPr>
          <p:nvPr>
            <p:ph type="sldNum" sz="quarter" idx="5"/>
          </p:nvPr>
        </p:nvSpPr>
        <p:spPr/>
        <p:txBody>
          <a:bodyPr/>
          <a:lstStyle/>
          <a:p>
            <a:pPr>
              <a:defRPr/>
            </a:pPr>
            <a:fld id="{5B598F11-C2C5-40D4-B32B-C1AF9DA155A1}" type="slidenum">
              <a:rPr lang="en-US" altLang="en-US" smtClean="0"/>
              <a:pPr>
                <a:defRPr/>
              </a:pPr>
              <a:t>12</a:t>
            </a:fld>
            <a:endParaRPr lang="en-US" altLang="en-US"/>
          </a:p>
        </p:txBody>
      </p:sp>
    </p:spTree>
    <p:extLst>
      <p:ext uri="{BB962C8B-B14F-4D97-AF65-F5344CB8AC3E}">
        <p14:creationId xmlns:p14="http://schemas.microsoft.com/office/powerpoint/2010/main" val="238793113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It’s sort of convincing, but I would personally be a lot happier if I had some idea how the machines worked.</a:t>
            </a:r>
          </a:p>
          <a:p>
            <a:r>
              <a:rPr lang="en-US" dirty="0"/>
              <a:t>And I really won’t believe that a specific </a:t>
            </a:r>
            <a:r>
              <a:rPr lang="en-US" dirty="0" err="1"/>
              <a:t>Vmem</a:t>
            </a:r>
            <a:r>
              <a:rPr lang="en-US" dirty="0"/>
              <a:t> causes (e.g.,) brains until I at least see sensors with that level of resolution.</a:t>
            </a:r>
          </a:p>
          <a:p>
            <a:endParaRPr lang="en-US" dirty="0"/>
          </a:p>
        </p:txBody>
      </p:sp>
      <p:sp>
        <p:nvSpPr>
          <p:cNvPr id="4" name="Slide Number Placeholder 3"/>
          <p:cNvSpPr>
            <a:spLocks noGrp="1"/>
          </p:cNvSpPr>
          <p:nvPr>
            <p:ph type="sldNum" sz="quarter" idx="10"/>
          </p:nvPr>
        </p:nvSpPr>
        <p:spPr/>
        <p:txBody>
          <a:bodyPr/>
          <a:lstStyle/>
          <a:p>
            <a:pPr>
              <a:defRPr/>
            </a:pPr>
            <a:fld id="{5B598F11-C2C5-40D4-B32B-C1AF9DA155A1}" type="slidenum">
              <a:rPr lang="en-US" altLang="en-US" smtClean="0"/>
              <a:pPr>
                <a:defRPr/>
              </a:pPr>
              <a:t>13</a:t>
            </a:fld>
            <a:endParaRPr lang="en-US" altLang="en-US"/>
          </a:p>
        </p:txBody>
      </p:sp>
    </p:spTree>
    <p:extLst>
      <p:ext uri="{BB962C8B-B14F-4D97-AF65-F5344CB8AC3E}">
        <p14:creationId xmlns:p14="http://schemas.microsoft.com/office/powerpoint/2010/main" val="349570289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Humans would not be OK taking an organ from someone else. Perhaps planaria don’t have much of an immune system?</a:t>
            </a:r>
          </a:p>
        </p:txBody>
      </p:sp>
      <p:sp>
        <p:nvSpPr>
          <p:cNvPr id="4" name="Slide Number Placeholder 3"/>
          <p:cNvSpPr>
            <a:spLocks noGrp="1"/>
          </p:cNvSpPr>
          <p:nvPr>
            <p:ph type="sldNum" sz="quarter" idx="5"/>
          </p:nvPr>
        </p:nvSpPr>
        <p:spPr/>
        <p:txBody>
          <a:bodyPr/>
          <a:lstStyle/>
          <a:p>
            <a:pPr>
              <a:defRPr/>
            </a:pPr>
            <a:fld id="{5B598F11-C2C5-40D4-B32B-C1AF9DA155A1}" type="slidenum">
              <a:rPr lang="en-US" altLang="en-US" smtClean="0"/>
              <a:pPr>
                <a:defRPr/>
              </a:pPr>
              <a:t>16</a:t>
            </a:fld>
            <a:endParaRPr lang="en-US" altLang="en-US"/>
          </a:p>
        </p:txBody>
      </p:sp>
    </p:spTree>
    <p:extLst>
      <p:ext uri="{BB962C8B-B14F-4D97-AF65-F5344CB8AC3E}">
        <p14:creationId xmlns:p14="http://schemas.microsoft.com/office/powerpoint/2010/main" val="246429334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Note that the paper cited here had the batteries reversed from this picture – I believe the paper is wrong, and I changed the picture. He cites two very early papers for his belief; I looked at them quickly and I believe the papers support the conventional view that the head is more positive. Actually, a more detailed read of the early papers shows that they indeed were reversed from modern work – but they used a different planarian species.</a:t>
            </a:r>
          </a:p>
          <a:p>
            <a:r>
              <a:rPr lang="en-US" dirty="0"/>
              <a:t>This could be an interesting lead-in to the difficulties of measurement; </a:t>
            </a:r>
            <a:r>
              <a:rPr lang="en-US" dirty="0" err="1"/>
              <a:t>DiBAC</a:t>
            </a:r>
            <a:r>
              <a:rPr lang="en-US" dirty="0"/>
              <a:t> measurements are not great. They’re not super accurate, and the fluorescent light they produce doesn’t really penetrate the planarian body well. So it might not be as good evidence as it seems.</a:t>
            </a:r>
          </a:p>
        </p:txBody>
      </p:sp>
      <p:sp>
        <p:nvSpPr>
          <p:cNvPr id="4" name="Slide Number Placeholder 3"/>
          <p:cNvSpPr>
            <a:spLocks noGrp="1"/>
          </p:cNvSpPr>
          <p:nvPr>
            <p:ph type="sldNum" sz="quarter" idx="5"/>
          </p:nvPr>
        </p:nvSpPr>
        <p:spPr/>
        <p:txBody>
          <a:bodyPr/>
          <a:lstStyle/>
          <a:p>
            <a:pPr>
              <a:defRPr/>
            </a:pPr>
            <a:fld id="{5B598F11-C2C5-40D4-B32B-C1AF9DA155A1}" type="slidenum">
              <a:rPr lang="en-US" altLang="en-US" smtClean="0"/>
              <a:pPr>
                <a:defRPr/>
              </a:pPr>
              <a:t>17</a:t>
            </a:fld>
            <a:endParaRPr lang="en-US" altLang="en-US"/>
          </a:p>
        </p:txBody>
      </p:sp>
    </p:spTree>
    <p:extLst>
      <p:ext uri="{BB962C8B-B14F-4D97-AF65-F5344CB8AC3E}">
        <p14:creationId xmlns:p14="http://schemas.microsoft.com/office/powerpoint/2010/main" val="371235538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5B598F11-C2C5-40D4-B32B-C1AF9DA155A1}" type="slidenum">
              <a:rPr lang="en-US" altLang="en-US" smtClean="0"/>
              <a:pPr>
                <a:defRPr/>
              </a:pPr>
              <a:t>18</a:t>
            </a:fld>
            <a:endParaRPr lang="en-US" altLang="en-US"/>
          </a:p>
        </p:txBody>
      </p:sp>
    </p:spTree>
    <p:extLst>
      <p:ext uri="{BB962C8B-B14F-4D97-AF65-F5344CB8AC3E}">
        <p14:creationId xmlns:p14="http://schemas.microsoft.com/office/powerpoint/2010/main" val="412037387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We’ve seen two ways to communicate between cells so far in the course. First, neurons for long distances (and the brain is good at image recognition!). Second, GJs in the heart.</a:t>
            </a:r>
          </a:p>
        </p:txBody>
      </p:sp>
      <p:sp>
        <p:nvSpPr>
          <p:cNvPr id="4" name="Slide Number Placeholder 3"/>
          <p:cNvSpPr>
            <a:spLocks noGrp="1"/>
          </p:cNvSpPr>
          <p:nvPr>
            <p:ph type="sldNum" sz="quarter" idx="5"/>
          </p:nvPr>
        </p:nvSpPr>
        <p:spPr/>
        <p:txBody>
          <a:bodyPr/>
          <a:lstStyle/>
          <a:p>
            <a:pPr>
              <a:defRPr/>
            </a:pPr>
            <a:fld id="{5B598F11-C2C5-40D4-B32B-C1AF9DA155A1}" type="slidenum">
              <a:rPr lang="en-US" altLang="en-US" smtClean="0"/>
              <a:pPr>
                <a:defRPr/>
              </a:pPr>
              <a:t>21</a:t>
            </a:fld>
            <a:endParaRPr lang="en-US" altLang="en-US"/>
          </a:p>
        </p:txBody>
      </p:sp>
    </p:spTree>
    <p:extLst>
      <p:ext uri="{BB962C8B-B14F-4D97-AF65-F5344CB8AC3E}">
        <p14:creationId xmlns:p14="http://schemas.microsoft.com/office/powerpoint/2010/main" val="221590230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GJs can exhibit </a:t>
            </a:r>
            <a:r>
              <a:rPr lang="en-US" i="1" dirty="0"/>
              <a:t>negative resistance </a:t>
            </a:r>
            <a:r>
              <a:rPr lang="en-US" i="0" dirty="0"/>
              <a:t>(really, of course, this is just negative </a:t>
            </a:r>
            <a:r>
              <a:rPr lang="en-US" i="1" dirty="0"/>
              <a:t>incremental</a:t>
            </a:r>
            <a:r>
              <a:rPr lang="en-US" i="0" dirty="0"/>
              <a:t> resistance)! You increase the voltage across them and the current </a:t>
            </a:r>
            <a:r>
              <a:rPr lang="en-US" i="1" dirty="0"/>
              <a:t>decreases</a:t>
            </a:r>
            <a:r>
              <a:rPr lang="en-US" i="0" dirty="0"/>
              <a:t>!</a:t>
            </a:r>
          </a:p>
          <a:p>
            <a:r>
              <a:rPr lang="en-US" i="0" dirty="0"/>
              <a:t>Tunnel diodes use this for amplification, and amplification is part of most any computing device.</a:t>
            </a:r>
            <a:endParaRPr lang="en-US" dirty="0"/>
          </a:p>
        </p:txBody>
      </p:sp>
      <p:sp>
        <p:nvSpPr>
          <p:cNvPr id="4" name="Slide Number Placeholder 3"/>
          <p:cNvSpPr>
            <a:spLocks noGrp="1"/>
          </p:cNvSpPr>
          <p:nvPr>
            <p:ph type="sldNum" sz="quarter" idx="5"/>
          </p:nvPr>
        </p:nvSpPr>
        <p:spPr/>
        <p:txBody>
          <a:bodyPr/>
          <a:lstStyle/>
          <a:p>
            <a:pPr>
              <a:defRPr/>
            </a:pPr>
            <a:fld id="{5B598F11-C2C5-40D4-B32B-C1AF9DA155A1}" type="slidenum">
              <a:rPr lang="en-US" altLang="en-US" smtClean="0"/>
              <a:pPr>
                <a:defRPr/>
              </a:pPr>
              <a:t>22</a:t>
            </a:fld>
            <a:endParaRPr lang="en-US" altLang="en-US"/>
          </a:p>
        </p:txBody>
      </p:sp>
    </p:spTree>
    <p:extLst>
      <p:ext uri="{BB962C8B-B14F-4D97-AF65-F5344CB8AC3E}">
        <p14:creationId xmlns:p14="http://schemas.microsoft.com/office/powerpoint/2010/main" val="152965589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Yes, it’s a proof of concept. But we really don’t want to build 4H humans!</a:t>
            </a:r>
          </a:p>
        </p:txBody>
      </p:sp>
      <p:sp>
        <p:nvSpPr>
          <p:cNvPr id="4" name="Slide Number Placeholder 3"/>
          <p:cNvSpPr>
            <a:spLocks noGrp="1"/>
          </p:cNvSpPr>
          <p:nvPr>
            <p:ph type="sldNum" sz="quarter" idx="5"/>
          </p:nvPr>
        </p:nvSpPr>
        <p:spPr/>
        <p:txBody>
          <a:bodyPr/>
          <a:lstStyle/>
          <a:p>
            <a:pPr>
              <a:defRPr/>
            </a:pPr>
            <a:fld id="{5B598F11-C2C5-40D4-B32B-C1AF9DA155A1}" type="slidenum">
              <a:rPr lang="en-US" altLang="en-US" smtClean="0"/>
              <a:pPr>
                <a:defRPr/>
              </a:pPr>
              <a:t>24</a:t>
            </a:fld>
            <a:endParaRPr lang="en-US" altLang="en-US"/>
          </a:p>
        </p:txBody>
      </p:sp>
    </p:spTree>
    <p:extLst>
      <p:ext uri="{BB962C8B-B14F-4D97-AF65-F5344CB8AC3E}">
        <p14:creationId xmlns:p14="http://schemas.microsoft.com/office/powerpoint/2010/main" val="93923931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My example is a router</a:t>
            </a:r>
          </a:p>
        </p:txBody>
      </p:sp>
      <p:sp>
        <p:nvSpPr>
          <p:cNvPr id="4" name="Slide Number Placeholder 3"/>
          <p:cNvSpPr>
            <a:spLocks noGrp="1"/>
          </p:cNvSpPr>
          <p:nvPr>
            <p:ph type="sldNum" sz="quarter" idx="5"/>
          </p:nvPr>
        </p:nvSpPr>
        <p:spPr/>
        <p:txBody>
          <a:bodyPr/>
          <a:lstStyle/>
          <a:p>
            <a:pPr>
              <a:defRPr/>
            </a:pPr>
            <a:fld id="{5B598F11-C2C5-40D4-B32B-C1AF9DA155A1}" type="slidenum">
              <a:rPr lang="en-US" altLang="en-US" smtClean="0"/>
              <a:pPr>
                <a:defRPr/>
              </a:pPr>
              <a:t>26</a:t>
            </a:fld>
            <a:endParaRPr lang="en-US" altLang="en-US"/>
          </a:p>
        </p:txBody>
      </p:sp>
    </p:spTree>
    <p:extLst>
      <p:ext uri="{BB962C8B-B14F-4D97-AF65-F5344CB8AC3E}">
        <p14:creationId xmlns:p14="http://schemas.microsoft.com/office/powerpoint/2010/main" val="30348380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4H worms… to Bambi!</a:t>
            </a:r>
          </a:p>
        </p:txBody>
      </p:sp>
      <p:sp>
        <p:nvSpPr>
          <p:cNvPr id="4" name="Slide Number Placeholder 3"/>
          <p:cNvSpPr>
            <a:spLocks noGrp="1"/>
          </p:cNvSpPr>
          <p:nvPr>
            <p:ph type="sldNum" sz="quarter" idx="5"/>
          </p:nvPr>
        </p:nvSpPr>
        <p:spPr/>
        <p:txBody>
          <a:bodyPr/>
          <a:lstStyle/>
          <a:p>
            <a:pPr>
              <a:defRPr/>
            </a:pPr>
            <a:fld id="{5B598F11-C2C5-40D4-B32B-C1AF9DA155A1}" type="slidenum">
              <a:rPr lang="en-US" altLang="en-US" smtClean="0"/>
              <a:pPr>
                <a:defRPr/>
              </a:pPr>
              <a:t>27</a:t>
            </a:fld>
            <a:endParaRPr lang="en-US" altLang="en-US"/>
          </a:p>
        </p:txBody>
      </p:sp>
    </p:spTree>
    <p:extLst>
      <p:ext uri="{BB962C8B-B14F-4D97-AF65-F5344CB8AC3E}">
        <p14:creationId xmlns:p14="http://schemas.microsoft.com/office/powerpoint/2010/main" val="55661474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More data:</a:t>
            </a:r>
          </a:p>
          <a:p>
            <a:r>
              <a:rPr lang="en-US" dirty="0"/>
              <a:t>the worms did not try to feed *at all* until their brains regrew; so this isn’t just, e.g., a spinal-cord reflex</a:t>
            </a:r>
          </a:p>
          <a:p>
            <a:r>
              <a:rPr lang="en-US" dirty="0"/>
              <a:t>previous work in the area was discredited due to experimenter bias; this data was automated via image analysis of camera data. The hypothesis is that memories are distributed, and guide the regrowth of new neurons. It’s like a “</a:t>
            </a:r>
            <a:r>
              <a:rPr lang="en-US" dirty="0" err="1"/>
              <a:t>chipkill</a:t>
            </a:r>
            <a:r>
              <a:rPr lang="en-US" dirty="0"/>
              <a:t>” memory system, that has enough redundancy to survive the loss of its brain!</a:t>
            </a:r>
          </a:p>
        </p:txBody>
      </p:sp>
      <p:sp>
        <p:nvSpPr>
          <p:cNvPr id="4" name="Slide Number Placeholder 3"/>
          <p:cNvSpPr>
            <a:spLocks noGrp="1"/>
          </p:cNvSpPr>
          <p:nvPr>
            <p:ph type="sldNum" sz="quarter" idx="10"/>
          </p:nvPr>
        </p:nvSpPr>
        <p:spPr/>
        <p:txBody>
          <a:bodyPr/>
          <a:lstStyle/>
          <a:p>
            <a:pPr>
              <a:defRPr/>
            </a:pPr>
            <a:fld id="{5B598F11-C2C5-40D4-B32B-C1AF9DA155A1}" type="slidenum">
              <a:rPr lang="en-US" altLang="en-US" smtClean="0"/>
              <a:pPr>
                <a:defRPr/>
              </a:pPr>
              <a:t>31</a:t>
            </a:fld>
            <a:endParaRPr lang="en-US" altLang="en-US"/>
          </a:p>
        </p:txBody>
      </p:sp>
    </p:spTree>
    <p:extLst>
      <p:ext uri="{BB962C8B-B14F-4D97-AF65-F5344CB8AC3E}">
        <p14:creationId xmlns:p14="http://schemas.microsoft.com/office/powerpoint/2010/main" val="213815944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Rewritable – or else Bambi would make no sense at all</a:t>
            </a:r>
          </a:p>
          <a:p>
            <a:r>
              <a:rPr lang="en-US" dirty="0"/>
              <a:t>Redundant &amp; nonlocal – to explain how losing the antler didn’t totally remove its shape memory</a:t>
            </a:r>
          </a:p>
          <a:p>
            <a:r>
              <a:rPr lang="en-US" dirty="0"/>
              <a:t>Snapping – because the original antler shape reverted</a:t>
            </a:r>
          </a:p>
          <a:p>
            <a:endParaRPr lang="en-US" dirty="0"/>
          </a:p>
        </p:txBody>
      </p:sp>
      <p:sp>
        <p:nvSpPr>
          <p:cNvPr id="4" name="Slide Number Placeholder 3"/>
          <p:cNvSpPr>
            <a:spLocks noGrp="1"/>
          </p:cNvSpPr>
          <p:nvPr>
            <p:ph type="sldNum" sz="quarter" idx="5"/>
          </p:nvPr>
        </p:nvSpPr>
        <p:spPr/>
        <p:txBody>
          <a:bodyPr/>
          <a:lstStyle/>
          <a:p>
            <a:pPr>
              <a:defRPr/>
            </a:pPr>
            <a:fld id="{5B598F11-C2C5-40D4-B32B-C1AF9DA155A1}" type="slidenum">
              <a:rPr lang="en-US" altLang="en-US" smtClean="0"/>
              <a:pPr>
                <a:defRPr/>
              </a:pPr>
              <a:t>32</a:t>
            </a:fld>
            <a:endParaRPr lang="en-US" altLang="en-US"/>
          </a:p>
        </p:txBody>
      </p:sp>
    </p:spTree>
    <p:extLst>
      <p:ext uri="{BB962C8B-B14F-4D97-AF65-F5344CB8AC3E}">
        <p14:creationId xmlns:p14="http://schemas.microsoft.com/office/powerpoint/2010/main" val="295520627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message of this slide is that we’re making progress! Obviously it’s a long way from frog legs to people.</a:t>
            </a:r>
          </a:p>
          <a:p>
            <a:endParaRPr lang="en-US" dirty="0"/>
          </a:p>
          <a:p>
            <a:r>
              <a:rPr lang="en-US" dirty="0"/>
              <a:t>Their original work was to find a drug cocktail that induced regrowth of a tail. They then tried to exact same cocktail on a rear leg, and it worked fine. Note that the regrowth was not complete. The message is that inducing a </a:t>
            </a:r>
            <a:r>
              <a:rPr lang="en-US" dirty="0" err="1"/>
              <a:t>V</a:t>
            </a:r>
            <a:r>
              <a:rPr lang="en-US" baseline="-25000" dirty="0" err="1"/>
              <a:t>mem</a:t>
            </a:r>
            <a:r>
              <a:rPr lang="en-US" dirty="0"/>
              <a:t> really is a “build whatever normally goes here” signal.</a:t>
            </a:r>
          </a:p>
        </p:txBody>
      </p:sp>
      <p:sp>
        <p:nvSpPr>
          <p:cNvPr id="4" name="Slide Number Placeholder 3"/>
          <p:cNvSpPr>
            <a:spLocks noGrp="1"/>
          </p:cNvSpPr>
          <p:nvPr>
            <p:ph type="sldNum" sz="quarter" idx="10"/>
          </p:nvPr>
        </p:nvSpPr>
        <p:spPr/>
        <p:txBody>
          <a:bodyPr/>
          <a:lstStyle/>
          <a:p>
            <a:pPr>
              <a:defRPr/>
            </a:pPr>
            <a:fld id="{5B598F11-C2C5-40D4-B32B-C1AF9DA155A1}" type="slidenum">
              <a:rPr lang="en-US" altLang="en-US" smtClean="0"/>
              <a:pPr>
                <a:defRPr/>
              </a:pPr>
              <a:t>35</a:t>
            </a:fld>
            <a:endParaRPr lang="en-US" altLang="en-US"/>
          </a:p>
        </p:txBody>
      </p:sp>
    </p:spTree>
    <p:extLst>
      <p:ext uri="{BB962C8B-B14F-4D97-AF65-F5344CB8AC3E}">
        <p14:creationId xmlns:p14="http://schemas.microsoft.com/office/powerpoint/2010/main" val="335596545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“all done” signal tells the body we no longer need all of the extra mechanism involved in body growth. In humans, for many functions, the “all done” signal implements changes that we don’t really know how to undo. But induced pluripotent stem cells suggest it’s </a:t>
            </a:r>
            <a:r>
              <a:rPr lang="en-US"/>
              <a:t>still possible.</a:t>
            </a:r>
            <a:endParaRPr lang="en-US" dirty="0"/>
          </a:p>
        </p:txBody>
      </p:sp>
      <p:sp>
        <p:nvSpPr>
          <p:cNvPr id="4" name="Slide Number Placeholder 3"/>
          <p:cNvSpPr>
            <a:spLocks noGrp="1"/>
          </p:cNvSpPr>
          <p:nvPr>
            <p:ph type="sldNum" sz="quarter" idx="10"/>
          </p:nvPr>
        </p:nvSpPr>
        <p:spPr/>
        <p:txBody>
          <a:bodyPr/>
          <a:lstStyle/>
          <a:p>
            <a:pPr>
              <a:defRPr/>
            </a:pPr>
            <a:fld id="{5B598F11-C2C5-40D4-B32B-C1AF9DA155A1}" type="slidenum">
              <a:rPr lang="en-US" altLang="en-US" smtClean="0"/>
              <a:pPr>
                <a:defRPr/>
              </a:pPr>
              <a:t>40</a:t>
            </a:fld>
            <a:endParaRPr lang="en-US" altLang="en-US"/>
          </a:p>
        </p:txBody>
      </p:sp>
    </p:spTree>
    <p:extLst>
      <p:ext uri="{BB962C8B-B14F-4D97-AF65-F5344CB8AC3E}">
        <p14:creationId xmlns:p14="http://schemas.microsoft.com/office/powerpoint/2010/main" val="227541011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5B598F11-C2C5-40D4-B32B-C1AF9DA155A1}" type="slidenum">
              <a:rPr lang="en-US" altLang="en-US" smtClean="0"/>
              <a:pPr>
                <a:defRPr/>
              </a:pPr>
              <a:t>41</a:t>
            </a:fld>
            <a:endParaRPr lang="en-US" altLang="en-US"/>
          </a:p>
        </p:txBody>
      </p:sp>
    </p:spTree>
    <p:extLst>
      <p:ext uri="{BB962C8B-B14F-4D97-AF65-F5344CB8AC3E}">
        <p14:creationId xmlns:p14="http://schemas.microsoft.com/office/powerpoint/2010/main" val="78548935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could argue that many/most advances in our knowledge of biology come from new techniques in measurement/observation!</a:t>
            </a:r>
          </a:p>
          <a:p>
            <a:endParaRPr lang="en-US" dirty="0"/>
          </a:p>
        </p:txBody>
      </p:sp>
      <p:sp>
        <p:nvSpPr>
          <p:cNvPr id="4" name="Slide Number Placeholder 3"/>
          <p:cNvSpPr>
            <a:spLocks noGrp="1"/>
          </p:cNvSpPr>
          <p:nvPr>
            <p:ph type="sldNum" sz="quarter" idx="10"/>
          </p:nvPr>
        </p:nvSpPr>
        <p:spPr/>
        <p:txBody>
          <a:bodyPr/>
          <a:lstStyle/>
          <a:p>
            <a:pPr>
              <a:defRPr/>
            </a:pPr>
            <a:fld id="{5B598F11-C2C5-40D4-B32B-C1AF9DA155A1}" type="slidenum">
              <a:rPr lang="en-US" altLang="en-US" smtClean="0"/>
              <a:pPr>
                <a:defRPr/>
              </a:pPr>
              <a:t>45</a:t>
            </a:fld>
            <a:endParaRPr lang="en-US" altLang="en-US"/>
          </a:p>
        </p:txBody>
      </p:sp>
    </p:spTree>
    <p:extLst>
      <p:ext uri="{BB962C8B-B14F-4D97-AF65-F5344CB8AC3E}">
        <p14:creationId xmlns:p14="http://schemas.microsoft.com/office/powerpoint/2010/main" val="214081446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5B598F11-C2C5-40D4-B32B-C1AF9DA155A1}" type="slidenum">
              <a:rPr lang="en-US" altLang="en-US" smtClean="0"/>
              <a:pPr>
                <a:defRPr/>
              </a:pPr>
              <a:t>51</a:t>
            </a:fld>
            <a:endParaRPr lang="en-US" altLang="en-US"/>
          </a:p>
        </p:txBody>
      </p:sp>
    </p:spTree>
    <p:extLst>
      <p:ext uri="{BB962C8B-B14F-4D97-AF65-F5344CB8AC3E}">
        <p14:creationId xmlns:p14="http://schemas.microsoft.com/office/powerpoint/2010/main" val="276694913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r>
              <a:rPr lang="en-US" dirty="0"/>
              <a:t>Bioelectricity Joel Grodstein</a:t>
            </a:r>
          </a:p>
        </p:txBody>
      </p:sp>
    </p:spTree>
    <p:extLst>
      <p:ext uri="{BB962C8B-B14F-4D97-AF65-F5344CB8AC3E}">
        <p14:creationId xmlns:p14="http://schemas.microsoft.com/office/powerpoint/2010/main" val="205376161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xfrm>
            <a:off x="3124200" y="6474648"/>
            <a:ext cx="2895600" cy="215444"/>
          </a:xfrm>
          <a:ln/>
        </p:spPr>
        <p:txBody>
          <a:bodyPr lIns="0" tIns="0" rIns="0" bIns="0">
            <a:spAutoFit/>
          </a:bodyPr>
          <a:lstStyle>
            <a:lvl1pPr>
              <a:defRPr/>
            </a:lvl1pPr>
          </a:lstStyle>
          <a:p>
            <a:pPr>
              <a:defRPr/>
            </a:pPr>
            <a:r>
              <a:rPr lang="en-US" dirty="0"/>
              <a:t>Bioelectricity Joel Grodstein</a:t>
            </a:r>
          </a:p>
        </p:txBody>
      </p:sp>
    </p:spTree>
    <p:extLst>
      <p:ext uri="{BB962C8B-B14F-4D97-AF65-F5344CB8AC3E}">
        <p14:creationId xmlns:p14="http://schemas.microsoft.com/office/powerpoint/2010/main" val="346669183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r>
              <a:rPr lang="en-US" dirty="0"/>
              <a:t>Bioelectricity Joel Grodstein</a:t>
            </a:r>
          </a:p>
        </p:txBody>
      </p:sp>
    </p:spTree>
    <p:extLst>
      <p:ext uri="{BB962C8B-B14F-4D97-AF65-F5344CB8AC3E}">
        <p14:creationId xmlns:p14="http://schemas.microsoft.com/office/powerpoint/2010/main" val="19310402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85800" y="1676400"/>
            <a:ext cx="3810000" cy="44196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76400"/>
            <a:ext cx="3810000" cy="44196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r>
              <a:rPr lang="en-US" dirty="0"/>
              <a:t>Bioelectricity Joel Grodstein</a:t>
            </a:r>
          </a:p>
        </p:txBody>
      </p:sp>
    </p:spTree>
    <p:extLst>
      <p:ext uri="{BB962C8B-B14F-4D97-AF65-F5344CB8AC3E}">
        <p14:creationId xmlns:p14="http://schemas.microsoft.com/office/powerpoint/2010/main" val="215055049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4"/>
          <p:cNvSpPr>
            <a:spLocks noGrp="1" noChangeArrowheads="1"/>
          </p:cNvSpPr>
          <p:nvPr>
            <p:ph type="dt" sz="half" idx="10"/>
          </p:nvPr>
        </p:nvSpPr>
        <p:spPr>
          <a:ln/>
        </p:spPr>
        <p:txBody>
          <a:bodyPr/>
          <a:lstStyle>
            <a:lvl1pPr>
              <a:defRPr/>
            </a:lvl1pPr>
          </a:lstStyle>
          <a:p>
            <a:pPr>
              <a:defRPr/>
            </a:pPr>
            <a:endParaRPr lang="en-US"/>
          </a:p>
        </p:txBody>
      </p:sp>
      <p:sp>
        <p:nvSpPr>
          <p:cNvPr id="8" name="Rectangle 5"/>
          <p:cNvSpPr>
            <a:spLocks noGrp="1" noChangeArrowheads="1"/>
          </p:cNvSpPr>
          <p:nvPr>
            <p:ph type="ftr" sz="quarter" idx="11"/>
          </p:nvPr>
        </p:nvSpPr>
        <p:spPr>
          <a:ln/>
        </p:spPr>
        <p:txBody>
          <a:bodyPr/>
          <a:lstStyle>
            <a:lvl1pPr>
              <a:defRPr/>
            </a:lvl1pPr>
          </a:lstStyle>
          <a:p>
            <a:pPr>
              <a:defRPr/>
            </a:pPr>
            <a:r>
              <a:rPr lang="en-US" dirty="0"/>
              <a:t>Bioelectricity Joel Grodstein</a:t>
            </a:r>
          </a:p>
        </p:txBody>
      </p:sp>
    </p:spTree>
    <p:extLst>
      <p:ext uri="{BB962C8B-B14F-4D97-AF65-F5344CB8AC3E}">
        <p14:creationId xmlns:p14="http://schemas.microsoft.com/office/powerpoint/2010/main" val="65896268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4"/>
          <p:cNvSpPr>
            <a:spLocks noGrp="1" noChangeArrowheads="1"/>
          </p:cNvSpPr>
          <p:nvPr>
            <p:ph type="dt" sz="half" idx="10"/>
          </p:nvPr>
        </p:nvSpPr>
        <p:spPr>
          <a:ln/>
        </p:spPr>
        <p:txBody>
          <a:bodyPr/>
          <a:lstStyle>
            <a:lvl1pPr>
              <a:defRPr/>
            </a:lvl1pPr>
          </a:lstStyle>
          <a:p>
            <a:pPr>
              <a:defRPr/>
            </a:pPr>
            <a:endParaRPr lang="en-US"/>
          </a:p>
        </p:txBody>
      </p:sp>
      <p:sp>
        <p:nvSpPr>
          <p:cNvPr id="4" name="Rectangle 5"/>
          <p:cNvSpPr>
            <a:spLocks noGrp="1" noChangeArrowheads="1"/>
          </p:cNvSpPr>
          <p:nvPr>
            <p:ph type="ftr" sz="quarter" idx="11"/>
          </p:nvPr>
        </p:nvSpPr>
        <p:spPr>
          <a:ln/>
        </p:spPr>
        <p:txBody>
          <a:bodyPr/>
          <a:lstStyle>
            <a:lvl1pPr>
              <a:defRPr/>
            </a:lvl1pPr>
          </a:lstStyle>
          <a:p>
            <a:pPr>
              <a:defRPr/>
            </a:pPr>
            <a:r>
              <a:rPr lang="en-US" dirty="0"/>
              <a:t>Bioelectricity Joel Grodstein</a:t>
            </a:r>
          </a:p>
        </p:txBody>
      </p:sp>
    </p:spTree>
    <p:extLst>
      <p:ext uri="{BB962C8B-B14F-4D97-AF65-F5344CB8AC3E}">
        <p14:creationId xmlns:p14="http://schemas.microsoft.com/office/powerpoint/2010/main" val="152176224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endParaRPr lang="en-US"/>
          </a:p>
        </p:txBody>
      </p:sp>
      <p:sp>
        <p:nvSpPr>
          <p:cNvPr id="3" name="Rectangle 5"/>
          <p:cNvSpPr>
            <a:spLocks noGrp="1" noChangeArrowheads="1"/>
          </p:cNvSpPr>
          <p:nvPr>
            <p:ph type="ftr" sz="quarter" idx="11"/>
          </p:nvPr>
        </p:nvSpPr>
        <p:spPr>
          <a:ln/>
        </p:spPr>
        <p:txBody>
          <a:bodyPr/>
          <a:lstStyle>
            <a:lvl1pPr>
              <a:defRPr/>
            </a:lvl1pPr>
          </a:lstStyle>
          <a:p>
            <a:pPr>
              <a:defRPr/>
            </a:pPr>
            <a:r>
              <a:rPr lang="en-US" dirty="0"/>
              <a:t>Bioelectricity Joel Grodstein</a:t>
            </a:r>
          </a:p>
        </p:txBody>
      </p:sp>
    </p:spTree>
    <p:extLst>
      <p:ext uri="{BB962C8B-B14F-4D97-AF65-F5344CB8AC3E}">
        <p14:creationId xmlns:p14="http://schemas.microsoft.com/office/powerpoint/2010/main" val="105385886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r>
              <a:rPr lang="en-US" dirty="0"/>
              <a:t>Bioelectricity Joel Grodstein</a:t>
            </a:r>
          </a:p>
        </p:txBody>
      </p:sp>
    </p:spTree>
    <p:extLst>
      <p:ext uri="{BB962C8B-B14F-4D97-AF65-F5344CB8AC3E}">
        <p14:creationId xmlns:p14="http://schemas.microsoft.com/office/powerpoint/2010/main" val="87689842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r>
              <a:rPr lang="en-US" dirty="0"/>
              <a:t>Bioelectricity Joel Grodstein</a:t>
            </a:r>
          </a:p>
        </p:txBody>
      </p:sp>
    </p:spTree>
    <p:extLst>
      <p:ext uri="{BB962C8B-B14F-4D97-AF65-F5344CB8AC3E}">
        <p14:creationId xmlns:p14="http://schemas.microsoft.com/office/powerpoint/2010/main" val="142147654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r>
              <a:rPr lang="en-US" dirty="0"/>
              <a:t>Bioelectricity Joel Grodstein</a:t>
            </a:r>
          </a:p>
        </p:txBody>
      </p:sp>
    </p:spTree>
    <p:extLst>
      <p:ext uri="{BB962C8B-B14F-4D97-AF65-F5344CB8AC3E}">
        <p14:creationId xmlns:p14="http://schemas.microsoft.com/office/powerpoint/2010/main" val="241151834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15100" y="304800"/>
            <a:ext cx="1943100" cy="57912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85800" y="304800"/>
            <a:ext cx="5676900" cy="57912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r>
              <a:rPr lang="en-US" dirty="0"/>
              <a:t>Bioelectricity Joel Grodstein</a:t>
            </a:r>
          </a:p>
        </p:txBody>
      </p:sp>
    </p:spTree>
    <p:extLst>
      <p:ext uri="{BB962C8B-B14F-4D97-AF65-F5344CB8AC3E}">
        <p14:creationId xmlns:p14="http://schemas.microsoft.com/office/powerpoint/2010/main" val="187693444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685800" y="304800"/>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1027" name="Rectangle 3"/>
          <p:cNvSpPr>
            <a:spLocks noGrp="1" noChangeArrowheads="1"/>
          </p:cNvSpPr>
          <p:nvPr>
            <p:ph type="body" idx="1"/>
          </p:nvPr>
        </p:nvSpPr>
        <p:spPr bwMode="auto">
          <a:xfrm>
            <a:off x="685800" y="1676400"/>
            <a:ext cx="7772400" cy="441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1028" name="Rectangle 4"/>
          <p:cNvSpPr>
            <a:spLocks noGrp="1" noChangeArrowheads="1"/>
          </p:cNvSpPr>
          <p:nvPr>
            <p:ph type="dt" sz="half" idx="2"/>
          </p:nvPr>
        </p:nvSpPr>
        <p:spPr bwMode="auto">
          <a:xfrm>
            <a:off x="685800" y="6248400"/>
            <a:ext cx="1905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sz="1400">
                <a:cs typeface="+mn-cs"/>
              </a:defRPr>
            </a:lvl1pPr>
          </a:lstStyle>
          <a:p>
            <a:pPr>
              <a:defRPr/>
            </a:pPr>
            <a:endParaRPr lang="en-US"/>
          </a:p>
        </p:txBody>
      </p:sp>
      <p:sp>
        <p:nvSpPr>
          <p:cNvPr id="1029" name="Rectangle 5"/>
          <p:cNvSpPr>
            <a:spLocks noGrp="1" noChangeArrowheads="1"/>
          </p:cNvSpPr>
          <p:nvPr>
            <p:ph type="ftr" sz="quarter" idx="3"/>
          </p:nvPr>
        </p:nvSpPr>
        <p:spPr bwMode="auto">
          <a:xfrm>
            <a:off x="3124200" y="6248400"/>
            <a:ext cx="28956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eaLnBrk="1" hangingPunct="1">
              <a:defRPr sz="1400" dirty="0" smtClean="0">
                <a:cs typeface="+mn-cs"/>
              </a:defRPr>
            </a:lvl1pPr>
          </a:lstStyle>
          <a:p>
            <a:pPr>
              <a:defRPr/>
            </a:pPr>
            <a:r>
              <a:rPr lang="en-US" dirty="0"/>
              <a:t>Bioelectricity Joel Grodstein</a:t>
            </a:r>
          </a:p>
        </p:txBody>
      </p:sp>
      <p:sp>
        <p:nvSpPr>
          <p:cNvPr id="1033" name="Rectangle 9"/>
          <p:cNvSpPr>
            <a:spLocks noChangeArrowheads="1"/>
          </p:cNvSpPr>
          <p:nvPr/>
        </p:nvSpPr>
        <p:spPr bwMode="auto">
          <a:xfrm>
            <a:off x="5715000" y="6248400"/>
            <a:ext cx="2895600" cy="457200"/>
          </a:xfrm>
          <a:prstGeom prst="rect">
            <a:avLst/>
          </a:prstGeom>
          <a:noFill/>
          <a:ln w="9525">
            <a:noFill/>
            <a:miter lim="800000"/>
            <a:headEnd/>
            <a:tailEnd/>
          </a:ln>
          <a:effectLst/>
        </p:spPr>
        <p:txBody>
          <a:bodyPr/>
          <a:lstStyle>
            <a:lvl1pPr eaLnBrk="0" hangingPunct="0">
              <a:defRPr sz="2400">
                <a:solidFill>
                  <a:schemeClr val="tx1"/>
                </a:solidFill>
                <a:latin typeface="Times New Roman" panose="02020603050405020304" pitchFamily="18" charset="0"/>
                <a:cs typeface="Arial" panose="020B0604020202020204" pitchFamily="34" charset="0"/>
              </a:defRPr>
            </a:lvl1pPr>
            <a:lvl2pPr marL="742950" indent="-285750" eaLnBrk="0" hangingPunct="0">
              <a:defRPr sz="2400">
                <a:solidFill>
                  <a:schemeClr val="tx1"/>
                </a:solidFill>
                <a:latin typeface="Times New Roman" panose="02020603050405020304" pitchFamily="18" charset="0"/>
                <a:cs typeface="Arial" panose="020B0604020202020204" pitchFamily="34" charset="0"/>
              </a:defRPr>
            </a:lvl2pPr>
            <a:lvl3pPr marL="1143000" indent="-228600" eaLnBrk="0" hangingPunct="0">
              <a:defRPr sz="2400">
                <a:solidFill>
                  <a:schemeClr val="tx1"/>
                </a:solidFill>
                <a:latin typeface="Times New Roman" panose="02020603050405020304" pitchFamily="18" charset="0"/>
                <a:cs typeface="Arial" panose="020B0604020202020204" pitchFamily="34" charset="0"/>
              </a:defRPr>
            </a:lvl3pPr>
            <a:lvl4pPr marL="1600200" indent="-228600" eaLnBrk="0" hangingPunct="0">
              <a:defRPr sz="2400">
                <a:solidFill>
                  <a:schemeClr val="tx1"/>
                </a:solidFill>
                <a:latin typeface="Times New Roman" panose="02020603050405020304" pitchFamily="18" charset="0"/>
                <a:cs typeface="Arial" panose="020B0604020202020204" pitchFamily="34" charset="0"/>
              </a:defRPr>
            </a:lvl4pPr>
            <a:lvl5pPr marL="2057400" indent="-228600" eaLnBrk="0" hangingPunct="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algn="r" eaLnBrk="1" hangingPunct="1">
              <a:defRPr/>
            </a:pPr>
            <a:fld id="{2ECDC20A-2A00-44F3-B6D9-A07784439C41}" type="slidenum">
              <a:rPr lang="en-US" altLang="en-US" sz="1400" smtClean="0"/>
              <a:pPr algn="r" eaLnBrk="1" hangingPunct="1">
                <a:defRPr/>
              </a:pPr>
              <a:t>‹#›</a:t>
            </a:fld>
            <a:endParaRPr lang="en-US" altLang="en-US" sz="140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dt="0"/>
  <p:txStyles>
    <p:titleStyle>
      <a:lvl1pPr algn="ctr" rtl="0" eaLnBrk="0" fontAlgn="base" hangingPunct="0">
        <a:spcBef>
          <a:spcPct val="0"/>
        </a:spcBef>
        <a:spcAft>
          <a:spcPct val="0"/>
        </a:spcAft>
        <a:defRPr sz="4400">
          <a:solidFill>
            <a:schemeClr val="accent2"/>
          </a:solidFill>
          <a:latin typeface="+mj-lt"/>
          <a:ea typeface="+mj-ea"/>
          <a:cs typeface="+mj-cs"/>
        </a:defRPr>
      </a:lvl1pPr>
      <a:lvl2pPr algn="ctr" rtl="0" eaLnBrk="0" fontAlgn="base" hangingPunct="0">
        <a:spcBef>
          <a:spcPct val="0"/>
        </a:spcBef>
        <a:spcAft>
          <a:spcPct val="0"/>
        </a:spcAft>
        <a:defRPr sz="4400">
          <a:solidFill>
            <a:schemeClr val="accent2"/>
          </a:solidFill>
          <a:latin typeface="Times New Roman" pitchFamily="18" charset="0"/>
        </a:defRPr>
      </a:lvl2pPr>
      <a:lvl3pPr algn="ctr" rtl="0" eaLnBrk="0" fontAlgn="base" hangingPunct="0">
        <a:spcBef>
          <a:spcPct val="0"/>
        </a:spcBef>
        <a:spcAft>
          <a:spcPct val="0"/>
        </a:spcAft>
        <a:defRPr sz="4400">
          <a:solidFill>
            <a:schemeClr val="accent2"/>
          </a:solidFill>
          <a:latin typeface="Times New Roman" pitchFamily="18" charset="0"/>
        </a:defRPr>
      </a:lvl3pPr>
      <a:lvl4pPr algn="ctr" rtl="0" eaLnBrk="0" fontAlgn="base" hangingPunct="0">
        <a:spcBef>
          <a:spcPct val="0"/>
        </a:spcBef>
        <a:spcAft>
          <a:spcPct val="0"/>
        </a:spcAft>
        <a:defRPr sz="4400">
          <a:solidFill>
            <a:schemeClr val="accent2"/>
          </a:solidFill>
          <a:latin typeface="Times New Roman" pitchFamily="18" charset="0"/>
        </a:defRPr>
      </a:lvl4pPr>
      <a:lvl5pPr algn="ctr" rtl="0" eaLnBrk="0" fontAlgn="base" hangingPunct="0">
        <a:spcBef>
          <a:spcPct val="0"/>
        </a:spcBef>
        <a:spcAft>
          <a:spcPct val="0"/>
        </a:spcAft>
        <a:defRPr sz="4400">
          <a:solidFill>
            <a:schemeClr val="accent2"/>
          </a:solidFill>
          <a:latin typeface="Times New Roman" pitchFamily="18" charset="0"/>
        </a:defRPr>
      </a:lvl5pPr>
      <a:lvl6pPr marL="457200" algn="ctr" rtl="0" fontAlgn="base">
        <a:spcBef>
          <a:spcPct val="0"/>
        </a:spcBef>
        <a:spcAft>
          <a:spcPct val="0"/>
        </a:spcAft>
        <a:defRPr sz="4400">
          <a:solidFill>
            <a:schemeClr val="accent2"/>
          </a:solidFill>
          <a:latin typeface="Times New Roman" pitchFamily="18" charset="0"/>
        </a:defRPr>
      </a:lvl6pPr>
      <a:lvl7pPr marL="914400" algn="ctr" rtl="0" fontAlgn="base">
        <a:spcBef>
          <a:spcPct val="0"/>
        </a:spcBef>
        <a:spcAft>
          <a:spcPct val="0"/>
        </a:spcAft>
        <a:defRPr sz="4400">
          <a:solidFill>
            <a:schemeClr val="accent2"/>
          </a:solidFill>
          <a:latin typeface="Times New Roman" pitchFamily="18" charset="0"/>
        </a:defRPr>
      </a:lvl7pPr>
      <a:lvl8pPr marL="1371600" algn="ctr" rtl="0" fontAlgn="base">
        <a:spcBef>
          <a:spcPct val="0"/>
        </a:spcBef>
        <a:spcAft>
          <a:spcPct val="0"/>
        </a:spcAft>
        <a:defRPr sz="4400">
          <a:solidFill>
            <a:schemeClr val="accent2"/>
          </a:solidFill>
          <a:latin typeface="Times New Roman" pitchFamily="18" charset="0"/>
        </a:defRPr>
      </a:lvl8pPr>
      <a:lvl9pPr marL="1828800" algn="ctr" rtl="0" fontAlgn="base">
        <a:spcBef>
          <a:spcPct val="0"/>
        </a:spcBef>
        <a:spcAft>
          <a:spcPct val="0"/>
        </a:spcAft>
        <a:defRPr sz="4400">
          <a:solidFill>
            <a:schemeClr val="accent2"/>
          </a:solidFill>
          <a:latin typeface="Times New Roman" pitchFamily="18" charset="0"/>
        </a:defRPr>
      </a:lvl9pPr>
    </p:titleStyle>
    <p:bodyStyle>
      <a:lvl1pPr marL="342900" indent="-342900" algn="l" rtl="0" eaLnBrk="0" fontAlgn="base" hangingPunct="0">
        <a:spcBef>
          <a:spcPct val="20000"/>
        </a:spcBef>
        <a:spcAft>
          <a:spcPct val="0"/>
        </a:spcAft>
        <a:buChar char="•"/>
        <a:defRPr sz="28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mailto:Joel.grodstein@tufts.edu"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4.jpg"/></Relationships>
</file>

<file path=ppt/slides/_rels/slide12.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6.jp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10.jpg"/></Relationships>
</file>

<file path=ppt/slides/_rels/slide1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2.jp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2.jp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3.gif"/><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4.jp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hyperlink" Target="https://allencenter.tufts.edu/" TargetMode="External"/><Relationship Id="rId2" Type="http://schemas.openxmlformats.org/officeDocument/2006/relationships/hyperlink" Target="https://vimeo.com/184365295" TargetMode="External"/><Relationship Id="rId1" Type="http://schemas.openxmlformats.org/officeDocument/2006/relationships/slideLayout" Target="../slideLayouts/slideLayout2.xml"/><Relationship Id="rId4" Type="http://schemas.openxmlformats.org/officeDocument/2006/relationships/hyperlink" Target="https://allencenter.tufts.edu/our-research/publications/" TargetMode="External"/></Relationships>
</file>

<file path=ppt/slides/_rels/slide3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19.jp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20.jp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ChangeArrowheads="1"/>
          </p:cNvSpPr>
          <p:nvPr>
            <p:ph type="ctrTitle"/>
          </p:nvPr>
        </p:nvSpPr>
        <p:spPr>
          <a:xfrm>
            <a:off x="609600" y="381000"/>
            <a:ext cx="7772400" cy="1752600"/>
          </a:xfrm>
        </p:spPr>
        <p:txBody>
          <a:bodyPr/>
          <a:lstStyle/>
          <a:p>
            <a:pPr eaLnBrk="1" hangingPunct="1"/>
            <a:r>
              <a:rPr lang="en-US" altLang="en-US" dirty="0"/>
              <a:t>EE 123</a:t>
            </a:r>
            <a:br>
              <a:rPr lang="en-US" altLang="en-US" dirty="0"/>
            </a:br>
            <a:r>
              <a:rPr lang="en-US" altLang="en-US" dirty="0"/>
              <a:t>Bioelectricity</a:t>
            </a:r>
          </a:p>
        </p:txBody>
      </p:sp>
      <p:sp>
        <p:nvSpPr>
          <p:cNvPr id="4099" name="Rectangle 3"/>
          <p:cNvSpPr>
            <a:spLocks noGrp="1" noChangeArrowheads="1"/>
          </p:cNvSpPr>
          <p:nvPr>
            <p:ph type="subTitle" idx="1"/>
          </p:nvPr>
        </p:nvSpPr>
        <p:spPr>
          <a:xfrm>
            <a:off x="381000" y="2514600"/>
            <a:ext cx="8382000" cy="3352800"/>
          </a:xfrm>
        </p:spPr>
        <p:txBody>
          <a:bodyPr/>
          <a:lstStyle/>
          <a:p>
            <a:pPr eaLnBrk="1" hangingPunct="1"/>
            <a:r>
              <a:rPr lang="en-US" altLang="en-US"/>
              <a:t>Tufts </a:t>
            </a:r>
            <a:r>
              <a:rPr lang="en-US" altLang="en-US" dirty="0"/>
              <a:t>University</a:t>
            </a:r>
          </a:p>
          <a:p>
            <a:pPr eaLnBrk="1" hangingPunct="1"/>
            <a:endParaRPr lang="en-US" altLang="en-US" dirty="0"/>
          </a:p>
          <a:p>
            <a:pPr eaLnBrk="1" hangingPunct="1"/>
            <a:r>
              <a:rPr lang="en-US" altLang="en-US" dirty="0"/>
              <a:t>Instructor: Joel </a:t>
            </a:r>
            <a:r>
              <a:rPr lang="en-US" altLang="en-US" dirty="0" err="1"/>
              <a:t>Grodstein</a:t>
            </a:r>
            <a:endParaRPr lang="en-US" altLang="en-US" dirty="0"/>
          </a:p>
          <a:p>
            <a:pPr eaLnBrk="1" hangingPunct="1"/>
            <a:r>
              <a:rPr lang="en-US" altLang="en-US" dirty="0">
                <a:solidFill>
                  <a:schemeClr val="accent2"/>
                </a:solidFill>
                <a:hlinkClick r:id="rId2"/>
              </a:rPr>
              <a:t>joel.grodstein@tufts.edu</a:t>
            </a:r>
            <a:endParaRPr lang="en-US" altLang="en-US" dirty="0">
              <a:solidFill>
                <a:schemeClr val="accent2"/>
              </a:solidFill>
            </a:endParaRPr>
          </a:p>
          <a:p>
            <a:pPr eaLnBrk="1" hangingPunct="1"/>
            <a:endParaRPr lang="en-US" altLang="en-US" dirty="0"/>
          </a:p>
          <a:p>
            <a:pPr eaLnBrk="1" hangingPunct="1"/>
            <a:r>
              <a:rPr lang="it-IT" altLang="en-US" dirty="0"/>
              <a:t>Lecture 4b: morphogenesis</a:t>
            </a:r>
            <a:endParaRPr lang="en-US" alt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341EA2-E5A1-440A-BBF7-FB047BEE8DC4}"/>
              </a:ext>
            </a:extLst>
          </p:cNvPr>
          <p:cNvSpPr>
            <a:spLocks noGrp="1"/>
          </p:cNvSpPr>
          <p:nvPr>
            <p:ph type="title"/>
          </p:nvPr>
        </p:nvSpPr>
        <p:spPr/>
        <p:txBody>
          <a:bodyPr/>
          <a:lstStyle/>
          <a:p>
            <a:r>
              <a:rPr lang="en-US" dirty="0"/>
              <a:t>Big picture of the course</a:t>
            </a:r>
          </a:p>
        </p:txBody>
      </p:sp>
      <p:sp>
        <p:nvSpPr>
          <p:cNvPr id="3" name="Content Placeholder 2">
            <a:extLst>
              <a:ext uri="{FF2B5EF4-FFF2-40B4-BE49-F238E27FC236}">
                <a16:creationId xmlns:a16="http://schemas.microsoft.com/office/drawing/2014/main" id="{EBFCE431-A316-4FC0-8AF3-D404C161E888}"/>
              </a:ext>
            </a:extLst>
          </p:cNvPr>
          <p:cNvSpPr>
            <a:spLocks noGrp="1"/>
          </p:cNvSpPr>
          <p:nvPr>
            <p:ph idx="1"/>
          </p:nvPr>
        </p:nvSpPr>
        <p:spPr/>
        <p:txBody>
          <a:bodyPr/>
          <a:lstStyle/>
          <a:p>
            <a:r>
              <a:rPr lang="en-US" dirty="0"/>
              <a:t>Where does bioelectricity come from?</a:t>
            </a:r>
          </a:p>
          <a:p>
            <a:r>
              <a:rPr lang="en-US" dirty="0"/>
              <a:t>Neurons and working with the nervous system</a:t>
            </a:r>
          </a:p>
          <a:p>
            <a:r>
              <a:rPr lang="en-US" dirty="0"/>
              <a:t>Cardiac bioelectricity</a:t>
            </a:r>
          </a:p>
          <a:p>
            <a:r>
              <a:rPr lang="en-US" dirty="0"/>
              <a:t>Morphogenesis/cancer</a:t>
            </a:r>
          </a:p>
        </p:txBody>
      </p:sp>
      <p:sp>
        <p:nvSpPr>
          <p:cNvPr id="4" name="Footer Placeholder 3">
            <a:extLst>
              <a:ext uri="{FF2B5EF4-FFF2-40B4-BE49-F238E27FC236}">
                <a16:creationId xmlns:a16="http://schemas.microsoft.com/office/drawing/2014/main" id="{14E3BD7B-8458-45C8-871C-FBDAA3E4015E}"/>
              </a:ext>
            </a:extLst>
          </p:cNvPr>
          <p:cNvSpPr>
            <a:spLocks noGrp="1"/>
          </p:cNvSpPr>
          <p:nvPr>
            <p:ph type="ftr" sz="quarter" idx="11"/>
          </p:nvPr>
        </p:nvSpPr>
        <p:spPr/>
        <p:txBody>
          <a:bodyPr/>
          <a:lstStyle/>
          <a:p>
            <a:pPr>
              <a:defRPr/>
            </a:pPr>
            <a:r>
              <a:rPr lang="en-US"/>
              <a:t>EE 123 Joel Grodstein</a:t>
            </a:r>
            <a:endParaRPr lang="en-US" dirty="0"/>
          </a:p>
        </p:txBody>
      </p:sp>
      <p:sp>
        <p:nvSpPr>
          <p:cNvPr id="5" name="Rectangle 4">
            <a:extLst>
              <a:ext uri="{FF2B5EF4-FFF2-40B4-BE49-F238E27FC236}">
                <a16:creationId xmlns:a16="http://schemas.microsoft.com/office/drawing/2014/main" id="{041E2B69-E4B6-4750-B290-80ED5391C427}"/>
              </a:ext>
            </a:extLst>
          </p:cNvPr>
          <p:cNvSpPr/>
          <p:nvPr/>
        </p:nvSpPr>
        <p:spPr>
          <a:xfrm>
            <a:off x="566928" y="3242735"/>
            <a:ext cx="3914637" cy="554736"/>
          </a:xfrm>
          <a:prstGeom prst="rect">
            <a:avLst/>
          </a:prstGeom>
          <a:noFill/>
          <a:ln>
            <a:solidFill>
              <a:schemeClr val="accent2"/>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15BE1A18-5FBC-477D-ACD9-528EE03B2C5C}"/>
              </a:ext>
            </a:extLst>
          </p:cNvPr>
          <p:cNvSpPr txBox="1"/>
          <p:nvPr/>
        </p:nvSpPr>
        <p:spPr>
          <a:xfrm>
            <a:off x="2715490" y="3797471"/>
            <a:ext cx="4294909" cy="1200329"/>
          </a:xfrm>
          <a:prstGeom prst="rect">
            <a:avLst/>
          </a:prstGeom>
          <a:noFill/>
        </p:spPr>
        <p:txBody>
          <a:bodyPr wrap="square" rtlCol="0">
            <a:spAutoFit/>
          </a:bodyPr>
          <a:lstStyle/>
          <a:p>
            <a:pPr marL="342900" indent="-342900">
              <a:buFont typeface="Arial" panose="020B0604020202020204" pitchFamily="34" charset="0"/>
              <a:buChar char="•"/>
            </a:pPr>
            <a:r>
              <a:rPr lang="en-US" dirty="0"/>
              <a:t>Bio backgrounder</a:t>
            </a:r>
          </a:p>
          <a:p>
            <a:pPr marL="342900" indent="-342900">
              <a:buFont typeface="Arial" panose="020B0604020202020204" pitchFamily="34" charset="0"/>
              <a:buChar char="•"/>
            </a:pPr>
            <a:r>
              <a:rPr lang="en-US" dirty="0"/>
              <a:t>Morphogenesis</a:t>
            </a:r>
          </a:p>
          <a:p>
            <a:pPr marL="342900" indent="-342900">
              <a:buFont typeface="Arial" panose="020B0604020202020204" pitchFamily="34" charset="0"/>
              <a:buChar char="•"/>
            </a:pPr>
            <a:r>
              <a:rPr lang="en-US" dirty="0"/>
              <a:t>Cancer</a:t>
            </a:r>
          </a:p>
        </p:txBody>
      </p:sp>
      <p:sp>
        <p:nvSpPr>
          <p:cNvPr id="7" name="Rectangle 6">
            <a:extLst>
              <a:ext uri="{FF2B5EF4-FFF2-40B4-BE49-F238E27FC236}">
                <a16:creationId xmlns:a16="http://schemas.microsoft.com/office/drawing/2014/main" id="{8EEE76F2-1DF8-45A2-B0AE-34EB321F822D}"/>
              </a:ext>
            </a:extLst>
          </p:cNvPr>
          <p:cNvSpPr/>
          <p:nvPr/>
        </p:nvSpPr>
        <p:spPr>
          <a:xfrm>
            <a:off x="3102316" y="4202545"/>
            <a:ext cx="2153175" cy="430813"/>
          </a:xfrm>
          <a:prstGeom prst="rect">
            <a:avLst/>
          </a:prstGeom>
          <a:noFill/>
          <a:ln>
            <a:solidFill>
              <a:schemeClr val="accent2"/>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6983671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A8A89AF-F7A5-4310-922C-021AF72B1D49}"/>
              </a:ext>
            </a:extLst>
          </p:cNvPr>
          <p:cNvSpPr>
            <a:spLocks noGrp="1"/>
          </p:cNvSpPr>
          <p:nvPr>
            <p:ph idx="1"/>
          </p:nvPr>
        </p:nvSpPr>
        <p:spPr>
          <a:xfrm>
            <a:off x="85726" y="5226668"/>
            <a:ext cx="4981574" cy="516907"/>
          </a:xfrm>
        </p:spPr>
        <p:txBody>
          <a:bodyPr/>
          <a:lstStyle/>
          <a:p>
            <a:r>
              <a:rPr lang="en-US" sz="2400" dirty="0"/>
              <a:t>From </a:t>
            </a:r>
            <a:r>
              <a:rPr lang="en-US" sz="2400" i="1" dirty="0"/>
              <a:t>Speedbump</a:t>
            </a:r>
            <a:r>
              <a:rPr lang="en-US" sz="2400" dirty="0"/>
              <a:t>, by Dave </a:t>
            </a:r>
            <a:r>
              <a:rPr lang="en-US" sz="2400" dirty="0" err="1"/>
              <a:t>Coverly</a:t>
            </a:r>
            <a:endParaRPr lang="en-US" sz="2400" dirty="0"/>
          </a:p>
        </p:txBody>
      </p:sp>
      <p:sp>
        <p:nvSpPr>
          <p:cNvPr id="4" name="Footer Placeholder 3">
            <a:extLst>
              <a:ext uri="{FF2B5EF4-FFF2-40B4-BE49-F238E27FC236}">
                <a16:creationId xmlns:a16="http://schemas.microsoft.com/office/drawing/2014/main" id="{28131FBC-96C3-4ABD-B596-1E90F80458A8}"/>
              </a:ext>
            </a:extLst>
          </p:cNvPr>
          <p:cNvSpPr>
            <a:spLocks noGrp="1"/>
          </p:cNvSpPr>
          <p:nvPr>
            <p:ph type="ftr" sz="quarter" idx="11"/>
          </p:nvPr>
        </p:nvSpPr>
        <p:spPr/>
        <p:txBody>
          <a:bodyPr/>
          <a:lstStyle/>
          <a:p>
            <a:pPr>
              <a:defRPr/>
            </a:pPr>
            <a:r>
              <a:rPr lang="en-US" dirty="0"/>
              <a:t>Bioelectricity Joel Grodstein</a:t>
            </a:r>
          </a:p>
        </p:txBody>
      </p:sp>
      <p:pic>
        <p:nvPicPr>
          <p:cNvPr id="6" name="Picture 5">
            <a:extLst>
              <a:ext uri="{FF2B5EF4-FFF2-40B4-BE49-F238E27FC236}">
                <a16:creationId xmlns:a16="http://schemas.microsoft.com/office/drawing/2014/main" id="{DD89687D-D5DA-4741-AFAD-C35FA03A5FC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09074" y="226042"/>
            <a:ext cx="4572000" cy="5000625"/>
          </a:xfrm>
          <a:prstGeom prst="rect">
            <a:avLst/>
          </a:prstGeom>
        </p:spPr>
      </p:pic>
      <p:sp>
        <p:nvSpPr>
          <p:cNvPr id="5" name="Content Placeholder 2">
            <a:extLst>
              <a:ext uri="{FF2B5EF4-FFF2-40B4-BE49-F238E27FC236}">
                <a16:creationId xmlns:a16="http://schemas.microsoft.com/office/drawing/2014/main" id="{8FA0F6AE-42CB-48C6-9668-2EB591FD0C86}"/>
              </a:ext>
            </a:extLst>
          </p:cNvPr>
          <p:cNvSpPr txBox="1">
            <a:spLocks/>
          </p:cNvSpPr>
          <p:nvPr/>
        </p:nvSpPr>
        <p:spPr bwMode="auto">
          <a:xfrm>
            <a:off x="4981074" y="167908"/>
            <a:ext cx="3841913" cy="3927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har char="•"/>
              <a:defRPr sz="28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r>
              <a:rPr lang="en-US" sz="2400" kern="0" dirty="0"/>
              <a:t>We said that cells express proteins based on chemicals in their environment. Do you think the stripes will eventually go away?</a:t>
            </a:r>
          </a:p>
        </p:txBody>
      </p:sp>
    </p:spTree>
    <p:extLst>
      <p:ext uri="{BB962C8B-B14F-4D97-AF65-F5344CB8AC3E}">
        <p14:creationId xmlns:p14="http://schemas.microsoft.com/office/powerpoint/2010/main" val="27224976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D13B3B-53AF-402E-850F-0566743BFC3D}"/>
              </a:ext>
            </a:extLst>
          </p:cNvPr>
          <p:cNvSpPr>
            <a:spLocks noGrp="1"/>
          </p:cNvSpPr>
          <p:nvPr>
            <p:ph type="title"/>
          </p:nvPr>
        </p:nvSpPr>
        <p:spPr/>
        <p:txBody>
          <a:bodyPr/>
          <a:lstStyle/>
          <a:p>
            <a:r>
              <a:rPr lang="en-US" dirty="0"/>
              <a:t>Regenerative medicine</a:t>
            </a:r>
          </a:p>
        </p:txBody>
      </p:sp>
      <p:sp>
        <p:nvSpPr>
          <p:cNvPr id="3" name="Content Placeholder 2">
            <a:extLst>
              <a:ext uri="{FF2B5EF4-FFF2-40B4-BE49-F238E27FC236}">
                <a16:creationId xmlns:a16="http://schemas.microsoft.com/office/drawing/2014/main" id="{32DFAD6C-3B46-40B7-81EA-BF2553E173B8}"/>
              </a:ext>
            </a:extLst>
          </p:cNvPr>
          <p:cNvSpPr>
            <a:spLocks noGrp="1"/>
          </p:cNvSpPr>
          <p:nvPr>
            <p:ph idx="1"/>
          </p:nvPr>
        </p:nvSpPr>
        <p:spPr>
          <a:xfrm>
            <a:off x="304797" y="1676400"/>
            <a:ext cx="8458200" cy="4419600"/>
          </a:xfrm>
        </p:spPr>
        <p:txBody>
          <a:bodyPr/>
          <a:lstStyle/>
          <a:p>
            <a:r>
              <a:rPr lang="en-US" dirty="0"/>
              <a:t>Various diseases are best treated with organ transplants</a:t>
            </a:r>
          </a:p>
          <a:p>
            <a:pPr lvl="1">
              <a:spcBef>
                <a:spcPts val="0"/>
              </a:spcBef>
            </a:pPr>
            <a:r>
              <a:rPr lang="en-US" dirty="0"/>
              <a:t>Kidney transplants for diabetes</a:t>
            </a:r>
          </a:p>
          <a:p>
            <a:pPr lvl="1">
              <a:spcBef>
                <a:spcPts val="0"/>
              </a:spcBef>
            </a:pPr>
            <a:r>
              <a:rPr lang="en-US" dirty="0"/>
              <a:t>Liver (cirrhosis, hepatitis)</a:t>
            </a:r>
          </a:p>
          <a:p>
            <a:pPr lvl="1">
              <a:spcBef>
                <a:spcPts val="0"/>
              </a:spcBef>
            </a:pPr>
            <a:r>
              <a:rPr lang="en-US" dirty="0"/>
              <a:t>Heart (various heart diseases)</a:t>
            </a:r>
          </a:p>
          <a:p>
            <a:r>
              <a:rPr lang="en-US" dirty="0"/>
              <a:t>Organ transplants have problems</a:t>
            </a:r>
          </a:p>
          <a:p>
            <a:pPr lvl="1">
              <a:spcBef>
                <a:spcPts val="0"/>
              </a:spcBef>
            </a:pPr>
            <a:r>
              <a:rPr lang="en-US" dirty="0"/>
              <a:t>Typically far more requestors than available organs</a:t>
            </a:r>
          </a:p>
          <a:p>
            <a:pPr lvl="1">
              <a:spcBef>
                <a:spcPts val="0"/>
              </a:spcBef>
            </a:pPr>
            <a:r>
              <a:rPr lang="en-US" dirty="0"/>
              <a:t>Rejection is a constant problem</a:t>
            </a:r>
          </a:p>
          <a:p>
            <a:pPr lvl="1">
              <a:spcBef>
                <a:spcPts val="0"/>
              </a:spcBef>
            </a:pPr>
            <a:r>
              <a:rPr lang="en-US" dirty="0"/>
              <a:t>A lifetime of immune-suppressant drugs is no picnic</a:t>
            </a:r>
          </a:p>
          <a:p>
            <a:r>
              <a:rPr lang="en-US" dirty="0"/>
              <a:t>Is there a better way?</a:t>
            </a:r>
          </a:p>
          <a:p>
            <a:pPr lvl="1">
              <a:spcBef>
                <a:spcPts val="0"/>
              </a:spcBef>
            </a:pPr>
            <a:r>
              <a:rPr lang="en-US" dirty="0"/>
              <a:t>Regenerative medicine</a:t>
            </a:r>
          </a:p>
          <a:p>
            <a:endParaRPr lang="en-US" dirty="0"/>
          </a:p>
        </p:txBody>
      </p:sp>
      <p:sp>
        <p:nvSpPr>
          <p:cNvPr id="4" name="Footer Placeholder 3">
            <a:extLst>
              <a:ext uri="{FF2B5EF4-FFF2-40B4-BE49-F238E27FC236}">
                <a16:creationId xmlns:a16="http://schemas.microsoft.com/office/drawing/2014/main" id="{A93A2ECF-2E34-4E5E-88B0-CAA6C546F6EA}"/>
              </a:ext>
            </a:extLst>
          </p:cNvPr>
          <p:cNvSpPr>
            <a:spLocks noGrp="1"/>
          </p:cNvSpPr>
          <p:nvPr>
            <p:ph type="ftr" sz="quarter" idx="11"/>
          </p:nvPr>
        </p:nvSpPr>
        <p:spPr/>
        <p:txBody>
          <a:bodyPr/>
          <a:lstStyle/>
          <a:p>
            <a:pPr>
              <a:defRPr/>
            </a:pPr>
            <a:r>
              <a:rPr lang="en-US" dirty="0"/>
              <a:t>Bioelectricity Joel Grodstein</a:t>
            </a:r>
          </a:p>
        </p:txBody>
      </p:sp>
    </p:spTree>
    <p:extLst>
      <p:ext uri="{BB962C8B-B14F-4D97-AF65-F5344CB8AC3E}">
        <p14:creationId xmlns:p14="http://schemas.microsoft.com/office/powerpoint/2010/main" val="33692971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animEffect transition="in" filter="fade">
                                      <p:cBhvr>
                                        <p:cTn id="7" dur="500"/>
                                        <p:tgtEl>
                                          <p:spTgt spid="3">
                                            <p:txEl>
                                              <p:pRg st="4" end="4"/>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5" end="5"/>
                                            </p:txEl>
                                          </p:spTgt>
                                        </p:tgtEl>
                                        <p:attrNameLst>
                                          <p:attrName>style.visibility</p:attrName>
                                        </p:attrNameLst>
                                      </p:cBhvr>
                                      <p:to>
                                        <p:strVal val="visible"/>
                                      </p:to>
                                    </p:set>
                                    <p:animEffect transition="in" filter="fade">
                                      <p:cBhvr>
                                        <p:cTn id="10" dur="500"/>
                                        <p:tgtEl>
                                          <p:spTgt spid="3">
                                            <p:txEl>
                                              <p:pRg st="5" end="5"/>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3">
                                            <p:txEl>
                                              <p:pRg st="6" end="6"/>
                                            </p:txEl>
                                          </p:spTgt>
                                        </p:tgtEl>
                                        <p:attrNameLst>
                                          <p:attrName>style.visibility</p:attrName>
                                        </p:attrNameLst>
                                      </p:cBhvr>
                                      <p:to>
                                        <p:strVal val="visible"/>
                                      </p:to>
                                    </p:set>
                                    <p:animEffect transition="in" filter="fade">
                                      <p:cBhvr>
                                        <p:cTn id="13" dur="500"/>
                                        <p:tgtEl>
                                          <p:spTgt spid="3">
                                            <p:txEl>
                                              <p:pRg st="6" end="6"/>
                                            </p:txEl>
                                          </p:spTgt>
                                        </p:tgtEl>
                                      </p:cBhvr>
                                    </p:animEffect>
                                  </p:childTnLst>
                                </p:cTn>
                              </p:par>
                              <p:par>
                                <p:cTn id="14" presetID="10" presetClass="entr" presetSubtype="0" fill="hold" nodeType="withEffect">
                                  <p:stCondLst>
                                    <p:cond delay="0"/>
                                  </p:stCondLst>
                                  <p:childTnLst>
                                    <p:set>
                                      <p:cBhvr>
                                        <p:cTn id="15" dur="1" fill="hold">
                                          <p:stCondLst>
                                            <p:cond delay="0"/>
                                          </p:stCondLst>
                                        </p:cTn>
                                        <p:tgtEl>
                                          <p:spTgt spid="3">
                                            <p:txEl>
                                              <p:pRg st="7" end="7"/>
                                            </p:txEl>
                                          </p:spTgt>
                                        </p:tgtEl>
                                        <p:attrNameLst>
                                          <p:attrName>style.visibility</p:attrName>
                                        </p:attrNameLst>
                                      </p:cBhvr>
                                      <p:to>
                                        <p:strVal val="visible"/>
                                      </p:to>
                                    </p:set>
                                    <p:animEffect transition="in" filter="fade">
                                      <p:cBhvr>
                                        <p:cTn id="16" dur="500"/>
                                        <p:tgtEl>
                                          <p:spTgt spid="3">
                                            <p:txEl>
                                              <p:pRg st="7" end="7"/>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3">
                                            <p:txEl>
                                              <p:pRg st="8" end="8"/>
                                            </p:txEl>
                                          </p:spTgt>
                                        </p:tgtEl>
                                        <p:attrNameLst>
                                          <p:attrName>style.visibility</p:attrName>
                                        </p:attrNameLst>
                                      </p:cBhvr>
                                      <p:to>
                                        <p:strVal val="visible"/>
                                      </p:to>
                                    </p:set>
                                    <p:animEffect transition="in" filter="fade">
                                      <p:cBhvr>
                                        <p:cTn id="21" dur="500"/>
                                        <p:tgtEl>
                                          <p:spTgt spid="3">
                                            <p:txEl>
                                              <p:pRg st="8" end="8"/>
                                            </p:txEl>
                                          </p:spTgt>
                                        </p:tgtEl>
                                      </p:cBhvr>
                                    </p:animEffect>
                                  </p:childTnLst>
                                </p:cTn>
                              </p:par>
                              <p:par>
                                <p:cTn id="22" presetID="10" presetClass="entr" presetSubtype="0" fill="hold" nodeType="withEffect">
                                  <p:stCondLst>
                                    <p:cond delay="0"/>
                                  </p:stCondLst>
                                  <p:childTnLst>
                                    <p:set>
                                      <p:cBhvr>
                                        <p:cTn id="23" dur="1" fill="hold">
                                          <p:stCondLst>
                                            <p:cond delay="0"/>
                                          </p:stCondLst>
                                        </p:cTn>
                                        <p:tgtEl>
                                          <p:spTgt spid="3">
                                            <p:txEl>
                                              <p:pRg st="9" end="9"/>
                                            </p:txEl>
                                          </p:spTgt>
                                        </p:tgtEl>
                                        <p:attrNameLst>
                                          <p:attrName>style.visibility</p:attrName>
                                        </p:attrNameLst>
                                      </p:cBhvr>
                                      <p:to>
                                        <p:strVal val="visible"/>
                                      </p:to>
                                    </p:set>
                                    <p:animEffect transition="in" filter="fade">
                                      <p:cBhvr>
                                        <p:cTn id="24" dur="500"/>
                                        <p:tgtEl>
                                          <p:spTgt spid="3">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2F5557-6B12-4E83-9EA9-4ABC5D960ECE}"/>
              </a:ext>
            </a:extLst>
          </p:cNvPr>
          <p:cNvSpPr>
            <a:spLocks noGrp="1"/>
          </p:cNvSpPr>
          <p:nvPr>
            <p:ph type="title"/>
          </p:nvPr>
        </p:nvSpPr>
        <p:spPr/>
        <p:txBody>
          <a:bodyPr/>
          <a:lstStyle/>
          <a:p>
            <a:r>
              <a:rPr lang="en-US" dirty="0"/>
              <a:t>Regenerative medicine</a:t>
            </a:r>
          </a:p>
        </p:txBody>
      </p:sp>
      <p:sp>
        <p:nvSpPr>
          <p:cNvPr id="3" name="Content Placeholder 2">
            <a:extLst>
              <a:ext uri="{FF2B5EF4-FFF2-40B4-BE49-F238E27FC236}">
                <a16:creationId xmlns:a16="http://schemas.microsoft.com/office/drawing/2014/main" id="{BA0C3D4A-4068-4211-8C70-02BB5BCD7BE7}"/>
              </a:ext>
            </a:extLst>
          </p:cNvPr>
          <p:cNvSpPr>
            <a:spLocks noGrp="1"/>
          </p:cNvSpPr>
          <p:nvPr>
            <p:ph idx="1"/>
          </p:nvPr>
        </p:nvSpPr>
        <p:spPr>
          <a:xfrm>
            <a:off x="685800" y="1625598"/>
            <a:ext cx="7772400" cy="4419600"/>
          </a:xfrm>
        </p:spPr>
        <p:txBody>
          <a:bodyPr/>
          <a:lstStyle/>
          <a:p>
            <a:r>
              <a:rPr lang="en-US" sz="2400" dirty="0"/>
              <a:t>Not quite ready for prime time yet</a:t>
            </a:r>
          </a:p>
          <a:p>
            <a:r>
              <a:rPr lang="en-US" sz="2400" dirty="0"/>
              <a:t>Hope #1:</a:t>
            </a:r>
          </a:p>
          <a:p>
            <a:pPr lvl="1">
              <a:spcBef>
                <a:spcPts val="0"/>
              </a:spcBef>
            </a:pPr>
            <a:r>
              <a:rPr lang="en-US" sz="2000" dirty="0"/>
              <a:t>stimulate the body to regrow its own organs</a:t>
            </a:r>
          </a:p>
          <a:p>
            <a:pPr lvl="1">
              <a:spcBef>
                <a:spcPts val="0"/>
              </a:spcBef>
            </a:pPr>
            <a:r>
              <a:rPr lang="en-US" sz="2000" dirty="0"/>
              <a:t>adult humans don’t really do that</a:t>
            </a:r>
          </a:p>
          <a:p>
            <a:r>
              <a:rPr lang="en-US" sz="2400" dirty="0"/>
              <a:t>Hope #2</a:t>
            </a:r>
          </a:p>
          <a:p>
            <a:pPr lvl="1">
              <a:spcBef>
                <a:spcPts val="0"/>
              </a:spcBef>
            </a:pPr>
            <a:r>
              <a:rPr lang="en-US" sz="2000" dirty="0"/>
              <a:t>Start with induced pluripotent stem cells and grow organs in vitro</a:t>
            </a:r>
          </a:p>
          <a:p>
            <a:pPr lvl="1">
              <a:spcBef>
                <a:spcPts val="0"/>
              </a:spcBef>
            </a:pPr>
            <a:r>
              <a:rPr lang="en-US" sz="2000" dirty="0"/>
              <a:t>Precisely controlling every detail of growing a kidney in a lab seems impossible</a:t>
            </a:r>
          </a:p>
          <a:p>
            <a:pPr lvl="1">
              <a:spcBef>
                <a:spcPts val="0"/>
              </a:spcBef>
            </a:pPr>
            <a:r>
              <a:rPr lang="en-US" sz="2000" dirty="0"/>
              <a:t>We need a high-level API</a:t>
            </a:r>
          </a:p>
          <a:p>
            <a:pPr marL="457200" lvl="1" indent="0">
              <a:spcBef>
                <a:spcPts val="0"/>
              </a:spcBef>
              <a:buNone/>
            </a:pPr>
            <a:endParaRPr lang="en-US" sz="2000" dirty="0"/>
          </a:p>
        </p:txBody>
      </p:sp>
      <p:sp>
        <p:nvSpPr>
          <p:cNvPr id="4" name="Footer Placeholder 3">
            <a:extLst>
              <a:ext uri="{FF2B5EF4-FFF2-40B4-BE49-F238E27FC236}">
                <a16:creationId xmlns:a16="http://schemas.microsoft.com/office/drawing/2014/main" id="{086167CB-1311-43AB-8981-CD922EDBEC4E}"/>
              </a:ext>
            </a:extLst>
          </p:cNvPr>
          <p:cNvSpPr>
            <a:spLocks noGrp="1"/>
          </p:cNvSpPr>
          <p:nvPr>
            <p:ph type="ftr" sz="quarter" idx="11"/>
          </p:nvPr>
        </p:nvSpPr>
        <p:spPr/>
        <p:txBody>
          <a:bodyPr/>
          <a:lstStyle/>
          <a:p>
            <a:pPr>
              <a:defRPr/>
            </a:pPr>
            <a:r>
              <a:rPr lang="en-US" dirty="0"/>
              <a:t>Bioelectricity Joel Grodstein</a:t>
            </a:r>
          </a:p>
        </p:txBody>
      </p:sp>
    </p:spTree>
    <p:extLst>
      <p:ext uri="{BB962C8B-B14F-4D97-AF65-F5344CB8AC3E}">
        <p14:creationId xmlns:p14="http://schemas.microsoft.com/office/powerpoint/2010/main" val="21135905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
                                            <p:txEl>
                                              <p:pRg st="2" end="2"/>
                                            </p:txEl>
                                          </p:spTgt>
                                        </p:tgtEl>
                                        <p:attrNameLst>
                                          <p:attrName>style.visibility</p:attrName>
                                        </p:attrNameLst>
                                      </p:cBhvr>
                                      <p:to>
                                        <p:strVal val="visible"/>
                                      </p:to>
                                    </p:set>
                                    <p:animEffect transition="in" filter="fade">
                                      <p:cBhvr>
                                        <p:cTn id="10" dur="500"/>
                                        <p:tgtEl>
                                          <p:spTgt spid="3">
                                            <p:txEl>
                                              <p:pRg st="2" end="2"/>
                                            </p:txEl>
                                          </p:spTgt>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animEffect transition="in" filter="fade">
                                      <p:cBhvr>
                                        <p:cTn id="13" dur="500"/>
                                        <p:tgtEl>
                                          <p:spTgt spid="3">
                                            <p:txEl>
                                              <p:pRg st="3" end="3"/>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3">
                                            <p:txEl>
                                              <p:pRg st="4" end="4"/>
                                            </p:txEl>
                                          </p:spTgt>
                                        </p:tgtEl>
                                        <p:attrNameLst>
                                          <p:attrName>style.visibility</p:attrName>
                                        </p:attrNameLst>
                                      </p:cBhvr>
                                      <p:to>
                                        <p:strVal val="visible"/>
                                      </p:to>
                                    </p:set>
                                    <p:animEffect transition="in" filter="fade">
                                      <p:cBhvr>
                                        <p:cTn id="18" dur="500"/>
                                        <p:tgtEl>
                                          <p:spTgt spid="3">
                                            <p:txEl>
                                              <p:pRg st="4" end="4"/>
                                            </p:txEl>
                                          </p:spTgt>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animEffect transition="in" filter="fade">
                                      <p:cBhvr>
                                        <p:cTn id="21" dur="500"/>
                                        <p:tgtEl>
                                          <p:spTgt spid="3">
                                            <p:txEl>
                                              <p:pRg st="5" end="5"/>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3">
                                            <p:txEl>
                                              <p:pRg st="6" end="6"/>
                                            </p:txEl>
                                          </p:spTgt>
                                        </p:tgtEl>
                                        <p:attrNameLst>
                                          <p:attrName>style.visibility</p:attrName>
                                        </p:attrNameLst>
                                      </p:cBhvr>
                                      <p:to>
                                        <p:strVal val="visible"/>
                                      </p:to>
                                    </p:set>
                                    <p:animEffect transition="in" filter="fade">
                                      <p:cBhvr>
                                        <p:cTn id="26" dur="500"/>
                                        <p:tgtEl>
                                          <p:spTgt spid="3">
                                            <p:txEl>
                                              <p:pRg st="6" end="6"/>
                                            </p:txEl>
                                          </p:spTgt>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3">
                                            <p:txEl>
                                              <p:pRg st="7" end="7"/>
                                            </p:txEl>
                                          </p:spTgt>
                                        </p:tgtEl>
                                        <p:attrNameLst>
                                          <p:attrName>style.visibility</p:attrName>
                                        </p:attrNameLst>
                                      </p:cBhvr>
                                      <p:to>
                                        <p:strVal val="visible"/>
                                      </p:to>
                                    </p:set>
                                    <p:animEffect transition="in" filter="fade">
                                      <p:cBhvr>
                                        <p:cTn id="29" dur="5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EE1A99-0089-4D35-8B98-CC045FA762EF}"/>
              </a:ext>
            </a:extLst>
          </p:cNvPr>
          <p:cNvSpPr>
            <a:spLocks noGrp="1"/>
          </p:cNvSpPr>
          <p:nvPr>
            <p:ph type="title"/>
          </p:nvPr>
        </p:nvSpPr>
        <p:spPr/>
        <p:txBody>
          <a:bodyPr/>
          <a:lstStyle/>
          <a:p>
            <a:r>
              <a:rPr lang="en-US" dirty="0"/>
              <a:t>The Big Picture</a:t>
            </a:r>
          </a:p>
        </p:txBody>
      </p:sp>
      <p:sp>
        <p:nvSpPr>
          <p:cNvPr id="3" name="Content Placeholder 2">
            <a:extLst>
              <a:ext uri="{FF2B5EF4-FFF2-40B4-BE49-F238E27FC236}">
                <a16:creationId xmlns:a16="http://schemas.microsoft.com/office/drawing/2014/main" id="{375DDAED-AD3B-488C-A1C4-EFA2FCBD6F10}"/>
              </a:ext>
            </a:extLst>
          </p:cNvPr>
          <p:cNvSpPr>
            <a:spLocks noGrp="1"/>
          </p:cNvSpPr>
          <p:nvPr>
            <p:ph idx="1"/>
          </p:nvPr>
        </p:nvSpPr>
        <p:spPr>
          <a:xfrm>
            <a:off x="570390" y="1481092"/>
            <a:ext cx="8271934" cy="4199467"/>
          </a:xfrm>
        </p:spPr>
        <p:txBody>
          <a:bodyPr/>
          <a:lstStyle/>
          <a:p>
            <a:r>
              <a:rPr lang="en-US" sz="2400" dirty="0"/>
              <a:t>Morphogenesis is a big cool mystery</a:t>
            </a:r>
          </a:p>
          <a:p>
            <a:pPr lvl="1">
              <a:spcBef>
                <a:spcPts val="0"/>
              </a:spcBef>
            </a:pPr>
            <a:r>
              <a:rPr lang="en-US" sz="2000" dirty="0"/>
              <a:t>If we understand it, we may understand regenerative medicine and cancer</a:t>
            </a:r>
          </a:p>
          <a:p>
            <a:pPr>
              <a:spcBef>
                <a:spcPts val="600"/>
              </a:spcBef>
            </a:pPr>
            <a:r>
              <a:rPr lang="en-US" sz="2400" dirty="0"/>
              <a:t>Observations</a:t>
            </a:r>
          </a:p>
          <a:p>
            <a:pPr lvl="1">
              <a:spcBef>
                <a:spcPts val="0"/>
              </a:spcBef>
            </a:pPr>
            <a:r>
              <a:rPr lang="en-US" sz="2000" dirty="0"/>
              <a:t>planaria and tadpoles can regrow organs</a:t>
            </a:r>
          </a:p>
          <a:p>
            <a:pPr lvl="1">
              <a:spcBef>
                <a:spcPts val="0"/>
              </a:spcBef>
            </a:pPr>
            <a:r>
              <a:rPr lang="en-US" sz="2000" dirty="0"/>
              <a:t>what can we learn from them?</a:t>
            </a:r>
          </a:p>
          <a:p>
            <a:r>
              <a:rPr lang="en-US" sz="2400" dirty="0"/>
              <a:t>Our plan for morphogenesis</a:t>
            </a:r>
          </a:p>
          <a:p>
            <a:pPr lvl="1">
              <a:spcBef>
                <a:spcPts val="0"/>
              </a:spcBef>
            </a:pPr>
            <a:r>
              <a:rPr lang="en-US" sz="2000" dirty="0"/>
              <a:t>Look at the weird, wonderful things that animals can do</a:t>
            </a:r>
          </a:p>
          <a:p>
            <a:pPr lvl="1">
              <a:spcBef>
                <a:spcPts val="0"/>
              </a:spcBef>
            </a:pPr>
            <a:r>
              <a:rPr lang="en-US" sz="2000" dirty="0"/>
              <a:t>Hypothesize: what algorithms are they using?</a:t>
            </a:r>
          </a:p>
          <a:p>
            <a:pPr lvl="1">
              <a:spcBef>
                <a:spcPts val="0"/>
              </a:spcBef>
            </a:pPr>
            <a:r>
              <a:rPr lang="en-US" sz="2000" dirty="0"/>
              <a:t>Might it be bioelectrical?</a:t>
            </a:r>
          </a:p>
          <a:p>
            <a:pPr lvl="1">
              <a:spcBef>
                <a:spcPts val="0"/>
              </a:spcBef>
            </a:pPr>
            <a:endParaRPr lang="en-US" sz="2000" dirty="0"/>
          </a:p>
        </p:txBody>
      </p:sp>
      <p:sp>
        <p:nvSpPr>
          <p:cNvPr id="4" name="Footer Placeholder 3">
            <a:extLst>
              <a:ext uri="{FF2B5EF4-FFF2-40B4-BE49-F238E27FC236}">
                <a16:creationId xmlns:a16="http://schemas.microsoft.com/office/drawing/2014/main" id="{8F9333DD-3556-4973-965A-7F11E261C248}"/>
              </a:ext>
            </a:extLst>
          </p:cNvPr>
          <p:cNvSpPr>
            <a:spLocks noGrp="1"/>
          </p:cNvSpPr>
          <p:nvPr>
            <p:ph type="ftr" sz="quarter" idx="11"/>
          </p:nvPr>
        </p:nvSpPr>
        <p:spPr/>
        <p:txBody>
          <a:bodyPr/>
          <a:lstStyle/>
          <a:p>
            <a:pPr>
              <a:defRPr/>
            </a:pPr>
            <a:r>
              <a:rPr lang="en-US" dirty="0"/>
              <a:t>Bioelectricity Joel Grodstein</a:t>
            </a:r>
          </a:p>
        </p:txBody>
      </p:sp>
    </p:spTree>
    <p:extLst>
      <p:ext uri="{BB962C8B-B14F-4D97-AF65-F5344CB8AC3E}">
        <p14:creationId xmlns:p14="http://schemas.microsoft.com/office/powerpoint/2010/main" val="21770295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fade">
                                      <p:cBhvr>
                                        <p:cTn id="7" dur="500"/>
                                        <p:tgtEl>
                                          <p:spTgt spid="3">
                                            <p:txEl>
                                              <p:pRg st="2" end="2"/>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3" end="3"/>
                                            </p:txEl>
                                          </p:spTgt>
                                        </p:tgtEl>
                                        <p:attrNameLst>
                                          <p:attrName>style.visibility</p:attrName>
                                        </p:attrNameLst>
                                      </p:cBhvr>
                                      <p:to>
                                        <p:strVal val="visible"/>
                                      </p:to>
                                    </p:set>
                                    <p:animEffect transition="in" filter="fade">
                                      <p:cBhvr>
                                        <p:cTn id="10" dur="500"/>
                                        <p:tgtEl>
                                          <p:spTgt spid="3">
                                            <p:txEl>
                                              <p:pRg st="3" end="3"/>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3">
                                            <p:txEl>
                                              <p:pRg st="4" end="4"/>
                                            </p:txEl>
                                          </p:spTgt>
                                        </p:tgtEl>
                                        <p:attrNameLst>
                                          <p:attrName>style.visibility</p:attrName>
                                        </p:attrNameLst>
                                      </p:cBhvr>
                                      <p:to>
                                        <p:strVal val="visible"/>
                                      </p:to>
                                    </p:set>
                                    <p:animEffect transition="in" filter="fade">
                                      <p:cBhvr>
                                        <p:cTn id="13" dur="500"/>
                                        <p:tgtEl>
                                          <p:spTgt spid="3">
                                            <p:txEl>
                                              <p:pRg st="4" end="4"/>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3">
                                            <p:txEl>
                                              <p:pRg st="5" end="5"/>
                                            </p:txEl>
                                          </p:spTgt>
                                        </p:tgtEl>
                                        <p:attrNameLst>
                                          <p:attrName>style.visibility</p:attrName>
                                        </p:attrNameLst>
                                      </p:cBhvr>
                                      <p:to>
                                        <p:strVal val="visible"/>
                                      </p:to>
                                    </p:set>
                                    <p:animEffect transition="in" filter="fade">
                                      <p:cBhvr>
                                        <p:cTn id="18" dur="500"/>
                                        <p:tgtEl>
                                          <p:spTgt spid="3">
                                            <p:txEl>
                                              <p:pRg st="5" end="5"/>
                                            </p:txEl>
                                          </p:spTgt>
                                        </p:tgtEl>
                                      </p:cBhvr>
                                    </p:animEffect>
                                  </p:childTnLst>
                                </p:cTn>
                              </p:par>
                              <p:par>
                                <p:cTn id="19" presetID="10" presetClass="entr" presetSubtype="0" fill="hold" nodeType="withEffect">
                                  <p:stCondLst>
                                    <p:cond delay="0"/>
                                  </p:stCondLst>
                                  <p:childTnLst>
                                    <p:set>
                                      <p:cBhvr>
                                        <p:cTn id="20" dur="1" fill="hold">
                                          <p:stCondLst>
                                            <p:cond delay="0"/>
                                          </p:stCondLst>
                                        </p:cTn>
                                        <p:tgtEl>
                                          <p:spTgt spid="3">
                                            <p:txEl>
                                              <p:pRg st="6" end="6"/>
                                            </p:txEl>
                                          </p:spTgt>
                                        </p:tgtEl>
                                        <p:attrNameLst>
                                          <p:attrName>style.visibility</p:attrName>
                                        </p:attrNameLst>
                                      </p:cBhvr>
                                      <p:to>
                                        <p:strVal val="visible"/>
                                      </p:to>
                                    </p:set>
                                    <p:animEffect transition="in" filter="fade">
                                      <p:cBhvr>
                                        <p:cTn id="21" dur="500"/>
                                        <p:tgtEl>
                                          <p:spTgt spid="3">
                                            <p:txEl>
                                              <p:pRg st="6" end="6"/>
                                            </p:txEl>
                                          </p:spTgt>
                                        </p:tgtEl>
                                      </p:cBhvr>
                                    </p:animEffect>
                                  </p:childTnLst>
                                </p:cTn>
                              </p:par>
                              <p:par>
                                <p:cTn id="22" presetID="10" presetClass="entr" presetSubtype="0" fill="hold" nodeType="withEffect">
                                  <p:stCondLst>
                                    <p:cond delay="0"/>
                                  </p:stCondLst>
                                  <p:childTnLst>
                                    <p:set>
                                      <p:cBhvr>
                                        <p:cTn id="23" dur="1" fill="hold">
                                          <p:stCondLst>
                                            <p:cond delay="0"/>
                                          </p:stCondLst>
                                        </p:cTn>
                                        <p:tgtEl>
                                          <p:spTgt spid="3">
                                            <p:txEl>
                                              <p:pRg st="7" end="7"/>
                                            </p:txEl>
                                          </p:spTgt>
                                        </p:tgtEl>
                                        <p:attrNameLst>
                                          <p:attrName>style.visibility</p:attrName>
                                        </p:attrNameLst>
                                      </p:cBhvr>
                                      <p:to>
                                        <p:strVal val="visible"/>
                                      </p:to>
                                    </p:set>
                                    <p:animEffect transition="in" filter="fade">
                                      <p:cBhvr>
                                        <p:cTn id="24" dur="500"/>
                                        <p:tgtEl>
                                          <p:spTgt spid="3">
                                            <p:txEl>
                                              <p:pRg st="7" end="7"/>
                                            </p:txEl>
                                          </p:spTgt>
                                        </p:tgtEl>
                                      </p:cBhvr>
                                    </p:animEffect>
                                  </p:childTnLst>
                                </p:cTn>
                              </p:par>
                              <p:par>
                                <p:cTn id="25" presetID="10" presetClass="entr" presetSubtype="0" fill="hold" nodeType="withEffect">
                                  <p:stCondLst>
                                    <p:cond delay="0"/>
                                  </p:stCondLst>
                                  <p:childTnLst>
                                    <p:set>
                                      <p:cBhvr>
                                        <p:cTn id="26" dur="1" fill="hold">
                                          <p:stCondLst>
                                            <p:cond delay="0"/>
                                          </p:stCondLst>
                                        </p:cTn>
                                        <p:tgtEl>
                                          <p:spTgt spid="3">
                                            <p:txEl>
                                              <p:pRg st="8" end="8"/>
                                            </p:txEl>
                                          </p:spTgt>
                                        </p:tgtEl>
                                        <p:attrNameLst>
                                          <p:attrName>style.visibility</p:attrName>
                                        </p:attrNameLst>
                                      </p:cBhvr>
                                      <p:to>
                                        <p:strVal val="visible"/>
                                      </p:to>
                                    </p:set>
                                    <p:animEffect transition="in" filter="fade">
                                      <p:cBhvr>
                                        <p:cTn id="27" dur="500"/>
                                        <p:tgtEl>
                                          <p:spTgt spid="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FFC59F-4308-4207-8E61-4706E125E86B}"/>
              </a:ext>
            </a:extLst>
          </p:cNvPr>
          <p:cNvSpPr>
            <a:spLocks noGrp="1"/>
          </p:cNvSpPr>
          <p:nvPr>
            <p:ph type="title"/>
          </p:nvPr>
        </p:nvSpPr>
        <p:spPr/>
        <p:txBody>
          <a:bodyPr/>
          <a:lstStyle/>
          <a:p>
            <a:r>
              <a:rPr lang="en-US" dirty="0"/>
              <a:t>Why is morphogenesis hard?</a:t>
            </a:r>
          </a:p>
        </p:txBody>
      </p:sp>
      <p:sp>
        <p:nvSpPr>
          <p:cNvPr id="3" name="Content Placeholder 2">
            <a:extLst>
              <a:ext uri="{FF2B5EF4-FFF2-40B4-BE49-F238E27FC236}">
                <a16:creationId xmlns:a16="http://schemas.microsoft.com/office/drawing/2014/main" id="{8C5F7777-7114-447F-849E-55E7BC765E33}"/>
              </a:ext>
            </a:extLst>
          </p:cNvPr>
          <p:cNvSpPr>
            <a:spLocks noGrp="1"/>
          </p:cNvSpPr>
          <p:nvPr>
            <p:ph idx="1"/>
          </p:nvPr>
        </p:nvSpPr>
        <p:spPr>
          <a:xfrm>
            <a:off x="781212" y="3284738"/>
            <a:ext cx="7772400" cy="3189910"/>
          </a:xfrm>
        </p:spPr>
        <p:txBody>
          <a:bodyPr/>
          <a:lstStyle/>
          <a:p>
            <a:pPr>
              <a:spcBef>
                <a:spcPts val="0"/>
              </a:spcBef>
            </a:pPr>
            <a:r>
              <a:rPr lang="en-US" sz="2000" dirty="0"/>
              <a:t>The game of evolution is not so much about inventing new proteins, but rather about assembling the same ones in new ways (Rafael </a:t>
            </a:r>
            <a:r>
              <a:rPr lang="en-US" sz="2000" dirty="0" err="1"/>
              <a:t>Yuste</a:t>
            </a:r>
            <a:r>
              <a:rPr lang="en-US" sz="2000" dirty="0"/>
              <a:t>)</a:t>
            </a:r>
          </a:p>
          <a:p>
            <a:r>
              <a:rPr lang="en-US" sz="2000" dirty="0"/>
              <a:t>DNA just creates protein, not (directly) body shape</a:t>
            </a:r>
          </a:p>
          <a:p>
            <a:pPr lvl="1">
              <a:spcBef>
                <a:spcPts val="0"/>
              </a:spcBef>
            </a:pPr>
            <a:r>
              <a:rPr lang="en-US" sz="1800" dirty="0"/>
              <a:t>Similar DNA sequences encode very differently-shaped animals</a:t>
            </a:r>
          </a:p>
          <a:p>
            <a:pPr lvl="1">
              <a:spcBef>
                <a:spcPts val="0"/>
              </a:spcBef>
            </a:pPr>
            <a:r>
              <a:rPr lang="en-US" sz="1800" dirty="0"/>
              <a:t>No clue how to look at a genome and predict animal shape</a:t>
            </a:r>
          </a:p>
          <a:p>
            <a:pPr lvl="1">
              <a:spcBef>
                <a:spcPts val="0"/>
              </a:spcBef>
            </a:pPr>
            <a:r>
              <a:rPr lang="en-US" sz="1800" dirty="0"/>
              <a:t>Or to determine which DNA sequence will create an arbitrary shape</a:t>
            </a:r>
          </a:p>
          <a:p>
            <a:r>
              <a:rPr lang="en-US" sz="2000" dirty="0"/>
              <a:t>Is there a higher-level interpretation somewhere?</a:t>
            </a:r>
          </a:p>
          <a:p>
            <a:pPr lvl="1">
              <a:spcBef>
                <a:spcPts val="0"/>
              </a:spcBef>
            </a:pPr>
            <a:r>
              <a:rPr lang="en-US" sz="1800" dirty="0"/>
              <a:t>A string of 3 billion DNA bases is daunting</a:t>
            </a:r>
          </a:p>
          <a:p>
            <a:pPr lvl="1">
              <a:spcBef>
                <a:spcPts val="0"/>
              </a:spcBef>
            </a:pPr>
            <a:r>
              <a:rPr lang="en-US" sz="1800" dirty="0"/>
              <a:t>A high-level API would be really nice!</a:t>
            </a:r>
          </a:p>
          <a:p>
            <a:pPr>
              <a:spcBef>
                <a:spcPts val="0"/>
              </a:spcBef>
            </a:pPr>
            <a:endParaRPr lang="en-US" sz="2400" dirty="0"/>
          </a:p>
          <a:p>
            <a:endParaRPr lang="en-US" dirty="0"/>
          </a:p>
        </p:txBody>
      </p:sp>
      <p:sp>
        <p:nvSpPr>
          <p:cNvPr id="4" name="Footer Placeholder 3">
            <a:extLst>
              <a:ext uri="{FF2B5EF4-FFF2-40B4-BE49-F238E27FC236}">
                <a16:creationId xmlns:a16="http://schemas.microsoft.com/office/drawing/2014/main" id="{6DE7A32D-AD94-4F1C-B9AA-D4DDD5D42F29}"/>
              </a:ext>
            </a:extLst>
          </p:cNvPr>
          <p:cNvSpPr>
            <a:spLocks noGrp="1"/>
          </p:cNvSpPr>
          <p:nvPr>
            <p:ph type="ftr" sz="quarter" idx="11"/>
          </p:nvPr>
        </p:nvSpPr>
        <p:spPr/>
        <p:txBody>
          <a:bodyPr/>
          <a:lstStyle/>
          <a:p>
            <a:pPr>
              <a:defRPr/>
            </a:pPr>
            <a:r>
              <a:rPr lang="en-US" dirty="0"/>
              <a:t>Bioelectricity Joel Grodstein</a:t>
            </a:r>
          </a:p>
        </p:txBody>
      </p:sp>
      <p:graphicFrame>
        <p:nvGraphicFramePr>
          <p:cNvPr id="5" name="Table 4">
            <a:extLst>
              <a:ext uri="{FF2B5EF4-FFF2-40B4-BE49-F238E27FC236}">
                <a16:creationId xmlns:a16="http://schemas.microsoft.com/office/drawing/2014/main" id="{2CDE4833-A6B0-45CD-AFC9-4EAD2013BBAD}"/>
              </a:ext>
            </a:extLst>
          </p:cNvPr>
          <p:cNvGraphicFramePr>
            <a:graphicFrameLocks noGrp="1"/>
          </p:cNvGraphicFramePr>
          <p:nvPr>
            <p:extLst>
              <p:ext uri="{D42A27DB-BD31-4B8C-83A1-F6EECF244321}">
                <p14:modId xmlns:p14="http://schemas.microsoft.com/office/powerpoint/2010/main" val="1435510268"/>
              </p:ext>
            </p:extLst>
          </p:nvPr>
        </p:nvGraphicFramePr>
        <p:xfrm>
          <a:off x="1532878" y="2045067"/>
          <a:ext cx="6096000" cy="1112520"/>
        </p:xfrm>
        <a:graphic>
          <a:graphicData uri="http://schemas.openxmlformats.org/drawingml/2006/table">
            <a:tbl>
              <a:tblPr firstRow="1" bandRow="1">
                <a:tableStyleId>{5C22544A-7EE6-4342-B048-85BDC9FD1C3A}</a:tableStyleId>
              </a:tblPr>
              <a:tblGrid>
                <a:gridCol w="2032000">
                  <a:extLst>
                    <a:ext uri="{9D8B030D-6E8A-4147-A177-3AD203B41FA5}">
                      <a16:colId xmlns:a16="http://schemas.microsoft.com/office/drawing/2014/main" val="2840265394"/>
                    </a:ext>
                  </a:extLst>
                </a:gridCol>
                <a:gridCol w="2032000">
                  <a:extLst>
                    <a:ext uri="{9D8B030D-6E8A-4147-A177-3AD203B41FA5}">
                      <a16:colId xmlns:a16="http://schemas.microsoft.com/office/drawing/2014/main" val="2840298874"/>
                    </a:ext>
                  </a:extLst>
                </a:gridCol>
                <a:gridCol w="2032000">
                  <a:extLst>
                    <a:ext uri="{9D8B030D-6E8A-4147-A177-3AD203B41FA5}">
                      <a16:colId xmlns:a16="http://schemas.microsoft.com/office/drawing/2014/main" val="2878765627"/>
                    </a:ext>
                  </a:extLst>
                </a:gridCol>
              </a:tblGrid>
              <a:tr h="370840">
                <a:tc>
                  <a:txBody>
                    <a:bodyPr/>
                    <a:lstStyle/>
                    <a:p>
                      <a:endParaRPr lang="en-US" dirty="0"/>
                    </a:p>
                  </a:txBody>
                  <a:tcPr/>
                </a:tc>
                <a:tc>
                  <a:txBody>
                    <a:bodyPr/>
                    <a:lstStyle/>
                    <a:p>
                      <a:r>
                        <a:rPr lang="en-US" dirty="0"/>
                        <a:t>Hydra</a:t>
                      </a:r>
                    </a:p>
                  </a:txBody>
                  <a:tcPr/>
                </a:tc>
                <a:tc>
                  <a:txBody>
                    <a:bodyPr/>
                    <a:lstStyle/>
                    <a:p>
                      <a:r>
                        <a:rPr lang="en-US" dirty="0"/>
                        <a:t>Human</a:t>
                      </a:r>
                    </a:p>
                  </a:txBody>
                  <a:tcPr/>
                </a:tc>
                <a:extLst>
                  <a:ext uri="{0D108BD9-81ED-4DB2-BD59-A6C34878D82A}">
                    <a16:rowId xmlns:a16="http://schemas.microsoft.com/office/drawing/2014/main" val="2387575684"/>
                  </a:ext>
                </a:extLst>
              </a:tr>
              <a:tr h="370840">
                <a:tc>
                  <a:txBody>
                    <a:bodyPr/>
                    <a:lstStyle/>
                    <a:p>
                      <a:r>
                        <a:rPr lang="en-US" dirty="0"/>
                        <a:t>Genes</a:t>
                      </a:r>
                    </a:p>
                  </a:txBody>
                  <a:tcPr/>
                </a:tc>
                <a:tc>
                  <a:txBody>
                    <a:bodyPr/>
                    <a:lstStyle/>
                    <a:p>
                      <a:r>
                        <a:rPr lang="en-US" dirty="0"/>
                        <a:t>20K</a:t>
                      </a:r>
                    </a:p>
                  </a:txBody>
                  <a:tcPr/>
                </a:tc>
                <a:tc>
                  <a:txBody>
                    <a:bodyPr/>
                    <a:lstStyle/>
                    <a:p>
                      <a:r>
                        <a:rPr lang="en-US" dirty="0"/>
                        <a:t>30K</a:t>
                      </a:r>
                    </a:p>
                  </a:txBody>
                  <a:tcPr/>
                </a:tc>
                <a:extLst>
                  <a:ext uri="{0D108BD9-81ED-4DB2-BD59-A6C34878D82A}">
                    <a16:rowId xmlns:a16="http://schemas.microsoft.com/office/drawing/2014/main" val="3173502603"/>
                  </a:ext>
                </a:extLst>
              </a:tr>
              <a:tr h="370840">
                <a:tc>
                  <a:txBody>
                    <a:bodyPr/>
                    <a:lstStyle/>
                    <a:p>
                      <a:r>
                        <a:rPr lang="en-US" dirty="0"/>
                        <a:t>Neurons</a:t>
                      </a:r>
                    </a:p>
                  </a:txBody>
                  <a:tcPr/>
                </a:tc>
                <a:tc>
                  <a:txBody>
                    <a:bodyPr/>
                    <a:lstStyle/>
                    <a:p>
                      <a:r>
                        <a:rPr lang="en-US" dirty="0"/>
                        <a:t>1000</a:t>
                      </a:r>
                    </a:p>
                  </a:txBody>
                  <a:tcPr/>
                </a:tc>
                <a:tc>
                  <a:txBody>
                    <a:bodyPr/>
                    <a:lstStyle/>
                    <a:p>
                      <a:r>
                        <a:rPr lang="en-US" dirty="0"/>
                        <a:t>100 billion</a:t>
                      </a:r>
                    </a:p>
                  </a:txBody>
                  <a:tcPr/>
                </a:tc>
                <a:extLst>
                  <a:ext uri="{0D108BD9-81ED-4DB2-BD59-A6C34878D82A}">
                    <a16:rowId xmlns:a16="http://schemas.microsoft.com/office/drawing/2014/main" val="2563272514"/>
                  </a:ext>
                </a:extLst>
              </a:tr>
            </a:tbl>
          </a:graphicData>
        </a:graphic>
      </p:graphicFrame>
      <p:sp>
        <p:nvSpPr>
          <p:cNvPr id="6" name="Content Placeholder 2">
            <a:extLst>
              <a:ext uri="{FF2B5EF4-FFF2-40B4-BE49-F238E27FC236}">
                <a16:creationId xmlns:a16="http://schemas.microsoft.com/office/drawing/2014/main" id="{E9CEEB7A-4491-4FCF-A1FF-73115916E121}"/>
              </a:ext>
            </a:extLst>
          </p:cNvPr>
          <p:cNvSpPr txBox="1">
            <a:spLocks/>
          </p:cNvSpPr>
          <p:nvPr/>
        </p:nvSpPr>
        <p:spPr bwMode="auto">
          <a:xfrm>
            <a:off x="791570" y="1464815"/>
            <a:ext cx="7772400" cy="4705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har char="•"/>
              <a:defRPr sz="28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r>
              <a:rPr lang="en-US" sz="2000" kern="0" dirty="0"/>
              <a:t>If babies can do it, how hard can it be?</a:t>
            </a:r>
          </a:p>
          <a:p>
            <a:endParaRPr lang="en-US" kern="0" dirty="0"/>
          </a:p>
        </p:txBody>
      </p:sp>
    </p:spTree>
    <p:extLst>
      <p:ext uri="{BB962C8B-B14F-4D97-AF65-F5344CB8AC3E}">
        <p14:creationId xmlns:p14="http://schemas.microsoft.com/office/powerpoint/2010/main" val="24246328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500"/>
                                        <p:tgtEl>
                                          <p:spTgt spid="3">
                                            <p:txEl>
                                              <p:pRg st="0" end="0"/>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animEffect transition="in" filter="fade">
                                      <p:cBhvr>
                                        <p:cTn id="15" dur="500"/>
                                        <p:tgtEl>
                                          <p:spTgt spid="3">
                                            <p:txEl>
                                              <p:pRg st="1" end="1"/>
                                            </p:txEl>
                                          </p:spTgt>
                                        </p:tgtEl>
                                      </p:cBhvr>
                                    </p:animEffect>
                                  </p:childTnLst>
                                </p:cTn>
                              </p:par>
                              <p:par>
                                <p:cTn id="16" presetID="10" presetClass="entr" presetSubtype="0" fill="hold" nodeType="withEffect">
                                  <p:stCondLst>
                                    <p:cond delay="0"/>
                                  </p:stCondLst>
                                  <p:childTnLst>
                                    <p:set>
                                      <p:cBhvr>
                                        <p:cTn id="17" dur="1" fill="hold">
                                          <p:stCondLst>
                                            <p:cond delay="0"/>
                                          </p:stCondLst>
                                        </p:cTn>
                                        <p:tgtEl>
                                          <p:spTgt spid="3">
                                            <p:txEl>
                                              <p:pRg st="2" end="2"/>
                                            </p:txEl>
                                          </p:spTgt>
                                        </p:tgtEl>
                                        <p:attrNameLst>
                                          <p:attrName>style.visibility</p:attrName>
                                        </p:attrNameLst>
                                      </p:cBhvr>
                                      <p:to>
                                        <p:strVal val="visible"/>
                                      </p:to>
                                    </p:set>
                                    <p:animEffect transition="in" filter="fade">
                                      <p:cBhvr>
                                        <p:cTn id="18" dur="500"/>
                                        <p:tgtEl>
                                          <p:spTgt spid="3">
                                            <p:txEl>
                                              <p:pRg st="2" end="2"/>
                                            </p:txEl>
                                          </p:spTgt>
                                        </p:tgtEl>
                                      </p:cBhvr>
                                    </p:animEffect>
                                  </p:childTnLst>
                                </p:cTn>
                              </p:par>
                              <p:par>
                                <p:cTn id="19" presetID="10" presetClass="entr" presetSubtype="0" fill="hold" nodeType="with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animEffect transition="in" filter="fade">
                                      <p:cBhvr>
                                        <p:cTn id="21" dur="500"/>
                                        <p:tgtEl>
                                          <p:spTgt spid="3">
                                            <p:txEl>
                                              <p:pRg st="3" end="3"/>
                                            </p:txEl>
                                          </p:spTgt>
                                        </p:tgtEl>
                                      </p:cBhvr>
                                    </p:animEffect>
                                  </p:childTnLst>
                                </p:cTn>
                              </p:par>
                              <p:par>
                                <p:cTn id="22" presetID="10" presetClass="entr" presetSubtype="0" fill="hold" nodeType="withEffect">
                                  <p:stCondLst>
                                    <p:cond delay="0"/>
                                  </p:stCondLst>
                                  <p:childTnLst>
                                    <p:set>
                                      <p:cBhvr>
                                        <p:cTn id="23" dur="1" fill="hold">
                                          <p:stCondLst>
                                            <p:cond delay="0"/>
                                          </p:stCondLst>
                                        </p:cTn>
                                        <p:tgtEl>
                                          <p:spTgt spid="3">
                                            <p:txEl>
                                              <p:pRg st="4" end="4"/>
                                            </p:txEl>
                                          </p:spTgt>
                                        </p:tgtEl>
                                        <p:attrNameLst>
                                          <p:attrName>style.visibility</p:attrName>
                                        </p:attrNameLst>
                                      </p:cBhvr>
                                      <p:to>
                                        <p:strVal val="visible"/>
                                      </p:to>
                                    </p:set>
                                    <p:animEffect transition="in" filter="fade">
                                      <p:cBhvr>
                                        <p:cTn id="24" dur="500"/>
                                        <p:tgtEl>
                                          <p:spTgt spid="3">
                                            <p:txEl>
                                              <p:pRg st="4" end="4"/>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nodeType="clickEffect">
                                  <p:stCondLst>
                                    <p:cond delay="0"/>
                                  </p:stCondLst>
                                  <p:childTnLst>
                                    <p:set>
                                      <p:cBhvr>
                                        <p:cTn id="28" dur="1" fill="hold">
                                          <p:stCondLst>
                                            <p:cond delay="0"/>
                                          </p:stCondLst>
                                        </p:cTn>
                                        <p:tgtEl>
                                          <p:spTgt spid="3">
                                            <p:txEl>
                                              <p:pRg st="5" end="5"/>
                                            </p:txEl>
                                          </p:spTgt>
                                        </p:tgtEl>
                                        <p:attrNameLst>
                                          <p:attrName>style.visibility</p:attrName>
                                        </p:attrNameLst>
                                      </p:cBhvr>
                                      <p:to>
                                        <p:strVal val="visible"/>
                                      </p:to>
                                    </p:set>
                                    <p:animEffect transition="in" filter="fade">
                                      <p:cBhvr>
                                        <p:cTn id="29" dur="500"/>
                                        <p:tgtEl>
                                          <p:spTgt spid="3">
                                            <p:txEl>
                                              <p:pRg st="5" end="5"/>
                                            </p:txEl>
                                          </p:spTgt>
                                        </p:tgtEl>
                                      </p:cBhvr>
                                    </p:animEffect>
                                  </p:childTnLst>
                                </p:cTn>
                              </p:par>
                              <p:par>
                                <p:cTn id="30" presetID="10" presetClass="entr" presetSubtype="0" fill="hold" nodeType="withEffect">
                                  <p:stCondLst>
                                    <p:cond delay="0"/>
                                  </p:stCondLst>
                                  <p:childTnLst>
                                    <p:set>
                                      <p:cBhvr>
                                        <p:cTn id="31" dur="1" fill="hold">
                                          <p:stCondLst>
                                            <p:cond delay="0"/>
                                          </p:stCondLst>
                                        </p:cTn>
                                        <p:tgtEl>
                                          <p:spTgt spid="3">
                                            <p:txEl>
                                              <p:pRg st="6" end="6"/>
                                            </p:txEl>
                                          </p:spTgt>
                                        </p:tgtEl>
                                        <p:attrNameLst>
                                          <p:attrName>style.visibility</p:attrName>
                                        </p:attrNameLst>
                                      </p:cBhvr>
                                      <p:to>
                                        <p:strVal val="visible"/>
                                      </p:to>
                                    </p:set>
                                    <p:animEffect transition="in" filter="fade">
                                      <p:cBhvr>
                                        <p:cTn id="32" dur="500"/>
                                        <p:tgtEl>
                                          <p:spTgt spid="3">
                                            <p:txEl>
                                              <p:pRg st="6" end="6"/>
                                            </p:txEl>
                                          </p:spTgt>
                                        </p:tgtEl>
                                      </p:cBhvr>
                                    </p:animEffect>
                                  </p:childTnLst>
                                </p:cTn>
                              </p:par>
                              <p:par>
                                <p:cTn id="33" presetID="10" presetClass="entr" presetSubtype="0" fill="hold" nodeType="with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animEffect transition="in" filter="fade">
                                      <p:cBhvr>
                                        <p:cTn id="35" dur="5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6F5925-090E-46EC-A9BC-EAC25A6D253C}"/>
              </a:ext>
            </a:extLst>
          </p:cNvPr>
          <p:cNvSpPr>
            <a:spLocks noGrp="1"/>
          </p:cNvSpPr>
          <p:nvPr>
            <p:ph type="title"/>
          </p:nvPr>
        </p:nvSpPr>
        <p:spPr>
          <a:xfrm>
            <a:off x="575732" y="304800"/>
            <a:ext cx="8009467" cy="1143000"/>
          </a:xfrm>
        </p:spPr>
        <p:txBody>
          <a:bodyPr/>
          <a:lstStyle/>
          <a:p>
            <a:r>
              <a:rPr lang="en-US" sz="4000" dirty="0"/>
              <a:t>Hypothesis #1</a:t>
            </a:r>
          </a:p>
        </p:txBody>
      </p:sp>
      <p:sp>
        <p:nvSpPr>
          <p:cNvPr id="3" name="Content Placeholder 2">
            <a:extLst>
              <a:ext uri="{FF2B5EF4-FFF2-40B4-BE49-F238E27FC236}">
                <a16:creationId xmlns:a16="http://schemas.microsoft.com/office/drawing/2014/main" id="{D5C5B8F7-4362-4DA6-81D8-75CDC65BBDCC}"/>
              </a:ext>
            </a:extLst>
          </p:cNvPr>
          <p:cNvSpPr>
            <a:spLocks noGrp="1"/>
          </p:cNvSpPr>
          <p:nvPr>
            <p:ph idx="1"/>
          </p:nvPr>
        </p:nvSpPr>
        <p:spPr>
          <a:xfrm>
            <a:off x="685800" y="1481659"/>
            <a:ext cx="7772400" cy="4419600"/>
          </a:xfrm>
        </p:spPr>
        <p:txBody>
          <a:bodyPr/>
          <a:lstStyle/>
          <a:p>
            <a:r>
              <a:rPr lang="en-US" sz="2400" dirty="0"/>
              <a:t>Maybe the DNA is just a set of (very intricate) instructions</a:t>
            </a:r>
          </a:p>
          <a:p>
            <a:pPr lvl="1">
              <a:spcBef>
                <a:spcPts val="0"/>
              </a:spcBef>
            </a:pPr>
            <a:r>
              <a:rPr lang="en-US" sz="2000" dirty="0"/>
              <a:t>Like building Legoland from 37T Legos!</a:t>
            </a:r>
          </a:p>
          <a:p>
            <a:pPr>
              <a:spcBef>
                <a:spcPts val="600"/>
              </a:spcBef>
            </a:pPr>
            <a:r>
              <a:rPr lang="en-US" sz="2400" dirty="0"/>
              <a:t>Twins</a:t>
            </a:r>
          </a:p>
          <a:p>
            <a:pPr lvl="1">
              <a:spcBef>
                <a:spcPts val="0"/>
              </a:spcBef>
            </a:pPr>
            <a:r>
              <a:rPr lang="en-US" sz="2000" dirty="0"/>
              <a:t>When an embryo splits into twins, each twin grows perfectly</a:t>
            </a:r>
          </a:p>
          <a:p>
            <a:pPr lvl="1">
              <a:spcBef>
                <a:spcPts val="0"/>
              </a:spcBef>
            </a:pPr>
            <a:r>
              <a:rPr lang="en-US" sz="2000" dirty="0"/>
              <a:t>Do you think that identical twins have identical fingerprints?</a:t>
            </a:r>
          </a:p>
          <a:p>
            <a:pPr lvl="1">
              <a:spcBef>
                <a:spcPts val="0"/>
              </a:spcBef>
            </a:pPr>
            <a:r>
              <a:rPr lang="en-US" sz="2000" dirty="0"/>
              <a:t>Running the same set of instructions should produce the same results</a:t>
            </a:r>
          </a:p>
          <a:p>
            <a:pPr>
              <a:spcBef>
                <a:spcPts val="600"/>
              </a:spcBef>
            </a:pPr>
            <a:r>
              <a:rPr lang="en-US" sz="2400" dirty="0"/>
              <a:t>We’ll look at some data &amp; then revisit this hypothesis</a:t>
            </a:r>
          </a:p>
        </p:txBody>
      </p:sp>
      <p:sp>
        <p:nvSpPr>
          <p:cNvPr id="4" name="Footer Placeholder 3">
            <a:extLst>
              <a:ext uri="{FF2B5EF4-FFF2-40B4-BE49-F238E27FC236}">
                <a16:creationId xmlns:a16="http://schemas.microsoft.com/office/drawing/2014/main" id="{7631282C-7384-46F4-85C5-176EC30B3F9A}"/>
              </a:ext>
            </a:extLst>
          </p:cNvPr>
          <p:cNvSpPr>
            <a:spLocks noGrp="1"/>
          </p:cNvSpPr>
          <p:nvPr>
            <p:ph type="ftr" sz="quarter" idx="11"/>
          </p:nvPr>
        </p:nvSpPr>
        <p:spPr/>
        <p:txBody>
          <a:bodyPr/>
          <a:lstStyle/>
          <a:p>
            <a:pPr>
              <a:defRPr/>
            </a:pPr>
            <a:r>
              <a:rPr lang="en-US" dirty="0"/>
              <a:t>Bioelectricity Joel Grodstein</a:t>
            </a:r>
          </a:p>
        </p:txBody>
      </p:sp>
    </p:spTree>
    <p:extLst>
      <p:ext uri="{BB962C8B-B14F-4D97-AF65-F5344CB8AC3E}">
        <p14:creationId xmlns:p14="http://schemas.microsoft.com/office/powerpoint/2010/main" val="23513533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fade">
                                      <p:cBhvr>
                                        <p:cTn id="7" dur="500"/>
                                        <p:tgtEl>
                                          <p:spTgt spid="3">
                                            <p:txEl>
                                              <p:pRg st="2" end="2"/>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3" end="3"/>
                                            </p:txEl>
                                          </p:spTgt>
                                        </p:tgtEl>
                                        <p:attrNameLst>
                                          <p:attrName>style.visibility</p:attrName>
                                        </p:attrNameLst>
                                      </p:cBhvr>
                                      <p:to>
                                        <p:strVal val="visible"/>
                                      </p:to>
                                    </p:set>
                                    <p:animEffect transition="in" filter="fade">
                                      <p:cBhvr>
                                        <p:cTn id="10" dur="500"/>
                                        <p:tgtEl>
                                          <p:spTgt spid="3">
                                            <p:txEl>
                                              <p:pRg st="3" end="3"/>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3">
                                            <p:txEl>
                                              <p:pRg st="4" end="4"/>
                                            </p:txEl>
                                          </p:spTgt>
                                        </p:tgtEl>
                                        <p:attrNameLst>
                                          <p:attrName>style.visibility</p:attrName>
                                        </p:attrNameLst>
                                      </p:cBhvr>
                                      <p:to>
                                        <p:strVal val="visible"/>
                                      </p:to>
                                    </p:set>
                                    <p:animEffect transition="in" filter="fade">
                                      <p:cBhvr>
                                        <p:cTn id="13" dur="500"/>
                                        <p:tgtEl>
                                          <p:spTgt spid="3">
                                            <p:txEl>
                                              <p:pRg st="4" end="4"/>
                                            </p:txEl>
                                          </p:spTgt>
                                        </p:tgtEl>
                                      </p:cBhvr>
                                    </p:animEffect>
                                  </p:childTnLst>
                                </p:cTn>
                              </p:par>
                              <p:par>
                                <p:cTn id="14" presetID="10" presetClass="entr" presetSubtype="0" fill="hold" nodeType="withEffect">
                                  <p:stCondLst>
                                    <p:cond delay="0"/>
                                  </p:stCondLst>
                                  <p:childTnLst>
                                    <p:set>
                                      <p:cBhvr>
                                        <p:cTn id="15" dur="1" fill="hold">
                                          <p:stCondLst>
                                            <p:cond delay="0"/>
                                          </p:stCondLst>
                                        </p:cTn>
                                        <p:tgtEl>
                                          <p:spTgt spid="3">
                                            <p:txEl>
                                              <p:pRg st="5" end="5"/>
                                            </p:txEl>
                                          </p:spTgt>
                                        </p:tgtEl>
                                        <p:attrNameLst>
                                          <p:attrName>style.visibility</p:attrName>
                                        </p:attrNameLst>
                                      </p:cBhvr>
                                      <p:to>
                                        <p:strVal val="visible"/>
                                      </p:to>
                                    </p:set>
                                    <p:animEffect transition="in" filter="fade">
                                      <p:cBhvr>
                                        <p:cTn id="16" dur="500"/>
                                        <p:tgtEl>
                                          <p:spTgt spid="3">
                                            <p:txEl>
                                              <p:pRg st="5" end="5"/>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3">
                                            <p:txEl>
                                              <p:pRg st="6" end="6"/>
                                            </p:txEl>
                                          </p:spTgt>
                                        </p:tgtEl>
                                        <p:attrNameLst>
                                          <p:attrName>style.visibility</p:attrName>
                                        </p:attrNameLst>
                                      </p:cBhvr>
                                      <p:to>
                                        <p:strVal val="visible"/>
                                      </p:to>
                                    </p:set>
                                    <p:animEffect transition="in" filter="fade">
                                      <p:cBhvr>
                                        <p:cTn id="21"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6E53BF-A13C-487F-9A82-CA5EAFC82137}"/>
              </a:ext>
            </a:extLst>
          </p:cNvPr>
          <p:cNvSpPr>
            <a:spLocks noGrp="1"/>
          </p:cNvSpPr>
          <p:nvPr>
            <p:ph type="title"/>
          </p:nvPr>
        </p:nvSpPr>
        <p:spPr/>
        <p:txBody>
          <a:bodyPr/>
          <a:lstStyle/>
          <a:p>
            <a:r>
              <a:rPr lang="en-US" i="1" dirty="0"/>
              <a:t>Picasso tadpoles</a:t>
            </a:r>
            <a:endParaRPr lang="en-US" dirty="0"/>
          </a:p>
        </p:txBody>
      </p:sp>
      <p:sp>
        <p:nvSpPr>
          <p:cNvPr id="3" name="Content Placeholder 2">
            <a:extLst>
              <a:ext uri="{FF2B5EF4-FFF2-40B4-BE49-F238E27FC236}">
                <a16:creationId xmlns:a16="http://schemas.microsoft.com/office/drawing/2014/main" id="{842E5C6E-DC90-4CAB-8470-4488A1906E25}"/>
              </a:ext>
            </a:extLst>
          </p:cNvPr>
          <p:cNvSpPr>
            <a:spLocks noGrp="1"/>
          </p:cNvSpPr>
          <p:nvPr>
            <p:ph idx="1"/>
          </p:nvPr>
        </p:nvSpPr>
        <p:spPr>
          <a:xfrm>
            <a:off x="219456" y="1258495"/>
            <a:ext cx="7885016" cy="1910833"/>
          </a:xfrm>
        </p:spPr>
        <p:txBody>
          <a:bodyPr/>
          <a:lstStyle/>
          <a:p>
            <a:r>
              <a:rPr lang="en-US" sz="2400" dirty="0"/>
              <a:t>Inject one cell of a two-celled embryo with </a:t>
            </a:r>
            <a:r>
              <a:rPr lang="en-US" sz="2400" i="1" dirty="0" err="1"/>
              <a:t>V</a:t>
            </a:r>
            <a:r>
              <a:rPr lang="en-US" sz="2400" baseline="-25000" dirty="0" err="1"/>
              <a:t>mem</a:t>
            </a:r>
            <a:r>
              <a:rPr lang="en-US" sz="2400" dirty="0"/>
              <a:t>-disturbing mRNA → one-sided growth defects</a:t>
            </a:r>
          </a:p>
          <a:p>
            <a:r>
              <a:rPr lang="en-US" sz="2400" dirty="0"/>
              <a:t>Defects largely correct themselves over 170 days</a:t>
            </a:r>
          </a:p>
          <a:p>
            <a:pPr lvl="1">
              <a:spcBef>
                <a:spcPts val="0"/>
              </a:spcBef>
            </a:pPr>
            <a:r>
              <a:rPr lang="en-US" sz="2000" dirty="0"/>
              <a:t>mRNA is diluted as cells multiply</a:t>
            </a:r>
          </a:p>
          <a:p>
            <a:pPr lvl="1">
              <a:spcBef>
                <a:spcPts val="0"/>
              </a:spcBef>
            </a:pPr>
            <a:r>
              <a:rPr lang="en-US" sz="2000" dirty="0"/>
              <a:t>Eye location corrects, though eye functionality does not</a:t>
            </a:r>
          </a:p>
          <a:p>
            <a:endParaRPr lang="en-US" sz="2400" dirty="0"/>
          </a:p>
        </p:txBody>
      </p:sp>
      <p:sp>
        <p:nvSpPr>
          <p:cNvPr id="4" name="Footer Placeholder 3">
            <a:extLst>
              <a:ext uri="{FF2B5EF4-FFF2-40B4-BE49-F238E27FC236}">
                <a16:creationId xmlns:a16="http://schemas.microsoft.com/office/drawing/2014/main" id="{96B8D8FF-6D8C-421C-9F43-60DDED28D204}"/>
              </a:ext>
            </a:extLst>
          </p:cNvPr>
          <p:cNvSpPr>
            <a:spLocks noGrp="1"/>
          </p:cNvSpPr>
          <p:nvPr>
            <p:ph type="ftr" sz="quarter" idx="11"/>
          </p:nvPr>
        </p:nvSpPr>
        <p:spPr/>
        <p:txBody>
          <a:bodyPr/>
          <a:lstStyle/>
          <a:p>
            <a:pPr>
              <a:defRPr/>
            </a:pPr>
            <a:r>
              <a:rPr lang="en-US" dirty="0"/>
              <a:t>Bioelectricity Joel Grodstein</a:t>
            </a:r>
          </a:p>
        </p:txBody>
      </p:sp>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720299" y="3101326"/>
            <a:ext cx="5282351" cy="1709598"/>
          </a:xfrm>
          <a:prstGeom prst="rect">
            <a:avLst/>
          </a:prstGeom>
        </p:spPr>
      </p:pic>
      <p:sp>
        <p:nvSpPr>
          <p:cNvPr id="6" name="TextBox 5">
            <a:extLst>
              <a:ext uri="{FF2B5EF4-FFF2-40B4-BE49-F238E27FC236}">
                <a16:creationId xmlns:a16="http://schemas.microsoft.com/office/drawing/2014/main" id="{FC77126E-4355-4C14-97B6-ECABC1503116}"/>
              </a:ext>
            </a:extLst>
          </p:cNvPr>
          <p:cNvSpPr txBox="1"/>
          <p:nvPr/>
        </p:nvSpPr>
        <p:spPr>
          <a:xfrm>
            <a:off x="219456" y="5867418"/>
            <a:ext cx="7918704" cy="923330"/>
          </a:xfrm>
          <a:prstGeom prst="rect">
            <a:avLst/>
          </a:prstGeom>
          <a:noFill/>
        </p:spPr>
        <p:txBody>
          <a:bodyPr wrap="square" rtlCol="0">
            <a:spAutoFit/>
          </a:bodyPr>
          <a:lstStyle/>
          <a:p>
            <a:r>
              <a:rPr lang="en-US" sz="1800" dirty="0"/>
              <a:t>Credit: </a:t>
            </a:r>
            <a:r>
              <a:rPr lang="en-US" sz="1800" i="1" dirty="0"/>
              <a:t>Normalized Shape and Location of Perturbed Craniofacial Structures in the </a:t>
            </a:r>
            <a:r>
              <a:rPr lang="en-US" sz="1800" i="1" dirty="0" err="1"/>
              <a:t>Xenopus</a:t>
            </a:r>
            <a:r>
              <a:rPr lang="en-US" sz="1800" i="1" dirty="0"/>
              <a:t> Tadpole Reveal an Innate Ability to Achieve Correct Morphology</a:t>
            </a:r>
            <a:r>
              <a:rPr lang="en-US" sz="1800" dirty="0"/>
              <a:t>, </a:t>
            </a:r>
            <a:r>
              <a:rPr lang="en-US" sz="1800" dirty="0" err="1"/>
              <a:t>Dev.Dynamics</a:t>
            </a:r>
            <a:r>
              <a:rPr lang="en-US" sz="1800" dirty="0"/>
              <a:t> 2012</a:t>
            </a:r>
          </a:p>
        </p:txBody>
      </p:sp>
      <p:sp>
        <p:nvSpPr>
          <p:cNvPr id="7" name="Content Placeholder 2">
            <a:extLst>
              <a:ext uri="{FF2B5EF4-FFF2-40B4-BE49-F238E27FC236}">
                <a16:creationId xmlns:a16="http://schemas.microsoft.com/office/drawing/2014/main" id="{D4ACD549-1E98-47F4-9596-E3F8C049045C}"/>
              </a:ext>
            </a:extLst>
          </p:cNvPr>
          <p:cNvSpPr txBox="1">
            <a:spLocks/>
          </p:cNvSpPr>
          <p:nvPr/>
        </p:nvSpPr>
        <p:spPr bwMode="auto">
          <a:xfrm>
            <a:off x="291956" y="4754485"/>
            <a:ext cx="8166244" cy="7827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har char="•"/>
              <a:defRPr sz="28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r>
              <a:rPr lang="en-US" sz="2400" dirty="0"/>
              <a:t>Are twins and Picasso tadpoles consistent with hypothesis #1?</a:t>
            </a:r>
          </a:p>
        </p:txBody>
      </p:sp>
      <p:sp>
        <p:nvSpPr>
          <p:cNvPr id="8" name="Rectangle 7">
            <a:extLst>
              <a:ext uri="{FF2B5EF4-FFF2-40B4-BE49-F238E27FC236}">
                <a16:creationId xmlns:a16="http://schemas.microsoft.com/office/drawing/2014/main" id="{83BAEB7C-05F0-482A-8E05-784BB6713D30}"/>
              </a:ext>
            </a:extLst>
          </p:cNvPr>
          <p:cNvSpPr/>
          <p:nvPr/>
        </p:nvSpPr>
        <p:spPr>
          <a:xfrm>
            <a:off x="4838330" y="3141314"/>
            <a:ext cx="3275860" cy="17222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9712394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xit" presetSubtype="0" fill="hold" grpId="0" nodeType="clickEffect">
                                  <p:stCondLst>
                                    <p:cond delay="0"/>
                                  </p:stCondLst>
                                  <p:childTnLst>
                                    <p:animEffect transition="out" filter="fade">
                                      <p:cBhvr>
                                        <p:cTn id="6" dur="500"/>
                                        <p:tgtEl>
                                          <p:spTgt spid="8"/>
                                        </p:tgtEl>
                                      </p:cBhvr>
                                    </p:animEffect>
                                    <p:set>
                                      <p:cBhvr>
                                        <p:cTn id="7" dur="1" fill="hold">
                                          <p:stCondLst>
                                            <p:cond delay="499"/>
                                          </p:stCondLst>
                                        </p:cTn>
                                        <p:tgtEl>
                                          <p:spTgt spid="8"/>
                                        </p:tgtEl>
                                        <p:attrNameLst>
                                          <p:attrName>style.visibility</p:attrName>
                                        </p:attrNameLst>
                                      </p:cBhvr>
                                      <p:to>
                                        <p:strVal val="hidden"/>
                                      </p:to>
                                    </p:set>
                                  </p:childTnLst>
                                </p:cTn>
                              </p:par>
                              <p:par>
                                <p:cTn id="8" presetID="10" presetClass="entr" presetSubtype="0" fill="hold"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fade">
                                      <p:cBhvr>
                                        <p:cTn id="10" dur="500"/>
                                        <p:tgtEl>
                                          <p:spTgt spid="3">
                                            <p:txEl>
                                              <p:pRg st="1" end="1"/>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animEffect transition="in" filter="fade">
                                      <p:cBhvr>
                                        <p:cTn id="13" dur="500"/>
                                        <p:tgtEl>
                                          <p:spTgt spid="3">
                                            <p:txEl>
                                              <p:pRg st="3" end="3"/>
                                            </p:txEl>
                                          </p:spTgt>
                                        </p:tgtEl>
                                      </p:cBhvr>
                                    </p:animEffect>
                                  </p:childTnLst>
                                </p:cTn>
                              </p:par>
                              <p:par>
                                <p:cTn id="14" presetID="10" presetClass="entr" presetSubtype="0" fill="hold" nodeType="withEffect">
                                  <p:stCondLst>
                                    <p:cond delay="0"/>
                                  </p:stCondLst>
                                  <p:childTnLst>
                                    <p:set>
                                      <p:cBhvr>
                                        <p:cTn id="15" dur="1" fill="hold">
                                          <p:stCondLst>
                                            <p:cond delay="0"/>
                                          </p:stCondLst>
                                        </p:cTn>
                                        <p:tgtEl>
                                          <p:spTgt spid="3">
                                            <p:txEl>
                                              <p:pRg st="2" end="2"/>
                                            </p:txEl>
                                          </p:spTgt>
                                        </p:tgtEl>
                                        <p:attrNameLst>
                                          <p:attrName>style.visibility</p:attrName>
                                        </p:attrNameLst>
                                      </p:cBhvr>
                                      <p:to>
                                        <p:strVal val="visible"/>
                                      </p:to>
                                    </p:set>
                                    <p:animEffect transition="in" filter="fade">
                                      <p:cBhvr>
                                        <p:cTn id="16" dur="500"/>
                                        <p:tgtEl>
                                          <p:spTgt spid="3">
                                            <p:txEl>
                                              <p:pRg st="2" end="2"/>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7">
                                            <p:txEl>
                                              <p:pRg st="0" end="0"/>
                                            </p:txEl>
                                          </p:spTgt>
                                        </p:tgtEl>
                                        <p:attrNameLst>
                                          <p:attrName>style.visibility</p:attrName>
                                        </p:attrNameLst>
                                      </p:cBhvr>
                                      <p:to>
                                        <p:strVal val="visible"/>
                                      </p:to>
                                    </p:set>
                                    <p:animEffect transition="in" filter="fade">
                                      <p:cBhvr>
                                        <p:cTn id="21" dur="500"/>
                                        <p:tgtEl>
                                          <p:spTgt spid="7">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932489-C81E-487B-B19B-FEC261B1A92B}"/>
              </a:ext>
            </a:extLst>
          </p:cNvPr>
          <p:cNvSpPr>
            <a:spLocks noGrp="1"/>
          </p:cNvSpPr>
          <p:nvPr>
            <p:ph type="title"/>
          </p:nvPr>
        </p:nvSpPr>
        <p:spPr/>
        <p:txBody>
          <a:bodyPr/>
          <a:lstStyle/>
          <a:p>
            <a:r>
              <a:rPr lang="en-US" dirty="0"/>
              <a:t>Hypothesis #2</a:t>
            </a:r>
          </a:p>
        </p:txBody>
      </p:sp>
      <p:sp>
        <p:nvSpPr>
          <p:cNvPr id="3" name="Content Placeholder 2">
            <a:extLst>
              <a:ext uri="{FF2B5EF4-FFF2-40B4-BE49-F238E27FC236}">
                <a16:creationId xmlns:a16="http://schemas.microsoft.com/office/drawing/2014/main" id="{C642D56F-C6E6-4AF7-B2A7-AFA86C53A7DE}"/>
              </a:ext>
            </a:extLst>
          </p:cNvPr>
          <p:cNvSpPr>
            <a:spLocks noGrp="1"/>
          </p:cNvSpPr>
          <p:nvPr>
            <p:ph idx="1"/>
          </p:nvPr>
        </p:nvSpPr>
        <p:spPr>
          <a:xfrm>
            <a:off x="685800" y="1525473"/>
            <a:ext cx="7772400" cy="4795421"/>
          </a:xfrm>
        </p:spPr>
        <p:txBody>
          <a:bodyPr/>
          <a:lstStyle/>
          <a:p>
            <a:r>
              <a:rPr lang="en-US" sz="2400" dirty="0"/>
              <a:t>DNA doesn’t specify an exact sequence of instructions</a:t>
            </a:r>
          </a:p>
          <a:p>
            <a:pPr>
              <a:spcBef>
                <a:spcPts val="600"/>
              </a:spcBef>
            </a:pPr>
            <a:r>
              <a:rPr lang="en-US" sz="2400" dirty="0"/>
              <a:t>Life is hard!</a:t>
            </a:r>
          </a:p>
          <a:p>
            <a:pPr lvl="1">
              <a:spcBef>
                <a:spcPts val="0"/>
              </a:spcBef>
            </a:pPr>
            <a:r>
              <a:rPr lang="en-US" sz="2000" i="1" dirty="0"/>
              <a:t>In the nanoworld, everything is dancing</a:t>
            </a:r>
            <a:r>
              <a:rPr lang="en-US" sz="2000" dirty="0"/>
              <a:t> (Philip Nelson)</a:t>
            </a:r>
          </a:p>
          <a:p>
            <a:pPr lvl="1">
              <a:spcBef>
                <a:spcPts val="0"/>
              </a:spcBef>
            </a:pPr>
            <a:r>
              <a:rPr lang="en-US" sz="2000" dirty="0"/>
              <a:t>Biology at the cell level is a noisy, statistical business</a:t>
            </a:r>
          </a:p>
          <a:p>
            <a:pPr lvl="1">
              <a:spcBef>
                <a:spcPts val="0"/>
              </a:spcBef>
            </a:pPr>
            <a:r>
              <a:rPr lang="en-US" sz="2000" dirty="0"/>
              <a:t>Somehow we develop body shape very reliably</a:t>
            </a:r>
          </a:p>
          <a:p>
            <a:r>
              <a:rPr lang="en-US" sz="2400" dirty="0"/>
              <a:t>Instead</a:t>
            </a:r>
          </a:p>
          <a:p>
            <a:pPr lvl="1">
              <a:spcBef>
                <a:spcPts val="0"/>
              </a:spcBef>
            </a:pPr>
            <a:r>
              <a:rPr lang="en-US" sz="2000" dirty="0"/>
              <a:t>DNA (somehow) specifies a target shape</a:t>
            </a:r>
          </a:p>
          <a:p>
            <a:pPr lvl="1">
              <a:spcBef>
                <a:spcPts val="0"/>
              </a:spcBef>
            </a:pPr>
            <a:r>
              <a:rPr lang="en-US" sz="2000" dirty="0"/>
              <a:t>A machine compares current vs. target and keeps adjusting</a:t>
            </a:r>
          </a:p>
          <a:p>
            <a:pPr lvl="1">
              <a:spcBef>
                <a:spcPts val="0"/>
              </a:spcBef>
            </a:pPr>
            <a:r>
              <a:rPr lang="en-US" sz="2000" i="1" dirty="0"/>
              <a:t>Really</a:t>
            </a:r>
            <a:r>
              <a:rPr lang="en-US" sz="2000" dirty="0"/>
              <a:t> useful in our noisy, dangerous world!</a:t>
            </a:r>
          </a:p>
          <a:p>
            <a:r>
              <a:rPr lang="en-US" sz="2400" dirty="0"/>
              <a:t>Does this explain the Picasso tadpole?</a:t>
            </a:r>
          </a:p>
          <a:p>
            <a:pPr lvl="1">
              <a:spcBef>
                <a:spcPts val="0"/>
              </a:spcBef>
            </a:pPr>
            <a:r>
              <a:rPr lang="en-US" sz="2000" dirty="0"/>
              <a:t>Seems to</a:t>
            </a:r>
          </a:p>
          <a:p>
            <a:pPr>
              <a:spcBef>
                <a:spcPts val="600"/>
              </a:spcBef>
            </a:pPr>
            <a:r>
              <a:rPr lang="en-US" sz="2400" dirty="0"/>
              <a:t>Next question: what form are the inputs to this machine?</a:t>
            </a:r>
          </a:p>
          <a:p>
            <a:pPr lvl="1">
              <a:spcBef>
                <a:spcPts val="0"/>
              </a:spcBef>
            </a:pPr>
            <a:r>
              <a:rPr lang="en-US" sz="2000" dirty="0"/>
              <a:t>I.e. – what data structures are we using?</a:t>
            </a:r>
          </a:p>
          <a:p>
            <a:pPr>
              <a:spcBef>
                <a:spcPts val="0"/>
              </a:spcBef>
            </a:pPr>
            <a:endParaRPr lang="en-US" dirty="0"/>
          </a:p>
        </p:txBody>
      </p:sp>
      <p:sp>
        <p:nvSpPr>
          <p:cNvPr id="4" name="Footer Placeholder 3">
            <a:extLst>
              <a:ext uri="{FF2B5EF4-FFF2-40B4-BE49-F238E27FC236}">
                <a16:creationId xmlns:a16="http://schemas.microsoft.com/office/drawing/2014/main" id="{CA4DDFC7-DF46-4E1E-B7A1-8769C5F20DCF}"/>
              </a:ext>
            </a:extLst>
          </p:cNvPr>
          <p:cNvSpPr>
            <a:spLocks noGrp="1"/>
          </p:cNvSpPr>
          <p:nvPr>
            <p:ph type="ftr" sz="quarter" idx="11"/>
          </p:nvPr>
        </p:nvSpPr>
        <p:spPr/>
        <p:txBody>
          <a:bodyPr/>
          <a:lstStyle/>
          <a:p>
            <a:pPr>
              <a:defRPr/>
            </a:pPr>
            <a:r>
              <a:rPr lang="en-US" dirty="0"/>
              <a:t>Bioelectricity Joel Grodstein</a:t>
            </a:r>
          </a:p>
        </p:txBody>
      </p:sp>
    </p:spTree>
    <p:extLst>
      <p:ext uri="{BB962C8B-B14F-4D97-AF65-F5344CB8AC3E}">
        <p14:creationId xmlns:p14="http://schemas.microsoft.com/office/powerpoint/2010/main" val="38657380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5" end="5"/>
                                            </p:txEl>
                                          </p:spTgt>
                                        </p:tgtEl>
                                        <p:attrNameLst>
                                          <p:attrName>style.visibility</p:attrName>
                                        </p:attrNameLst>
                                      </p:cBhvr>
                                      <p:to>
                                        <p:strVal val="visible"/>
                                      </p:to>
                                    </p:set>
                                    <p:animEffect transition="in" filter="fade">
                                      <p:cBhvr>
                                        <p:cTn id="7" dur="500"/>
                                        <p:tgtEl>
                                          <p:spTgt spid="3">
                                            <p:txEl>
                                              <p:pRg st="5" end="5"/>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6" end="6"/>
                                            </p:txEl>
                                          </p:spTgt>
                                        </p:tgtEl>
                                        <p:attrNameLst>
                                          <p:attrName>style.visibility</p:attrName>
                                        </p:attrNameLst>
                                      </p:cBhvr>
                                      <p:to>
                                        <p:strVal val="visible"/>
                                      </p:to>
                                    </p:set>
                                    <p:animEffect transition="in" filter="fade">
                                      <p:cBhvr>
                                        <p:cTn id="10" dur="500"/>
                                        <p:tgtEl>
                                          <p:spTgt spid="3">
                                            <p:txEl>
                                              <p:pRg st="6" end="6"/>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3">
                                            <p:txEl>
                                              <p:pRg st="7" end="7"/>
                                            </p:txEl>
                                          </p:spTgt>
                                        </p:tgtEl>
                                        <p:attrNameLst>
                                          <p:attrName>style.visibility</p:attrName>
                                        </p:attrNameLst>
                                      </p:cBhvr>
                                      <p:to>
                                        <p:strVal val="visible"/>
                                      </p:to>
                                    </p:set>
                                    <p:animEffect transition="in" filter="fade">
                                      <p:cBhvr>
                                        <p:cTn id="13" dur="500"/>
                                        <p:tgtEl>
                                          <p:spTgt spid="3">
                                            <p:txEl>
                                              <p:pRg st="7" end="7"/>
                                            </p:txEl>
                                          </p:spTgt>
                                        </p:tgtEl>
                                      </p:cBhvr>
                                    </p:animEffect>
                                  </p:childTnLst>
                                </p:cTn>
                              </p:par>
                              <p:par>
                                <p:cTn id="14" presetID="10" presetClass="entr" presetSubtype="0" fill="hold" nodeType="withEffect">
                                  <p:stCondLst>
                                    <p:cond delay="0"/>
                                  </p:stCondLst>
                                  <p:childTnLst>
                                    <p:set>
                                      <p:cBhvr>
                                        <p:cTn id="15" dur="1" fill="hold">
                                          <p:stCondLst>
                                            <p:cond delay="0"/>
                                          </p:stCondLst>
                                        </p:cTn>
                                        <p:tgtEl>
                                          <p:spTgt spid="3">
                                            <p:txEl>
                                              <p:pRg st="8" end="8"/>
                                            </p:txEl>
                                          </p:spTgt>
                                        </p:tgtEl>
                                        <p:attrNameLst>
                                          <p:attrName>style.visibility</p:attrName>
                                        </p:attrNameLst>
                                      </p:cBhvr>
                                      <p:to>
                                        <p:strVal val="visible"/>
                                      </p:to>
                                    </p:set>
                                    <p:animEffect transition="in" filter="fade">
                                      <p:cBhvr>
                                        <p:cTn id="16" dur="500"/>
                                        <p:tgtEl>
                                          <p:spTgt spid="3">
                                            <p:txEl>
                                              <p:pRg st="8" end="8"/>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3">
                                            <p:txEl>
                                              <p:pRg st="9" end="9"/>
                                            </p:txEl>
                                          </p:spTgt>
                                        </p:tgtEl>
                                        <p:attrNameLst>
                                          <p:attrName>style.visibility</p:attrName>
                                        </p:attrNameLst>
                                      </p:cBhvr>
                                      <p:to>
                                        <p:strVal val="visible"/>
                                      </p:to>
                                    </p:set>
                                    <p:animEffect transition="in" filter="fade">
                                      <p:cBhvr>
                                        <p:cTn id="21" dur="500"/>
                                        <p:tgtEl>
                                          <p:spTgt spid="3">
                                            <p:txEl>
                                              <p:pRg st="9" end="9"/>
                                            </p:txEl>
                                          </p:spTgt>
                                        </p:tgtEl>
                                      </p:cBhvr>
                                    </p:animEffect>
                                  </p:childTnLst>
                                </p:cTn>
                              </p:par>
                              <p:par>
                                <p:cTn id="22" presetID="10" presetClass="entr" presetSubtype="0" fill="hold" nodeType="withEffect">
                                  <p:stCondLst>
                                    <p:cond delay="0"/>
                                  </p:stCondLst>
                                  <p:childTnLst>
                                    <p:set>
                                      <p:cBhvr>
                                        <p:cTn id="23" dur="1" fill="hold">
                                          <p:stCondLst>
                                            <p:cond delay="0"/>
                                          </p:stCondLst>
                                        </p:cTn>
                                        <p:tgtEl>
                                          <p:spTgt spid="3">
                                            <p:txEl>
                                              <p:pRg st="10" end="10"/>
                                            </p:txEl>
                                          </p:spTgt>
                                        </p:tgtEl>
                                        <p:attrNameLst>
                                          <p:attrName>style.visibility</p:attrName>
                                        </p:attrNameLst>
                                      </p:cBhvr>
                                      <p:to>
                                        <p:strVal val="visible"/>
                                      </p:to>
                                    </p:set>
                                    <p:animEffect transition="in" filter="fade">
                                      <p:cBhvr>
                                        <p:cTn id="24" dur="500"/>
                                        <p:tgtEl>
                                          <p:spTgt spid="3">
                                            <p:txEl>
                                              <p:pRg st="10" end="10"/>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nodeType="clickEffect">
                                  <p:stCondLst>
                                    <p:cond delay="0"/>
                                  </p:stCondLst>
                                  <p:childTnLst>
                                    <p:set>
                                      <p:cBhvr>
                                        <p:cTn id="28" dur="1" fill="hold">
                                          <p:stCondLst>
                                            <p:cond delay="0"/>
                                          </p:stCondLst>
                                        </p:cTn>
                                        <p:tgtEl>
                                          <p:spTgt spid="3">
                                            <p:txEl>
                                              <p:pRg st="11" end="11"/>
                                            </p:txEl>
                                          </p:spTgt>
                                        </p:tgtEl>
                                        <p:attrNameLst>
                                          <p:attrName>style.visibility</p:attrName>
                                        </p:attrNameLst>
                                      </p:cBhvr>
                                      <p:to>
                                        <p:strVal val="visible"/>
                                      </p:to>
                                    </p:set>
                                    <p:animEffect transition="in" filter="fade">
                                      <p:cBhvr>
                                        <p:cTn id="29" dur="500"/>
                                        <p:tgtEl>
                                          <p:spTgt spid="3">
                                            <p:txEl>
                                              <p:pRg st="11" end="11"/>
                                            </p:txEl>
                                          </p:spTgt>
                                        </p:tgtEl>
                                      </p:cBhvr>
                                    </p:animEffect>
                                  </p:childTnLst>
                                </p:cTn>
                              </p:par>
                              <p:par>
                                <p:cTn id="30" presetID="10" presetClass="entr" presetSubtype="0" fill="hold" nodeType="withEffect">
                                  <p:stCondLst>
                                    <p:cond delay="0"/>
                                  </p:stCondLst>
                                  <p:childTnLst>
                                    <p:set>
                                      <p:cBhvr>
                                        <p:cTn id="31" dur="1" fill="hold">
                                          <p:stCondLst>
                                            <p:cond delay="0"/>
                                          </p:stCondLst>
                                        </p:cTn>
                                        <p:tgtEl>
                                          <p:spTgt spid="3">
                                            <p:txEl>
                                              <p:pRg st="12" end="12"/>
                                            </p:txEl>
                                          </p:spTgt>
                                        </p:tgtEl>
                                        <p:attrNameLst>
                                          <p:attrName>style.visibility</p:attrName>
                                        </p:attrNameLst>
                                      </p:cBhvr>
                                      <p:to>
                                        <p:strVal val="visible"/>
                                      </p:to>
                                    </p:set>
                                    <p:animEffect transition="in" filter="fade">
                                      <p:cBhvr>
                                        <p:cTn id="32" dur="500"/>
                                        <p:tgtEl>
                                          <p:spTgt spid="3">
                                            <p:txEl>
                                              <p:pRg st="12" end="1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C62068-E48A-47BC-9AAE-C49F58768EF6}"/>
              </a:ext>
            </a:extLst>
          </p:cNvPr>
          <p:cNvSpPr>
            <a:spLocks noGrp="1"/>
          </p:cNvSpPr>
          <p:nvPr>
            <p:ph type="title"/>
          </p:nvPr>
        </p:nvSpPr>
        <p:spPr>
          <a:xfrm>
            <a:off x="685800" y="296333"/>
            <a:ext cx="7772400" cy="1143000"/>
          </a:xfrm>
        </p:spPr>
        <p:txBody>
          <a:bodyPr/>
          <a:lstStyle/>
          <a:p>
            <a:r>
              <a:rPr lang="en-US" dirty="0"/>
              <a:t>Electric tadpoles</a:t>
            </a:r>
          </a:p>
        </p:txBody>
      </p:sp>
      <p:sp>
        <p:nvSpPr>
          <p:cNvPr id="3" name="Content Placeholder 2">
            <a:extLst>
              <a:ext uri="{FF2B5EF4-FFF2-40B4-BE49-F238E27FC236}">
                <a16:creationId xmlns:a16="http://schemas.microsoft.com/office/drawing/2014/main" id="{C4B5E8D3-39B2-49A6-BFF8-C211B45E22A5}"/>
              </a:ext>
            </a:extLst>
          </p:cNvPr>
          <p:cNvSpPr>
            <a:spLocks noGrp="1"/>
          </p:cNvSpPr>
          <p:nvPr>
            <p:ph idx="1"/>
          </p:nvPr>
        </p:nvSpPr>
        <p:spPr>
          <a:xfrm>
            <a:off x="541868" y="1202268"/>
            <a:ext cx="5088466" cy="4656666"/>
          </a:xfrm>
        </p:spPr>
        <p:txBody>
          <a:bodyPr/>
          <a:lstStyle/>
          <a:p>
            <a:r>
              <a:rPr lang="en-US" sz="2000" dirty="0"/>
              <a:t>We’ve shown robustness in growth</a:t>
            </a:r>
          </a:p>
          <a:p>
            <a:pPr lvl="1">
              <a:spcBef>
                <a:spcPts val="0"/>
              </a:spcBef>
            </a:pPr>
            <a:r>
              <a:rPr lang="en-US" sz="1800" dirty="0"/>
              <a:t>Next: argue that bioelectricity is involved</a:t>
            </a:r>
          </a:p>
          <a:p>
            <a:r>
              <a:rPr lang="en-US" sz="2000" dirty="0"/>
              <a:t>Measured </a:t>
            </a:r>
            <a:r>
              <a:rPr lang="en-US" sz="2000" i="1" dirty="0" err="1"/>
              <a:t>V</a:t>
            </a:r>
            <a:r>
              <a:rPr lang="en-US" sz="2000" baseline="-25000" dirty="0" err="1"/>
              <a:t>mem</a:t>
            </a:r>
            <a:r>
              <a:rPr lang="en-US" sz="2000" dirty="0"/>
              <a:t> on a developing tadpole embryo to get a map. Future eyes correspond to hyperpolarized </a:t>
            </a:r>
            <a:r>
              <a:rPr lang="en-US" sz="2000" i="1" dirty="0" err="1"/>
              <a:t>V</a:t>
            </a:r>
            <a:r>
              <a:rPr lang="en-US" sz="2000" baseline="-25000" dirty="0" err="1"/>
              <a:t>mem</a:t>
            </a:r>
            <a:endParaRPr lang="en-US" sz="2000" dirty="0"/>
          </a:p>
          <a:p>
            <a:r>
              <a:rPr lang="en-US" sz="2000" dirty="0"/>
              <a:t>Inject chemicals to disrupt </a:t>
            </a:r>
            <a:r>
              <a:rPr lang="en-US" sz="2000" i="1" dirty="0" err="1"/>
              <a:t>V</a:t>
            </a:r>
            <a:r>
              <a:rPr lang="en-US" sz="2000" baseline="-25000" dirty="0" err="1"/>
              <a:t>mem</a:t>
            </a:r>
            <a:r>
              <a:rPr lang="en-US" sz="2000" dirty="0"/>
              <a:t> at future eyes </a:t>
            </a:r>
            <a:r>
              <a:rPr lang="en-US" sz="2000" dirty="0">
                <a:sym typeface="Symbol" panose="05050102010706020507" pitchFamily="18" charset="2"/>
              </a:rPr>
              <a:t></a:t>
            </a:r>
            <a:r>
              <a:rPr lang="en-US" sz="2000" dirty="0"/>
              <a:t> deformed eyes</a:t>
            </a:r>
          </a:p>
          <a:p>
            <a:r>
              <a:rPr lang="en-US" sz="2000" dirty="0"/>
              <a:t>Inject chemicals to alter </a:t>
            </a:r>
            <a:r>
              <a:rPr lang="en-US" sz="2000" i="1" dirty="0" err="1"/>
              <a:t>V</a:t>
            </a:r>
            <a:r>
              <a:rPr lang="en-US" sz="2000" baseline="-25000" dirty="0" err="1"/>
              <a:t>mem</a:t>
            </a:r>
            <a:r>
              <a:rPr lang="en-US" sz="2000" dirty="0"/>
              <a:t> at unrelated locations </a:t>
            </a:r>
            <a:r>
              <a:rPr lang="en-US" sz="2000" dirty="0">
                <a:sym typeface="Symbol" panose="05050102010706020507" pitchFamily="18" charset="2"/>
              </a:rPr>
              <a:t></a:t>
            </a:r>
            <a:r>
              <a:rPr lang="en-US" sz="2000" dirty="0"/>
              <a:t> ectopic eye (blue arrow). And green arrow = normal eye</a:t>
            </a:r>
          </a:p>
          <a:p>
            <a:r>
              <a:rPr lang="en-US" sz="2000" dirty="0"/>
              <a:t>The ectopic eye only happens if they hit the right </a:t>
            </a:r>
            <a:r>
              <a:rPr lang="en-US" sz="2000" i="1" dirty="0" err="1"/>
              <a:t>V</a:t>
            </a:r>
            <a:r>
              <a:rPr lang="en-US" sz="2000" baseline="-25000" dirty="0" err="1"/>
              <a:t>mem</a:t>
            </a:r>
            <a:r>
              <a:rPr lang="en-US" sz="2000" dirty="0"/>
              <a:t>. Doesn’t matter which chemical they use, or which ion channel they disrupt, as long as they hit the </a:t>
            </a:r>
            <a:r>
              <a:rPr lang="en-US" sz="2000" i="1" dirty="0" err="1"/>
              <a:t>V</a:t>
            </a:r>
            <a:r>
              <a:rPr lang="en-US" sz="2000" baseline="-25000" dirty="0" err="1"/>
              <a:t>mem</a:t>
            </a:r>
            <a:endParaRPr lang="en-US" sz="2000" dirty="0"/>
          </a:p>
        </p:txBody>
      </p:sp>
      <p:sp>
        <p:nvSpPr>
          <p:cNvPr id="4" name="Footer Placeholder 3">
            <a:extLst>
              <a:ext uri="{FF2B5EF4-FFF2-40B4-BE49-F238E27FC236}">
                <a16:creationId xmlns:a16="http://schemas.microsoft.com/office/drawing/2014/main" id="{21E39147-BEFF-445A-86FA-051CD8CC39AF}"/>
              </a:ext>
            </a:extLst>
          </p:cNvPr>
          <p:cNvSpPr>
            <a:spLocks noGrp="1"/>
          </p:cNvSpPr>
          <p:nvPr>
            <p:ph type="ftr" sz="quarter" idx="11"/>
          </p:nvPr>
        </p:nvSpPr>
        <p:spPr>
          <a:xfrm>
            <a:off x="5494867" y="6550848"/>
            <a:ext cx="2895600" cy="215444"/>
          </a:xfrm>
        </p:spPr>
        <p:txBody>
          <a:bodyPr/>
          <a:lstStyle/>
          <a:p>
            <a:pPr>
              <a:defRPr/>
            </a:pPr>
            <a:r>
              <a:rPr lang="en-US" dirty="0"/>
              <a:t>Bioelectricity Joel Grodstein</a:t>
            </a:r>
          </a:p>
        </p:txBody>
      </p:sp>
      <p:pic>
        <p:nvPicPr>
          <p:cNvPr id="6" name="Picture 5">
            <a:extLst>
              <a:ext uri="{FF2B5EF4-FFF2-40B4-BE49-F238E27FC236}">
                <a16:creationId xmlns:a16="http://schemas.microsoft.com/office/drawing/2014/main" id="{EEC1CE07-7ECB-4AEC-94DB-37CD7643B2A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341408" y="1227666"/>
            <a:ext cx="2965450" cy="1320800"/>
          </a:xfrm>
          <a:prstGeom prst="rect">
            <a:avLst/>
          </a:prstGeom>
        </p:spPr>
      </p:pic>
      <p:sp>
        <p:nvSpPr>
          <p:cNvPr id="7" name="TextBox 6">
            <a:extLst>
              <a:ext uri="{FF2B5EF4-FFF2-40B4-BE49-F238E27FC236}">
                <a16:creationId xmlns:a16="http://schemas.microsoft.com/office/drawing/2014/main" id="{60F686FC-8913-414C-873A-0447EE43AA15}"/>
              </a:ext>
            </a:extLst>
          </p:cNvPr>
          <p:cNvSpPr txBox="1"/>
          <p:nvPr/>
        </p:nvSpPr>
        <p:spPr>
          <a:xfrm>
            <a:off x="6155267" y="2540000"/>
            <a:ext cx="2988733" cy="338554"/>
          </a:xfrm>
          <a:prstGeom prst="rect">
            <a:avLst/>
          </a:prstGeom>
          <a:noFill/>
        </p:spPr>
        <p:txBody>
          <a:bodyPr wrap="square" rtlCol="0">
            <a:spAutoFit/>
          </a:bodyPr>
          <a:lstStyle/>
          <a:p>
            <a:r>
              <a:rPr lang="en-US" sz="1600" dirty="0"/>
              <a:t>depolarized … hyperpolarized</a:t>
            </a:r>
          </a:p>
        </p:txBody>
      </p:sp>
      <p:pic>
        <p:nvPicPr>
          <p:cNvPr id="9" name="Picture 8">
            <a:extLst>
              <a:ext uri="{FF2B5EF4-FFF2-40B4-BE49-F238E27FC236}">
                <a16:creationId xmlns:a16="http://schemas.microsoft.com/office/drawing/2014/main" id="{0FE13775-59AE-477B-B3C6-66EF3955BF7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647266" y="3311527"/>
            <a:ext cx="3048000" cy="1098550"/>
          </a:xfrm>
          <a:prstGeom prst="rect">
            <a:avLst/>
          </a:prstGeom>
        </p:spPr>
      </p:pic>
      <p:sp>
        <p:nvSpPr>
          <p:cNvPr id="12" name="TextBox 11">
            <a:extLst>
              <a:ext uri="{FF2B5EF4-FFF2-40B4-BE49-F238E27FC236}">
                <a16:creationId xmlns:a16="http://schemas.microsoft.com/office/drawing/2014/main" id="{FC77126E-4355-4C14-97B6-ECABC1503116}"/>
              </a:ext>
            </a:extLst>
          </p:cNvPr>
          <p:cNvSpPr txBox="1"/>
          <p:nvPr/>
        </p:nvSpPr>
        <p:spPr>
          <a:xfrm>
            <a:off x="626533" y="6151885"/>
            <a:ext cx="5926667" cy="646331"/>
          </a:xfrm>
          <a:prstGeom prst="rect">
            <a:avLst/>
          </a:prstGeom>
          <a:noFill/>
        </p:spPr>
        <p:txBody>
          <a:bodyPr wrap="square" rtlCol="0">
            <a:spAutoFit/>
          </a:bodyPr>
          <a:lstStyle/>
          <a:p>
            <a:r>
              <a:rPr lang="en-US" sz="1800" dirty="0"/>
              <a:t>Credit: </a:t>
            </a:r>
            <a:r>
              <a:rPr lang="en-US" sz="1800" i="1" dirty="0"/>
              <a:t>Transmembrane voltage potential controls embryonic eye patterning in Xenopus </a:t>
            </a:r>
            <a:r>
              <a:rPr lang="en-US" sz="1800" i="1" dirty="0" err="1"/>
              <a:t>laevis</a:t>
            </a:r>
            <a:r>
              <a:rPr lang="en-US" sz="1800" dirty="0"/>
              <a:t>, Development 2012</a:t>
            </a:r>
          </a:p>
        </p:txBody>
      </p:sp>
    </p:spTree>
    <p:extLst>
      <p:ext uri="{BB962C8B-B14F-4D97-AF65-F5344CB8AC3E}">
        <p14:creationId xmlns:p14="http://schemas.microsoft.com/office/powerpoint/2010/main" val="3876969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animEffect transition="in" filter="fade">
                                      <p:cBhvr>
                                        <p:cTn id="7" dur="500"/>
                                        <p:tgtEl>
                                          <p:spTgt spid="3">
                                            <p:txEl>
                                              <p:pRg st="3" end="3"/>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4" end="4"/>
                                            </p:txEl>
                                          </p:spTgt>
                                        </p:tgtEl>
                                        <p:attrNameLst>
                                          <p:attrName>style.visibility</p:attrName>
                                        </p:attrNameLst>
                                      </p:cBhvr>
                                      <p:to>
                                        <p:strVal val="visible"/>
                                      </p:to>
                                    </p:set>
                                    <p:animEffect transition="in" filter="fade">
                                      <p:cBhvr>
                                        <p:cTn id="12" dur="500"/>
                                        <p:tgtEl>
                                          <p:spTgt spid="3">
                                            <p:txEl>
                                              <p:pRg st="4" end="4"/>
                                            </p:txEl>
                                          </p:spTgt>
                                        </p:tgtEl>
                                      </p:cBhvr>
                                    </p:animEffect>
                                  </p:childTnLst>
                                </p:cTn>
                              </p:par>
                              <p:par>
                                <p:cTn id="13" presetID="10" presetClass="entr" presetSubtype="0" fill="hold" nodeType="with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fade">
                                      <p:cBhvr>
                                        <p:cTn id="15" dur="500"/>
                                        <p:tgtEl>
                                          <p:spTgt spid="9"/>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3">
                                            <p:txEl>
                                              <p:pRg st="5" end="5"/>
                                            </p:txEl>
                                          </p:spTgt>
                                        </p:tgtEl>
                                        <p:attrNameLst>
                                          <p:attrName>style.visibility</p:attrName>
                                        </p:attrNameLst>
                                      </p:cBhvr>
                                      <p:to>
                                        <p:strVal val="visible"/>
                                      </p:to>
                                    </p:set>
                                    <p:animEffect transition="in" filter="fade">
                                      <p:cBhvr>
                                        <p:cTn id="20"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3CA538-A90F-4A9D-A9F4-965D61A1E22C}"/>
              </a:ext>
            </a:extLst>
          </p:cNvPr>
          <p:cNvSpPr>
            <a:spLocks noGrp="1"/>
          </p:cNvSpPr>
          <p:nvPr>
            <p:ph type="title"/>
          </p:nvPr>
        </p:nvSpPr>
        <p:spPr>
          <a:xfrm>
            <a:off x="685800" y="259080"/>
            <a:ext cx="7772400" cy="1143000"/>
          </a:xfrm>
        </p:spPr>
        <p:txBody>
          <a:bodyPr/>
          <a:lstStyle/>
          <a:p>
            <a:r>
              <a:rPr lang="en-US" dirty="0"/>
              <a:t>Yes, it’s the voltage</a:t>
            </a:r>
          </a:p>
        </p:txBody>
      </p:sp>
      <p:sp>
        <p:nvSpPr>
          <p:cNvPr id="3" name="Content Placeholder 2">
            <a:extLst>
              <a:ext uri="{FF2B5EF4-FFF2-40B4-BE49-F238E27FC236}">
                <a16:creationId xmlns:a16="http://schemas.microsoft.com/office/drawing/2014/main" id="{4F706843-219C-40A8-A29B-13F8DE2AD23B}"/>
              </a:ext>
            </a:extLst>
          </p:cNvPr>
          <p:cNvSpPr>
            <a:spLocks noGrp="1"/>
          </p:cNvSpPr>
          <p:nvPr>
            <p:ph idx="1"/>
          </p:nvPr>
        </p:nvSpPr>
        <p:spPr>
          <a:xfrm>
            <a:off x="151045" y="1255776"/>
            <a:ext cx="5042747" cy="4102608"/>
          </a:xfrm>
        </p:spPr>
        <p:txBody>
          <a:bodyPr/>
          <a:lstStyle/>
          <a:p>
            <a:r>
              <a:rPr lang="en-US" sz="1800" dirty="0"/>
              <a:t>Inject tadpole embryo with Notch ICD (depolarizes </a:t>
            </a:r>
            <a:r>
              <a:rPr lang="en-US" sz="1800" i="1" dirty="0" err="1"/>
              <a:t>V</a:t>
            </a:r>
            <a:r>
              <a:rPr lang="en-US" sz="1800" baseline="-25000" dirty="0" err="1"/>
              <a:t>mem</a:t>
            </a:r>
            <a:r>
              <a:rPr lang="en-US" sz="1800" dirty="0"/>
              <a:t>) → later brain defects in 46%.</a:t>
            </a:r>
          </a:p>
          <a:p>
            <a:r>
              <a:rPr lang="en-US" sz="1800" dirty="0"/>
              <a:t>Also inject with Kir6.1 mRNA </a:t>
            </a:r>
            <a:r>
              <a:rPr lang="en-US" sz="1800"/>
              <a:t>(which further depolarizes </a:t>
            </a:r>
            <a:r>
              <a:rPr lang="en-US" sz="1800" i="1" dirty="0" err="1"/>
              <a:t>V</a:t>
            </a:r>
            <a:r>
              <a:rPr lang="en-US" sz="1800" baseline="-25000" dirty="0" err="1"/>
              <a:t>mem</a:t>
            </a:r>
            <a:r>
              <a:rPr lang="en-US" sz="1800" dirty="0"/>
              <a:t>) → defects in 68%</a:t>
            </a:r>
          </a:p>
          <a:p>
            <a:r>
              <a:rPr lang="en-US" sz="1800" dirty="0"/>
              <a:t>Pair Notch ICD with Kv1.5 or Bir10 mRNA (</a:t>
            </a:r>
            <a:r>
              <a:rPr lang="en-US" sz="1800" dirty="0" err="1"/>
              <a:t>hyperpolarizers</a:t>
            </a:r>
            <a:r>
              <a:rPr lang="en-US" sz="1800" dirty="0"/>
              <a:t>) → defects are rescued!</a:t>
            </a:r>
          </a:p>
          <a:p>
            <a:r>
              <a:rPr lang="en-US" sz="1800" dirty="0"/>
              <a:t>Arrow color key:</a:t>
            </a:r>
          </a:p>
          <a:p>
            <a:pPr lvl="1">
              <a:spcBef>
                <a:spcPts val="0"/>
              </a:spcBef>
            </a:pPr>
            <a:r>
              <a:rPr lang="en-US" sz="1600" dirty="0"/>
              <a:t>Blue = malformed brain part</a:t>
            </a:r>
          </a:p>
          <a:p>
            <a:pPr lvl="1">
              <a:spcBef>
                <a:spcPts val="0"/>
              </a:spcBef>
            </a:pPr>
            <a:r>
              <a:rPr lang="en-US" sz="1600" dirty="0"/>
              <a:t>Red, orange, yellow, green = locations of various correctly-formed brain parts</a:t>
            </a:r>
          </a:p>
          <a:p>
            <a:pPr>
              <a:spcBef>
                <a:spcPts val="0"/>
              </a:spcBef>
            </a:pPr>
            <a:r>
              <a:rPr lang="en-US" sz="2000" dirty="0"/>
              <a:t>Other data (omitted) shows that brains occur at a specific </a:t>
            </a:r>
            <a:r>
              <a:rPr lang="en-US" sz="2000" i="1" dirty="0" err="1"/>
              <a:t>V</a:t>
            </a:r>
            <a:r>
              <a:rPr lang="en-US" sz="2000" baseline="-25000" dirty="0" err="1"/>
              <a:t>mem</a:t>
            </a:r>
            <a:endParaRPr lang="en-US" sz="2000" dirty="0"/>
          </a:p>
          <a:p>
            <a:pPr marL="0" indent="0">
              <a:buNone/>
            </a:pPr>
            <a:endParaRPr lang="en-US" dirty="0"/>
          </a:p>
        </p:txBody>
      </p:sp>
      <p:sp>
        <p:nvSpPr>
          <p:cNvPr id="4" name="Footer Placeholder 3">
            <a:extLst>
              <a:ext uri="{FF2B5EF4-FFF2-40B4-BE49-F238E27FC236}">
                <a16:creationId xmlns:a16="http://schemas.microsoft.com/office/drawing/2014/main" id="{3F55AC1A-1984-4AE3-BBCA-A69021D4E43D}"/>
              </a:ext>
            </a:extLst>
          </p:cNvPr>
          <p:cNvSpPr>
            <a:spLocks noGrp="1"/>
          </p:cNvSpPr>
          <p:nvPr>
            <p:ph type="ftr" sz="quarter" idx="11"/>
          </p:nvPr>
        </p:nvSpPr>
        <p:spPr>
          <a:xfrm>
            <a:off x="5739384" y="6474648"/>
            <a:ext cx="2895600" cy="215444"/>
          </a:xfrm>
        </p:spPr>
        <p:txBody>
          <a:bodyPr/>
          <a:lstStyle/>
          <a:p>
            <a:pPr>
              <a:defRPr/>
            </a:pPr>
            <a:r>
              <a:rPr lang="en-US" dirty="0"/>
              <a:t>Bioelectricity Joel Grodstein</a:t>
            </a:r>
          </a:p>
        </p:txBody>
      </p:sp>
      <p:sp>
        <p:nvSpPr>
          <p:cNvPr id="5" name="TextBox 4">
            <a:extLst>
              <a:ext uri="{FF2B5EF4-FFF2-40B4-BE49-F238E27FC236}">
                <a16:creationId xmlns:a16="http://schemas.microsoft.com/office/drawing/2014/main" id="{FC77126E-4355-4C14-97B6-ECABC1503116}"/>
              </a:ext>
            </a:extLst>
          </p:cNvPr>
          <p:cNvSpPr txBox="1"/>
          <p:nvPr/>
        </p:nvSpPr>
        <p:spPr>
          <a:xfrm>
            <a:off x="151045" y="5862935"/>
            <a:ext cx="6103451" cy="923330"/>
          </a:xfrm>
          <a:prstGeom prst="rect">
            <a:avLst/>
          </a:prstGeom>
          <a:noFill/>
        </p:spPr>
        <p:txBody>
          <a:bodyPr wrap="square" rtlCol="0">
            <a:spAutoFit/>
          </a:bodyPr>
          <a:lstStyle/>
          <a:p>
            <a:r>
              <a:rPr lang="en-US" sz="1800" dirty="0"/>
              <a:t>Credit: </a:t>
            </a:r>
            <a:r>
              <a:rPr lang="en-US" sz="1800" i="1" dirty="0"/>
              <a:t>Endogenous Gradients of Resting Potential Instructively Pattern Embryonic Neural Tissue via Notch Signaling and Regulation of Proliferation</a:t>
            </a:r>
            <a:r>
              <a:rPr lang="en-US" sz="1800" dirty="0"/>
              <a:t>,</a:t>
            </a:r>
            <a:r>
              <a:rPr lang="en-US" sz="1800" i="1" dirty="0"/>
              <a:t> </a:t>
            </a:r>
            <a:r>
              <a:rPr lang="en-US" sz="1800" dirty="0" err="1"/>
              <a:t>J.Neuroscience</a:t>
            </a:r>
            <a:r>
              <a:rPr lang="en-US" sz="1800" dirty="0"/>
              <a:t> 2015</a:t>
            </a:r>
          </a:p>
        </p:txBody>
      </p:sp>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663322" y="1299972"/>
            <a:ext cx="3169020" cy="2458212"/>
          </a:xfrm>
          <a:prstGeom prst="rect">
            <a:avLst/>
          </a:prstGeom>
        </p:spPr>
      </p:pic>
      <p:pic>
        <p:nvPicPr>
          <p:cNvPr id="7" name="Picture 6"/>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654296" y="4094988"/>
            <a:ext cx="4324350" cy="1590675"/>
          </a:xfrm>
          <a:prstGeom prst="rect">
            <a:avLst/>
          </a:prstGeom>
        </p:spPr>
      </p:pic>
      <p:sp>
        <p:nvSpPr>
          <p:cNvPr id="8" name="TextBox 7"/>
          <p:cNvSpPr txBox="1"/>
          <p:nvPr/>
        </p:nvSpPr>
        <p:spPr>
          <a:xfrm>
            <a:off x="5745618" y="1387483"/>
            <a:ext cx="176922" cy="1938992"/>
          </a:xfrm>
          <a:prstGeom prst="rect">
            <a:avLst/>
          </a:prstGeom>
          <a:noFill/>
        </p:spPr>
        <p:txBody>
          <a:bodyPr wrap="square" rtlCol="0">
            <a:spAutoFit/>
          </a:bodyPr>
          <a:lstStyle/>
          <a:p>
            <a:pPr>
              <a:lnSpc>
                <a:spcPts val="800"/>
              </a:lnSpc>
            </a:pPr>
            <a:r>
              <a:rPr lang="en-US" sz="1200" dirty="0"/>
              <a:t>malformed </a:t>
            </a:r>
          </a:p>
          <a:p>
            <a:pPr>
              <a:lnSpc>
                <a:spcPts val="800"/>
              </a:lnSpc>
            </a:pPr>
            <a:endParaRPr lang="en-US" sz="1200" dirty="0"/>
          </a:p>
          <a:p>
            <a:pPr>
              <a:lnSpc>
                <a:spcPts val="800"/>
              </a:lnSpc>
            </a:pPr>
            <a:r>
              <a:rPr lang="en-US" sz="1200" dirty="0"/>
              <a:t>Brains</a:t>
            </a:r>
          </a:p>
          <a:p>
            <a:pPr>
              <a:lnSpc>
                <a:spcPts val="800"/>
              </a:lnSpc>
            </a:pPr>
            <a:endParaRPr lang="en-US" sz="1200" dirty="0"/>
          </a:p>
          <a:p>
            <a:pPr>
              <a:lnSpc>
                <a:spcPts val="800"/>
              </a:lnSpc>
            </a:pPr>
            <a:r>
              <a:rPr lang="en-US" sz="1200" dirty="0"/>
              <a:t>%</a:t>
            </a:r>
          </a:p>
        </p:txBody>
      </p:sp>
      <p:sp>
        <p:nvSpPr>
          <p:cNvPr id="9" name="Rectangle 8">
            <a:extLst>
              <a:ext uri="{FF2B5EF4-FFF2-40B4-BE49-F238E27FC236}">
                <a16:creationId xmlns:a16="http://schemas.microsoft.com/office/drawing/2014/main" id="{15158BE0-280E-D36E-E508-91A03FD2CEC2}"/>
              </a:ext>
            </a:extLst>
          </p:cNvPr>
          <p:cNvSpPr/>
          <p:nvPr/>
        </p:nvSpPr>
        <p:spPr>
          <a:xfrm>
            <a:off x="7080250" y="1255776"/>
            <a:ext cx="1847480" cy="369824"/>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584A33B6-04FE-1416-8027-DB86E39F6928}"/>
              </a:ext>
            </a:extLst>
          </p:cNvPr>
          <p:cNvSpPr txBox="1"/>
          <p:nvPr/>
        </p:nvSpPr>
        <p:spPr>
          <a:xfrm>
            <a:off x="6903218" y="1807434"/>
            <a:ext cx="513583" cy="276999"/>
          </a:xfrm>
          <a:prstGeom prst="rect">
            <a:avLst/>
          </a:prstGeom>
          <a:noFill/>
        </p:spPr>
        <p:txBody>
          <a:bodyPr wrap="square" rtlCol="0">
            <a:spAutoFit/>
          </a:bodyPr>
          <a:lstStyle/>
          <a:p>
            <a:r>
              <a:rPr lang="en-US" sz="1200" dirty="0"/>
              <a:t>+</a:t>
            </a:r>
            <a:r>
              <a:rPr lang="en-US" sz="1200" dirty="0" err="1"/>
              <a:t>hyp</a:t>
            </a:r>
            <a:endParaRPr lang="en-US" sz="2800" dirty="0"/>
          </a:p>
        </p:txBody>
      </p:sp>
      <p:sp>
        <p:nvSpPr>
          <p:cNvPr id="12" name="TextBox 11">
            <a:extLst>
              <a:ext uri="{FF2B5EF4-FFF2-40B4-BE49-F238E27FC236}">
                <a16:creationId xmlns:a16="http://schemas.microsoft.com/office/drawing/2014/main" id="{55DA40C4-39D1-479A-13DF-993331B49125}"/>
              </a:ext>
            </a:extLst>
          </p:cNvPr>
          <p:cNvSpPr txBox="1"/>
          <p:nvPr/>
        </p:nvSpPr>
        <p:spPr>
          <a:xfrm>
            <a:off x="8248650" y="1440180"/>
            <a:ext cx="513583" cy="276999"/>
          </a:xfrm>
          <a:prstGeom prst="rect">
            <a:avLst/>
          </a:prstGeom>
          <a:noFill/>
        </p:spPr>
        <p:txBody>
          <a:bodyPr wrap="square" rtlCol="0">
            <a:spAutoFit/>
          </a:bodyPr>
          <a:lstStyle/>
          <a:p>
            <a:r>
              <a:rPr lang="en-US" sz="1200" dirty="0"/>
              <a:t>+dep</a:t>
            </a:r>
            <a:endParaRPr lang="en-US" sz="2800" dirty="0"/>
          </a:p>
        </p:txBody>
      </p:sp>
      <p:sp>
        <p:nvSpPr>
          <p:cNvPr id="13" name="TextBox 12">
            <a:extLst>
              <a:ext uri="{FF2B5EF4-FFF2-40B4-BE49-F238E27FC236}">
                <a16:creationId xmlns:a16="http://schemas.microsoft.com/office/drawing/2014/main" id="{D7282CF4-393A-AEEA-E4CB-DAA63CE787CA}"/>
              </a:ext>
            </a:extLst>
          </p:cNvPr>
          <p:cNvSpPr txBox="1"/>
          <p:nvPr/>
        </p:nvSpPr>
        <p:spPr>
          <a:xfrm>
            <a:off x="7638422" y="1618187"/>
            <a:ext cx="513583" cy="276999"/>
          </a:xfrm>
          <a:prstGeom prst="rect">
            <a:avLst/>
          </a:prstGeom>
          <a:noFill/>
        </p:spPr>
        <p:txBody>
          <a:bodyPr wrap="square" rtlCol="0">
            <a:spAutoFit/>
          </a:bodyPr>
          <a:lstStyle/>
          <a:p>
            <a:r>
              <a:rPr lang="en-US" sz="1200" dirty="0"/>
              <a:t>+</a:t>
            </a:r>
            <a:r>
              <a:rPr lang="en-US" sz="1200" dirty="0" err="1"/>
              <a:t>hyp</a:t>
            </a:r>
            <a:endParaRPr lang="en-US" sz="2800" dirty="0"/>
          </a:p>
        </p:txBody>
      </p:sp>
    </p:spTree>
    <p:extLst>
      <p:ext uri="{BB962C8B-B14F-4D97-AF65-F5344CB8AC3E}">
        <p14:creationId xmlns:p14="http://schemas.microsoft.com/office/powerpoint/2010/main" val="229409909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70F007-6685-4DB4-BCB0-9D8514A8D5A0}"/>
              </a:ext>
            </a:extLst>
          </p:cNvPr>
          <p:cNvSpPr>
            <a:spLocks noGrp="1"/>
          </p:cNvSpPr>
          <p:nvPr>
            <p:ph type="title"/>
          </p:nvPr>
        </p:nvSpPr>
        <p:spPr/>
        <p:txBody>
          <a:bodyPr/>
          <a:lstStyle/>
          <a:p>
            <a:r>
              <a:rPr lang="en-US" dirty="0"/>
              <a:t>Layers</a:t>
            </a:r>
          </a:p>
        </p:txBody>
      </p:sp>
      <p:sp>
        <p:nvSpPr>
          <p:cNvPr id="3" name="Content Placeholder 2">
            <a:extLst>
              <a:ext uri="{FF2B5EF4-FFF2-40B4-BE49-F238E27FC236}">
                <a16:creationId xmlns:a16="http://schemas.microsoft.com/office/drawing/2014/main" id="{C878125A-5F67-4846-B390-BA02892D8EA9}"/>
              </a:ext>
            </a:extLst>
          </p:cNvPr>
          <p:cNvSpPr>
            <a:spLocks noGrp="1"/>
          </p:cNvSpPr>
          <p:nvPr>
            <p:ph idx="1"/>
          </p:nvPr>
        </p:nvSpPr>
        <p:spPr>
          <a:xfrm>
            <a:off x="457200" y="1676400"/>
            <a:ext cx="5105400" cy="4419600"/>
          </a:xfrm>
        </p:spPr>
        <p:txBody>
          <a:bodyPr/>
          <a:lstStyle/>
          <a:p>
            <a:r>
              <a:rPr lang="en-US" sz="2400" dirty="0"/>
              <a:t>Is this evidence for a layered system?</a:t>
            </a:r>
          </a:p>
          <a:p>
            <a:pPr lvl="1">
              <a:spcBef>
                <a:spcPts val="0"/>
              </a:spcBef>
            </a:pPr>
            <a:r>
              <a:rPr lang="en-US" sz="2000" dirty="0"/>
              <a:t>the tadpole builds a good brain or good eyes wherever </a:t>
            </a:r>
            <a:r>
              <a:rPr lang="en-US" sz="2000" i="1" dirty="0" err="1"/>
              <a:t>V</a:t>
            </a:r>
            <a:r>
              <a:rPr lang="en-US" sz="2000" baseline="-25000" dirty="0" err="1"/>
              <a:t>mem</a:t>
            </a:r>
            <a:r>
              <a:rPr lang="en-US" sz="2000" dirty="0"/>
              <a:t> tells it to</a:t>
            </a:r>
          </a:p>
          <a:p>
            <a:r>
              <a:rPr lang="en-US" sz="2400" dirty="0"/>
              <a:t>This is exactly what we wanted!</a:t>
            </a:r>
          </a:p>
          <a:p>
            <a:pPr lvl="1">
              <a:spcBef>
                <a:spcPts val="0"/>
              </a:spcBef>
            </a:pPr>
            <a:r>
              <a:rPr lang="en-US" sz="2000" dirty="0"/>
              <a:t>Short-cut some of the complexity</a:t>
            </a:r>
          </a:p>
          <a:p>
            <a:r>
              <a:rPr lang="en-US" sz="2400" dirty="0"/>
              <a:t>The growing body acts as a layered piece of software</a:t>
            </a:r>
          </a:p>
          <a:p>
            <a:pPr lvl="1">
              <a:spcBef>
                <a:spcPts val="0"/>
              </a:spcBef>
            </a:pPr>
            <a:r>
              <a:rPr lang="en-US" sz="2000" dirty="0"/>
              <a:t>The upper layer creates a pattern of </a:t>
            </a:r>
            <a:r>
              <a:rPr lang="en-US" sz="2000" i="1" dirty="0" err="1"/>
              <a:t>V</a:t>
            </a:r>
            <a:r>
              <a:rPr lang="en-US" sz="2000" baseline="-25000" dirty="0" err="1"/>
              <a:t>mem</a:t>
            </a:r>
            <a:endParaRPr lang="en-US" sz="2000" dirty="0"/>
          </a:p>
          <a:p>
            <a:pPr lvl="1">
              <a:spcBef>
                <a:spcPts val="0"/>
              </a:spcBef>
            </a:pPr>
            <a:r>
              <a:rPr lang="en-US" sz="2000" dirty="0"/>
              <a:t>The lower layer sees that pattern, and creates body shapes based on it</a:t>
            </a:r>
          </a:p>
          <a:p>
            <a:pPr lvl="1">
              <a:spcBef>
                <a:spcPts val="0"/>
              </a:spcBef>
            </a:pPr>
            <a:r>
              <a:rPr lang="en-US" sz="2000" dirty="0"/>
              <a:t>Note that both layers are controlled by DNA, but it’s still a layered system</a:t>
            </a:r>
          </a:p>
          <a:p>
            <a:pPr>
              <a:spcBef>
                <a:spcPts val="0"/>
              </a:spcBef>
            </a:pPr>
            <a:r>
              <a:rPr lang="en-US" sz="2400" dirty="0"/>
              <a:t>How convincing is this evidence?</a:t>
            </a:r>
          </a:p>
          <a:p>
            <a:endParaRPr lang="en-US" dirty="0"/>
          </a:p>
        </p:txBody>
      </p:sp>
      <p:sp>
        <p:nvSpPr>
          <p:cNvPr id="4" name="Footer Placeholder 3">
            <a:extLst>
              <a:ext uri="{FF2B5EF4-FFF2-40B4-BE49-F238E27FC236}">
                <a16:creationId xmlns:a16="http://schemas.microsoft.com/office/drawing/2014/main" id="{E8AD74FA-D849-4265-8D58-493EB7A3DCF7}"/>
              </a:ext>
            </a:extLst>
          </p:cNvPr>
          <p:cNvSpPr>
            <a:spLocks noGrp="1"/>
          </p:cNvSpPr>
          <p:nvPr>
            <p:ph type="ftr" sz="quarter" idx="11"/>
          </p:nvPr>
        </p:nvSpPr>
        <p:spPr/>
        <p:txBody>
          <a:bodyPr/>
          <a:lstStyle/>
          <a:p>
            <a:pPr>
              <a:defRPr/>
            </a:pPr>
            <a:r>
              <a:rPr lang="en-US" dirty="0"/>
              <a:t>Bioelectricity Joel Grodstein</a:t>
            </a:r>
          </a:p>
        </p:txBody>
      </p:sp>
      <p:sp>
        <p:nvSpPr>
          <p:cNvPr id="6" name="TextBox 5">
            <a:extLst>
              <a:ext uri="{FF2B5EF4-FFF2-40B4-BE49-F238E27FC236}">
                <a16:creationId xmlns:a16="http://schemas.microsoft.com/office/drawing/2014/main" id="{D1526F46-24B8-41D7-A479-B12E90AE0386}"/>
              </a:ext>
            </a:extLst>
          </p:cNvPr>
          <p:cNvSpPr txBox="1"/>
          <p:nvPr/>
        </p:nvSpPr>
        <p:spPr>
          <a:xfrm>
            <a:off x="6290734" y="2463800"/>
            <a:ext cx="2167467" cy="830997"/>
          </a:xfrm>
          <a:prstGeom prst="rect">
            <a:avLst/>
          </a:prstGeom>
          <a:noFill/>
          <a:ln w="12700">
            <a:solidFill>
              <a:schemeClr val="accent2"/>
            </a:solidFill>
          </a:ln>
        </p:spPr>
        <p:txBody>
          <a:bodyPr wrap="square" rtlCol="0">
            <a:spAutoFit/>
          </a:bodyPr>
          <a:lstStyle/>
          <a:p>
            <a:pPr algn="ctr"/>
            <a:r>
              <a:rPr lang="en-US" dirty="0"/>
              <a:t>Create </a:t>
            </a:r>
            <a:r>
              <a:rPr lang="en-US" i="1" dirty="0" err="1"/>
              <a:t>V</a:t>
            </a:r>
            <a:r>
              <a:rPr lang="en-US" baseline="-25000" dirty="0" err="1"/>
              <a:t>mem</a:t>
            </a:r>
            <a:r>
              <a:rPr lang="en-US" dirty="0"/>
              <a:t> pattern</a:t>
            </a:r>
          </a:p>
        </p:txBody>
      </p:sp>
      <p:grpSp>
        <p:nvGrpSpPr>
          <p:cNvPr id="5" name="Group 4">
            <a:extLst>
              <a:ext uri="{FF2B5EF4-FFF2-40B4-BE49-F238E27FC236}">
                <a16:creationId xmlns:a16="http://schemas.microsoft.com/office/drawing/2014/main" id="{FCA7562C-D3CB-4AC7-A9B3-ADACEB57BA86}"/>
              </a:ext>
            </a:extLst>
          </p:cNvPr>
          <p:cNvGrpSpPr/>
          <p:nvPr/>
        </p:nvGrpSpPr>
        <p:grpSpPr>
          <a:xfrm>
            <a:off x="6239932" y="3445936"/>
            <a:ext cx="2523067" cy="2148593"/>
            <a:chOff x="6239932" y="3445936"/>
            <a:chExt cx="2523067" cy="2148593"/>
          </a:xfrm>
        </p:grpSpPr>
        <p:sp>
          <p:nvSpPr>
            <p:cNvPr id="10" name="TextBox 9">
              <a:extLst>
                <a:ext uri="{FF2B5EF4-FFF2-40B4-BE49-F238E27FC236}">
                  <a16:creationId xmlns:a16="http://schemas.microsoft.com/office/drawing/2014/main" id="{33B17081-A442-421A-960E-A63391896BDC}"/>
                </a:ext>
              </a:extLst>
            </p:cNvPr>
            <p:cNvSpPr txBox="1"/>
            <p:nvPr/>
          </p:nvSpPr>
          <p:spPr>
            <a:xfrm>
              <a:off x="6239932" y="4394200"/>
              <a:ext cx="2523067" cy="1200329"/>
            </a:xfrm>
            <a:prstGeom prst="rect">
              <a:avLst/>
            </a:prstGeom>
            <a:noFill/>
            <a:ln w="12700">
              <a:solidFill>
                <a:schemeClr val="accent2"/>
              </a:solidFill>
            </a:ln>
          </p:spPr>
          <p:txBody>
            <a:bodyPr wrap="square" rtlCol="0">
              <a:spAutoFit/>
            </a:bodyPr>
            <a:lstStyle/>
            <a:p>
              <a:pPr algn="ctr"/>
              <a:r>
                <a:rPr lang="en-US" dirty="0"/>
                <a:t>Differentiate cells following </a:t>
              </a:r>
              <a:r>
                <a:rPr lang="en-US" i="1" dirty="0" err="1"/>
                <a:t>V</a:t>
              </a:r>
              <a:r>
                <a:rPr lang="en-US" baseline="-25000" dirty="0" err="1"/>
                <a:t>mem</a:t>
              </a:r>
              <a:r>
                <a:rPr lang="en-US" dirty="0"/>
                <a:t> pattern</a:t>
              </a:r>
            </a:p>
          </p:txBody>
        </p:sp>
        <p:sp>
          <p:nvSpPr>
            <p:cNvPr id="11" name="Arrow: Down 10">
              <a:extLst>
                <a:ext uri="{FF2B5EF4-FFF2-40B4-BE49-F238E27FC236}">
                  <a16:creationId xmlns:a16="http://schemas.microsoft.com/office/drawing/2014/main" id="{70450EFC-3C68-4AA3-B474-A4C8A9D54BCB}"/>
                </a:ext>
              </a:extLst>
            </p:cNvPr>
            <p:cNvSpPr/>
            <p:nvPr/>
          </p:nvSpPr>
          <p:spPr>
            <a:xfrm>
              <a:off x="7281334" y="3445936"/>
              <a:ext cx="262466" cy="795867"/>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13" name="Straight Connector 12">
            <a:extLst>
              <a:ext uri="{FF2B5EF4-FFF2-40B4-BE49-F238E27FC236}">
                <a16:creationId xmlns:a16="http://schemas.microsoft.com/office/drawing/2014/main" id="{5A85AD53-3E22-4C72-A034-627520D2C9A8}"/>
              </a:ext>
            </a:extLst>
          </p:cNvPr>
          <p:cNvCxnSpPr/>
          <p:nvPr/>
        </p:nvCxnSpPr>
        <p:spPr>
          <a:xfrm>
            <a:off x="6273800" y="3826933"/>
            <a:ext cx="2413000" cy="0"/>
          </a:xfrm>
          <a:prstGeom prst="line">
            <a:avLst/>
          </a:prstGeom>
          <a:ln w="28575">
            <a:solidFill>
              <a:schemeClr val="accent2"/>
            </a:solidFill>
            <a:prstDash val="dash"/>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37B89BD1-6B90-408F-947C-F8AF7AB778F6}"/>
              </a:ext>
            </a:extLst>
          </p:cNvPr>
          <p:cNvSpPr txBox="1"/>
          <p:nvPr/>
        </p:nvSpPr>
        <p:spPr>
          <a:xfrm>
            <a:off x="8195733" y="3437467"/>
            <a:ext cx="719667" cy="461665"/>
          </a:xfrm>
          <a:prstGeom prst="rect">
            <a:avLst/>
          </a:prstGeom>
          <a:noFill/>
        </p:spPr>
        <p:txBody>
          <a:bodyPr wrap="square" rtlCol="0">
            <a:spAutoFit/>
          </a:bodyPr>
          <a:lstStyle/>
          <a:p>
            <a:r>
              <a:rPr lang="en-US" dirty="0"/>
              <a:t>API</a:t>
            </a:r>
          </a:p>
        </p:txBody>
      </p:sp>
      <p:grpSp>
        <p:nvGrpSpPr>
          <p:cNvPr id="12" name="Group 11">
            <a:extLst>
              <a:ext uri="{FF2B5EF4-FFF2-40B4-BE49-F238E27FC236}">
                <a16:creationId xmlns:a16="http://schemas.microsoft.com/office/drawing/2014/main" id="{FB6BB60F-9C65-4CFE-8931-C67B5EE3A940}"/>
              </a:ext>
            </a:extLst>
          </p:cNvPr>
          <p:cNvGrpSpPr/>
          <p:nvPr/>
        </p:nvGrpSpPr>
        <p:grpSpPr>
          <a:xfrm>
            <a:off x="6180665" y="3573532"/>
            <a:ext cx="2582334" cy="2878152"/>
            <a:chOff x="6180665" y="3573532"/>
            <a:chExt cx="2582334" cy="2878152"/>
          </a:xfrm>
        </p:grpSpPr>
        <p:sp>
          <p:nvSpPr>
            <p:cNvPr id="15" name="TextBox 14">
              <a:extLst>
                <a:ext uri="{FF2B5EF4-FFF2-40B4-BE49-F238E27FC236}">
                  <a16:creationId xmlns:a16="http://schemas.microsoft.com/office/drawing/2014/main" id="{BCA7AFAD-28BE-46F0-8FDA-7CD8CAE480B5}"/>
                </a:ext>
              </a:extLst>
            </p:cNvPr>
            <p:cNvSpPr txBox="1"/>
            <p:nvPr/>
          </p:nvSpPr>
          <p:spPr>
            <a:xfrm>
              <a:off x="6239932" y="4394200"/>
              <a:ext cx="2523067" cy="1100667"/>
            </a:xfrm>
            <a:prstGeom prst="rect">
              <a:avLst/>
            </a:prstGeom>
            <a:noFill/>
            <a:ln w="12700">
              <a:solidFill>
                <a:schemeClr val="accent2"/>
              </a:solidFill>
            </a:ln>
          </p:spPr>
          <p:txBody>
            <a:bodyPr wrap="square" rtlCol="0" anchor="ctr" anchorCtr="0">
              <a:noAutofit/>
            </a:bodyPr>
            <a:lstStyle/>
            <a:p>
              <a:pPr algn="ctr"/>
              <a:r>
                <a:rPr lang="en-US" dirty="0"/>
                <a:t>compare</a:t>
              </a:r>
            </a:p>
          </p:txBody>
        </p:sp>
        <p:sp>
          <p:nvSpPr>
            <p:cNvPr id="16" name="Arrow: Down 15">
              <a:extLst>
                <a:ext uri="{FF2B5EF4-FFF2-40B4-BE49-F238E27FC236}">
                  <a16:creationId xmlns:a16="http://schemas.microsoft.com/office/drawing/2014/main" id="{250F2FA4-5DC7-493A-801B-F0FB24242336}"/>
                </a:ext>
              </a:extLst>
            </p:cNvPr>
            <p:cNvSpPr/>
            <p:nvPr/>
          </p:nvSpPr>
          <p:spPr>
            <a:xfrm>
              <a:off x="8036247" y="3573532"/>
              <a:ext cx="262466" cy="795867"/>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extBox 16">
              <a:extLst>
                <a:ext uri="{FF2B5EF4-FFF2-40B4-BE49-F238E27FC236}">
                  <a16:creationId xmlns:a16="http://schemas.microsoft.com/office/drawing/2014/main" id="{AE5C8556-D1CE-4646-BADB-5F4CAFF954D5}"/>
                </a:ext>
              </a:extLst>
            </p:cNvPr>
            <p:cNvSpPr txBox="1"/>
            <p:nvPr/>
          </p:nvSpPr>
          <p:spPr>
            <a:xfrm>
              <a:off x="7746999" y="4275670"/>
              <a:ext cx="897468" cy="400110"/>
            </a:xfrm>
            <a:prstGeom prst="rect">
              <a:avLst/>
            </a:prstGeom>
            <a:noFill/>
          </p:spPr>
          <p:txBody>
            <a:bodyPr wrap="square" rtlCol="0">
              <a:spAutoFit/>
            </a:bodyPr>
            <a:lstStyle/>
            <a:p>
              <a:r>
                <a:rPr lang="en-US" sz="2000" dirty="0"/>
                <a:t>target</a:t>
              </a:r>
            </a:p>
          </p:txBody>
        </p:sp>
        <p:sp>
          <p:nvSpPr>
            <p:cNvPr id="18" name="TextBox 17">
              <a:extLst>
                <a:ext uri="{FF2B5EF4-FFF2-40B4-BE49-F238E27FC236}">
                  <a16:creationId xmlns:a16="http://schemas.microsoft.com/office/drawing/2014/main" id="{EE3BC477-9105-4CC2-907F-6E2B9B37C75C}"/>
                </a:ext>
              </a:extLst>
            </p:cNvPr>
            <p:cNvSpPr txBox="1"/>
            <p:nvPr/>
          </p:nvSpPr>
          <p:spPr>
            <a:xfrm>
              <a:off x="6180665" y="4343403"/>
              <a:ext cx="939801" cy="400110"/>
            </a:xfrm>
            <a:prstGeom prst="rect">
              <a:avLst/>
            </a:prstGeom>
            <a:noFill/>
          </p:spPr>
          <p:txBody>
            <a:bodyPr wrap="square" rtlCol="0">
              <a:spAutoFit/>
            </a:bodyPr>
            <a:lstStyle/>
            <a:p>
              <a:r>
                <a:rPr lang="en-US" sz="2000" dirty="0"/>
                <a:t>current</a:t>
              </a:r>
            </a:p>
          </p:txBody>
        </p:sp>
        <p:sp>
          <p:nvSpPr>
            <p:cNvPr id="19" name="TextBox 18">
              <a:extLst>
                <a:ext uri="{FF2B5EF4-FFF2-40B4-BE49-F238E27FC236}">
                  <a16:creationId xmlns:a16="http://schemas.microsoft.com/office/drawing/2014/main" id="{A60217E7-E666-4240-B818-5C684C4C2747}"/>
                </a:ext>
              </a:extLst>
            </p:cNvPr>
            <p:cNvSpPr txBox="1"/>
            <p:nvPr/>
          </p:nvSpPr>
          <p:spPr>
            <a:xfrm>
              <a:off x="6742614" y="5620687"/>
              <a:ext cx="1455086" cy="830997"/>
            </a:xfrm>
            <a:prstGeom prst="rect">
              <a:avLst/>
            </a:prstGeom>
            <a:noFill/>
          </p:spPr>
          <p:txBody>
            <a:bodyPr wrap="square" rtlCol="0">
              <a:spAutoFit/>
            </a:bodyPr>
            <a:lstStyle/>
            <a:p>
              <a:pPr algn="ctr"/>
              <a:r>
                <a:rPr lang="en-US" dirty="0"/>
                <a:t>growth directions</a:t>
              </a:r>
            </a:p>
          </p:txBody>
        </p:sp>
        <p:sp>
          <p:nvSpPr>
            <p:cNvPr id="20" name="Arrow: Down 19">
              <a:extLst>
                <a:ext uri="{FF2B5EF4-FFF2-40B4-BE49-F238E27FC236}">
                  <a16:creationId xmlns:a16="http://schemas.microsoft.com/office/drawing/2014/main" id="{BFA61DA1-FED9-4D52-A9C8-1ABF4AC74B96}"/>
                </a:ext>
              </a:extLst>
            </p:cNvPr>
            <p:cNvSpPr/>
            <p:nvPr/>
          </p:nvSpPr>
          <p:spPr>
            <a:xfrm>
              <a:off x="6498070" y="4136065"/>
              <a:ext cx="242971" cy="290035"/>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Arrow: Down 20">
              <a:extLst>
                <a:ext uri="{FF2B5EF4-FFF2-40B4-BE49-F238E27FC236}">
                  <a16:creationId xmlns:a16="http://schemas.microsoft.com/office/drawing/2014/main" id="{E92B2EE0-8AF6-44A9-99D1-E154FBF54ECF}"/>
                </a:ext>
              </a:extLst>
            </p:cNvPr>
            <p:cNvSpPr/>
            <p:nvPr/>
          </p:nvSpPr>
          <p:spPr>
            <a:xfrm>
              <a:off x="7373484" y="5231220"/>
              <a:ext cx="218164" cy="612554"/>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23293936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fade">
                                      <p:cBhvr>
                                        <p:cTn id="7" dur="500"/>
                                        <p:tgtEl>
                                          <p:spTgt spid="3">
                                            <p:txEl>
                                              <p:pRg st="2" end="2"/>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3" end="3"/>
                                            </p:txEl>
                                          </p:spTgt>
                                        </p:tgtEl>
                                        <p:attrNameLst>
                                          <p:attrName>style.visibility</p:attrName>
                                        </p:attrNameLst>
                                      </p:cBhvr>
                                      <p:to>
                                        <p:strVal val="visible"/>
                                      </p:to>
                                    </p:set>
                                    <p:animEffect transition="in" filter="fade">
                                      <p:cBhvr>
                                        <p:cTn id="10" dur="500"/>
                                        <p:tgtEl>
                                          <p:spTgt spid="3">
                                            <p:txEl>
                                              <p:pRg st="3" end="3"/>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animEffect transition="in" filter="fade">
                                      <p:cBhvr>
                                        <p:cTn id="15" dur="500"/>
                                        <p:tgtEl>
                                          <p:spTgt spid="3">
                                            <p:txEl>
                                              <p:pRg st="4" end="4"/>
                                            </p:txEl>
                                          </p:spTgt>
                                        </p:tgtEl>
                                      </p:cBhvr>
                                    </p:animEffect>
                                  </p:childTnLst>
                                </p:cTn>
                              </p:par>
                              <p:par>
                                <p:cTn id="16" presetID="10" presetClass="entr" presetSubtype="0" fill="hold" nodeType="withEffect">
                                  <p:stCondLst>
                                    <p:cond delay="0"/>
                                  </p:stCondLst>
                                  <p:childTnLst>
                                    <p:set>
                                      <p:cBhvr>
                                        <p:cTn id="17" dur="1" fill="hold">
                                          <p:stCondLst>
                                            <p:cond delay="0"/>
                                          </p:stCondLst>
                                        </p:cTn>
                                        <p:tgtEl>
                                          <p:spTgt spid="3">
                                            <p:txEl>
                                              <p:pRg st="5" end="5"/>
                                            </p:txEl>
                                          </p:spTgt>
                                        </p:tgtEl>
                                        <p:attrNameLst>
                                          <p:attrName>style.visibility</p:attrName>
                                        </p:attrNameLst>
                                      </p:cBhvr>
                                      <p:to>
                                        <p:strVal val="visible"/>
                                      </p:to>
                                    </p:set>
                                    <p:animEffect transition="in" filter="fade">
                                      <p:cBhvr>
                                        <p:cTn id="18" dur="500"/>
                                        <p:tgtEl>
                                          <p:spTgt spid="3">
                                            <p:txEl>
                                              <p:pRg st="5" end="5"/>
                                            </p:txEl>
                                          </p:spTgt>
                                        </p:tgtEl>
                                      </p:cBhvr>
                                    </p:animEffect>
                                  </p:childTnLst>
                                </p:cTn>
                              </p:par>
                              <p:par>
                                <p:cTn id="19" presetID="10" presetClass="entr" presetSubtype="0" fill="hold" nodeType="withEffect">
                                  <p:stCondLst>
                                    <p:cond delay="0"/>
                                  </p:stCondLst>
                                  <p:childTnLst>
                                    <p:set>
                                      <p:cBhvr>
                                        <p:cTn id="20" dur="1" fill="hold">
                                          <p:stCondLst>
                                            <p:cond delay="0"/>
                                          </p:stCondLst>
                                        </p:cTn>
                                        <p:tgtEl>
                                          <p:spTgt spid="3">
                                            <p:txEl>
                                              <p:pRg st="6" end="6"/>
                                            </p:txEl>
                                          </p:spTgt>
                                        </p:tgtEl>
                                        <p:attrNameLst>
                                          <p:attrName>style.visibility</p:attrName>
                                        </p:attrNameLst>
                                      </p:cBhvr>
                                      <p:to>
                                        <p:strVal val="visible"/>
                                      </p:to>
                                    </p:set>
                                    <p:animEffect transition="in" filter="fade">
                                      <p:cBhvr>
                                        <p:cTn id="21" dur="500"/>
                                        <p:tgtEl>
                                          <p:spTgt spid="3">
                                            <p:txEl>
                                              <p:pRg st="6" end="6"/>
                                            </p:txEl>
                                          </p:spTgt>
                                        </p:tgtEl>
                                      </p:cBhvr>
                                    </p:animEffect>
                                  </p:childTnLst>
                                </p:cTn>
                              </p:par>
                              <p:par>
                                <p:cTn id="22" presetID="10" presetClass="entr" presetSubtype="0" fill="hold" nodeType="withEffect">
                                  <p:stCondLst>
                                    <p:cond delay="0"/>
                                  </p:stCondLst>
                                  <p:childTnLst>
                                    <p:set>
                                      <p:cBhvr>
                                        <p:cTn id="23" dur="1" fill="hold">
                                          <p:stCondLst>
                                            <p:cond delay="0"/>
                                          </p:stCondLst>
                                        </p:cTn>
                                        <p:tgtEl>
                                          <p:spTgt spid="3">
                                            <p:txEl>
                                              <p:pRg st="7" end="7"/>
                                            </p:txEl>
                                          </p:spTgt>
                                        </p:tgtEl>
                                        <p:attrNameLst>
                                          <p:attrName>style.visibility</p:attrName>
                                        </p:attrNameLst>
                                      </p:cBhvr>
                                      <p:to>
                                        <p:strVal val="visible"/>
                                      </p:to>
                                    </p:set>
                                    <p:animEffect transition="in" filter="fade">
                                      <p:cBhvr>
                                        <p:cTn id="24" dur="500"/>
                                        <p:tgtEl>
                                          <p:spTgt spid="3">
                                            <p:txEl>
                                              <p:pRg st="7" end="7"/>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xit" presetSubtype="0" fill="hold" nodeType="clickEffect">
                                  <p:stCondLst>
                                    <p:cond delay="0"/>
                                  </p:stCondLst>
                                  <p:childTnLst>
                                    <p:animEffect transition="out" filter="fade">
                                      <p:cBhvr>
                                        <p:cTn id="28" dur="500"/>
                                        <p:tgtEl>
                                          <p:spTgt spid="5"/>
                                        </p:tgtEl>
                                      </p:cBhvr>
                                    </p:animEffect>
                                    <p:set>
                                      <p:cBhvr>
                                        <p:cTn id="29" dur="1" fill="hold">
                                          <p:stCondLst>
                                            <p:cond delay="499"/>
                                          </p:stCondLst>
                                        </p:cTn>
                                        <p:tgtEl>
                                          <p:spTgt spid="5"/>
                                        </p:tgtEl>
                                        <p:attrNameLst>
                                          <p:attrName>style.visibility</p:attrName>
                                        </p:attrNameLst>
                                      </p:cBhvr>
                                      <p:to>
                                        <p:strVal val="hidden"/>
                                      </p:to>
                                    </p:set>
                                  </p:childTnLst>
                                </p:cTn>
                              </p:par>
                              <p:par>
                                <p:cTn id="30" presetID="10" presetClass="entr" presetSubtype="0" fill="hold" nodeType="withEffect">
                                  <p:stCondLst>
                                    <p:cond delay="0"/>
                                  </p:stCondLst>
                                  <p:childTnLst>
                                    <p:set>
                                      <p:cBhvr>
                                        <p:cTn id="31" dur="1" fill="hold">
                                          <p:stCondLst>
                                            <p:cond delay="0"/>
                                          </p:stCondLst>
                                        </p:cTn>
                                        <p:tgtEl>
                                          <p:spTgt spid="12"/>
                                        </p:tgtEl>
                                        <p:attrNameLst>
                                          <p:attrName>style.visibility</p:attrName>
                                        </p:attrNameLst>
                                      </p:cBhvr>
                                      <p:to>
                                        <p:strVal val="visible"/>
                                      </p:to>
                                    </p:set>
                                    <p:animEffect transition="in" filter="fade">
                                      <p:cBhvr>
                                        <p:cTn id="32" dur="500"/>
                                        <p:tgtEl>
                                          <p:spTgt spid="12"/>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3">
                                            <p:txEl>
                                              <p:pRg st="8" end="8"/>
                                            </p:txEl>
                                          </p:spTgt>
                                        </p:tgtEl>
                                        <p:attrNameLst>
                                          <p:attrName>style.visibility</p:attrName>
                                        </p:attrNameLst>
                                      </p:cBhvr>
                                      <p:to>
                                        <p:strVal val="visible"/>
                                      </p:to>
                                    </p:set>
                                    <p:animEffect transition="in" filter="fade">
                                      <p:cBhvr>
                                        <p:cTn id="37" dur="500"/>
                                        <p:tgtEl>
                                          <p:spTgt spid="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455856-073E-467A-90AF-2A2CF721DCF9}"/>
              </a:ext>
            </a:extLst>
          </p:cNvPr>
          <p:cNvSpPr>
            <a:spLocks noGrp="1"/>
          </p:cNvSpPr>
          <p:nvPr>
            <p:ph type="title"/>
          </p:nvPr>
        </p:nvSpPr>
        <p:spPr/>
        <p:txBody>
          <a:bodyPr/>
          <a:lstStyle/>
          <a:p>
            <a:r>
              <a:rPr lang="en-US" dirty="0"/>
              <a:t>The amazing </a:t>
            </a:r>
            <a:r>
              <a:rPr lang="en-US" dirty="0" err="1"/>
              <a:t>planaria</a:t>
            </a:r>
            <a:endParaRPr lang="en-US" dirty="0"/>
          </a:p>
        </p:txBody>
      </p:sp>
      <p:sp>
        <p:nvSpPr>
          <p:cNvPr id="3" name="Content Placeholder 2">
            <a:extLst>
              <a:ext uri="{FF2B5EF4-FFF2-40B4-BE49-F238E27FC236}">
                <a16:creationId xmlns:a16="http://schemas.microsoft.com/office/drawing/2014/main" id="{358A6576-8311-4B84-A297-D972610F2EED}"/>
              </a:ext>
            </a:extLst>
          </p:cNvPr>
          <p:cNvSpPr>
            <a:spLocks noGrp="1"/>
          </p:cNvSpPr>
          <p:nvPr>
            <p:ph idx="1"/>
          </p:nvPr>
        </p:nvSpPr>
        <p:spPr>
          <a:xfrm>
            <a:off x="355600" y="1684867"/>
            <a:ext cx="5263965" cy="3251199"/>
          </a:xfrm>
        </p:spPr>
        <p:txBody>
          <a:bodyPr/>
          <a:lstStyle/>
          <a:p>
            <a:r>
              <a:rPr lang="en-US" dirty="0"/>
              <a:t>World champion of regeneration</a:t>
            </a:r>
          </a:p>
          <a:p>
            <a:pPr lvl="1"/>
            <a:r>
              <a:rPr lang="en-US" dirty="0"/>
              <a:t>The planaria is a flatworm</a:t>
            </a:r>
          </a:p>
          <a:p>
            <a:pPr lvl="1"/>
            <a:r>
              <a:rPr lang="en-US" dirty="0"/>
              <a:t>It has a brain and can learn</a:t>
            </a:r>
          </a:p>
          <a:p>
            <a:pPr lvl="1"/>
            <a:r>
              <a:rPr lang="en-US" dirty="0"/>
              <a:t>It has nerves (in green)</a:t>
            </a:r>
          </a:p>
          <a:p>
            <a:pPr lvl="1"/>
            <a:r>
              <a:rPr lang="en-US" dirty="0"/>
              <a:t>Typically 3-15mm in length</a:t>
            </a:r>
          </a:p>
          <a:p>
            <a:pPr lvl="1"/>
            <a:r>
              <a:rPr lang="en-US" dirty="0"/>
              <a:t>And – more or less immortal</a:t>
            </a:r>
          </a:p>
          <a:p>
            <a:endParaRPr lang="en-US" dirty="0"/>
          </a:p>
        </p:txBody>
      </p:sp>
      <p:sp>
        <p:nvSpPr>
          <p:cNvPr id="4" name="Footer Placeholder 3">
            <a:extLst>
              <a:ext uri="{FF2B5EF4-FFF2-40B4-BE49-F238E27FC236}">
                <a16:creationId xmlns:a16="http://schemas.microsoft.com/office/drawing/2014/main" id="{1F598E6D-92F2-4F81-937A-245468D1F2E3}"/>
              </a:ext>
            </a:extLst>
          </p:cNvPr>
          <p:cNvSpPr>
            <a:spLocks noGrp="1"/>
          </p:cNvSpPr>
          <p:nvPr>
            <p:ph type="ftr" sz="quarter" idx="11"/>
          </p:nvPr>
        </p:nvSpPr>
        <p:spPr>
          <a:xfrm>
            <a:off x="5376334" y="6248400"/>
            <a:ext cx="2895600" cy="215444"/>
          </a:xfrm>
        </p:spPr>
        <p:txBody>
          <a:bodyPr/>
          <a:lstStyle/>
          <a:p>
            <a:pPr>
              <a:defRPr/>
            </a:pPr>
            <a:r>
              <a:rPr lang="en-US" dirty="0"/>
              <a:t>Bioelectricity Joel Grodstein</a:t>
            </a:r>
          </a:p>
        </p:txBody>
      </p:sp>
      <p:pic>
        <p:nvPicPr>
          <p:cNvPr id="8" name="Picture 7">
            <a:extLst>
              <a:ext uri="{FF2B5EF4-FFF2-40B4-BE49-F238E27FC236}">
                <a16:creationId xmlns:a16="http://schemas.microsoft.com/office/drawing/2014/main" id="{62065375-83A0-4D1F-97CE-9AABDAE5EC7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726619" y="1474259"/>
            <a:ext cx="2565423" cy="2598208"/>
          </a:xfrm>
          <a:prstGeom prst="rect">
            <a:avLst/>
          </a:prstGeom>
        </p:spPr>
      </p:pic>
      <p:sp>
        <p:nvSpPr>
          <p:cNvPr id="7" name="TextBox 6">
            <a:extLst>
              <a:ext uri="{FF2B5EF4-FFF2-40B4-BE49-F238E27FC236}">
                <a16:creationId xmlns:a16="http://schemas.microsoft.com/office/drawing/2014/main" id="{4E32D182-38A3-4FA4-A715-072DCFA694CD}"/>
              </a:ext>
            </a:extLst>
          </p:cNvPr>
          <p:cNvSpPr txBox="1"/>
          <p:nvPr/>
        </p:nvSpPr>
        <p:spPr>
          <a:xfrm>
            <a:off x="626533" y="5957151"/>
            <a:ext cx="7974149" cy="646331"/>
          </a:xfrm>
          <a:prstGeom prst="rect">
            <a:avLst/>
          </a:prstGeom>
          <a:noFill/>
        </p:spPr>
        <p:txBody>
          <a:bodyPr wrap="square" rtlCol="0">
            <a:spAutoFit/>
          </a:bodyPr>
          <a:lstStyle/>
          <a:p>
            <a:r>
              <a:rPr lang="en-US" sz="1800" dirty="0"/>
              <a:t>Credit: </a:t>
            </a:r>
            <a:r>
              <a:rPr lang="en-US" sz="1800" i="1" dirty="0"/>
              <a:t>Modeling Planarian Regeneration: A Primer for Reverse-engineering the worm</a:t>
            </a:r>
            <a:r>
              <a:rPr lang="en-US" sz="1800" dirty="0"/>
              <a:t>, PLOS Comp Bio 2012</a:t>
            </a:r>
          </a:p>
        </p:txBody>
      </p:sp>
    </p:spTree>
    <p:extLst>
      <p:ext uri="{BB962C8B-B14F-4D97-AF65-F5344CB8AC3E}">
        <p14:creationId xmlns:p14="http://schemas.microsoft.com/office/powerpoint/2010/main" val="15756419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5" end="5"/>
                                            </p:txEl>
                                          </p:spTgt>
                                        </p:tgtEl>
                                        <p:attrNameLst>
                                          <p:attrName>style.visibility</p:attrName>
                                        </p:attrNameLst>
                                      </p:cBhvr>
                                      <p:to>
                                        <p:strVal val="visible"/>
                                      </p:to>
                                    </p:set>
                                    <p:animEffect transition="in" filter="fade">
                                      <p:cBhvr>
                                        <p:cTn id="7"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0E75FDE-44F0-40FE-AB91-2AE6E60464A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577416" y="1625600"/>
            <a:ext cx="3096545" cy="1624542"/>
          </a:xfrm>
          <a:prstGeom prst="rect">
            <a:avLst/>
          </a:prstGeom>
        </p:spPr>
      </p:pic>
      <p:sp>
        <p:nvSpPr>
          <p:cNvPr id="3" name="Content Placeholder 2">
            <a:extLst>
              <a:ext uri="{FF2B5EF4-FFF2-40B4-BE49-F238E27FC236}">
                <a16:creationId xmlns:a16="http://schemas.microsoft.com/office/drawing/2014/main" id="{28D4993E-8CC5-42EE-8C2E-67976248C869}"/>
              </a:ext>
            </a:extLst>
          </p:cNvPr>
          <p:cNvSpPr>
            <a:spLocks noGrp="1"/>
          </p:cNvSpPr>
          <p:nvPr>
            <p:ph idx="1"/>
          </p:nvPr>
        </p:nvSpPr>
        <p:spPr>
          <a:xfrm>
            <a:off x="237067" y="635017"/>
            <a:ext cx="5816597" cy="3484596"/>
          </a:xfrm>
        </p:spPr>
        <p:txBody>
          <a:bodyPr/>
          <a:lstStyle/>
          <a:p>
            <a:r>
              <a:rPr lang="en-US" sz="2400" dirty="0"/>
              <a:t>Adult </a:t>
            </a:r>
            <a:r>
              <a:rPr lang="en-US" sz="2400" dirty="0" err="1"/>
              <a:t>planaria</a:t>
            </a:r>
            <a:r>
              <a:rPr lang="en-US" sz="2400" dirty="0"/>
              <a:t> retain a large proportion of stem cells</a:t>
            </a:r>
          </a:p>
          <a:p>
            <a:r>
              <a:rPr lang="en-US" sz="2400" dirty="0"/>
              <a:t>Cut one into </a:t>
            </a:r>
            <a:r>
              <a:rPr lang="en-US" sz="2400" i="1" dirty="0"/>
              <a:t>n</a:t>
            </a:r>
            <a:r>
              <a:rPr lang="en-US" sz="2400" dirty="0"/>
              <a:t> pieces (</a:t>
            </a:r>
            <a:r>
              <a:rPr lang="en-US" sz="2400" i="1" dirty="0"/>
              <a:t>n</a:t>
            </a:r>
            <a:r>
              <a:rPr lang="en-US" sz="2400" dirty="0"/>
              <a:t>≤279)</a:t>
            </a:r>
          </a:p>
          <a:p>
            <a:pPr lvl="1">
              <a:spcBef>
                <a:spcPts val="0"/>
              </a:spcBef>
            </a:pPr>
            <a:r>
              <a:rPr lang="en-US" sz="2000" dirty="0"/>
              <a:t>Every piece regenerates into an entire planarian</a:t>
            </a:r>
          </a:p>
          <a:p>
            <a:pPr lvl="1">
              <a:spcBef>
                <a:spcPts val="0"/>
              </a:spcBef>
            </a:pPr>
            <a:r>
              <a:rPr lang="en-US" sz="2000" dirty="0"/>
              <a:t>The head-tail polarity is retained!</a:t>
            </a:r>
          </a:p>
          <a:p>
            <a:r>
              <a:rPr lang="en-US" sz="2400" dirty="0"/>
              <a:t>While individual cells die, the planarian can regenerate itself (essentially) forever</a:t>
            </a:r>
          </a:p>
          <a:p>
            <a:pPr lvl="1">
              <a:spcBef>
                <a:spcPts val="0"/>
              </a:spcBef>
            </a:pPr>
            <a:r>
              <a:rPr lang="en-US" sz="2000" dirty="0"/>
              <a:t>Individual planarian cells die after </a:t>
            </a:r>
            <a:r>
              <a:rPr lang="en-US" sz="2000" dirty="0">
                <a:sym typeface="Symbol" panose="05050102010706020507" pitchFamily="18" charset="2"/>
              </a:rPr>
              <a:t></a:t>
            </a:r>
            <a:r>
              <a:rPr lang="en-US" sz="2000" dirty="0"/>
              <a:t>1 month; worm as a whole seemingly lives forever</a:t>
            </a:r>
          </a:p>
          <a:p>
            <a:endParaRPr lang="en-US" sz="2400" dirty="0"/>
          </a:p>
        </p:txBody>
      </p:sp>
      <p:sp>
        <p:nvSpPr>
          <p:cNvPr id="4" name="Footer Placeholder 3">
            <a:extLst>
              <a:ext uri="{FF2B5EF4-FFF2-40B4-BE49-F238E27FC236}">
                <a16:creationId xmlns:a16="http://schemas.microsoft.com/office/drawing/2014/main" id="{6A3BB8CB-D8D7-4DE4-A16C-E60768454CB9}"/>
              </a:ext>
            </a:extLst>
          </p:cNvPr>
          <p:cNvSpPr>
            <a:spLocks noGrp="1"/>
          </p:cNvSpPr>
          <p:nvPr>
            <p:ph type="ftr" sz="quarter" idx="11"/>
          </p:nvPr>
        </p:nvSpPr>
        <p:spPr>
          <a:xfrm>
            <a:off x="4927600" y="6197600"/>
            <a:ext cx="2895600" cy="215444"/>
          </a:xfrm>
        </p:spPr>
        <p:txBody>
          <a:bodyPr/>
          <a:lstStyle/>
          <a:p>
            <a:pPr>
              <a:defRPr/>
            </a:pPr>
            <a:r>
              <a:rPr lang="en-US" dirty="0"/>
              <a:t>Bioelectricity Joel Grodstein</a:t>
            </a:r>
          </a:p>
        </p:txBody>
      </p:sp>
      <p:sp>
        <p:nvSpPr>
          <p:cNvPr id="7" name="TextBox 6">
            <a:extLst>
              <a:ext uri="{FF2B5EF4-FFF2-40B4-BE49-F238E27FC236}">
                <a16:creationId xmlns:a16="http://schemas.microsoft.com/office/drawing/2014/main" id="{C080DB31-AEBE-46EA-986D-744EF090155D}"/>
              </a:ext>
            </a:extLst>
          </p:cNvPr>
          <p:cNvSpPr txBox="1"/>
          <p:nvPr/>
        </p:nvSpPr>
        <p:spPr>
          <a:xfrm>
            <a:off x="508000" y="5909732"/>
            <a:ext cx="8043333" cy="646331"/>
          </a:xfrm>
          <a:prstGeom prst="rect">
            <a:avLst/>
          </a:prstGeom>
          <a:noFill/>
        </p:spPr>
        <p:txBody>
          <a:bodyPr wrap="square" rtlCol="0">
            <a:spAutoFit/>
          </a:bodyPr>
          <a:lstStyle/>
          <a:p>
            <a:r>
              <a:rPr lang="en-US" sz="1800" dirty="0"/>
              <a:t>Credit: </a:t>
            </a:r>
            <a:r>
              <a:rPr lang="en-US" sz="1800" i="1" dirty="0"/>
              <a:t>Planarian regeneration as a model of anatomical homeostasis: recent progress</a:t>
            </a:r>
            <a:r>
              <a:rPr lang="en-US" sz="1800" b="1" i="1" dirty="0"/>
              <a:t>, </a:t>
            </a:r>
            <a:r>
              <a:rPr lang="en-US" sz="1800" dirty="0" err="1"/>
              <a:t>Semin</a:t>
            </a:r>
            <a:r>
              <a:rPr lang="en-US" sz="1800" dirty="0"/>
              <a:t> Cell Dev </a:t>
            </a:r>
            <a:r>
              <a:rPr lang="en-US" sz="1800" dirty="0" err="1"/>
              <a:t>Biol</a:t>
            </a:r>
            <a:r>
              <a:rPr lang="en-US" sz="1800" dirty="0"/>
              <a:t> 2018</a:t>
            </a:r>
          </a:p>
        </p:txBody>
      </p:sp>
      <p:sp>
        <p:nvSpPr>
          <p:cNvPr id="5" name="TextBox 4">
            <a:extLst>
              <a:ext uri="{FF2B5EF4-FFF2-40B4-BE49-F238E27FC236}">
                <a16:creationId xmlns:a16="http://schemas.microsoft.com/office/drawing/2014/main" id="{B2479B61-69F9-4073-95C2-414291A1A4D5}"/>
              </a:ext>
            </a:extLst>
          </p:cNvPr>
          <p:cNvSpPr txBox="1"/>
          <p:nvPr/>
        </p:nvSpPr>
        <p:spPr>
          <a:xfrm>
            <a:off x="186266" y="4058762"/>
            <a:ext cx="8144933" cy="1077218"/>
          </a:xfrm>
          <a:prstGeom prst="rect">
            <a:avLst/>
          </a:prstGeom>
          <a:noFill/>
        </p:spPr>
        <p:txBody>
          <a:bodyPr wrap="square" rtlCol="0">
            <a:spAutoFit/>
          </a:bodyPr>
          <a:lstStyle/>
          <a:p>
            <a:pPr marL="342900" indent="-342900">
              <a:buFont typeface="Arial" panose="020B0604020202020204" pitchFamily="34" charset="0"/>
              <a:buChar char="•"/>
            </a:pPr>
            <a:r>
              <a:rPr lang="en-US" dirty="0"/>
              <a:t>Planarians reproduce primarily asexually</a:t>
            </a:r>
          </a:p>
          <a:p>
            <a:pPr marL="800100" lvl="1" indent="-342900">
              <a:buFont typeface="Times New Roman" panose="02020603050405020304" pitchFamily="18" charset="0"/>
              <a:buChar char="‑"/>
            </a:pPr>
            <a:r>
              <a:rPr lang="en-US" sz="2000" dirty="0"/>
              <a:t>anchor their tails and pull themselves apart into front and back halves</a:t>
            </a:r>
          </a:p>
          <a:p>
            <a:pPr marL="800100" lvl="1" indent="-342900">
              <a:buFont typeface="Times New Roman" panose="02020603050405020304" pitchFamily="18" charset="0"/>
              <a:buChar char="‑"/>
            </a:pPr>
            <a:r>
              <a:rPr lang="en-US" sz="2000" dirty="0"/>
              <a:t>then </a:t>
            </a:r>
            <a:r>
              <a:rPr lang="en-US" sz="2000" dirty="0" err="1"/>
              <a:t>regrowing</a:t>
            </a:r>
            <a:r>
              <a:rPr lang="en-US" sz="2000" dirty="0"/>
              <a:t> into two “genetically-identical” children</a:t>
            </a:r>
          </a:p>
        </p:txBody>
      </p:sp>
    </p:spTree>
    <p:extLst>
      <p:ext uri="{BB962C8B-B14F-4D97-AF65-F5344CB8AC3E}">
        <p14:creationId xmlns:p14="http://schemas.microsoft.com/office/powerpoint/2010/main" val="24582770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animEffect transition="in" filter="fade">
                                      <p:cBhvr>
                                        <p:cTn id="7" dur="500"/>
                                        <p:tgtEl>
                                          <p:spTgt spid="3">
                                            <p:txEl>
                                              <p:pRg st="4" end="4"/>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5" end="5"/>
                                            </p:txEl>
                                          </p:spTgt>
                                        </p:tgtEl>
                                        <p:attrNameLst>
                                          <p:attrName>style.visibility</p:attrName>
                                        </p:attrNameLst>
                                      </p:cBhvr>
                                      <p:to>
                                        <p:strVal val="visible"/>
                                      </p:to>
                                    </p:set>
                                    <p:animEffect transition="in" filter="fade">
                                      <p:cBhvr>
                                        <p:cTn id="10" dur="500"/>
                                        <p:tgtEl>
                                          <p:spTgt spid="3">
                                            <p:txEl>
                                              <p:pRg st="5" end="5"/>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5">
                                            <p:txEl>
                                              <p:pRg st="0" end="0"/>
                                            </p:txEl>
                                          </p:spTgt>
                                        </p:tgtEl>
                                        <p:attrNameLst>
                                          <p:attrName>style.visibility</p:attrName>
                                        </p:attrNameLst>
                                      </p:cBhvr>
                                      <p:to>
                                        <p:strVal val="visible"/>
                                      </p:to>
                                    </p:set>
                                    <p:animEffect transition="in" filter="fade">
                                      <p:cBhvr>
                                        <p:cTn id="15" dur="500"/>
                                        <p:tgtEl>
                                          <p:spTgt spid="5">
                                            <p:txEl>
                                              <p:pRg st="0" end="0"/>
                                            </p:txEl>
                                          </p:spTgt>
                                        </p:tgtEl>
                                      </p:cBhvr>
                                    </p:animEffect>
                                  </p:childTnLst>
                                </p:cTn>
                              </p:par>
                              <p:par>
                                <p:cTn id="16" presetID="10" presetClass="entr" presetSubtype="0" fill="hold" nodeType="withEffect">
                                  <p:stCondLst>
                                    <p:cond delay="0"/>
                                  </p:stCondLst>
                                  <p:childTnLst>
                                    <p:set>
                                      <p:cBhvr>
                                        <p:cTn id="17" dur="1" fill="hold">
                                          <p:stCondLst>
                                            <p:cond delay="0"/>
                                          </p:stCondLst>
                                        </p:cTn>
                                        <p:tgtEl>
                                          <p:spTgt spid="5">
                                            <p:txEl>
                                              <p:pRg st="1" end="1"/>
                                            </p:txEl>
                                          </p:spTgt>
                                        </p:tgtEl>
                                        <p:attrNameLst>
                                          <p:attrName>style.visibility</p:attrName>
                                        </p:attrNameLst>
                                      </p:cBhvr>
                                      <p:to>
                                        <p:strVal val="visible"/>
                                      </p:to>
                                    </p:set>
                                    <p:animEffect transition="in" filter="fade">
                                      <p:cBhvr>
                                        <p:cTn id="18" dur="500"/>
                                        <p:tgtEl>
                                          <p:spTgt spid="5">
                                            <p:txEl>
                                              <p:pRg st="1" end="1"/>
                                            </p:txEl>
                                          </p:spTgt>
                                        </p:tgtEl>
                                      </p:cBhvr>
                                    </p:animEffect>
                                  </p:childTnLst>
                                </p:cTn>
                              </p:par>
                              <p:par>
                                <p:cTn id="19" presetID="10" presetClass="entr" presetSubtype="0" fill="hold" nodeType="withEffect">
                                  <p:stCondLst>
                                    <p:cond delay="0"/>
                                  </p:stCondLst>
                                  <p:childTnLst>
                                    <p:set>
                                      <p:cBhvr>
                                        <p:cTn id="20" dur="1" fill="hold">
                                          <p:stCondLst>
                                            <p:cond delay="0"/>
                                          </p:stCondLst>
                                        </p:cTn>
                                        <p:tgtEl>
                                          <p:spTgt spid="5">
                                            <p:txEl>
                                              <p:pRg st="2" end="2"/>
                                            </p:txEl>
                                          </p:spTgt>
                                        </p:tgtEl>
                                        <p:attrNameLst>
                                          <p:attrName>style.visibility</p:attrName>
                                        </p:attrNameLst>
                                      </p:cBhvr>
                                      <p:to>
                                        <p:strVal val="visible"/>
                                      </p:to>
                                    </p:set>
                                    <p:animEffect transition="in" filter="fade">
                                      <p:cBhvr>
                                        <p:cTn id="21" dur="500"/>
                                        <p:tgtEl>
                                          <p:spTgt spid="5">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D3A584C-0A14-4C0E-886C-0D2E0E6648C3}"/>
              </a:ext>
            </a:extLst>
          </p:cNvPr>
          <p:cNvSpPr>
            <a:spLocks noGrp="1"/>
          </p:cNvSpPr>
          <p:nvPr>
            <p:ph idx="1"/>
          </p:nvPr>
        </p:nvSpPr>
        <p:spPr>
          <a:xfrm>
            <a:off x="668867" y="2353707"/>
            <a:ext cx="8195733" cy="3672443"/>
          </a:xfrm>
        </p:spPr>
        <p:txBody>
          <a:bodyPr/>
          <a:lstStyle/>
          <a:p>
            <a:r>
              <a:rPr lang="en-US" sz="2400" dirty="0"/>
              <a:t>Chop it up most any way at all</a:t>
            </a:r>
          </a:p>
          <a:p>
            <a:pPr lvl="1">
              <a:spcBef>
                <a:spcPts val="0"/>
              </a:spcBef>
            </a:pPr>
            <a:r>
              <a:rPr lang="en-US" sz="2000" dirty="0"/>
              <a:t>It regenerates, remembering which side its head was on</a:t>
            </a:r>
          </a:p>
          <a:p>
            <a:r>
              <a:rPr lang="en-US" sz="2400" dirty="0"/>
              <a:t>Take a front 1/3 from one planarian and a rear 1/3 from another planarian and abut them</a:t>
            </a:r>
          </a:p>
          <a:p>
            <a:pPr lvl="1">
              <a:spcBef>
                <a:spcPts val="0"/>
              </a:spcBef>
            </a:pPr>
            <a:r>
              <a:rPr lang="en-US" sz="2000" dirty="0"/>
              <a:t>Still works fine!</a:t>
            </a:r>
          </a:p>
          <a:p>
            <a:pPr lvl="1">
              <a:spcBef>
                <a:spcPts val="0"/>
              </a:spcBef>
            </a:pPr>
            <a:r>
              <a:rPr lang="en-US" sz="2000" dirty="0"/>
              <a:t>Most </a:t>
            </a:r>
            <a:r>
              <a:rPr lang="en-US" sz="2000" dirty="0" err="1"/>
              <a:t>planaria</a:t>
            </a:r>
            <a:r>
              <a:rPr lang="en-US" sz="2000" dirty="0"/>
              <a:t> have a mish-mash of different genes</a:t>
            </a:r>
          </a:p>
          <a:p>
            <a:pPr lvl="1">
              <a:spcBef>
                <a:spcPts val="0"/>
              </a:spcBef>
            </a:pPr>
            <a:r>
              <a:rPr lang="en-US" sz="2000" dirty="0"/>
              <a:t>Planaria retain/accumulate mutations “forever”</a:t>
            </a:r>
          </a:p>
          <a:p>
            <a:pPr lvl="1">
              <a:spcBef>
                <a:spcPts val="0"/>
              </a:spcBef>
            </a:pPr>
            <a:r>
              <a:rPr lang="en-US" sz="2000" dirty="0"/>
              <a:t>Different cells may have different numbers of chromosomes – and the planarian still functions correctly as an organism!</a:t>
            </a:r>
          </a:p>
          <a:p>
            <a:pPr lvl="1">
              <a:spcBef>
                <a:spcPts val="0"/>
              </a:spcBef>
            </a:pPr>
            <a:r>
              <a:rPr lang="en-US" sz="2000" dirty="0"/>
              <a:t>Compare </a:t>
            </a:r>
            <a:r>
              <a:rPr lang="en-US" sz="2000" i="1" dirty="0"/>
              <a:t>that</a:t>
            </a:r>
            <a:r>
              <a:rPr lang="en-US" sz="2000" dirty="0"/>
              <a:t> to any computer program you’ve ever written </a:t>
            </a:r>
            <a:r>
              <a:rPr lang="en-US" sz="2000" dirty="0">
                <a:sym typeface="Wingdings" panose="05000000000000000000" pitchFamily="2" charset="2"/>
              </a:rPr>
              <a:t></a:t>
            </a:r>
          </a:p>
          <a:p>
            <a:pPr lvl="1">
              <a:spcBef>
                <a:spcPts val="0"/>
              </a:spcBef>
            </a:pPr>
            <a:r>
              <a:rPr lang="en-US" sz="2000" dirty="0">
                <a:sym typeface="Wingdings" panose="05000000000000000000" pitchFamily="2" charset="2"/>
              </a:rPr>
              <a:t>Comparisons to human organ rejection?</a:t>
            </a:r>
            <a:endParaRPr lang="en-US" sz="2000" dirty="0"/>
          </a:p>
          <a:p>
            <a:pPr lvl="1">
              <a:spcBef>
                <a:spcPts val="0"/>
              </a:spcBef>
            </a:pPr>
            <a:endParaRPr lang="en-US" sz="2000" dirty="0"/>
          </a:p>
        </p:txBody>
      </p:sp>
      <p:sp>
        <p:nvSpPr>
          <p:cNvPr id="4" name="Footer Placeholder 3">
            <a:extLst>
              <a:ext uri="{FF2B5EF4-FFF2-40B4-BE49-F238E27FC236}">
                <a16:creationId xmlns:a16="http://schemas.microsoft.com/office/drawing/2014/main" id="{7DEB849F-13AD-4E20-BB77-E346F30FFA79}"/>
              </a:ext>
            </a:extLst>
          </p:cNvPr>
          <p:cNvSpPr>
            <a:spLocks noGrp="1"/>
          </p:cNvSpPr>
          <p:nvPr>
            <p:ph type="ftr" sz="quarter" idx="11"/>
          </p:nvPr>
        </p:nvSpPr>
        <p:spPr>
          <a:xfrm>
            <a:off x="5266267" y="6324600"/>
            <a:ext cx="2895600" cy="215444"/>
          </a:xfrm>
        </p:spPr>
        <p:txBody>
          <a:bodyPr/>
          <a:lstStyle/>
          <a:p>
            <a:pPr>
              <a:defRPr/>
            </a:pPr>
            <a:r>
              <a:rPr lang="en-US" dirty="0"/>
              <a:t>Bioelectricity Joel Grodstein</a:t>
            </a:r>
          </a:p>
        </p:txBody>
      </p:sp>
      <p:pic>
        <p:nvPicPr>
          <p:cNvPr id="6" name="Picture 5">
            <a:extLst>
              <a:ext uri="{FF2B5EF4-FFF2-40B4-BE49-F238E27FC236}">
                <a16:creationId xmlns:a16="http://schemas.microsoft.com/office/drawing/2014/main" id="{DFE31CF1-2670-45CE-99A0-AFA523BDEF9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76766" y="276224"/>
            <a:ext cx="5765800" cy="1631950"/>
          </a:xfrm>
          <a:prstGeom prst="rect">
            <a:avLst/>
          </a:prstGeom>
        </p:spPr>
      </p:pic>
      <p:pic>
        <p:nvPicPr>
          <p:cNvPr id="8" name="Picture 7">
            <a:extLst>
              <a:ext uri="{FF2B5EF4-FFF2-40B4-BE49-F238E27FC236}">
                <a16:creationId xmlns:a16="http://schemas.microsoft.com/office/drawing/2014/main" id="{A0DE7BA2-86E3-4612-97F5-0C07A62FE8D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321425" y="276224"/>
            <a:ext cx="2647950" cy="1930400"/>
          </a:xfrm>
          <a:prstGeom prst="rect">
            <a:avLst/>
          </a:prstGeom>
        </p:spPr>
      </p:pic>
      <p:sp>
        <p:nvSpPr>
          <p:cNvPr id="9" name="TextBox 8">
            <a:extLst>
              <a:ext uri="{FF2B5EF4-FFF2-40B4-BE49-F238E27FC236}">
                <a16:creationId xmlns:a16="http://schemas.microsoft.com/office/drawing/2014/main" id="{A0120E7F-C165-4863-B1D0-5867D9C56452}"/>
              </a:ext>
            </a:extLst>
          </p:cNvPr>
          <p:cNvSpPr txBox="1"/>
          <p:nvPr/>
        </p:nvSpPr>
        <p:spPr>
          <a:xfrm>
            <a:off x="491067" y="6261945"/>
            <a:ext cx="4461934" cy="369332"/>
          </a:xfrm>
          <a:prstGeom prst="rect">
            <a:avLst/>
          </a:prstGeom>
          <a:noFill/>
        </p:spPr>
        <p:txBody>
          <a:bodyPr wrap="square" rtlCol="0">
            <a:spAutoFit/>
          </a:bodyPr>
          <a:lstStyle/>
          <a:p>
            <a:r>
              <a:rPr lang="en-US" sz="1800" dirty="0"/>
              <a:t>Credit: </a:t>
            </a:r>
            <a:r>
              <a:rPr lang="en-US" sz="1800" i="1" dirty="0"/>
              <a:t>Modeling Planarian Regeneration…</a:t>
            </a:r>
            <a:endParaRPr lang="en-US" sz="1800" dirty="0"/>
          </a:p>
        </p:txBody>
      </p:sp>
    </p:spTree>
    <p:extLst>
      <p:ext uri="{BB962C8B-B14F-4D97-AF65-F5344CB8AC3E}">
        <p14:creationId xmlns:p14="http://schemas.microsoft.com/office/powerpoint/2010/main" val="22693279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fade">
                                      <p:cBhvr>
                                        <p:cTn id="7" dur="500"/>
                                        <p:tgtEl>
                                          <p:spTgt spid="3">
                                            <p:txEl>
                                              <p:pRg st="2" end="2"/>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3" end="3"/>
                                            </p:txEl>
                                          </p:spTgt>
                                        </p:tgtEl>
                                        <p:attrNameLst>
                                          <p:attrName>style.visibility</p:attrName>
                                        </p:attrNameLst>
                                      </p:cBhvr>
                                      <p:to>
                                        <p:strVal val="visible"/>
                                      </p:to>
                                    </p:set>
                                    <p:animEffect transition="in" filter="fade">
                                      <p:cBhvr>
                                        <p:cTn id="10" dur="500"/>
                                        <p:tgtEl>
                                          <p:spTgt spid="3">
                                            <p:txEl>
                                              <p:pRg st="3" end="3"/>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8"/>
                                        </p:tgtEl>
                                        <p:attrNameLst>
                                          <p:attrName>style.visibility</p:attrName>
                                        </p:attrNameLst>
                                      </p:cBhvr>
                                      <p:to>
                                        <p:strVal val="visible"/>
                                      </p:to>
                                    </p:set>
                                    <p:animEffect transition="in" filter="fade">
                                      <p:cBhvr>
                                        <p:cTn id="13" dur="500"/>
                                        <p:tgtEl>
                                          <p:spTgt spid="8"/>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3">
                                            <p:txEl>
                                              <p:pRg st="4" end="4"/>
                                            </p:txEl>
                                          </p:spTgt>
                                        </p:tgtEl>
                                        <p:attrNameLst>
                                          <p:attrName>style.visibility</p:attrName>
                                        </p:attrNameLst>
                                      </p:cBhvr>
                                      <p:to>
                                        <p:strVal val="visible"/>
                                      </p:to>
                                    </p:set>
                                    <p:animEffect transition="in" filter="fade">
                                      <p:cBhvr>
                                        <p:cTn id="18" dur="500"/>
                                        <p:tgtEl>
                                          <p:spTgt spid="3">
                                            <p:txEl>
                                              <p:pRg st="4" end="4"/>
                                            </p:txEl>
                                          </p:spTgt>
                                        </p:tgtEl>
                                      </p:cBhvr>
                                    </p:animEffect>
                                  </p:childTnLst>
                                </p:cTn>
                              </p:par>
                              <p:par>
                                <p:cTn id="19" presetID="10" presetClass="entr" presetSubtype="0" fill="hold" nodeType="with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animEffect transition="in" filter="fade">
                                      <p:cBhvr>
                                        <p:cTn id="21" dur="500"/>
                                        <p:tgtEl>
                                          <p:spTgt spid="3">
                                            <p:txEl>
                                              <p:pRg st="5" end="5"/>
                                            </p:txEl>
                                          </p:spTgt>
                                        </p:tgtEl>
                                      </p:cBhvr>
                                    </p:animEffect>
                                  </p:childTnLst>
                                </p:cTn>
                              </p:par>
                              <p:par>
                                <p:cTn id="22" presetID="10" presetClass="entr" presetSubtype="0" fill="hold" nodeType="withEffect">
                                  <p:stCondLst>
                                    <p:cond delay="0"/>
                                  </p:stCondLst>
                                  <p:childTnLst>
                                    <p:set>
                                      <p:cBhvr>
                                        <p:cTn id="23" dur="1" fill="hold">
                                          <p:stCondLst>
                                            <p:cond delay="0"/>
                                          </p:stCondLst>
                                        </p:cTn>
                                        <p:tgtEl>
                                          <p:spTgt spid="3">
                                            <p:txEl>
                                              <p:pRg st="6" end="6"/>
                                            </p:txEl>
                                          </p:spTgt>
                                        </p:tgtEl>
                                        <p:attrNameLst>
                                          <p:attrName>style.visibility</p:attrName>
                                        </p:attrNameLst>
                                      </p:cBhvr>
                                      <p:to>
                                        <p:strVal val="visible"/>
                                      </p:to>
                                    </p:set>
                                    <p:animEffect transition="in" filter="fade">
                                      <p:cBhvr>
                                        <p:cTn id="24" dur="500"/>
                                        <p:tgtEl>
                                          <p:spTgt spid="3">
                                            <p:txEl>
                                              <p:pRg st="6" end="6"/>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nodeType="clickEffect">
                                  <p:stCondLst>
                                    <p:cond delay="0"/>
                                  </p:stCondLst>
                                  <p:childTnLst>
                                    <p:set>
                                      <p:cBhvr>
                                        <p:cTn id="28" dur="1" fill="hold">
                                          <p:stCondLst>
                                            <p:cond delay="0"/>
                                          </p:stCondLst>
                                        </p:cTn>
                                        <p:tgtEl>
                                          <p:spTgt spid="3">
                                            <p:txEl>
                                              <p:pRg st="7" end="7"/>
                                            </p:txEl>
                                          </p:spTgt>
                                        </p:tgtEl>
                                        <p:attrNameLst>
                                          <p:attrName>style.visibility</p:attrName>
                                        </p:attrNameLst>
                                      </p:cBhvr>
                                      <p:to>
                                        <p:strVal val="visible"/>
                                      </p:to>
                                    </p:set>
                                    <p:animEffect transition="in" filter="fade">
                                      <p:cBhvr>
                                        <p:cTn id="29" dur="500"/>
                                        <p:tgtEl>
                                          <p:spTgt spid="3">
                                            <p:txEl>
                                              <p:pRg st="7" end="7"/>
                                            </p:txEl>
                                          </p:spTgt>
                                        </p:tgtEl>
                                      </p:cBhvr>
                                    </p:animEffect>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nodeType="clickEffect">
                                  <p:stCondLst>
                                    <p:cond delay="0"/>
                                  </p:stCondLst>
                                  <p:childTnLst>
                                    <p:set>
                                      <p:cBhvr>
                                        <p:cTn id="33" dur="1" fill="hold">
                                          <p:stCondLst>
                                            <p:cond delay="0"/>
                                          </p:stCondLst>
                                        </p:cTn>
                                        <p:tgtEl>
                                          <p:spTgt spid="3">
                                            <p:txEl>
                                              <p:pRg st="8" end="8"/>
                                            </p:txEl>
                                          </p:spTgt>
                                        </p:tgtEl>
                                        <p:attrNameLst>
                                          <p:attrName>style.visibility</p:attrName>
                                        </p:attrNameLst>
                                      </p:cBhvr>
                                      <p:to>
                                        <p:strVal val="visible"/>
                                      </p:to>
                                    </p:set>
                                    <p:animEffect transition="in" filter="fade">
                                      <p:cBhvr>
                                        <p:cTn id="34" dur="500"/>
                                        <p:tgtEl>
                                          <p:spTgt spid="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2BE830E6-3283-4853-AB6D-2E6F7911556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763809" y="1433676"/>
            <a:ext cx="5740695" cy="1416123"/>
          </a:xfrm>
          <a:prstGeom prst="rect">
            <a:avLst/>
          </a:prstGeom>
        </p:spPr>
      </p:pic>
      <p:sp>
        <p:nvSpPr>
          <p:cNvPr id="2" name="Title 1">
            <a:extLst>
              <a:ext uri="{FF2B5EF4-FFF2-40B4-BE49-F238E27FC236}">
                <a16:creationId xmlns:a16="http://schemas.microsoft.com/office/drawing/2014/main" id="{3E14C6AF-4909-4B22-8064-7A1B04758894}"/>
              </a:ext>
            </a:extLst>
          </p:cNvPr>
          <p:cNvSpPr>
            <a:spLocks noGrp="1"/>
          </p:cNvSpPr>
          <p:nvPr>
            <p:ph type="title"/>
          </p:nvPr>
        </p:nvSpPr>
        <p:spPr/>
        <p:txBody>
          <a:bodyPr/>
          <a:lstStyle/>
          <a:p>
            <a:r>
              <a:rPr lang="en-US" dirty="0"/>
              <a:t>Electricity is involved again</a:t>
            </a:r>
          </a:p>
        </p:txBody>
      </p:sp>
      <p:sp>
        <p:nvSpPr>
          <p:cNvPr id="3" name="Content Placeholder 2">
            <a:extLst>
              <a:ext uri="{FF2B5EF4-FFF2-40B4-BE49-F238E27FC236}">
                <a16:creationId xmlns:a16="http://schemas.microsoft.com/office/drawing/2014/main" id="{71B97487-B5E7-47F9-BB2E-923C4A4272E2}"/>
              </a:ext>
            </a:extLst>
          </p:cNvPr>
          <p:cNvSpPr>
            <a:spLocks noGrp="1"/>
          </p:cNvSpPr>
          <p:nvPr>
            <p:ph idx="1"/>
          </p:nvPr>
        </p:nvSpPr>
        <p:spPr>
          <a:xfrm>
            <a:off x="643467" y="3014126"/>
            <a:ext cx="6071369" cy="861024"/>
          </a:xfrm>
        </p:spPr>
        <p:txBody>
          <a:bodyPr/>
          <a:lstStyle/>
          <a:p>
            <a:r>
              <a:rPr lang="en-US" sz="2000" dirty="0"/>
              <a:t>Polarity: head is +, tail is -</a:t>
            </a:r>
          </a:p>
          <a:p>
            <a:r>
              <a:rPr lang="en-US" sz="2000" dirty="0"/>
              <a:t>What do you think will happen in this experiment?</a:t>
            </a:r>
          </a:p>
        </p:txBody>
      </p:sp>
      <p:sp>
        <p:nvSpPr>
          <p:cNvPr id="4" name="Footer Placeholder 3">
            <a:extLst>
              <a:ext uri="{FF2B5EF4-FFF2-40B4-BE49-F238E27FC236}">
                <a16:creationId xmlns:a16="http://schemas.microsoft.com/office/drawing/2014/main" id="{1106BA15-78F6-4C13-A498-7B56EF414FB8}"/>
              </a:ext>
            </a:extLst>
          </p:cNvPr>
          <p:cNvSpPr>
            <a:spLocks noGrp="1"/>
          </p:cNvSpPr>
          <p:nvPr>
            <p:ph type="ftr" sz="quarter" idx="11"/>
          </p:nvPr>
        </p:nvSpPr>
        <p:spPr>
          <a:xfrm>
            <a:off x="5037670" y="6323500"/>
            <a:ext cx="2895600" cy="215444"/>
          </a:xfrm>
        </p:spPr>
        <p:txBody>
          <a:bodyPr>
            <a:spAutoFit/>
          </a:bodyPr>
          <a:lstStyle/>
          <a:p>
            <a:pPr>
              <a:defRPr/>
            </a:pPr>
            <a:r>
              <a:rPr lang="en-US" dirty="0"/>
              <a:t>Bioelectricity Joel Grodstein</a:t>
            </a:r>
          </a:p>
        </p:txBody>
      </p:sp>
      <p:sp>
        <p:nvSpPr>
          <p:cNvPr id="8" name="TextBox 7">
            <a:extLst>
              <a:ext uri="{FF2B5EF4-FFF2-40B4-BE49-F238E27FC236}">
                <a16:creationId xmlns:a16="http://schemas.microsoft.com/office/drawing/2014/main" id="{E4E8D58C-44DA-40A3-984B-D058D6E7A368}"/>
              </a:ext>
            </a:extLst>
          </p:cNvPr>
          <p:cNvSpPr txBox="1"/>
          <p:nvPr/>
        </p:nvSpPr>
        <p:spPr>
          <a:xfrm>
            <a:off x="491067" y="6321214"/>
            <a:ext cx="4461934" cy="369332"/>
          </a:xfrm>
          <a:prstGeom prst="rect">
            <a:avLst/>
          </a:prstGeom>
          <a:noFill/>
        </p:spPr>
        <p:txBody>
          <a:bodyPr wrap="square" rtlCol="0">
            <a:spAutoFit/>
          </a:bodyPr>
          <a:lstStyle/>
          <a:p>
            <a:r>
              <a:rPr lang="en-US" sz="1800" dirty="0"/>
              <a:t>Credit: </a:t>
            </a:r>
            <a:r>
              <a:rPr lang="en-US" sz="1800" i="1" dirty="0"/>
              <a:t>Modeling Planarian Regeneration…</a:t>
            </a:r>
            <a:endParaRPr lang="en-US" sz="1800" dirty="0"/>
          </a:p>
        </p:txBody>
      </p:sp>
      <p:sp>
        <p:nvSpPr>
          <p:cNvPr id="5" name="Rectangle 4">
            <a:extLst>
              <a:ext uri="{FF2B5EF4-FFF2-40B4-BE49-F238E27FC236}">
                <a16:creationId xmlns:a16="http://schemas.microsoft.com/office/drawing/2014/main" id="{C31E85D9-9316-4767-AF38-2EFEF2C9A22F}"/>
              </a:ext>
            </a:extLst>
          </p:cNvPr>
          <p:cNvSpPr/>
          <p:nvPr/>
        </p:nvSpPr>
        <p:spPr>
          <a:xfrm>
            <a:off x="5149046" y="1365846"/>
            <a:ext cx="559292" cy="1572656"/>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chemeClr val="bg1"/>
                </a:solidFill>
              </a:ln>
            </a:endParaRPr>
          </a:p>
        </p:txBody>
      </p:sp>
      <p:sp>
        <p:nvSpPr>
          <p:cNvPr id="11" name="Rectangle 10">
            <a:extLst>
              <a:ext uri="{FF2B5EF4-FFF2-40B4-BE49-F238E27FC236}">
                <a16:creationId xmlns:a16="http://schemas.microsoft.com/office/drawing/2014/main" id="{59C2F7A1-33AA-4BB7-8251-9B445F948743}"/>
              </a:ext>
            </a:extLst>
          </p:cNvPr>
          <p:cNvSpPr/>
          <p:nvPr/>
        </p:nvSpPr>
        <p:spPr>
          <a:xfrm>
            <a:off x="7039991" y="1349567"/>
            <a:ext cx="676179" cy="1608666"/>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chemeClr val="bg1"/>
                </a:solidFill>
              </a:ln>
            </a:endParaRPr>
          </a:p>
        </p:txBody>
      </p:sp>
      <p:sp>
        <p:nvSpPr>
          <p:cNvPr id="12" name="Rectangle 11">
            <a:extLst>
              <a:ext uri="{FF2B5EF4-FFF2-40B4-BE49-F238E27FC236}">
                <a16:creationId xmlns:a16="http://schemas.microsoft.com/office/drawing/2014/main" id="{B7A9AEC3-3076-4746-9D9E-D906EA351BAD}"/>
              </a:ext>
            </a:extLst>
          </p:cNvPr>
          <p:cNvSpPr/>
          <p:nvPr/>
        </p:nvSpPr>
        <p:spPr>
          <a:xfrm>
            <a:off x="5683185" y="1359929"/>
            <a:ext cx="1978243" cy="1608666"/>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chemeClr val="bg1"/>
                </a:solidFill>
              </a:ln>
            </a:endParaRPr>
          </a:p>
        </p:txBody>
      </p:sp>
      <p:sp>
        <p:nvSpPr>
          <p:cNvPr id="13" name="Rectangle 12">
            <a:extLst>
              <a:ext uri="{FF2B5EF4-FFF2-40B4-BE49-F238E27FC236}">
                <a16:creationId xmlns:a16="http://schemas.microsoft.com/office/drawing/2014/main" id="{0E03948A-20FA-4A56-BF10-F0C6A2188D7B}"/>
              </a:ext>
            </a:extLst>
          </p:cNvPr>
          <p:cNvSpPr/>
          <p:nvPr/>
        </p:nvSpPr>
        <p:spPr>
          <a:xfrm>
            <a:off x="3660559" y="1432423"/>
            <a:ext cx="1648287" cy="160866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chemeClr val="bg1"/>
                </a:solidFill>
              </a:ln>
            </a:endParaRPr>
          </a:p>
        </p:txBody>
      </p:sp>
      <p:cxnSp>
        <p:nvCxnSpPr>
          <p:cNvPr id="9" name="Straight Connector 8">
            <a:extLst>
              <a:ext uri="{FF2B5EF4-FFF2-40B4-BE49-F238E27FC236}">
                <a16:creationId xmlns:a16="http://schemas.microsoft.com/office/drawing/2014/main" id="{C8D32674-B46A-4375-92FB-BC3DEAFF14A7}"/>
              </a:ext>
            </a:extLst>
          </p:cNvPr>
          <p:cNvCxnSpPr>
            <a:cxnSpLocks/>
          </p:cNvCxnSpPr>
          <p:nvPr/>
        </p:nvCxnSpPr>
        <p:spPr>
          <a:xfrm>
            <a:off x="4784434" y="4257357"/>
            <a:ext cx="0" cy="1302327"/>
          </a:xfrm>
          <a:prstGeom prst="line">
            <a:avLst/>
          </a:prstGeom>
          <a:ln w="285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933C4FAE-7AFA-4AD5-B3A1-B3C662BE26B2}"/>
              </a:ext>
            </a:extLst>
          </p:cNvPr>
          <p:cNvCxnSpPr>
            <a:cxnSpLocks/>
          </p:cNvCxnSpPr>
          <p:nvPr/>
        </p:nvCxnSpPr>
        <p:spPr>
          <a:xfrm flipH="1">
            <a:off x="4788284" y="4866351"/>
            <a:ext cx="3519011" cy="0"/>
          </a:xfrm>
          <a:prstGeom prst="line">
            <a:avLst/>
          </a:prstGeom>
          <a:ln w="285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8" name="TextBox 17">
            <a:extLst>
              <a:ext uri="{FF2B5EF4-FFF2-40B4-BE49-F238E27FC236}">
                <a16:creationId xmlns:a16="http://schemas.microsoft.com/office/drawing/2014/main" id="{3747D463-A6D3-4512-8B75-0CC7C2FEE362}"/>
              </a:ext>
            </a:extLst>
          </p:cNvPr>
          <p:cNvSpPr txBox="1"/>
          <p:nvPr/>
        </p:nvSpPr>
        <p:spPr>
          <a:xfrm>
            <a:off x="3842325" y="4419991"/>
            <a:ext cx="1018959" cy="461665"/>
          </a:xfrm>
          <a:prstGeom prst="rect">
            <a:avLst/>
          </a:prstGeom>
          <a:noFill/>
        </p:spPr>
        <p:txBody>
          <a:bodyPr wrap="square" rtlCol="0">
            <a:spAutoFit/>
          </a:bodyPr>
          <a:lstStyle/>
          <a:p>
            <a:r>
              <a:rPr lang="en-US" i="1" dirty="0" err="1"/>
              <a:t>V</a:t>
            </a:r>
            <a:r>
              <a:rPr lang="en-US" baseline="-25000" dirty="0" err="1"/>
              <a:t>mem</a:t>
            </a:r>
            <a:endParaRPr lang="en-US" i="1" dirty="0"/>
          </a:p>
        </p:txBody>
      </p:sp>
      <p:sp>
        <p:nvSpPr>
          <p:cNvPr id="20" name="TextBox 19">
            <a:extLst>
              <a:ext uri="{FF2B5EF4-FFF2-40B4-BE49-F238E27FC236}">
                <a16:creationId xmlns:a16="http://schemas.microsoft.com/office/drawing/2014/main" id="{B027B22C-E413-4DE2-902C-86687062113B}"/>
              </a:ext>
            </a:extLst>
          </p:cNvPr>
          <p:cNvSpPr txBox="1"/>
          <p:nvPr/>
        </p:nvSpPr>
        <p:spPr>
          <a:xfrm>
            <a:off x="4373415" y="4110265"/>
            <a:ext cx="364842" cy="461665"/>
          </a:xfrm>
          <a:prstGeom prst="rect">
            <a:avLst/>
          </a:prstGeom>
          <a:noFill/>
        </p:spPr>
        <p:txBody>
          <a:bodyPr wrap="square" rtlCol="0">
            <a:spAutoFit/>
          </a:bodyPr>
          <a:lstStyle/>
          <a:p>
            <a:r>
              <a:rPr lang="en-US" i="1" dirty="0"/>
              <a:t>+</a:t>
            </a:r>
          </a:p>
        </p:txBody>
      </p:sp>
      <p:sp>
        <p:nvSpPr>
          <p:cNvPr id="22" name="TextBox 21">
            <a:extLst>
              <a:ext uri="{FF2B5EF4-FFF2-40B4-BE49-F238E27FC236}">
                <a16:creationId xmlns:a16="http://schemas.microsoft.com/office/drawing/2014/main" id="{19BF8A0A-70E6-4EB9-A0A8-4D42332F487B}"/>
              </a:ext>
            </a:extLst>
          </p:cNvPr>
          <p:cNvSpPr txBox="1"/>
          <p:nvPr/>
        </p:nvSpPr>
        <p:spPr>
          <a:xfrm>
            <a:off x="4405741" y="5140122"/>
            <a:ext cx="364842" cy="461665"/>
          </a:xfrm>
          <a:prstGeom prst="rect">
            <a:avLst/>
          </a:prstGeom>
          <a:noFill/>
        </p:spPr>
        <p:txBody>
          <a:bodyPr wrap="square" rtlCol="0">
            <a:spAutoFit/>
          </a:bodyPr>
          <a:lstStyle/>
          <a:p>
            <a:r>
              <a:rPr lang="en-US" i="1" dirty="0"/>
              <a:t>-</a:t>
            </a:r>
          </a:p>
        </p:txBody>
      </p:sp>
      <p:grpSp>
        <p:nvGrpSpPr>
          <p:cNvPr id="35" name="Group 34">
            <a:extLst>
              <a:ext uri="{FF2B5EF4-FFF2-40B4-BE49-F238E27FC236}">
                <a16:creationId xmlns:a16="http://schemas.microsoft.com/office/drawing/2014/main" id="{A971ECA9-D8C6-4190-8854-90CDF5F26138}"/>
              </a:ext>
            </a:extLst>
          </p:cNvPr>
          <p:cNvGrpSpPr/>
          <p:nvPr/>
        </p:nvGrpSpPr>
        <p:grpSpPr>
          <a:xfrm>
            <a:off x="4925288" y="4375293"/>
            <a:ext cx="3050322" cy="963171"/>
            <a:chOff x="4925288" y="4294907"/>
            <a:chExt cx="3050322" cy="963171"/>
          </a:xfrm>
        </p:grpSpPr>
        <p:sp>
          <p:nvSpPr>
            <p:cNvPr id="23" name="Freeform: Shape 22">
              <a:extLst>
                <a:ext uri="{FF2B5EF4-FFF2-40B4-BE49-F238E27FC236}">
                  <a16:creationId xmlns:a16="http://schemas.microsoft.com/office/drawing/2014/main" id="{F84CF974-3D73-4B55-8AAB-6403B8E921BC}"/>
                </a:ext>
              </a:extLst>
            </p:cNvPr>
            <p:cNvSpPr/>
            <p:nvPr/>
          </p:nvSpPr>
          <p:spPr>
            <a:xfrm>
              <a:off x="5135418" y="4294907"/>
              <a:ext cx="2521527" cy="766619"/>
            </a:xfrm>
            <a:custGeom>
              <a:avLst/>
              <a:gdLst>
                <a:gd name="connsiteX0" fmla="*/ 0 w 2521527"/>
                <a:gd name="connsiteY0" fmla="*/ 0 h 766619"/>
                <a:gd name="connsiteX1" fmla="*/ 295564 w 2521527"/>
                <a:gd name="connsiteY1" fmla="*/ 277091 h 766619"/>
                <a:gd name="connsiteX2" fmla="*/ 1117600 w 2521527"/>
                <a:gd name="connsiteY2" fmla="*/ 600364 h 766619"/>
                <a:gd name="connsiteX3" fmla="*/ 1708727 w 2521527"/>
                <a:gd name="connsiteY3" fmla="*/ 701964 h 766619"/>
                <a:gd name="connsiteX4" fmla="*/ 2521527 w 2521527"/>
                <a:gd name="connsiteY4" fmla="*/ 766619 h 76661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21527" h="766619">
                  <a:moveTo>
                    <a:pt x="0" y="0"/>
                  </a:moveTo>
                  <a:cubicBezTo>
                    <a:pt x="54648" y="88515"/>
                    <a:pt x="109297" y="177030"/>
                    <a:pt x="295564" y="277091"/>
                  </a:cubicBezTo>
                  <a:cubicBezTo>
                    <a:pt x="481831" y="377152"/>
                    <a:pt x="882073" y="529552"/>
                    <a:pt x="1117600" y="600364"/>
                  </a:cubicBezTo>
                  <a:cubicBezTo>
                    <a:pt x="1353127" y="671176"/>
                    <a:pt x="1474739" y="674255"/>
                    <a:pt x="1708727" y="701964"/>
                  </a:cubicBezTo>
                  <a:cubicBezTo>
                    <a:pt x="1942715" y="729673"/>
                    <a:pt x="2232121" y="748146"/>
                    <a:pt x="2521527" y="766619"/>
                  </a:cubicBezTo>
                </a:path>
              </a:pathLst>
            </a:custGeom>
            <a:no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TextBox 24">
              <a:extLst>
                <a:ext uri="{FF2B5EF4-FFF2-40B4-BE49-F238E27FC236}">
                  <a16:creationId xmlns:a16="http://schemas.microsoft.com/office/drawing/2014/main" id="{3D6B7858-C2DC-4E15-AEAB-199529A4150B}"/>
                </a:ext>
              </a:extLst>
            </p:cNvPr>
            <p:cNvSpPr txBox="1"/>
            <p:nvPr/>
          </p:nvSpPr>
          <p:spPr>
            <a:xfrm>
              <a:off x="4925288" y="4339431"/>
              <a:ext cx="364842" cy="461665"/>
            </a:xfrm>
            <a:prstGeom prst="rect">
              <a:avLst/>
            </a:prstGeom>
            <a:noFill/>
          </p:spPr>
          <p:txBody>
            <a:bodyPr wrap="square" rtlCol="0">
              <a:spAutoFit/>
            </a:bodyPr>
            <a:lstStyle/>
            <a:p>
              <a:r>
                <a:rPr lang="en-US" dirty="0">
                  <a:solidFill>
                    <a:srgbClr val="7030A0"/>
                  </a:solidFill>
                </a:rPr>
                <a:t>H</a:t>
              </a:r>
            </a:p>
          </p:txBody>
        </p:sp>
        <p:sp>
          <p:nvSpPr>
            <p:cNvPr id="27" name="TextBox 26">
              <a:extLst>
                <a:ext uri="{FF2B5EF4-FFF2-40B4-BE49-F238E27FC236}">
                  <a16:creationId xmlns:a16="http://schemas.microsoft.com/office/drawing/2014/main" id="{0D448BDD-4131-4E48-AE4E-00E97A9510A6}"/>
                </a:ext>
              </a:extLst>
            </p:cNvPr>
            <p:cNvSpPr txBox="1"/>
            <p:nvPr/>
          </p:nvSpPr>
          <p:spPr>
            <a:xfrm>
              <a:off x="7610768" y="4796413"/>
              <a:ext cx="364842" cy="461665"/>
            </a:xfrm>
            <a:prstGeom prst="rect">
              <a:avLst/>
            </a:prstGeom>
            <a:noFill/>
          </p:spPr>
          <p:txBody>
            <a:bodyPr wrap="square" rtlCol="0">
              <a:spAutoFit/>
            </a:bodyPr>
            <a:lstStyle/>
            <a:p>
              <a:r>
                <a:rPr lang="en-US" dirty="0">
                  <a:solidFill>
                    <a:srgbClr val="7030A0"/>
                  </a:solidFill>
                </a:rPr>
                <a:t>T</a:t>
              </a:r>
            </a:p>
          </p:txBody>
        </p:sp>
      </p:grpSp>
      <p:grpSp>
        <p:nvGrpSpPr>
          <p:cNvPr id="36" name="Group 35">
            <a:extLst>
              <a:ext uri="{FF2B5EF4-FFF2-40B4-BE49-F238E27FC236}">
                <a16:creationId xmlns:a16="http://schemas.microsoft.com/office/drawing/2014/main" id="{606026ED-0BBC-4557-8551-B3D4857FA854}"/>
              </a:ext>
            </a:extLst>
          </p:cNvPr>
          <p:cNvGrpSpPr/>
          <p:nvPr/>
        </p:nvGrpSpPr>
        <p:grpSpPr>
          <a:xfrm>
            <a:off x="5107709" y="3966774"/>
            <a:ext cx="2530764" cy="886576"/>
            <a:chOff x="5107709" y="3941804"/>
            <a:chExt cx="2530764" cy="886576"/>
          </a:xfrm>
        </p:grpSpPr>
        <p:sp>
          <p:nvSpPr>
            <p:cNvPr id="28" name="Freeform: Shape 27">
              <a:extLst>
                <a:ext uri="{FF2B5EF4-FFF2-40B4-BE49-F238E27FC236}">
                  <a16:creationId xmlns:a16="http://schemas.microsoft.com/office/drawing/2014/main" id="{B85ED614-159B-4C7C-AAA3-C3489CC32C08}"/>
                </a:ext>
              </a:extLst>
            </p:cNvPr>
            <p:cNvSpPr/>
            <p:nvPr/>
          </p:nvSpPr>
          <p:spPr>
            <a:xfrm>
              <a:off x="5107709" y="4304144"/>
              <a:ext cx="2530764" cy="469098"/>
            </a:xfrm>
            <a:custGeom>
              <a:avLst/>
              <a:gdLst>
                <a:gd name="connsiteX0" fmla="*/ 0 w 2530764"/>
                <a:gd name="connsiteY0" fmla="*/ 0 h 469098"/>
                <a:gd name="connsiteX1" fmla="*/ 424873 w 2530764"/>
                <a:gd name="connsiteY1" fmla="*/ 249382 h 469098"/>
                <a:gd name="connsiteX2" fmla="*/ 1043709 w 2530764"/>
                <a:gd name="connsiteY2" fmla="*/ 452582 h 469098"/>
                <a:gd name="connsiteX3" fmla="*/ 1440873 w 2530764"/>
                <a:gd name="connsiteY3" fmla="*/ 452582 h 469098"/>
                <a:gd name="connsiteX4" fmla="*/ 1865746 w 2530764"/>
                <a:gd name="connsiteY4" fmla="*/ 415636 h 469098"/>
                <a:gd name="connsiteX5" fmla="*/ 2207491 w 2530764"/>
                <a:gd name="connsiteY5" fmla="*/ 267854 h 469098"/>
                <a:gd name="connsiteX6" fmla="*/ 2530764 w 2530764"/>
                <a:gd name="connsiteY6" fmla="*/ 64654 h 469098"/>
                <a:gd name="connsiteX7" fmla="*/ 2530764 w 2530764"/>
                <a:gd name="connsiteY7" fmla="*/ 64654 h 469098"/>
                <a:gd name="connsiteX8" fmla="*/ 2530764 w 2530764"/>
                <a:gd name="connsiteY8" fmla="*/ 64654 h 4690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530764" h="469098">
                  <a:moveTo>
                    <a:pt x="0" y="0"/>
                  </a:moveTo>
                  <a:cubicBezTo>
                    <a:pt x="125461" y="86976"/>
                    <a:pt x="250922" y="173952"/>
                    <a:pt x="424873" y="249382"/>
                  </a:cubicBezTo>
                  <a:cubicBezTo>
                    <a:pt x="598824" y="324812"/>
                    <a:pt x="874376" y="418715"/>
                    <a:pt x="1043709" y="452582"/>
                  </a:cubicBezTo>
                  <a:cubicBezTo>
                    <a:pt x="1213042" y="486449"/>
                    <a:pt x="1303867" y="458740"/>
                    <a:pt x="1440873" y="452582"/>
                  </a:cubicBezTo>
                  <a:cubicBezTo>
                    <a:pt x="1577879" y="446424"/>
                    <a:pt x="1737976" y="446424"/>
                    <a:pt x="1865746" y="415636"/>
                  </a:cubicBezTo>
                  <a:cubicBezTo>
                    <a:pt x="1993516" y="384848"/>
                    <a:pt x="2096655" y="326351"/>
                    <a:pt x="2207491" y="267854"/>
                  </a:cubicBezTo>
                  <a:cubicBezTo>
                    <a:pt x="2318327" y="209357"/>
                    <a:pt x="2530764" y="64654"/>
                    <a:pt x="2530764" y="64654"/>
                  </a:cubicBezTo>
                  <a:lnTo>
                    <a:pt x="2530764" y="64654"/>
                  </a:lnTo>
                  <a:lnTo>
                    <a:pt x="2530764" y="64654"/>
                  </a:ln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TextBox 29">
              <a:extLst>
                <a:ext uri="{FF2B5EF4-FFF2-40B4-BE49-F238E27FC236}">
                  <a16:creationId xmlns:a16="http://schemas.microsoft.com/office/drawing/2014/main" id="{C26C2DD7-CE05-4AE0-8B49-6AF3972EA59B}"/>
                </a:ext>
              </a:extLst>
            </p:cNvPr>
            <p:cNvSpPr txBox="1"/>
            <p:nvPr/>
          </p:nvSpPr>
          <p:spPr>
            <a:xfrm>
              <a:off x="5140022" y="3941804"/>
              <a:ext cx="364842" cy="461665"/>
            </a:xfrm>
            <a:prstGeom prst="rect">
              <a:avLst/>
            </a:prstGeom>
            <a:noFill/>
          </p:spPr>
          <p:txBody>
            <a:bodyPr wrap="square" rtlCol="0">
              <a:spAutoFit/>
            </a:bodyPr>
            <a:lstStyle/>
            <a:p>
              <a:r>
                <a:rPr lang="en-US" dirty="0">
                  <a:solidFill>
                    <a:srgbClr val="006600"/>
                  </a:solidFill>
                </a:rPr>
                <a:t>H</a:t>
              </a:r>
            </a:p>
          </p:txBody>
        </p:sp>
        <p:sp>
          <p:nvSpPr>
            <p:cNvPr id="32" name="TextBox 31">
              <a:extLst>
                <a:ext uri="{FF2B5EF4-FFF2-40B4-BE49-F238E27FC236}">
                  <a16:creationId xmlns:a16="http://schemas.microsoft.com/office/drawing/2014/main" id="{D62509FF-1179-4B1E-8C37-48312BE69CE3}"/>
                </a:ext>
              </a:extLst>
            </p:cNvPr>
            <p:cNvSpPr txBox="1"/>
            <p:nvPr/>
          </p:nvSpPr>
          <p:spPr>
            <a:xfrm>
              <a:off x="7245926" y="4048156"/>
              <a:ext cx="364842" cy="461665"/>
            </a:xfrm>
            <a:prstGeom prst="rect">
              <a:avLst/>
            </a:prstGeom>
            <a:noFill/>
          </p:spPr>
          <p:txBody>
            <a:bodyPr wrap="square" rtlCol="0">
              <a:spAutoFit/>
            </a:bodyPr>
            <a:lstStyle/>
            <a:p>
              <a:r>
                <a:rPr lang="en-US" dirty="0">
                  <a:solidFill>
                    <a:srgbClr val="006600"/>
                  </a:solidFill>
                </a:rPr>
                <a:t>H</a:t>
              </a:r>
            </a:p>
          </p:txBody>
        </p:sp>
        <p:sp>
          <p:nvSpPr>
            <p:cNvPr id="34" name="TextBox 33">
              <a:extLst>
                <a:ext uri="{FF2B5EF4-FFF2-40B4-BE49-F238E27FC236}">
                  <a16:creationId xmlns:a16="http://schemas.microsoft.com/office/drawing/2014/main" id="{0776BB7B-484D-4B7E-B6FB-12F1E6D667B6}"/>
                </a:ext>
              </a:extLst>
            </p:cNvPr>
            <p:cNvSpPr txBox="1"/>
            <p:nvPr/>
          </p:nvSpPr>
          <p:spPr>
            <a:xfrm>
              <a:off x="6161792" y="4366715"/>
              <a:ext cx="364842" cy="461665"/>
            </a:xfrm>
            <a:prstGeom prst="rect">
              <a:avLst/>
            </a:prstGeom>
            <a:noFill/>
          </p:spPr>
          <p:txBody>
            <a:bodyPr wrap="square" rtlCol="0">
              <a:spAutoFit/>
            </a:bodyPr>
            <a:lstStyle/>
            <a:p>
              <a:r>
                <a:rPr lang="en-US" dirty="0">
                  <a:solidFill>
                    <a:srgbClr val="006600"/>
                  </a:solidFill>
                </a:rPr>
                <a:t>T</a:t>
              </a:r>
            </a:p>
          </p:txBody>
        </p:sp>
      </p:grpSp>
      <p:grpSp>
        <p:nvGrpSpPr>
          <p:cNvPr id="38" name="Group 37">
            <a:extLst>
              <a:ext uri="{FF2B5EF4-FFF2-40B4-BE49-F238E27FC236}">
                <a16:creationId xmlns:a16="http://schemas.microsoft.com/office/drawing/2014/main" id="{27078ED4-F319-4D72-891E-EDD8531FCDD9}"/>
              </a:ext>
            </a:extLst>
          </p:cNvPr>
          <p:cNvGrpSpPr/>
          <p:nvPr/>
        </p:nvGrpSpPr>
        <p:grpSpPr>
          <a:xfrm flipH="1">
            <a:off x="4826886" y="4326409"/>
            <a:ext cx="3050322" cy="963171"/>
            <a:chOff x="4925288" y="4294907"/>
            <a:chExt cx="3050322" cy="963171"/>
          </a:xfrm>
        </p:grpSpPr>
        <p:sp>
          <p:nvSpPr>
            <p:cNvPr id="39" name="Freeform: Shape 38">
              <a:extLst>
                <a:ext uri="{FF2B5EF4-FFF2-40B4-BE49-F238E27FC236}">
                  <a16:creationId xmlns:a16="http://schemas.microsoft.com/office/drawing/2014/main" id="{AC2F7F87-9B3D-4002-B63A-19CDED7690BB}"/>
                </a:ext>
              </a:extLst>
            </p:cNvPr>
            <p:cNvSpPr/>
            <p:nvPr/>
          </p:nvSpPr>
          <p:spPr>
            <a:xfrm>
              <a:off x="5135418" y="4294907"/>
              <a:ext cx="2521527" cy="766619"/>
            </a:xfrm>
            <a:custGeom>
              <a:avLst/>
              <a:gdLst>
                <a:gd name="connsiteX0" fmla="*/ 0 w 2521527"/>
                <a:gd name="connsiteY0" fmla="*/ 0 h 766619"/>
                <a:gd name="connsiteX1" fmla="*/ 295564 w 2521527"/>
                <a:gd name="connsiteY1" fmla="*/ 277091 h 766619"/>
                <a:gd name="connsiteX2" fmla="*/ 1117600 w 2521527"/>
                <a:gd name="connsiteY2" fmla="*/ 600364 h 766619"/>
                <a:gd name="connsiteX3" fmla="*/ 1708727 w 2521527"/>
                <a:gd name="connsiteY3" fmla="*/ 701964 h 766619"/>
                <a:gd name="connsiteX4" fmla="*/ 2521527 w 2521527"/>
                <a:gd name="connsiteY4" fmla="*/ 766619 h 76661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21527" h="766619">
                  <a:moveTo>
                    <a:pt x="0" y="0"/>
                  </a:moveTo>
                  <a:cubicBezTo>
                    <a:pt x="54648" y="88515"/>
                    <a:pt x="109297" y="177030"/>
                    <a:pt x="295564" y="277091"/>
                  </a:cubicBezTo>
                  <a:cubicBezTo>
                    <a:pt x="481831" y="377152"/>
                    <a:pt x="882073" y="529552"/>
                    <a:pt x="1117600" y="600364"/>
                  </a:cubicBezTo>
                  <a:cubicBezTo>
                    <a:pt x="1353127" y="671176"/>
                    <a:pt x="1474739" y="674255"/>
                    <a:pt x="1708727" y="701964"/>
                  </a:cubicBezTo>
                  <a:cubicBezTo>
                    <a:pt x="1942715" y="729673"/>
                    <a:pt x="2232121" y="748146"/>
                    <a:pt x="2521527" y="766619"/>
                  </a:cubicBezTo>
                </a:path>
              </a:pathLst>
            </a:cu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TextBox 39">
              <a:extLst>
                <a:ext uri="{FF2B5EF4-FFF2-40B4-BE49-F238E27FC236}">
                  <a16:creationId xmlns:a16="http://schemas.microsoft.com/office/drawing/2014/main" id="{F35A4FBD-7F15-471C-8C04-BD717999BD05}"/>
                </a:ext>
              </a:extLst>
            </p:cNvPr>
            <p:cNvSpPr txBox="1"/>
            <p:nvPr/>
          </p:nvSpPr>
          <p:spPr>
            <a:xfrm>
              <a:off x="4925288" y="4339431"/>
              <a:ext cx="364842" cy="461665"/>
            </a:xfrm>
            <a:prstGeom prst="rect">
              <a:avLst/>
            </a:prstGeom>
            <a:noFill/>
          </p:spPr>
          <p:txBody>
            <a:bodyPr wrap="square" rtlCol="0">
              <a:spAutoFit/>
            </a:bodyPr>
            <a:lstStyle/>
            <a:p>
              <a:r>
                <a:rPr lang="en-US" dirty="0">
                  <a:solidFill>
                    <a:schemeClr val="accent2"/>
                  </a:solidFill>
                </a:rPr>
                <a:t>H</a:t>
              </a:r>
            </a:p>
          </p:txBody>
        </p:sp>
        <p:sp>
          <p:nvSpPr>
            <p:cNvPr id="41" name="TextBox 40">
              <a:extLst>
                <a:ext uri="{FF2B5EF4-FFF2-40B4-BE49-F238E27FC236}">
                  <a16:creationId xmlns:a16="http://schemas.microsoft.com/office/drawing/2014/main" id="{97AF3CCC-8BBE-41F5-B17F-16DE8CE04D9F}"/>
                </a:ext>
              </a:extLst>
            </p:cNvPr>
            <p:cNvSpPr txBox="1"/>
            <p:nvPr/>
          </p:nvSpPr>
          <p:spPr>
            <a:xfrm>
              <a:off x="7610768" y="4796413"/>
              <a:ext cx="364842" cy="461665"/>
            </a:xfrm>
            <a:prstGeom prst="rect">
              <a:avLst/>
            </a:prstGeom>
            <a:noFill/>
          </p:spPr>
          <p:txBody>
            <a:bodyPr wrap="square" rtlCol="0">
              <a:spAutoFit/>
            </a:bodyPr>
            <a:lstStyle/>
            <a:p>
              <a:r>
                <a:rPr lang="en-US" dirty="0">
                  <a:solidFill>
                    <a:schemeClr val="accent2"/>
                  </a:solidFill>
                </a:rPr>
                <a:t>T</a:t>
              </a:r>
            </a:p>
          </p:txBody>
        </p:sp>
      </p:grpSp>
      <p:sp>
        <p:nvSpPr>
          <p:cNvPr id="6" name="Content Placeholder 2">
            <a:extLst>
              <a:ext uri="{FF2B5EF4-FFF2-40B4-BE49-F238E27FC236}">
                <a16:creationId xmlns:a16="http://schemas.microsoft.com/office/drawing/2014/main" id="{9640EB8D-18B0-A7F7-63B5-0AA502AF58CA}"/>
              </a:ext>
            </a:extLst>
          </p:cNvPr>
          <p:cNvSpPr txBox="1">
            <a:spLocks/>
          </p:cNvSpPr>
          <p:nvPr/>
        </p:nvSpPr>
        <p:spPr bwMode="auto">
          <a:xfrm>
            <a:off x="643468" y="3744979"/>
            <a:ext cx="2723180" cy="16086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har char="•"/>
              <a:defRPr sz="28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r>
              <a:rPr lang="en-US" sz="2000" kern="0" dirty="0"/>
              <a:t>How about this?</a:t>
            </a:r>
          </a:p>
          <a:p>
            <a:r>
              <a:rPr lang="en-US" sz="2000" kern="0" dirty="0"/>
              <a:t>Two-headed worm!</a:t>
            </a:r>
          </a:p>
          <a:p>
            <a:r>
              <a:rPr lang="en-US" sz="2000" kern="0" dirty="0"/>
              <a:t>Is this more proof of a layered system?</a:t>
            </a:r>
          </a:p>
        </p:txBody>
      </p:sp>
    </p:spTree>
    <p:extLst>
      <p:ext uri="{BB962C8B-B14F-4D97-AF65-F5344CB8AC3E}">
        <p14:creationId xmlns:p14="http://schemas.microsoft.com/office/powerpoint/2010/main" val="37818684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par>
                                <p:cTn id="8" presetID="10" presetClass="exit" presetSubtype="0" fill="hold" grpId="0" nodeType="withEffect">
                                  <p:stCondLst>
                                    <p:cond delay="0"/>
                                  </p:stCondLst>
                                  <p:childTnLst>
                                    <p:animEffect transition="out" filter="fade">
                                      <p:cBhvr>
                                        <p:cTn id="9" dur="500"/>
                                        <p:tgtEl>
                                          <p:spTgt spid="13"/>
                                        </p:tgtEl>
                                      </p:cBhvr>
                                    </p:animEffect>
                                    <p:set>
                                      <p:cBhvr>
                                        <p:cTn id="10" dur="1" fill="hold">
                                          <p:stCondLst>
                                            <p:cond delay="499"/>
                                          </p:stCondLst>
                                        </p:cTn>
                                        <p:tgtEl>
                                          <p:spTgt spid="13"/>
                                        </p:tgtEl>
                                        <p:attrNameLst>
                                          <p:attrName>style.visibility</p:attrName>
                                        </p:attrNameLst>
                                      </p:cBhvr>
                                      <p:to>
                                        <p:strVal val="hidden"/>
                                      </p:to>
                                    </p:set>
                                  </p:childTnLst>
                                </p:cTn>
                              </p:par>
                            </p:childTnLst>
                          </p:cTn>
                        </p:par>
                      </p:childTnLst>
                    </p:cTn>
                  </p:par>
                  <p:par>
                    <p:cTn id="11" fill="hold">
                      <p:stCondLst>
                        <p:cond delay="indefinite"/>
                      </p:stCondLst>
                      <p:childTnLst>
                        <p:par>
                          <p:cTn id="12" fill="hold">
                            <p:stCondLst>
                              <p:cond delay="0"/>
                            </p:stCondLst>
                            <p:childTnLst>
                              <p:par>
                                <p:cTn id="13" presetID="10" presetClass="exit" presetSubtype="0" fill="hold" grpId="0" nodeType="clickEffect">
                                  <p:stCondLst>
                                    <p:cond delay="0"/>
                                  </p:stCondLst>
                                  <p:childTnLst>
                                    <p:animEffect transition="out" filter="fade">
                                      <p:cBhvr>
                                        <p:cTn id="14" dur="500"/>
                                        <p:tgtEl>
                                          <p:spTgt spid="5"/>
                                        </p:tgtEl>
                                      </p:cBhvr>
                                    </p:animEffect>
                                    <p:set>
                                      <p:cBhvr>
                                        <p:cTn id="15" dur="1" fill="hold">
                                          <p:stCondLst>
                                            <p:cond delay="499"/>
                                          </p:stCondLst>
                                        </p:cTn>
                                        <p:tgtEl>
                                          <p:spTgt spid="5"/>
                                        </p:tgtEl>
                                        <p:attrNameLst>
                                          <p:attrName>style.visibility</p:attrName>
                                        </p:attrNameLst>
                                      </p:cBhvr>
                                      <p:to>
                                        <p:strVal val="hidden"/>
                                      </p:to>
                                    </p:se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38"/>
                                        </p:tgtEl>
                                        <p:attrNameLst>
                                          <p:attrName>style.visibility</p:attrName>
                                        </p:attrNameLst>
                                      </p:cBhvr>
                                      <p:to>
                                        <p:strVal val="visible"/>
                                      </p:to>
                                    </p:set>
                                    <p:animEffect transition="in" filter="fade">
                                      <p:cBhvr>
                                        <p:cTn id="20" dur="500"/>
                                        <p:tgtEl>
                                          <p:spTgt spid="38"/>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6">
                                            <p:txEl>
                                              <p:pRg st="0" end="0"/>
                                            </p:txEl>
                                          </p:spTgt>
                                        </p:tgtEl>
                                        <p:attrNameLst>
                                          <p:attrName>style.visibility</p:attrName>
                                        </p:attrNameLst>
                                      </p:cBhvr>
                                      <p:to>
                                        <p:strVal val="visible"/>
                                      </p:to>
                                    </p:set>
                                    <p:animEffect transition="in" filter="fade">
                                      <p:cBhvr>
                                        <p:cTn id="25" dur="500"/>
                                        <p:tgtEl>
                                          <p:spTgt spid="6">
                                            <p:txEl>
                                              <p:pRg st="0" end="0"/>
                                            </p:txEl>
                                          </p:spTgt>
                                        </p:tgtEl>
                                      </p:cBhvr>
                                    </p:animEffect>
                                  </p:childTnLst>
                                </p:cTn>
                              </p:par>
                              <p:par>
                                <p:cTn id="26" presetID="10" presetClass="exit" presetSubtype="0" fill="hold" grpId="0" nodeType="withEffect">
                                  <p:stCondLst>
                                    <p:cond delay="0"/>
                                  </p:stCondLst>
                                  <p:childTnLst>
                                    <p:animEffect transition="out" filter="fade">
                                      <p:cBhvr>
                                        <p:cTn id="27" dur="500"/>
                                        <p:tgtEl>
                                          <p:spTgt spid="12"/>
                                        </p:tgtEl>
                                      </p:cBhvr>
                                    </p:animEffect>
                                    <p:set>
                                      <p:cBhvr>
                                        <p:cTn id="28" dur="1" fill="hold">
                                          <p:stCondLst>
                                            <p:cond delay="499"/>
                                          </p:stCondLst>
                                        </p:cTn>
                                        <p:tgtEl>
                                          <p:spTgt spid="12"/>
                                        </p:tgtEl>
                                        <p:attrNameLst>
                                          <p:attrName>style.visibility</p:attrName>
                                        </p:attrNameLst>
                                      </p:cBhvr>
                                      <p:to>
                                        <p:strVal val="hidden"/>
                                      </p:to>
                                    </p:set>
                                  </p:childTnLst>
                                </p:cTn>
                              </p:par>
                            </p:childTnLst>
                          </p:cTn>
                        </p:par>
                      </p:childTnLst>
                    </p:cTn>
                  </p:par>
                  <p:par>
                    <p:cTn id="29" fill="hold">
                      <p:stCondLst>
                        <p:cond delay="indefinite"/>
                      </p:stCondLst>
                      <p:childTnLst>
                        <p:par>
                          <p:cTn id="30" fill="hold">
                            <p:stCondLst>
                              <p:cond delay="0"/>
                            </p:stCondLst>
                            <p:childTnLst>
                              <p:par>
                                <p:cTn id="31" presetID="10" presetClass="exit" presetSubtype="0" fill="hold" grpId="0" nodeType="clickEffect">
                                  <p:stCondLst>
                                    <p:cond delay="0"/>
                                  </p:stCondLst>
                                  <p:childTnLst>
                                    <p:animEffect transition="out" filter="fade">
                                      <p:cBhvr>
                                        <p:cTn id="32" dur="500"/>
                                        <p:tgtEl>
                                          <p:spTgt spid="11"/>
                                        </p:tgtEl>
                                      </p:cBhvr>
                                    </p:animEffect>
                                    <p:set>
                                      <p:cBhvr>
                                        <p:cTn id="33" dur="1" fill="hold">
                                          <p:stCondLst>
                                            <p:cond delay="499"/>
                                          </p:stCondLst>
                                        </p:cTn>
                                        <p:tgtEl>
                                          <p:spTgt spid="11"/>
                                        </p:tgtEl>
                                        <p:attrNameLst>
                                          <p:attrName>style.visibility</p:attrName>
                                        </p:attrNameLst>
                                      </p:cBhvr>
                                      <p:to>
                                        <p:strVal val="hidden"/>
                                      </p:to>
                                    </p:set>
                                  </p:childTnLst>
                                </p:cTn>
                              </p:par>
                              <p:par>
                                <p:cTn id="34" presetID="10" presetClass="entr" presetSubtype="0" fill="hold" nodeType="withEffect">
                                  <p:stCondLst>
                                    <p:cond delay="0"/>
                                  </p:stCondLst>
                                  <p:childTnLst>
                                    <p:set>
                                      <p:cBhvr>
                                        <p:cTn id="35" dur="1" fill="hold">
                                          <p:stCondLst>
                                            <p:cond delay="0"/>
                                          </p:stCondLst>
                                        </p:cTn>
                                        <p:tgtEl>
                                          <p:spTgt spid="6">
                                            <p:txEl>
                                              <p:pRg st="1" end="1"/>
                                            </p:txEl>
                                          </p:spTgt>
                                        </p:tgtEl>
                                        <p:attrNameLst>
                                          <p:attrName>style.visibility</p:attrName>
                                        </p:attrNameLst>
                                      </p:cBhvr>
                                      <p:to>
                                        <p:strVal val="visible"/>
                                      </p:to>
                                    </p:set>
                                    <p:animEffect transition="in" filter="fade">
                                      <p:cBhvr>
                                        <p:cTn id="36" dur="500"/>
                                        <p:tgtEl>
                                          <p:spTgt spid="6">
                                            <p:txEl>
                                              <p:pRg st="1" end="1"/>
                                            </p:txEl>
                                          </p:spTgt>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nodeType="clickEffect">
                                  <p:stCondLst>
                                    <p:cond delay="0"/>
                                  </p:stCondLst>
                                  <p:childTnLst>
                                    <p:set>
                                      <p:cBhvr>
                                        <p:cTn id="40" dur="1" fill="hold">
                                          <p:stCondLst>
                                            <p:cond delay="0"/>
                                          </p:stCondLst>
                                        </p:cTn>
                                        <p:tgtEl>
                                          <p:spTgt spid="36"/>
                                        </p:tgtEl>
                                        <p:attrNameLst>
                                          <p:attrName>style.visibility</p:attrName>
                                        </p:attrNameLst>
                                      </p:cBhvr>
                                      <p:to>
                                        <p:strVal val="visible"/>
                                      </p:to>
                                    </p:set>
                                    <p:animEffect transition="in" filter="fade">
                                      <p:cBhvr>
                                        <p:cTn id="41" dur="500"/>
                                        <p:tgtEl>
                                          <p:spTgt spid="36"/>
                                        </p:tgtEl>
                                      </p:cBhvr>
                                    </p:animEffect>
                                  </p:childTnLst>
                                </p:cTn>
                              </p:par>
                            </p:childTnLst>
                          </p:cTn>
                        </p:par>
                      </p:childTnLst>
                    </p:cTn>
                  </p:par>
                  <p:par>
                    <p:cTn id="42" fill="hold">
                      <p:stCondLst>
                        <p:cond delay="indefinite"/>
                      </p:stCondLst>
                      <p:childTnLst>
                        <p:par>
                          <p:cTn id="43" fill="hold">
                            <p:stCondLst>
                              <p:cond delay="0"/>
                            </p:stCondLst>
                            <p:childTnLst>
                              <p:par>
                                <p:cTn id="44" presetID="10" presetClass="entr" presetSubtype="0" fill="hold" nodeType="clickEffect">
                                  <p:stCondLst>
                                    <p:cond delay="0"/>
                                  </p:stCondLst>
                                  <p:childTnLst>
                                    <p:set>
                                      <p:cBhvr>
                                        <p:cTn id="45" dur="1" fill="hold">
                                          <p:stCondLst>
                                            <p:cond delay="0"/>
                                          </p:stCondLst>
                                        </p:cTn>
                                        <p:tgtEl>
                                          <p:spTgt spid="6">
                                            <p:txEl>
                                              <p:pRg st="2" end="2"/>
                                            </p:txEl>
                                          </p:spTgt>
                                        </p:tgtEl>
                                        <p:attrNameLst>
                                          <p:attrName>style.visibility</p:attrName>
                                        </p:attrNameLst>
                                      </p:cBhvr>
                                      <p:to>
                                        <p:strVal val="visible"/>
                                      </p:to>
                                    </p:set>
                                    <p:animEffect transition="in" filter="fade">
                                      <p:cBhvr>
                                        <p:cTn id="46" dur="500"/>
                                        <p:tgtEl>
                                          <p:spTgt spid="6">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11" grpId="0" animBg="1"/>
      <p:bldP spid="12" grpId="0" animBg="1"/>
      <p:bldP spid="13"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70F007-6685-4DB4-BCB0-9D8514A8D5A0}"/>
              </a:ext>
            </a:extLst>
          </p:cNvPr>
          <p:cNvSpPr>
            <a:spLocks noGrp="1"/>
          </p:cNvSpPr>
          <p:nvPr>
            <p:ph type="title"/>
          </p:nvPr>
        </p:nvSpPr>
        <p:spPr/>
        <p:txBody>
          <a:bodyPr/>
          <a:lstStyle/>
          <a:p>
            <a:r>
              <a:rPr lang="en-US" dirty="0"/>
              <a:t>Building the outer layer</a:t>
            </a:r>
          </a:p>
        </p:txBody>
      </p:sp>
      <p:sp>
        <p:nvSpPr>
          <p:cNvPr id="3" name="Content Placeholder 2">
            <a:extLst>
              <a:ext uri="{FF2B5EF4-FFF2-40B4-BE49-F238E27FC236}">
                <a16:creationId xmlns:a16="http://schemas.microsoft.com/office/drawing/2014/main" id="{C878125A-5F67-4846-B390-BA02892D8EA9}"/>
              </a:ext>
            </a:extLst>
          </p:cNvPr>
          <p:cNvSpPr>
            <a:spLocks noGrp="1"/>
          </p:cNvSpPr>
          <p:nvPr>
            <p:ph idx="1"/>
          </p:nvPr>
        </p:nvSpPr>
        <p:spPr>
          <a:xfrm>
            <a:off x="312937" y="1951606"/>
            <a:ext cx="5344176" cy="3142907"/>
          </a:xfrm>
        </p:spPr>
        <p:txBody>
          <a:bodyPr/>
          <a:lstStyle/>
          <a:p>
            <a:r>
              <a:rPr lang="en-US" sz="2400" dirty="0"/>
              <a:t>Planarian regeneration: more evidence that a </a:t>
            </a:r>
            <a:r>
              <a:rPr lang="en-US" sz="2400" i="1" dirty="0" err="1"/>
              <a:t>V</a:t>
            </a:r>
            <a:r>
              <a:rPr lang="en-US" sz="2400" baseline="-25000" dirty="0" err="1"/>
              <a:t>mem</a:t>
            </a:r>
            <a:r>
              <a:rPr lang="en-US" sz="2400" dirty="0"/>
              <a:t> pattern is the API</a:t>
            </a:r>
          </a:p>
          <a:p>
            <a:r>
              <a:rPr lang="en-US" sz="2400" dirty="0"/>
              <a:t>Next question: how do we build the </a:t>
            </a:r>
            <a:r>
              <a:rPr lang="en-US" sz="2400" i="1" dirty="0" err="1"/>
              <a:t>V</a:t>
            </a:r>
            <a:r>
              <a:rPr lang="en-US" sz="2400" baseline="-25000" dirty="0" err="1"/>
              <a:t>mem</a:t>
            </a:r>
            <a:r>
              <a:rPr lang="en-US" sz="2400" dirty="0"/>
              <a:t> pattern?</a:t>
            </a:r>
          </a:p>
          <a:p>
            <a:pPr lvl="1"/>
            <a:r>
              <a:rPr lang="en-US" sz="2000" dirty="0"/>
              <a:t>We used batteries &amp; needles to build </a:t>
            </a:r>
            <a:r>
              <a:rPr lang="en-US" sz="2000" i="1" dirty="0" err="1"/>
              <a:t>V</a:t>
            </a:r>
            <a:r>
              <a:rPr lang="en-US" sz="2000" baseline="-25000" dirty="0" err="1"/>
              <a:t>mem</a:t>
            </a:r>
            <a:r>
              <a:rPr lang="en-US" sz="2000" dirty="0"/>
              <a:t>, but how might nature do it?</a:t>
            </a:r>
          </a:p>
          <a:p>
            <a:pPr lvl="1">
              <a:spcBef>
                <a:spcPts val="0"/>
              </a:spcBef>
            </a:pPr>
            <a:r>
              <a:rPr lang="en-US" sz="2000" dirty="0"/>
              <a:t>Rough first cut now; next slide set is an </a:t>
            </a:r>
            <a:r>
              <a:rPr lang="en-US" sz="2000" dirty="0" err="1"/>
              <a:t>experiment+lab</a:t>
            </a:r>
            <a:endParaRPr lang="en-US" sz="1600" dirty="0"/>
          </a:p>
        </p:txBody>
      </p:sp>
      <p:sp>
        <p:nvSpPr>
          <p:cNvPr id="4" name="Footer Placeholder 3">
            <a:extLst>
              <a:ext uri="{FF2B5EF4-FFF2-40B4-BE49-F238E27FC236}">
                <a16:creationId xmlns:a16="http://schemas.microsoft.com/office/drawing/2014/main" id="{E8AD74FA-D849-4265-8D58-493EB7A3DCF7}"/>
              </a:ext>
            </a:extLst>
          </p:cNvPr>
          <p:cNvSpPr>
            <a:spLocks noGrp="1"/>
          </p:cNvSpPr>
          <p:nvPr>
            <p:ph type="ftr" sz="quarter" idx="11"/>
          </p:nvPr>
        </p:nvSpPr>
        <p:spPr/>
        <p:txBody>
          <a:bodyPr/>
          <a:lstStyle/>
          <a:p>
            <a:pPr>
              <a:defRPr/>
            </a:pPr>
            <a:r>
              <a:rPr lang="en-US" dirty="0"/>
              <a:t>Bioelectricity Joel Grodstein</a:t>
            </a:r>
          </a:p>
        </p:txBody>
      </p:sp>
      <p:sp>
        <p:nvSpPr>
          <p:cNvPr id="6" name="TextBox 5">
            <a:extLst>
              <a:ext uri="{FF2B5EF4-FFF2-40B4-BE49-F238E27FC236}">
                <a16:creationId xmlns:a16="http://schemas.microsoft.com/office/drawing/2014/main" id="{D1526F46-24B8-41D7-A479-B12E90AE0386}"/>
              </a:ext>
            </a:extLst>
          </p:cNvPr>
          <p:cNvSpPr txBox="1"/>
          <p:nvPr/>
        </p:nvSpPr>
        <p:spPr>
          <a:xfrm>
            <a:off x="6290734" y="2463800"/>
            <a:ext cx="2167467" cy="830997"/>
          </a:xfrm>
          <a:prstGeom prst="rect">
            <a:avLst/>
          </a:prstGeom>
          <a:noFill/>
          <a:ln w="12700">
            <a:solidFill>
              <a:schemeClr val="accent2"/>
            </a:solidFill>
          </a:ln>
        </p:spPr>
        <p:txBody>
          <a:bodyPr wrap="square" rtlCol="0">
            <a:spAutoFit/>
          </a:bodyPr>
          <a:lstStyle/>
          <a:p>
            <a:pPr algn="ctr"/>
            <a:r>
              <a:rPr lang="en-US" dirty="0"/>
              <a:t>Create </a:t>
            </a:r>
            <a:r>
              <a:rPr lang="en-US" i="1" dirty="0" err="1"/>
              <a:t>V</a:t>
            </a:r>
            <a:r>
              <a:rPr lang="en-US" baseline="-25000" dirty="0" err="1"/>
              <a:t>mem</a:t>
            </a:r>
            <a:r>
              <a:rPr lang="en-US" dirty="0"/>
              <a:t> pattern</a:t>
            </a:r>
          </a:p>
        </p:txBody>
      </p:sp>
      <p:cxnSp>
        <p:nvCxnSpPr>
          <p:cNvPr id="13" name="Straight Connector 12">
            <a:extLst>
              <a:ext uri="{FF2B5EF4-FFF2-40B4-BE49-F238E27FC236}">
                <a16:creationId xmlns:a16="http://schemas.microsoft.com/office/drawing/2014/main" id="{5A85AD53-3E22-4C72-A034-627520D2C9A8}"/>
              </a:ext>
            </a:extLst>
          </p:cNvPr>
          <p:cNvCxnSpPr/>
          <p:nvPr/>
        </p:nvCxnSpPr>
        <p:spPr>
          <a:xfrm>
            <a:off x="6273800" y="3826933"/>
            <a:ext cx="2413000" cy="0"/>
          </a:xfrm>
          <a:prstGeom prst="line">
            <a:avLst/>
          </a:prstGeom>
          <a:ln w="28575">
            <a:solidFill>
              <a:schemeClr val="accent2"/>
            </a:solidFill>
            <a:prstDash val="dash"/>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37B89BD1-6B90-408F-947C-F8AF7AB778F6}"/>
              </a:ext>
            </a:extLst>
          </p:cNvPr>
          <p:cNvSpPr txBox="1"/>
          <p:nvPr/>
        </p:nvSpPr>
        <p:spPr>
          <a:xfrm>
            <a:off x="8195733" y="3437467"/>
            <a:ext cx="719667" cy="461665"/>
          </a:xfrm>
          <a:prstGeom prst="rect">
            <a:avLst/>
          </a:prstGeom>
          <a:noFill/>
        </p:spPr>
        <p:txBody>
          <a:bodyPr wrap="square" rtlCol="0">
            <a:spAutoFit/>
          </a:bodyPr>
          <a:lstStyle/>
          <a:p>
            <a:r>
              <a:rPr lang="en-US" dirty="0"/>
              <a:t>API</a:t>
            </a:r>
          </a:p>
        </p:txBody>
      </p:sp>
      <p:grpSp>
        <p:nvGrpSpPr>
          <p:cNvPr id="12" name="Group 11">
            <a:extLst>
              <a:ext uri="{FF2B5EF4-FFF2-40B4-BE49-F238E27FC236}">
                <a16:creationId xmlns:a16="http://schemas.microsoft.com/office/drawing/2014/main" id="{FB6BB60F-9C65-4CFE-8931-C67B5EE3A940}"/>
              </a:ext>
            </a:extLst>
          </p:cNvPr>
          <p:cNvGrpSpPr/>
          <p:nvPr/>
        </p:nvGrpSpPr>
        <p:grpSpPr>
          <a:xfrm>
            <a:off x="6180665" y="3573532"/>
            <a:ext cx="2582334" cy="2878152"/>
            <a:chOff x="6180665" y="3573532"/>
            <a:chExt cx="2582334" cy="2878152"/>
          </a:xfrm>
        </p:grpSpPr>
        <p:sp>
          <p:nvSpPr>
            <p:cNvPr id="15" name="TextBox 14">
              <a:extLst>
                <a:ext uri="{FF2B5EF4-FFF2-40B4-BE49-F238E27FC236}">
                  <a16:creationId xmlns:a16="http://schemas.microsoft.com/office/drawing/2014/main" id="{BCA7AFAD-28BE-46F0-8FDA-7CD8CAE480B5}"/>
                </a:ext>
              </a:extLst>
            </p:cNvPr>
            <p:cNvSpPr txBox="1"/>
            <p:nvPr/>
          </p:nvSpPr>
          <p:spPr>
            <a:xfrm>
              <a:off x="6239932" y="4394200"/>
              <a:ext cx="2523067" cy="1100667"/>
            </a:xfrm>
            <a:prstGeom prst="rect">
              <a:avLst/>
            </a:prstGeom>
            <a:noFill/>
            <a:ln w="12700">
              <a:solidFill>
                <a:schemeClr val="accent2"/>
              </a:solidFill>
            </a:ln>
          </p:spPr>
          <p:txBody>
            <a:bodyPr wrap="square" rtlCol="0" anchor="ctr" anchorCtr="0">
              <a:noAutofit/>
            </a:bodyPr>
            <a:lstStyle/>
            <a:p>
              <a:pPr algn="ctr"/>
              <a:r>
                <a:rPr lang="en-US" dirty="0"/>
                <a:t>compare</a:t>
              </a:r>
            </a:p>
          </p:txBody>
        </p:sp>
        <p:sp>
          <p:nvSpPr>
            <p:cNvPr id="16" name="Arrow: Down 15">
              <a:extLst>
                <a:ext uri="{FF2B5EF4-FFF2-40B4-BE49-F238E27FC236}">
                  <a16:creationId xmlns:a16="http://schemas.microsoft.com/office/drawing/2014/main" id="{250F2FA4-5DC7-493A-801B-F0FB24242336}"/>
                </a:ext>
              </a:extLst>
            </p:cNvPr>
            <p:cNvSpPr/>
            <p:nvPr/>
          </p:nvSpPr>
          <p:spPr>
            <a:xfrm>
              <a:off x="8036247" y="3573532"/>
              <a:ext cx="262466" cy="795867"/>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extBox 16">
              <a:extLst>
                <a:ext uri="{FF2B5EF4-FFF2-40B4-BE49-F238E27FC236}">
                  <a16:creationId xmlns:a16="http://schemas.microsoft.com/office/drawing/2014/main" id="{AE5C8556-D1CE-4646-BADB-5F4CAFF954D5}"/>
                </a:ext>
              </a:extLst>
            </p:cNvPr>
            <p:cNvSpPr txBox="1"/>
            <p:nvPr/>
          </p:nvSpPr>
          <p:spPr>
            <a:xfrm>
              <a:off x="7746999" y="4275670"/>
              <a:ext cx="897468" cy="400110"/>
            </a:xfrm>
            <a:prstGeom prst="rect">
              <a:avLst/>
            </a:prstGeom>
            <a:noFill/>
          </p:spPr>
          <p:txBody>
            <a:bodyPr wrap="square" rtlCol="0">
              <a:spAutoFit/>
            </a:bodyPr>
            <a:lstStyle/>
            <a:p>
              <a:r>
                <a:rPr lang="en-US" sz="2000" dirty="0"/>
                <a:t>target</a:t>
              </a:r>
            </a:p>
          </p:txBody>
        </p:sp>
        <p:sp>
          <p:nvSpPr>
            <p:cNvPr id="18" name="TextBox 17">
              <a:extLst>
                <a:ext uri="{FF2B5EF4-FFF2-40B4-BE49-F238E27FC236}">
                  <a16:creationId xmlns:a16="http://schemas.microsoft.com/office/drawing/2014/main" id="{EE3BC477-9105-4CC2-907F-6E2B9B37C75C}"/>
                </a:ext>
              </a:extLst>
            </p:cNvPr>
            <p:cNvSpPr txBox="1"/>
            <p:nvPr/>
          </p:nvSpPr>
          <p:spPr>
            <a:xfrm>
              <a:off x="6180665" y="4343403"/>
              <a:ext cx="939801" cy="400110"/>
            </a:xfrm>
            <a:prstGeom prst="rect">
              <a:avLst/>
            </a:prstGeom>
            <a:noFill/>
          </p:spPr>
          <p:txBody>
            <a:bodyPr wrap="square" rtlCol="0">
              <a:spAutoFit/>
            </a:bodyPr>
            <a:lstStyle/>
            <a:p>
              <a:r>
                <a:rPr lang="en-US" sz="2000" dirty="0"/>
                <a:t>current</a:t>
              </a:r>
            </a:p>
          </p:txBody>
        </p:sp>
        <p:sp>
          <p:nvSpPr>
            <p:cNvPr id="19" name="TextBox 18">
              <a:extLst>
                <a:ext uri="{FF2B5EF4-FFF2-40B4-BE49-F238E27FC236}">
                  <a16:creationId xmlns:a16="http://schemas.microsoft.com/office/drawing/2014/main" id="{A60217E7-E666-4240-B818-5C684C4C2747}"/>
                </a:ext>
              </a:extLst>
            </p:cNvPr>
            <p:cNvSpPr txBox="1"/>
            <p:nvPr/>
          </p:nvSpPr>
          <p:spPr>
            <a:xfrm>
              <a:off x="6742614" y="5620687"/>
              <a:ext cx="1455086" cy="830997"/>
            </a:xfrm>
            <a:prstGeom prst="rect">
              <a:avLst/>
            </a:prstGeom>
            <a:noFill/>
          </p:spPr>
          <p:txBody>
            <a:bodyPr wrap="square" rtlCol="0">
              <a:spAutoFit/>
            </a:bodyPr>
            <a:lstStyle/>
            <a:p>
              <a:pPr algn="ctr"/>
              <a:r>
                <a:rPr lang="en-US" dirty="0"/>
                <a:t>growth directions</a:t>
              </a:r>
            </a:p>
          </p:txBody>
        </p:sp>
        <p:sp>
          <p:nvSpPr>
            <p:cNvPr id="20" name="Arrow: Down 19">
              <a:extLst>
                <a:ext uri="{FF2B5EF4-FFF2-40B4-BE49-F238E27FC236}">
                  <a16:creationId xmlns:a16="http://schemas.microsoft.com/office/drawing/2014/main" id="{BFA61DA1-FED9-4D52-A9C8-1ABF4AC74B96}"/>
                </a:ext>
              </a:extLst>
            </p:cNvPr>
            <p:cNvSpPr/>
            <p:nvPr/>
          </p:nvSpPr>
          <p:spPr>
            <a:xfrm>
              <a:off x="6498070" y="4136065"/>
              <a:ext cx="242971" cy="290035"/>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Arrow: Down 20">
              <a:extLst>
                <a:ext uri="{FF2B5EF4-FFF2-40B4-BE49-F238E27FC236}">
                  <a16:creationId xmlns:a16="http://schemas.microsoft.com/office/drawing/2014/main" id="{E92B2EE0-8AF6-44A9-99D1-E154FBF54ECF}"/>
                </a:ext>
              </a:extLst>
            </p:cNvPr>
            <p:cNvSpPr/>
            <p:nvPr/>
          </p:nvSpPr>
          <p:spPr>
            <a:xfrm>
              <a:off x="7373484" y="5231220"/>
              <a:ext cx="218164" cy="612554"/>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8" name="Straight Arrow Connector 7">
            <a:extLst>
              <a:ext uri="{FF2B5EF4-FFF2-40B4-BE49-F238E27FC236}">
                <a16:creationId xmlns:a16="http://schemas.microsoft.com/office/drawing/2014/main" id="{EE0E7B13-80EE-4983-B573-37BC8A3751E0}"/>
              </a:ext>
            </a:extLst>
          </p:cNvPr>
          <p:cNvCxnSpPr>
            <a:cxnSpLocks/>
          </p:cNvCxnSpPr>
          <p:nvPr/>
        </p:nvCxnSpPr>
        <p:spPr>
          <a:xfrm flipV="1">
            <a:off x="5104660" y="2902999"/>
            <a:ext cx="834501" cy="559292"/>
          </a:xfrm>
          <a:prstGeom prst="straightConnector1">
            <a:avLst/>
          </a:prstGeom>
          <a:ln w="2857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947914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fade">
                                      <p:cBhvr>
                                        <p:cTn id="10" dur="500"/>
                                        <p:tgtEl>
                                          <p:spTgt spid="3">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fade">
                                      <p:cBhvr>
                                        <p:cTn id="15" dur="500"/>
                                        <p:tgtEl>
                                          <p:spTgt spid="3">
                                            <p:txEl>
                                              <p:pRg st="2" end="2"/>
                                            </p:txEl>
                                          </p:spTgt>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3">
                                            <p:txEl>
                                              <p:pRg st="3" end="3"/>
                                            </p:txEl>
                                          </p:spTgt>
                                        </p:tgtEl>
                                        <p:attrNameLst>
                                          <p:attrName>style.visibility</p:attrName>
                                        </p:attrNameLst>
                                      </p:cBhvr>
                                      <p:to>
                                        <p:strVal val="visible"/>
                                      </p:to>
                                    </p:set>
                                    <p:animEffect transition="in" filter="fade">
                                      <p:cBhvr>
                                        <p:cTn id="18"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CEDCD8-79D8-6B9B-E39A-E99A1446E169}"/>
              </a:ext>
            </a:extLst>
          </p:cNvPr>
          <p:cNvSpPr>
            <a:spLocks noGrp="1"/>
          </p:cNvSpPr>
          <p:nvPr>
            <p:ph type="title"/>
          </p:nvPr>
        </p:nvSpPr>
        <p:spPr/>
        <p:txBody>
          <a:bodyPr/>
          <a:lstStyle/>
          <a:p>
            <a:r>
              <a:rPr lang="en-US" dirty="0"/>
              <a:t>Weirdness alert</a:t>
            </a:r>
          </a:p>
        </p:txBody>
      </p:sp>
      <p:sp>
        <p:nvSpPr>
          <p:cNvPr id="3" name="Content Placeholder 2">
            <a:extLst>
              <a:ext uri="{FF2B5EF4-FFF2-40B4-BE49-F238E27FC236}">
                <a16:creationId xmlns:a16="http://schemas.microsoft.com/office/drawing/2014/main" id="{AB785CC2-F86B-769A-0A10-763063EE6CC4}"/>
              </a:ext>
            </a:extLst>
          </p:cNvPr>
          <p:cNvSpPr>
            <a:spLocks noGrp="1"/>
          </p:cNvSpPr>
          <p:nvPr>
            <p:ph idx="1"/>
          </p:nvPr>
        </p:nvSpPr>
        <p:spPr>
          <a:xfrm>
            <a:off x="685800" y="1676400"/>
            <a:ext cx="7945734" cy="4419600"/>
          </a:xfrm>
        </p:spPr>
        <p:txBody>
          <a:bodyPr/>
          <a:lstStyle/>
          <a:p>
            <a:r>
              <a:rPr lang="en-US" dirty="0"/>
              <a:t>What part of your body does most of your thinking?</a:t>
            </a:r>
          </a:p>
          <a:p>
            <a:r>
              <a:rPr lang="en-US" dirty="0"/>
              <a:t>Brains are </a:t>
            </a:r>
            <a:r>
              <a:rPr lang="en-US" i="1" dirty="0"/>
              <a:t>very</a:t>
            </a:r>
            <a:r>
              <a:rPr lang="en-US" dirty="0"/>
              <a:t> good at pattern recognition</a:t>
            </a:r>
          </a:p>
          <a:p>
            <a:pPr lvl="1">
              <a:spcBef>
                <a:spcPts val="0"/>
              </a:spcBef>
            </a:pPr>
            <a:r>
              <a:rPr lang="en-US" dirty="0"/>
              <a:t>common sense says the brain is highly involved in pattern creation and checking</a:t>
            </a:r>
          </a:p>
          <a:p>
            <a:pPr lvl="1">
              <a:spcBef>
                <a:spcPts val="0"/>
              </a:spcBef>
            </a:pPr>
            <a:r>
              <a:rPr lang="en-US" dirty="0"/>
              <a:t>does anyone see a chicken/egg problem here?</a:t>
            </a:r>
          </a:p>
        </p:txBody>
      </p:sp>
      <p:sp>
        <p:nvSpPr>
          <p:cNvPr id="4" name="Footer Placeholder 3">
            <a:extLst>
              <a:ext uri="{FF2B5EF4-FFF2-40B4-BE49-F238E27FC236}">
                <a16:creationId xmlns:a16="http://schemas.microsoft.com/office/drawing/2014/main" id="{E6233B71-2DF0-FD24-1DBA-373C847D29DC}"/>
              </a:ext>
            </a:extLst>
          </p:cNvPr>
          <p:cNvSpPr>
            <a:spLocks noGrp="1"/>
          </p:cNvSpPr>
          <p:nvPr>
            <p:ph type="ftr" sz="quarter" idx="11"/>
          </p:nvPr>
        </p:nvSpPr>
        <p:spPr/>
        <p:txBody>
          <a:bodyPr/>
          <a:lstStyle/>
          <a:p>
            <a:pPr>
              <a:defRPr/>
            </a:pPr>
            <a:r>
              <a:rPr lang="en-US"/>
              <a:t>Bioelectricity Joel Grodstein</a:t>
            </a:r>
            <a:endParaRPr lang="en-US" dirty="0"/>
          </a:p>
        </p:txBody>
      </p:sp>
    </p:spTree>
    <p:extLst>
      <p:ext uri="{BB962C8B-B14F-4D97-AF65-F5344CB8AC3E}">
        <p14:creationId xmlns:p14="http://schemas.microsoft.com/office/powerpoint/2010/main" val="8768706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2" end="2"/>
                                            </p:txEl>
                                          </p:spTgt>
                                        </p:tgtEl>
                                        <p:attrNameLst>
                                          <p:attrName>style.visibility</p:attrName>
                                        </p:attrNameLst>
                                      </p:cBhvr>
                                      <p:to>
                                        <p:strVal val="visible"/>
                                      </p:to>
                                    </p:set>
                                    <p:animEffect transition="in" filter="fade">
                                      <p:cBhvr>
                                        <p:cTn id="10" dur="500"/>
                                        <p:tgtEl>
                                          <p:spTgt spid="3">
                                            <p:txEl>
                                              <p:pRg st="2" end="2"/>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animEffect transition="in" filter="fade">
                                      <p:cBhvr>
                                        <p:cTn id="15"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0CD457-CFAD-4E3B-BF98-FCC398EB8A96}"/>
              </a:ext>
            </a:extLst>
          </p:cNvPr>
          <p:cNvSpPr>
            <a:spLocks noGrp="1"/>
          </p:cNvSpPr>
          <p:nvPr>
            <p:ph type="title"/>
          </p:nvPr>
        </p:nvSpPr>
        <p:spPr>
          <a:xfrm>
            <a:off x="353292" y="304800"/>
            <a:ext cx="8633691" cy="1143000"/>
          </a:xfrm>
        </p:spPr>
        <p:txBody>
          <a:bodyPr/>
          <a:lstStyle/>
          <a:p>
            <a:r>
              <a:rPr lang="en-US" dirty="0"/>
              <a:t>Primitive cognition</a:t>
            </a:r>
          </a:p>
        </p:txBody>
      </p:sp>
      <p:sp>
        <p:nvSpPr>
          <p:cNvPr id="3" name="Content Placeholder 2">
            <a:extLst>
              <a:ext uri="{FF2B5EF4-FFF2-40B4-BE49-F238E27FC236}">
                <a16:creationId xmlns:a16="http://schemas.microsoft.com/office/drawing/2014/main" id="{9F3335A4-0D50-4E54-BFC5-025B8F431935}"/>
              </a:ext>
            </a:extLst>
          </p:cNvPr>
          <p:cNvSpPr>
            <a:spLocks noGrp="1"/>
          </p:cNvSpPr>
          <p:nvPr>
            <p:ph idx="1"/>
          </p:nvPr>
        </p:nvSpPr>
        <p:spPr>
          <a:xfrm>
            <a:off x="643465" y="1303866"/>
            <a:ext cx="8147243" cy="4805531"/>
          </a:xfrm>
        </p:spPr>
        <p:txBody>
          <a:bodyPr/>
          <a:lstStyle/>
          <a:p>
            <a:r>
              <a:rPr lang="en-US" sz="2400" dirty="0"/>
              <a:t>Neurons &amp; brain play a part in growth, regeneration. But…</a:t>
            </a:r>
          </a:p>
          <a:p>
            <a:pPr lvl="1">
              <a:spcBef>
                <a:spcPts val="0"/>
              </a:spcBef>
            </a:pPr>
            <a:r>
              <a:rPr lang="en-US" sz="2000" dirty="0"/>
              <a:t>this must work in an embryo without much of a brain yet!</a:t>
            </a:r>
          </a:p>
          <a:p>
            <a:pPr lvl="1">
              <a:spcBef>
                <a:spcPts val="0"/>
              </a:spcBef>
            </a:pPr>
            <a:r>
              <a:rPr lang="en-US" sz="2000" dirty="0"/>
              <a:t>And in </a:t>
            </a:r>
            <a:r>
              <a:rPr lang="en-US" sz="2000" dirty="0" err="1"/>
              <a:t>planaria</a:t>
            </a:r>
            <a:r>
              <a:rPr lang="en-US" sz="2000" dirty="0"/>
              <a:t> whose head has been cut off!</a:t>
            </a:r>
          </a:p>
          <a:p>
            <a:pPr>
              <a:spcBef>
                <a:spcPts val="0"/>
              </a:spcBef>
            </a:pPr>
            <a:r>
              <a:rPr lang="en-US" sz="2400" dirty="0"/>
              <a:t>How could this be?</a:t>
            </a:r>
          </a:p>
          <a:p>
            <a:pPr lvl="1">
              <a:spcBef>
                <a:spcPts val="0"/>
              </a:spcBef>
            </a:pPr>
            <a:r>
              <a:rPr lang="en-US" sz="2000" dirty="0"/>
              <a:t>Hypothesis – the cells themselves act as a sort of brain</a:t>
            </a:r>
          </a:p>
          <a:p>
            <a:pPr lvl="1">
              <a:spcBef>
                <a:spcPts val="0"/>
              </a:spcBef>
            </a:pPr>
            <a:r>
              <a:rPr lang="en-US" sz="2000" dirty="0"/>
              <a:t>One that has no actual neurons!</a:t>
            </a:r>
          </a:p>
          <a:p>
            <a:r>
              <a:rPr lang="en-US" sz="2400" dirty="0"/>
              <a:t>Is this feasible?</a:t>
            </a:r>
          </a:p>
          <a:p>
            <a:pPr lvl="1">
              <a:spcBef>
                <a:spcPts val="0"/>
              </a:spcBef>
            </a:pPr>
            <a:r>
              <a:rPr lang="en-US" sz="2000" dirty="0"/>
              <a:t>The basic machinery of ion channels, GJs and bioelectricity came earlier in evolution than did neurons</a:t>
            </a:r>
          </a:p>
          <a:p>
            <a:pPr lvl="1">
              <a:spcBef>
                <a:spcPts val="0"/>
              </a:spcBef>
            </a:pPr>
            <a:r>
              <a:rPr lang="en-US" sz="2000" dirty="0"/>
              <a:t>Single-celled organisms communicated via neurotransmitters </a:t>
            </a:r>
          </a:p>
          <a:p>
            <a:pPr lvl="1">
              <a:spcBef>
                <a:spcPts val="0"/>
              </a:spcBef>
            </a:pPr>
            <a:r>
              <a:rPr lang="en-US" sz="2000" dirty="0"/>
              <a:t>Neurons “merely” made </a:t>
            </a:r>
            <a:r>
              <a:rPr lang="en-US" sz="2000" i="1" dirty="0" err="1"/>
              <a:t>V</a:t>
            </a:r>
            <a:r>
              <a:rPr lang="en-US" sz="2000" baseline="-25000" dirty="0" err="1"/>
              <a:t>mem</a:t>
            </a:r>
            <a:r>
              <a:rPr lang="en-US" sz="2000" dirty="0"/>
              <a:t> fast enough for real-time muscle control</a:t>
            </a:r>
          </a:p>
          <a:p>
            <a:pPr>
              <a:spcBef>
                <a:spcPts val="600"/>
              </a:spcBef>
            </a:pPr>
            <a:r>
              <a:rPr lang="en-US" sz="2400" dirty="0"/>
              <a:t>Questions:</a:t>
            </a:r>
          </a:p>
          <a:p>
            <a:pPr lvl="1">
              <a:spcBef>
                <a:spcPts val="0"/>
              </a:spcBef>
            </a:pPr>
            <a:r>
              <a:rPr lang="en-US" sz="2000" dirty="0"/>
              <a:t>is primitive cognition powerful enough to build a </a:t>
            </a:r>
            <a:r>
              <a:rPr lang="en-US" sz="2000" i="1" dirty="0" err="1"/>
              <a:t>V</a:t>
            </a:r>
            <a:r>
              <a:rPr lang="en-US" sz="2000" i="1" baseline="-25000" dirty="0" err="1"/>
              <a:t>mem</a:t>
            </a:r>
            <a:r>
              <a:rPr lang="en-US" sz="2000" dirty="0"/>
              <a:t> pattern?</a:t>
            </a:r>
          </a:p>
          <a:p>
            <a:pPr lvl="1">
              <a:spcBef>
                <a:spcPts val="0"/>
              </a:spcBef>
            </a:pPr>
            <a:r>
              <a:rPr lang="en-US" sz="2000" dirty="0"/>
              <a:t>to implement the compare/fix machine?</a:t>
            </a:r>
          </a:p>
          <a:p>
            <a:pPr>
              <a:spcBef>
                <a:spcPts val="0"/>
              </a:spcBef>
            </a:pPr>
            <a:endParaRPr lang="en-US" dirty="0"/>
          </a:p>
        </p:txBody>
      </p:sp>
      <p:sp>
        <p:nvSpPr>
          <p:cNvPr id="4" name="Footer Placeholder 3">
            <a:extLst>
              <a:ext uri="{FF2B5EF4-FFF2-40B4-BE49-F238E27FC236}">
                <a16:creationId xmlns:a16="http://schemas.microsoft.com/office/drawing/2014/main" id="{AA1BA6D8-BFE8-4BC4-A725-99C7C834BFEC}"/>
              </a:ext>
            </a:extLst>
          </p:cNvPr>
          <p:cNvSpPr>
            <a:spLocks noGrp="1"/>
          </p:cNvSpPr>
          <p:nvPr>
            <p:ph type="ftr" sz="quarter" idx="11"/>
          </p:nvPr>
        </p:nvSpPr>
        <p:spPr/>
        <p:txBody>
          <a:bodyPr/>
          <a:lstStyle/>
          <a:p>
            <a:pPr>
              <a:defRPr/>
            </a:pPr>
            <a:r>
              <a:rPr lang="en-US" dirty="0"/>
              <a:t>Bioelectricity Joel Grodstein</a:t>
            </a:r>
          </a:p>
        </p:txBody>
      </p:sp>
    </p:spTree>
    <p:extLst>
      <p:ext uri="{BB962C8B-B14F-4D97-AF65-F5344CB8AC3E}">
        <p14:creationId xmlns:p14="http://schemas.microsoft.com/office/powerpoint/2010/main" val="22478892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animEffect transition="in" filter="fade">
                                      <p:cBhvr>
                                        <p:cTn id="7" dur="500"/>
                                        <p:tgtEl>
                                          <p:spTgt spid="3">
                                            <p:txEl>
                                              <p:pRg st="3" end="3"/>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4" end="4"/>
                                            </p:txEl>
                                          </p:spTgt>
                                        </p:tgtEl>
                                        <p:attrNameLst>
                                          <p:attrName>style.visibility</p:attrName>
                                        </p:attrNameLst>
                                      </p:cBhvr>
                                      <p:to>
                                        <p:strVal val="visible"/>
                                      </p:to>
                                    </p:set>
                                    <p:animEffect transition="in" filter="fade">
                                      <p:cBhvr>
                                        <p:cTn id="10" dur="500"/>
                                        <p:tgtEl>
                                          <p:spTgt spid="3">
                                            <p:txEl>
                                              <p:pRg st="4" end="4"/>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3">
                                            <p:txEl>
                                              <p:pRg st="5" end="5"/>
                                            </p:txEl>
                                          </p:spTgt>
                                        </p:tgtEl>
                                        <p:attrNameLst>
                                          <p:attrName>style.visibility</p:attrName>
                                        </p:attrNameLst>
                                      </p:cBhvr>
                                      <p:to>
                                        <p:strVal val="visible"/>
                                      </p:to>
                                    </p:set>
                                    <p:animEffect transition="in" filter="fade">
                                      <p:cBhvr>
                                        <p:cTn id="13" dur="500"/>
                                        <p:tgtEl>
                                          <p:spTgt spid="3">
                                            <p:txEl>
                                              <p:pRg st="5" end="5"/>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3">
                                            <p:txEl>
                                              <p:pRg st="6" end="6"/>
                                            </p:txEl>
                                          </p:spTgt>
                                        </p:tgtEl>
                                        <p:attrNameLst>
                                          <p:attrName>style.visibility</p:attrName>
                                        </p:attrNameLst>
                                      </p:cBhvr>
                                      <p:to>
                                        <p:strVal val="visible"/>
                                      </p:to>
                                    </p:set>
                                    <p:animEffect transition="in" filter="fade">
                                      <p:cBhvr>
                                        <p:cTn id="18" dur="500"/>
                                        <p:tgtEl>
                                          <p:spTgt spid="3">
                                            <p:txEl>
                                              <p:pRg st="6" end="6"/>
                                            </p:txEl>
                                          </p:spTgt>
                                        </p:tgtEl>
                                      </p:cBhvr>
                                    </p:animEffect>
                                  </p:childTnLst>
                                </p:cTn>
                              </p:par>
                              <p:par>
                                <p:cTn id="19" presetID="10" presetClass="entr" presetSubtype="0" fill="hold" nodeType="withEffect">
                                  <p:stCondLst>
                                    <p:cond delay="0"/>
                                  </p:stCondLst>
                                  <p:childTnLst>
                                    <p:set>
                                      <p:cBhvr>
                                        <p:cTn id="20" dur="1" fill="hold">
                                          <p:stCondLst>
                                            <p:cond delay="0"/>
                                          </p:stCondLst>
                                        </p:cTn>
                                        <p:tgtEl>
                                          <p:spTgt spid="3">
                                            <p:txEl>
                                              <p:pRg st="7" end="7"/>
                                            </p:txEl>
                                          </p:spTgt>
                                        </p:tgtEl>
                                        <p:attrNameLst>
                                          <p:attrName>style.visibility</p:attrName>
                                        </p:attrNameLst>
                                      </p:cBhvr>
                                      <p:to>
                                        <p:strVal val="visible"/>
                                      </p:to>
                                    </p:set>
                                    <p:animEffect transition="in" filter="fade">
                                      <p:cBhvr>
                                        <p:cTn id="21" dur="500"/>
                                        <p:tgtEl>
                                          <p:spTgt spid="3">
                                            <p:txEl>
                                              <p:pRg st="7" end="7"/>
                                            </p:txEl>
                                          </p:spTgt>
                                        </p:tgtEl>
                                      </p:cBhvr>
                                    </p:animEffect>
                                  </p:childTnLst>
                                </p:cTn>
                              </p:par>
                              <p:par>
                                <p:cTn id="22" presetID="10" presetClass="entr" presetSubtype="0" fill="hold" nodeType="withEffect">
                                  <p:stCondLst>
                                    <p:cond delay="0"/>
                                  </p:stCondLst>
                                  <p:childTnLst>
                                    <p:set>
                                      <p:cBhvr>
                                        <p:cTn id="23" dur="1" fill="hold">
                                          <p:stCondLst>
                                            <p:cond delay="0"/>
                                          </p:stCondLst>
                                        </p:cTn>
                                        <p:tgtEl>
                                          <p:spTgt spid="3">
                                            <p:txEl>
                                              <p:pRg st="8" end="8"/>
                                            </p:txEl>
                                          </p:spTgt>
                                        </p:tgtEl>
                                        <p:attrNameLst>
                                          <p:attrName>style.visibility</p:attrName>
                                        </p:attrNameLst>
                                      </p:cBhvr>
                                      <p:to>
                                        <p:strVal val="visible"/>
                                      </p:to>
                                    </p:set>
                                    <p:animEffect transition="in" filter="fade">
                                      <p:cBhvr>
                                        <p:cTn id="24" dur="500"/>
                                        <p:tgtEl>
                                          <p:spTgt spid="3">
                                            <p:txEl>
                                              <p:pRg st="8" end="8"/>
                                            </p:txEl>
                                          </p:spTgt>
                                        </p:tgtEl>
                                      </p:cBhvr>
                                    </p:animEffect>
                                  </p:childTnLst>
                                </p:cTn>
                              </p:par>
                              <p:par>
                                <p:cTn id="25" presetID="10" presetClass="entr" presetSubtype="0" fill="hold" nodeType="withEffect">
                                  <p:stCondLst>
                                    <p:cond delay="0"/>
                                  </p:stCondLst>
                                  <p:childTnLst>
                                    <p:set>
                                      <p:cBhvr>
                                        <p:cTn id="26" dur="1" fill="hold">
                                          <p:stCondLst>
                                            <p:cond delay="0"/>
                                          </p:stCondLst>
                                        </p:cTn>
                                        <p:tgtEl>
                                          <p:spTgt spid="3">
                                            <p:txEl>
                                              <p:pRg st="9" end="9"/>
                                            </p:txEl>
                                          </p:spTgt>
                                        </p:tgtEl>
                                        <p:attrNameLst>
                                          <p:attrName>style.visibility</p:attrName>
                                        </p:attrNameLst>
                                      </p:cBhvr>
                                      <p:to>
                                        <p:strVal val="visible"/>
                                      </p:to>
                                    </p:set>
                                    <p:animEffect transition="in" filter="fade">
                                      <p:cBhvr>
                                        <p:cTn id="27" dur="500"/>
                                        <p:tgtEl>
                                          <p:spTgt spid="3">
                                            <p:txEl>
                                              <p:pRg st="9" end="9"/>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
                                            <p:txEl>
                                              <p:pRg st="10" end="10"/>
                                            </p:txEl>
                                          </p:spTgt>
                                        </p:tgtEl>
                                        <p:attrNameLst>
                                          <p:attrName>style.visibility</p:attrName>
                                        </p:attrNameLst>
                                      </p:cBhvr>
                                      <p:to>
                                        <p:strVal val="visible"/>
                                      </p:to>
                                    </p:set>
                                    <p:animEffect transition="in" filter="fade">
                                      <p:cBhvr>
                                        <p:cTn id="32" dur="500"/>
                                        <p:tgtEl>
                                          <p:spTgt spid="3">
                                            <p:txEl>
                                              <p:pRg st="10" end="10"/>
                                            </p:txEl>
                                          </p:spTgt>
                                        </p:tgtEl>
                                      </p:cBhvr>
                                    </p:animEffect>
                                  </p:childTnLst>
                                </p:cTn>
                              </p:par>
                              <p:par>
                                <p:cTn id="33" presetID="10" presetClass="entr" presetSubtype="0" fill="hold" nodeType="withEffect">
                                  <p:stCondLst>
                                    <p:cond delay="0"/>
                                  </p:stCondLst>
                                  <p:childTnLst>
                                    <p:set>
                                      <p:cBhvr>
                                        <p:cTn id="34" dur="1" fill="hold">
                                          <p:stCondLst>
                                            <p:cond delay="0"/>
                                          </p:stCondLst>
                                        </p:cTn>
                                        <p:tgtEl>
                                          <p:spTgt spid="3">
                                            <p:txEl>
                                              <p:pRg st="11" end="11"/>
                                            </p:txEl>
                                          </p:spTgt>
                                        </p:tgtEl>
                                        <p:attrNameLst>
                                          <p:attrName>style.visibility</p:attrName>
                                        </p:attrNameLst>
                                      </p:cBhvr>
                                      <p:to>
                                        <p:strVal val="visible"/>
                                      </p:to>
                                    </p:set>
                                    <p:animEffect transition="in" filter="fade">
                                      <p:cBhvr>
                                        <p:cTn id="35" dur="500"/>
                                        <p:tgtEl>
                                          <p:spTgt spid="3">
                                            <p:txEl>
                                              <p:pRg st="11" end="11"/>
                                            </p:txEl>
                                          </p:spTgt>
                                        </p:tgtEl>
                                      </p:cBhvr>
                                    </p:animEffect>
                                  </p:childTnLst>
                                </p:cTn>
                              </p:par>
                              <p:par>
                                <p:cTn id="36" presetID="10" presetClass="entr" presetSubtype="0" fill="hold" nodeType="withEffect">
                                  <p:stCondLst>
                                    <p:cond delay="0"/>
                                  </p:stCondLst>
                                  <p:childTnLst>
                                    <p:set>
                                      <p:cBhvr>
                                        <p:cTn id="37" dur="1" fill="hold">
                                          <p:stCondLst>
                                            <p:cond delay="0"/>
                                          </p:stCondLst>
                                        </p:cTn>
                                        <p:tgtEl>
                                          <p:spTgt spid="3">
                                            <p:txEl>
                                              <p:pRg st="12" end="12"/>
                                            </p:txEl>
                                          </p:spTgt>
                                        </p:tgtEl>
                                        <p:attrNameLst>
                                          <p:attrName>style.visibility</p:attrName>
                                        </p:attrNameLst>
                                      </p:cBhvr>
                                      <p:to>
                                        <p:strVal val="visible"/>
                                      </p:to>
                                    </p:set>
                                    <p:animEffect transition="in" filter="fade">
                                      <p:cBhvr>
                                        <p:cTn id="38" dur="500"/>
                                        <p:tgtEl>
                                          <p:spTgt spid="3">
                                            <p:txEl>
                                              <p:pRg st="12" end="1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9F6458-5B8E-454E-A10C-59ECADDA5B27}"/>
              </a:ext>
            </a:extLst>
          </p:cNvPr>
          <p:cNvSpPr>
            <a:spLocks noGrp="1"/>
          </p:cNvSpPr>
          <p:nvPr>
            <p:ph type="title"/>
          </p:nvPr>
        </p:nvSpPr>
        <p:spPr/>
        <p:txBody>
          <a:bodyPr/>
          <a:lstStyle/>
          <a:p>
            <a:r>
              <a:rPr lang="en-US" dirty="0"/>
              <a:t>Gap junctions and neurons</a:t>
            </a:r>
          </a:p>
        </p:txBody>
      </p:sp>
      <p:sp>
        <p:nvSpPr>
          <p:cNvPr id="3" name="Content Placeholder 2">
            <a:extLst>
              <a:ext uri="{FF2B5EF4-FFF2-40B4-BE49-F238E27FC236}">
                <a16:creationId xmlns:a16="http://schemas.microsoft.com/office/drawing/2014/main" id="{FB55C2EC-CE3A-4F1C-A994-B3458754EE6C}"/>
              </a:ext>
            </a:extLst>
          </p:cNvPr>
          <p:cNvSpPr>
            <a:spLocks noGrp="1"/>
          </p:cNvSpPr>
          <p:nvPr>
            <p:ph idx="1"/>
          </p:nvPr>
        </p:nvSpPr>
        <p:spPr>
          <a:xfrm>
            <a:off x="440264" y="1371600"/>
            <a:ext cx="7806267" cy="1303868"/>
          </a:xfrm>
        </p:spPr>
        <p:txBody>
          <a:bodyPr/>
          <a:lstStyle/>
          <a:p>
            <a:r>
              <a:rPr lang="en-US" sz="2400" dirty="0"/>
              <a:t>Morphogenesis is a marvel of distributed computing</a:t>
            </a:r>
          </a:p>
          <a:p>
            <a:pPr lvl="1">
              <a:spcBef>
                <a:spcPts val="0"/>
              </a:spcBef>
            </a:pPr>
            <a:r>
              <a:rPr lang="en-US" sz="2000" dirty="0"/>
              <a:t>Clearly that implies cells must talk to each other!</a:t>
            </a:r>
          </a:p>
          <a:p>
            <a:endParaRPr lang="en-US" dirty="0"/>
          </a:p>
        </p:txBody>
      </p:sp>
      <p:sp>
        <p:nvSpPr>
          <p:cNvPr id="4" name="Footer Placeholder 3">
            <a:extLst>
              <a:ext uri="{FF2B5EF4-FFF2-40B4-BE49-F238E27FC236}">
                <a16:creationId xmlns:a16="http://schemas.microsoft.com/office/drawing/2014/main" id="{C2F45B84-BA02-4CDD-82E4-322C89F03D92}"/>
              </a:ext>
            </a:extLst>
          </p:cNvPr>
          <p:cNvSpPr>
            <a:spLocks noGrp="1"/>
          </p:cNvSpPr>
          <p:nvPr>
            <p:ph type="ftr" sz="quarter" idx="11"/>
          </p:nvPr>
        </p:nvSpPr>
        <p:spPr/>
        <p:txBody>
          <a:bodyPr/>
          <a:lstStyle/>
          <a:p>
            <a:pPr>
              <a:defRPr/>
            </a:pPr>
            <a:r>
              <a:rPr lang="en-US" dirty="0"/>
              <a:t>Bioelectricity Joel Grodstein</a:t>
            </a:r>
          </a:p>
        </p:txBody>
      </p:sp>
      <p:pic>
        <p:nvPicPr>
          <p:cNvPr id="8" name="Picture 7">
            <a:extLst>
              <a:ext uri="{FF2B5EF4-FFF2-40B4-BE49-F238E27FC236}">
                <a16:creationId xmlns:a16="http://schemas.microsoft.com/office/drawing/2014/main" id="{D1E49F48-3E02-4558-810E-75369989681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930391" y="3292855"/>
            <a:ext cx="3018875" cy="2614477"/>
          </a:xfrm>
          <a:prstGeom prst="rect">
            <a:avLst/>
          </a:prstGeom>
        </p:spPr>
      </p:pic>
      <p:sp>
        <p:nvSpPr>
          <p:cNvPr id="9" name="Content Placeholder 2">
            <a:extLst>
              <a:ext uri="{FF2B5EF4-FFF2-40B4-BE49-F238E27FC236}">
                <a16:creationId xmlns:a16="http://schemas.microsoft.com/office/drawing/2014/main" id="{BA9E267B-DE17-406D-91B8-0F571BC31503}"/>
              </a:ext>
            </a:extLst>
          </p:cNvPr>
          <p:cNvSpPr txBox="1">
            <a:spLocks/>
          </p:cNvSpPr>
          <p:nvPr/>
        </p:nvSpPr>
        <p:spPr bwMode="auto">
          <a:xfrm>
            <a:off x="431797" y="2185252"/>
            <a:ext cx="5342467" cy="39954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har char="•"/>
              <a:defRPr sz="28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r>
              <a:rPr lang="en-US" sz="2400" kern="0" dirty="0"/>
              <a:t>How?</a:t>
            </a:r>
          </a:p>
          <a:p>
            <a:pPr lvl="1">
              <a:spcBef>
                <a:spcPts val="0"/>
              </a:spcBef>
            </a:pPr>
            <a:r>
              <a:rPr lang="en-US" sz="2000" kern="0" dirty="0"/>
              <a:t>Via neurons &amp; the brain</a:t>
            </a:r>
          </a:p>
          <a:p>
            <a:pPr lvl="1">
              <a:spcBef>
                <a:spcPts val="0"/>
              </a:spcBef>
            </a:pPr>
            <a:r>
              <a:rPr lang="en-US" sz="2000" kern="0" dirty="0"/>
              <a:t>Via gap junctions (GJs), like the heart</a:t>
            </a:r>
          </a:p>
          <a:p>
            <a:r>
              <a:rPr lang="en-US" sz="2400" kern="0" dirty="0"/>
              <a:t>GJ: a little tube that connects two nearby cells</a:t>
            </a:r>
          </a:p>
          <a:p>
            <a:pPr lvl="1">
              <a:spcBef>
                <a:spcPts val="0"/>
              </a:spcBef>
            </a:pPr>
            <a:r>
              <a:rPr lang="en-US" sz="2000" kern="0" dirty="0"/>
              <a:t>Molecules can travel between the two cells</a:t>
            </a:r>
          </a:p>
          <a:p>
            <a:pPr lvl="1">
              <a:spcBef>
                <a:spcPts val="0"/>
              </a:spcBef>
            </a:pPr>
            <a:r>
              <a:rPr lang="en-US" sz="2000" kern="0" dirty="0"/>
              <a:t>Think wires between gates</a:t>
            </a:r>
          </a:p>
          <a:p>
            <a:pPr lvl="1">
              <a:spcBef>
                <a:spcPts val="0"/>
              </a:spcBef>
            </a:pPr>
            <a:r>
              <a:rPr lang="en-US" sz="2000" kern="0" dirty="0"/>
              <a:t>If a GJ connects two cells with different </a:t>
            </a:r>
            <a:r>
              <a:rPr lang="en-US" sz="2000" kern="0" dirty="0" err="1"/>
              <a:t>V</a:t>
            </a:r>
            <a:r>
              <a:rPr lang="en-US" sz="2000" kern="0" baseline="-25000" dirty="0" err="1"/>
              <a:t>mem</a:t>
            </a:r>
            <a:r>
              <a:rPr lang="en-US" sz="2000" kern="0" dirty="0"/>
              <a:t>, then negative ions move towards the + cell</a:t>
            </a:r>
          </a:p>
          <a:p>
            <a:endParaRPr lang="en-US" kern="0" dirty="0"/>
          </a:p>
        </p:txBody>
      </p:sp>
      <p:sp>
        <p:nvSpPr>
          <p:cNvPr id="10" name="TextBox 9">
            <a:extLst>
              <a:ext uri="{FF2B5EF4-FFF2-40B4-BE49-F238E27FC236}">
                <a16:creationId xmlns:a16="http://schemas.microsoft.com/office/drawing/2014/main" id="{A19F7928-238E-4171-B0BA-44890CD6CB82}"/>
              </a:ext>
            </a:extLst>
          </p:cNvPr>
          <p:cNvSpPr txBox="1"/>
          <p:nvPr/>
        </p:nvSpPr>
        <p:spPr>
          <a:xfrm>
            <a:off x="5935133" y="3378198"/>
            <a:ext cx="948267" cy="369332"/>
          </a:xfrm>
          <a:prstGeom prst="rect">
            <a:avLst/>
          </a:prstGeom>
          <a:noFill/>
        </p:spPr>
        <p:txBody>
          <a:bodyPr wrap="square" rtlCol="0">
            <a:spAutoFit/>
          </a:bodyPr>
          <a:lstStyle/>
          <a:p>
            <a:r>
              <a:rPr lang="en-US" sz="1800" dirty="0"/>
              <a:t>+10mV</a:t>
            </a:r>
          </a:p>
        </p:txBody>
      </p:sp>
      <p:sp>
        <p:nvSpPr>
          <p:cNvPr id="11" name="TextBox 10">
            <a:extLst>
              <a:ext uri="{FF2B5EF4-FFF2-40B4-BE49-F238E27FC236}">
                <a16:creationId xmlns:a16="http://schemas.microsoft.com/office/drawing/2014/main" id="{2C991C07-3F0F-4915-9034-1ABBA8B0F3E5}"/>
              </a:ext>
            </a:extLst>
          </p:cNvPr>
          <p:cNvSpPr txBox="1"/>
          <p:nvPr/>
        </p:nvSpPr>
        <p:spPr>
          <a:xfrm>
            <a:off x="5909733" y="5367865"/>
            <a:ext cx="948267" cy="369332"/>
          </a:xfrm>
          <a:prstGeom prst="rect">
            <a:avLst/>
          </a:prstGeom>
          <a:noFill/>
        </p:spPr>
        <p:txBody>
          <a:bodyPr wrap="square" rtlCol="0">
            <a:spAutoFit/>
          </a:bodyPr>
          <a:lstStyle/>
          <a:p>
            <a:r>
              <a:rPr lang="en-US" sz="1800" dirty="0"/>
              <a:t>-20mV</a:t>
            </a:r>
          </a:p>
        </p:txBody>
      </p:sp>
      <p:sp>
        <p:nvSpPr>
          <p:cNvPr id="12" name="TextBox 11">
            <a:extLst>
              <a:ext uri="{FF2B5EF4-FFF2-40B4-BE49-F238E27FC236}">
                <a16:creationId xmlns:a16="http://schemas.microsoft.com/office/drawing/2014/main" id="{4A4B954B-17D1-4CF5-B230-4D58748E6180}"/>
              </a:ext>
            </a:extLst>
          </p:cNvPr>
          <p:cNvSpPr txBox="1"/>
          <p:nvPr/>
        </p:nvSpPr>
        <p:spPr>
          <a:xfrm>
            <a:off x="7950201" y="3547531"/>
            <a:ext cx="558800" cy="369332"/>
          </a:xfrm>
          <a:prstGeom prst="rect">
            <a:avLst/>
          </a:prstGeom>
          <a:noFill/>
        </p:spPr>
        <p:txBody>
          <a:bodyPr wrap="square" rtlCol="0">
            <a:spAutoFit/>
          </a:bodyPr>
          <a:lstStyle/>
          <a:p>
            <a:r>
              <a:rPr lang="en-US" sz="1800" dirty="0"/>
              <a:t>Cl</a:t>
            </a:r>
            <a:r>
              <a:rPr lang="en-US" sz="1800" baseline="30000" dirty="0"/>
              <a:t>-</a:t>
            </a:r>
          </a:p>
        </p:txBody>
      </p:sp>
      <p:sp>
        <p:nvSpPr>
          <p:cNvPr id="13" name="TextBox 12">
            <a:extLst>
              <a:ext uri="{FF2B5EF4-FFF2-40B4-BE49-F238E27FC236}">
                <a16:creationId xmlns:a16="http://schemas.microsoft.com/office/drawing/2014/main" id="{6121DC34-1202-4754-9FA4-A362C320F63A}"/>
              </a:ext>
            </a:extLst>
          </p:cNvPr>
          <p:cNvSpPr txBox="1"/>
          <p:nvPr/>
        </p:nvSpPr>
        <p:spPr>
          <a:xfrm>
            <a:off x="7162801" y="5359398"/>
            <a:ext cx="558800" cy="369332"/>
          </a:xfrm>
          <a:prstGeom prst="rect">
            <a:avLst/>
          </a:prstGeom>
          <a:noFill/>
        </p:spPr>
        <p:txBody>
          <a:bodyPr wrap="square" rtlCol="0">
            <a:spAutoFit/>
          </a:bodyPr>
          <a:lstStyle/>
          <a:p>
            <a:r>
              <a:rPr lang="en-US" sz="1800" dirty="0"/>
              <a:t>Na</a:t>
            </a:r>
            <a:r>
              <a:rPr lang="en-US" sz="1800" baseline="30000" dirty="0"/>
              <a:t>+</a:t>
            </a:r>
          </a:p>
        </p:txBody>
      </p:sp>
      <p:sp>
        <p:nvSpPr>
          <p:cNvPr id="14" name="TextBox 13">
            <a:extLst>
              <a:ext uri="{FF2B5EF4-FFF2-40B4-BE49-F238E27FC236}">
                <a16:creationId xmlns:a16="http://schemas.microsoft.com/office/drawing/2014/main" id="{0B21C906-2CF1-4D24-9385-B53CEC9DB15F}"/>
              </a:ext>
            </a:extLst>
          </p:cNvPr>
          <p:cNvSpPr txBox="1"/>
          <p:nvPr/>
        </p:nvSpPr>
        <p:spPr>
          <a:xfrm>
            <a:off x="7112001" y="3530599"/>
            <a:ext cx="558800" cy="369332"/>
          </a:xfrm>
          <a:prstGeom prst="rect">
            <a:avLst/>
          </a:prstGeom>
          <a:noFill/>
        </p:spPr>
        <p:txBody>
          <a:bodyPr wrap="square" rtlCol="0">
            <a:spAutoFit/>
          </a:bodyPr>
          <a:lstStyle/>
          <a:p>
            <a:r>
              <a:rPr lang="en-US" sz="1800" dirty="0"/>
              <a:t>Na</a:t>
            </a:r>
            <a:r>
              <a:rPr lang="en-US" sz="1800" baseline="30000" dirty="0"/>
              <a:t>+</a:t>
            </a:r>
          </a:p>
        </p:txBody>
      </p:sp>
      <p:sp>
        <p:nvSpPr>
          <p:cNvPr id="15" name="TextBox 14">
            <a:extLst>
              <a:ext uri="{FF2B5EF4-FFF2-40B4-BE49-F238E27FC236}">
                <a16:creationId xmlns:a16="http://schemas.microsoft.com/office/drawing/2014/main" id="{C64956FD-40B7-42B8-BEEF-D8C9295BBED1}"/>
              </a:ext>
            </a:extLst>
          </p:cNvPr>
          <p:cNvSpPr txBox="1"/>
          <p:nvPr/>
        </p:nvSpPr>
        <p:spPr>
          <a:xfrm>
            <a:off x="8102601" y="5367867"/>
            <a:ext cx="558800" cy="369332"/>
          </a:xfrm>
          <a:prstGeom prst="rect">
            <a:avLst/>
          </a:prstGeom>
          <a:noFill/>
        </p:spPr>
        <p:txBody>
          <a:bodyPr wrap="square" rtlCol="0">
            <a:spAutoFit/>
          </a:bodyPr>
          <a:lstStyle/>
          <a:p>
            <a:r>
              <a:rPr lang="en-US" sz="1800" dirty="0"/>
              <a:t>Cl</a:t>
            </a:r>
            <a:r>
              <a:rPr lang="en-US" sz="1800" baseline="30000" dirty="0"/>
              <a:t>-</a:t>
            </a:r>
          </a:p>
        </p:txBody>
      </p:sp>
      <p:sp>
        <p:nvSpPr>
          <p:cNvPr id="5" name="TextBox 4">
            <a:extLst>
              <a:ext uri="{FF2B5EF4-FFF2-40B4-BE49-F238E27FC236}">
                <a16:creationId xmlns:a16="http://schemas.microsoft.com/office/drawing/2014/main" id="{F451911E-36D9-DC8C-8222-9A53E632ACA1}"/>
              </a:ext>
            </a:extLst>
          </p:cNvPr>
          <p:cNvSpPr txBox="1"/>
          <p:nvPr/>
        </p:nvSpPr>
        <p:spPr>
          <a:xfrm rot="20456846">
            <a:off x="6756400" y="3007360"/>
            <a:ext cx="1490131" cy="461665"/>
          </a:xfrm>
          <a:prstGeom prst="rect">
            <a:avLst/>
          </a:prstGeom>
          <a:noFill/>
        </p:spPr>
        <p:txBody>
          <a:bodyPr wrap="square" rtlCol="0">
            <a:spAutoFit/>
          </a:bodyPr>
          <a:lstStyle/>
          <a:p>
            <a:r>
              <a:rPr lang="en-US" dirty="0"/>
              <a:t>REVIEW</a:t>
            </a:r>
          </a:p>
        </p:txBody>
      </p:sp>
    </p:spTree>
    <p:extLst>
      <p:ext uri="{BB962C8B-B14F-4D97-AF65-F5344CB8AC3E}">
        <p14:creationId xmlns:p14="http://schemas.microsoft.com/office/powerpoint/2010/main" val="5250719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animEffect transition="in" filter="fade">
                                      <p:cBhvr>
                                        <p:cTn id="7" dur="500"/>
                                        <p:tgtEl>
                                          <p:spTgt spid="9">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9">
                                            <p:txEl>
                                              <p:pRg st="1" end="1"/>
                                            </p:txEl>
                                          </p:spTgt>
                                        </p:tgtEl>
                                        <p:attrNameLst>
                                          <p:attrName>style.visibility</p:attrName>
                                        </p:attrNameLst>
                                      </p:cBhvr>
                                      <p:to>
                                        <p:strVal val="visible"/>
                                      </p:to>
                                    </p:set>
                                    <p:animEffect transition="in" filter="fade">
                                      <p:cBhvr>
                                        <p:cTn id="10" dur="500"/>
                                        <p:tgtEl>
                                          <p:spTgt spid="9">
                                            <p:txEl>
                                              <p:pRg st="1" end="1"/>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9">
                                            <p:txEl>
                                              <p:pRg st="2" end="2"/>
                                            </p:txEl>
                                          </p:spTgt>
                                        </p:tgtEl>
                                        <p:attrNameLst>
                                          <p:attrName>style.visibility</p:attrName>
                                        </p:attrNameLst>
                                      </p:cBhvr>
                                      <p:to>
                                        <p:strVal val="visible"/>
                                      </p:to>
                                    </p:set>
                                    <p:animEffect transition="in" filter="fade">
                                      <p:cBhvr>
                                        <p:cTn id="13" dur="500"/>
                                        <p:tgtEl>
                                          <p:spTgt spid="9">
                                            <p:txEl>
                                              <p:pRg st="2" end="2"/>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9">
                                            <p:txEl>
                                              <p:pRg st="3" end="3"/>
                                            </p:txEl>
                                          </p:spTgt>
                                        </p:tgtEl>
                                        <p:attrNameLst>
                                          <p:attrName>style.visibility</p:attrName>
                                        </p:attrNameLst>
                                      </p:cBhvr>
                                      <p:to>
                                        <p:strVal val="visible"/>
                                      </p:to>
                                    </p:set>
                                    <p:animEffect transition="in" filter="fade">
                                      <p:cBhvr>
                                        <p:cTn id="18" dur="500"/>
                                        <p:tgtEl>
                                          <p:spTgt spid="9">
                                            <p:txEl>
                                              <p:pRg st="3" end="3"/>
                                            </p:txEl>
                                          </p:spTgt>
                                        </p:tgtEl>
                                      </p:cBhvr>
                                    </p:animEffect>
                                  </p:childTnLst>
                                </p:cTn>
                              </p:par>
                              <p:par>
                                <p:cTn id="19" presetID="10" presetClass="entr" presetSubtype="0" fill="hold" nodeType="withEffect">
                                  <p:stCondLst>
                                    <p:cond delay="0"/>
                                  </p:stCondLst>
                                  <p:childTnLst>
                                    <p:set>
                                      <p:cBhvr>
                                        <p:cTn id="20" dur="1" fill="hold">
                                          <p:stCondLst>
                                            <p:cond delay="0"/>
                                          </p:stCondLst>
                                        </p:cTn>
                                        <p:tgtEl>
                                          <p:spTgt spid="9">
                                            <p:txEl>
                                              <p:pRg st="4" end="4"/>
                                            </p:txEl>
                                          </p:spTgt>
                                        </p:tgtEl>
                                        <p:attrNameLst>
                                          <p:attrName>style.visibility</p:attrName>
                                        </p:attrNameLst>
                                      </p:cBhvr>
                                      <p:to>
                                        <p:strVal val="visible"/>
                                      </p:to>
                                    </p:set>
                                    <p:animEffect transition="in" filter="fade">
                                      <p:cBhvr>
                                        <p:cTn id="21" dur="500"/>
                                        <p:tgtEl>
                                          <p:spTgt spid="9">
                                            <p:txEl>
                                              <p:pRg st="4" end="4"/>
                                            </p:txEl>
                                          </p:spTgt>
                                        </p:tgtEl>
                                      </p:cBhvr>
                                    </p:animEffect>
                                  </p:childTnLst>
                                </p:cTn>
                              </p:par>
                              <p:par>
                                <p:cTn id="22" presetID="10" presetClass="entr" presetSubtype="0" fill="hold" nodeType="withEffect">
                                  <p:stCondLst>
                                    <p:cond delay="0"/>
                                  </p:stCondLst>
                                  <p:childTnLst>
                                    <p:set>
                                      <p:cBhvr>
                                        <p:cTn id="23" dur="1" fill="hold">
                                          <p:stCondLst>
                                            <p:cond delay="0"/>
                                          </p:stCondLst>
                                        </p:cTn>
                                        <p:tgtEl>
                                          <p:spTgt spid="9">
                                            <p:txEl>
                                              <p:pRg st="5" end="5"/>
                                            </p:txEl>
                                          </p:spTgt>
                                        </p:tgtEl>
                                        <p:attrNameLst>
                                          <p:attrName>style.visibility</p:attrName>
                                        </p:attrNameLst>
                                      </p:cBhvr>
                                      <p:to>
                                        <p:strVal val="visible"/>
                                      </p:to>
                                    </p:set>
                                    <p:animEffect transition="in" filter="fade">
                                      <p:cBhvr>
                                        <p:cTn id="24" dur="500"/>
                                        <p:tgtEl>
                                          <p:spTgt spid="9">
                                            <p:txEl>
                                              <p:pRg st="5" end="5"/>
                                            </p:txEl>
                                          </p:spTgt>
                                        </p:tgtEl>
                                      </p:cBhvr>
                                    </p:animEffect>
                                  </p:childTnLst>
                                </p:cTn>
                              </p:par>
                              <p:par>
                                <p:cTn id="25" presetID="10" presetClass="entr" presetSubtype="0" fill="hold" nodeType="withEffect">
                                  <p:stCondLst>
                                    <p:cond delay="0"/>
                                  </p:stCondLst>
                                  <p:childTnLst>
                                    <p:set>
                                      <p:cBhvr>
                                        <p:cTn id="26" dur="1" fill="hold">
                                          <p:stCondLst>
                                            <p:cond delay="0"/>
                                          </p:stCondLst>
                                        </p:cTn>
                                        <p:tgtEl>
                                          <p:spTgt spid="9">
                                            <p:txEl>
                                              <p:pRg st="6" end="6"/>
                                            </p:txEl>
                                          </p:spTgt>
                                        </p:tgtEl>
                                        <p:attrNameLst>
                                          <p:attrName>style.visibility</p:attrName>
                                        </p:attrNameLst>
                                      </p:cBhvr>
                                      <p:to>
                                        <p:strVal val="visible"/>
                                      </p:to>
                                    </p:set>
                                    <p:animEffect transition="in" filter="fade">
                                      <p:cBhvr>
                                        <p:cTn id="27" dur="500"/>
                                        <p:tgtEl>
                                          <p:spTgt spid="9">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58F2A59-74B4-4546-B1FA-4E0E870BA685}"/>
              </a:ext>
            </a:extLst>
          </p:cNvPr>
          <p:cNvSpPr>
            <a:spLocks noGrp="1"/>
          </p:cNvSpPr>
          <p:nvPr>
            <p:ph idx="1"/>
          </p:nvPr>
        </p:nvSpPr>
        <p:spPr>
          <a:xfrm>
            <a:off x="3556650" y="812800"/>
            <a:ext cx="5468811" cy="563824"/>
          </a:xfrm>
        </p:spPr>
        <p:txBody>
          <a:bodyPr/>
          <a:lstStyle/>
          <a:p>
            <a:r>
              <a:rPr lang="en-US" sz="2400" dirty="0"/>
              <a:t>We’ve talked about GJ being a resistor</a:t>
            </a:r>
            <a:endParaRPr lang="en-US" sz="2000" dirty="0"/>
          </a:p>
        </p:txBody>
      </p:sp>
      <p:sp>
        <p:nvSpPr>
          <p:cNvPr id="4" name="Footer Placeholder 3">
            <a:extLst>
              <a:ext uri="{FF2B5EF4-FFF2-40B4-BE49-F238E27FC236}">
                <a16:creationId xmlns:a16="http://schemas.microsoft.com/office/drawing/2014/main" id="{B88E0F01-829A-49B4-B914-BDE1FF1DFF72}"/>
              </a:ext>
            </a:extLst>
          </p:cNvPr>
          <p:cNvSpPr>
            <a:spLocks noGrp="1"/>
          </p:cNvSpPr>
          <p:nvPr>
            <p:ph type="ftr" sz="quarter" idx="11"/>
          </p:nvPr>
        </p:nvSpPr>
        <p:spPr/>
        <p:txBody>
          <a:bodyPr/>
          <a:lstStyle/>
          <a:p>
            <a:pPr>
              <a:defRPr/>
            </a:pPr>
            <a:r>
              <a:rPr lang="en-US" dirty="0"/>
              <a:t>Bioelectricity Joel Grodstein</a:t>
            </a:r>
          </a:p>
        </p:txBody>
      </p:sp>
      <p:grpSp>
        <p:nvGrpSpPr>
          <p:cNvPr id="58" name="Group 57">
            <a:extLst>
              <a:ext uri="{FF2B5EF4-FFF2-40B4-BE49-F238E27FC236}">
                <a16:creationId xmlns:a16="http://schemas.microsoft.com/office/drawing/2014/main" id="{DC839FA5-81EC-AC03-7545-1D93DCD519A2}"/>
              </a:ext>
            </a:extLst>
          </p:cNvPr>
          <p:cNvGrpSpPr/>
          <p:nvPr/>
        </p:nvGrpSpPr>
        <p:grpSpPr>
          <a:xfrm>
            <a:off x="3149600" y="1283674"/>
            <a:ext cx="5284898" cy="2275225"/>
            <a:chOff x="3149600" y="1283674"/>
            <a:chExt cx="5284898" cy="2275225"/>
          </a:xfrm>
        </p:grpSpPr>
        <p:cxnSp>
          <p:nvCxnSpPr>
            <p:cNvPr id="7" name="Straight Connector 6">
              <a:extLst>
                <a:ext uri="{FF2B5EF4-FFF2-40B4-BE49-F238E27FC236}">
                  <a16:creationId xmlns:a16="http://schemas.microsoft.com/office/drawing/2014/main" id="{316BC48E-0BBB-B0A7-5B9F-9C2BFA61AB64}"/>
                </a:ext>
              </a:extLst>
            </p:cNvPr>
            <p:cNvCxnSpPr>
              <a:cxnSpLocks/>
            </p:cNvCxnSpPr>
            <p:nvPr/>
          </p:nvCxnSpPr>
          <p:spPr>
            <a:xfrm>
              <a:off x="3149600" y="3168354"/>
              <a:ext cx="5151120" cy="0"/>
            </a:xfrm>
            <a:prstGeom prst="line">
              <a:avLst/>
            </a:prstGeom>
            <a:ln w="285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C79765DB-8B0E-FD1C-DA56-169F8FF64D56}"/>
                </a:ext>
              </a:extLst>
            </p:cNvPr>
            <p:cNvCxnSpPr>
              <a:cxnSpLocks/>
            </p:cNvCxnSpPr>
            <p:nvPr/>
          </p:nvCxnSpPr>
          <p:spPr>
            <a:xfrm>
              <a:off x="5572760" y="1283674"/>
              <a:ext cx="0" cy="1884680"/>
            </a:xfrm>
            <a:prstGeom prst="line">
              <a:avLst/>
            </a:prstGeom>
            <a:ln w="285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8" name="TextBox 17">
              <a:extLst>
                <a:ext uri="{FF2B5EF4-FFF2-40B4-BE49-F238E27FC236}">
                  <a16:creationId xmlns:a16="http://schemas.microsoft.com/office/drawing/2014/main" id="{82B82E42-203C-0799-B334-BCFE20FE5961}"/>
                </a:ext>
              </a:extLst>
            </p:cNvPr>
            <p:cNvSpPr txBox="1"/>
            <p:nvPr/>
          </p:nvSpPr>
          <p:spPr>
            <a:xfrm>
              <a:off x="7330439" y="3097234"/>
              <a:ext cx="1104059" cy="461665"/>
            </a:xfrm>
            <a:prstGeom prst="rect">
              <a:avLst/>
            </a:prstGeom>
            <a:noFill/>
          </p:spPr>
          <p:txBody>
            <a:bodyPr wrap="square" rtlCol="0">
              <a:spAutoFit/>
            </a:bodyPr>
            <a:lstStyle/>
            <a:p>
              <a:r>
                <a:rPr lang="el-GR" dirty="0">
                  <a:cs typeface="Times New Roman" panose="02020603050405020304" pitchFamily="18" charset="0"/>
                </a:rPr>
                <a:t>Δ</a:t>
              </a:r>
              <a:r>
                <a:rPr lang="en-US" i="1" dirty="0" err="1">
                  <a:cs typeface="Times New Roman" panose="02020603050405020304" pitchFamily="18" charset="0"/>
                </a:rPr>
                <a:t>V</a:t>
              </a:r>
              <a:r>
                <a:rPr lang="en-US" baseline="-25000" dirty="0" err="1">
                  <a:cs typeface="Times New Roman" panose="02020603050405020304" pitchFamily="18" charset="0"/>
                </a:rPr>
                <a:t>mem</a:t>
              </a:r>
              <a:endParaRPr lang="en-US" dirty="0"/>
            </a:p>
          </p:txBody>
        </p:sp>
      </p:grpSp>
      <p:pic>
        <p:nvPicPr>
          <p:cNvPr id="2" name="Picture 1">
            <a:extLst>
              <a:ext uri="{FF2B5EF4-FFF2-40B4-BE49-F238E27FC236}">
                <a16:creationId xmlns:a16="http://schemas.microsoft.com/office/drawing/2014/main" id="{8BB67B9D-D742-A224-8C7D-845F5DAE6CF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32975" y="512348"/>
            <a:ext cx="3018875" cy="2614477"/>
          </a:xfrm>
          <a:prstGeom prst="rect">
            <a:avLst/>
          </a:prstGeom>
        </p:spPr>
      </p:pic>
      <p:sp>
        <p:nvSpPr>
          <p:cNvPr id="14" name="TextBox 13">
            <a:extLst>
              <a:ext uri="{FF2B5EF4-FFF2-40B4-BE49-F238E27FC236}">
                <a16:creationId xmlns:a16="http://schemas.microsoft.com/office/drawing/2014/main" id="{BBC752B0-90DE-F6E2-F8DB-F2E61AD3ED19}"/>
              </a:ext>
            </a:extLst>
          </p:cNvPr>
          <p:cNvSpPr txBox="1"/>
          <p:nvPr/>
        </p:nvSpPr>
        <p:spPr>
          <a:xfrm>
            <a:off x="237717" y="597691"/>
            <a:ext cx="948267" cy="369332"/>
          </a:xfrm>
          <a:prstGeom prst="rect">
            <a:avLst/>
          </a:prstGeom>
          <a:noFill/>
        </p:spPr>
        <p:txBody>
          <a:bodyPr wrap="square" rtlCol="0">
            <a:spAutoFit/>
          </a:bodyPr>
          <a:lstStyle/>
          <a:p>
            <a:r>
              <a:rPr lang="en-US" sz="1800" dirty="0"/>
              <a:t>+10mV</a:t>
            </a:r>
          </a:p>
        </p:txBody>
      </p:sp>
      <p:sp>
        <p:nvSpPr>
          <p:cNvPr id="19" name="TextBox 18">
            <a:extLst>
              <a:ext uri="{FF2B5EF4-FFF2-40B4-BE49-F238E27FC236}">
                <a16:creationId xmlns:a16="http://schemas.microsoft.com/office/drawing/2014/main" id="{B9B9CCF7-A347-8756-A0F0-5315AB9D447E}"/>
              </a:ext>
            </a:extLst>
          </p:cNvPr>
          <p:cNvSpPr txBox="1"/>
          <p:nvPr/>
        </p:nvSpPr>
        <p:spPr>
          <a:xfrm>
            <a:off x="212317" y="2587358"/>
            <a:ext cx="948267" cy="369332"/>
          </a:xfrm>
          <a:prstGeom prst="rect">
            <a:avLst/>
          </a:prstGeom>
          <a:noFill/>
        </p:spPr>
        <p:txBody>
          <a:bodyPr wrap="square" rtlCol="0">
            <a:spAutoFit/>
          </a:bodyPr>
          <a:lstStyle/>
          <a:p>
            <a:r>
              <a:rPr lang="en-US" sz="1800" dirty="0"/>
              <a:t>-20mV</a:t>
            </a:r>
          </a:p>
        </p:txBody>
      </p:sp>
      <p:sp>
        <p:nvSpPr>
          <p:cNvPr id="20" name="TextBox 19">
            <a:extLst>
              <a:ext uri="{FF2B5EF4-FFF2-40B4-BE49-F238E27FC236}">
                <a16:creationId xmlns:a16="http://schemas.microsoft.com/office/drawing/2014/main" id="{2265D65E-26B8-3729-D8DF-B1E4B6E48C10}"/>
              </a:ext>
            </a:extLst>
          </p:cNvPr>
          <p:cNvSpPr txBox="1"/>
          <p:nvPr/>
        </p:nvSpPr>
        <p:spPr>
          <a:xfrm>
            <a:off x="2252785" y="767024"/>
            <a:ext cx="558800" cy="369332"/>
          </a:xfrm>
          <a:prstGeom prst="rect">
            <a:avLst/>
          </a:prstGeom>
          <a:noFill/>
        </p:spPr>
        <p:txBody>
          <a:bodyPr wrap="square" rtlCol="0">
            <a:spAutoFit/>
          </a:bodyPr>
          <a:lstStyle/>
          <a:p>
            <a:r>
              <a:rPr lang="en-US" sz="1800" dirty="0"/>
              <a:t>Cl</a:t>
            </a:r>
            <a:r>
              <a:rPr lang="en-US" sz="1800" baseline="30000" dirty="0"/>
              <a:t>-</a:t>
            </a:r>
          </a:p>
        </p:txBody>
      </p:sp>
      <p:sp>
        <p:nvSpPr>
          <p:cNvPr id="27" name="TextBox 26">
            <a:extLst>
              <a:ext uri="{FF2B5EF4-FFF2-40B4-BE49-F238E27FC236}">
                <a16:creationId xmlns:a16="http://schemas.microsoft.com/office/drawing/2014/main" id="{8DE3309F-7060-8835-5A82-40D2343B5114}"/>
              </a:ext>
            </a:extLst>
          </p:cNvPr>
          <p:cNvSpPr txBox="1"/>
          <p:nvPr/>
        </p:nvSpPr>
        <p:spPr>
          <a:xfrm>
            <a:off x="1465385" y="2578891"/>
            <a:ext cx="558800" cy="369332"/>
          </a:xfrm>
          <a:prstGeom prst="rect">
            <a:avLst/>
          </a:prstGeom>
          <a:noFill/>
        </p:spPr>
        <p:txBody>
          <a:bodyPr wrap="square" rtlCol="0">
            <a:spAutoFit/>
          </a:bodyPr>
          <a:lstStyle/>
          <a:p>
            <a:r>
              <a:rPr lang="en-US" sz="1800" dirty="0"/>
              <a:t>Na</a:t>
            </a:r>
            <a:r>
              <a:rPr lang="en-US" sz="1800" baseline="30000" dirty="0"/>
              <a:t>+</a:t>
            </a:r>
          </a:p>
        </p:txBody>
      </p:sp>
      <p:sp>
        <p:nvSpPr>
          <p:cNvPr id="28" name="TextBox 27">
            <a:extLst>
              <a:ext uri="{FF2B5EF4-FFF2-40B4-BE49-F238E27FC236}">
                <a16:creationId xmlns:a16="http://schemas.microsoft.com/office/drawing/2014/main" id="{1E3F11A6-4752-892E-66BF-A6D6F7B9458C}"/>
              </a:ext>
            </a:extLst>
          </p:cNvPr>
          <p:cNvSpPr txBox="1"/>
          <p:nvPr/>
        </p:nvSpPr>
        <p:spPr>
          <a:xfrm>
            <a:off x="1414585" y="750092"/>
            <a:ext cx="558800" cy="369332"/>
          </a:xfrm>
          <a:prstGeom prst="rect">
            <a:avLst/>
          </a:prstGeom>
          <a:noFill/>
        </p:spPr>
        <p:txBody>
          <a:bodyPr wrap="square" rtlCol="0">
            <a:spAutoFit/>
          </a:bodyPr>
          <a:lstStyle/>
          <a:p>
            <a:r>
              <a:rPr lang="en-US" sz="1800" dirty="0"/>
              <a:t>Na</a:t>
            </a:r>
            <a:r>
              <a:rPr lang="en-US" sz="1800" baseline="30000" dirty="0"/>
              <a:t>+</a:t>
            </a:r>
          </a:p>
        </p:txBody>
      </p:sp>
      <p:sp>
        <p:nvSpPr>
          <p:cNvPr id="29" name="TextBox 28">
            <a:extLst>
              <a:ext uri="{FF2B5EF4-FFF2-40B4-BE49-F238E27FC236}">
                <a16:creationId xmlns:a16="http://schemas.microsoft.com/office/drawing/2014/main" id="{13D85A12-FFD9-3FB4-1378-B59322B9941B}"/>
              </a:ext>
            </a:extLst>
          </p:cNvPr>
          <p:cNvSpPr txBox="1"/>
          <p:nvPr/>
        </p:nvSpPr>
        <p:spPr>
          <a:xfrm>
            <a:off x="2405185" y="2587360"/>
            <a:ext cx="558800" cy="369332"/>
          </a:xfrm>
          <a:prstGeom prst="rect">
            <a:avLst/>
          </a:prstGeom>
          <a:noFill/>
        </p:spPr>
        <p:txBody>
          <a:bodyPr wrap="square" rtlCol="0">
            <a:spAutoFit/>
          </a:bodyPr>
          <a:lstStyle/>
          <a:p>
            <a:r>
              <a:rPr lang="en-US" sz="1800" dirty="0"/>
              <a:t>Cl</a:t>
            </a:r>
            <a:r>
              <a:rPr lang="en-US" sz="1800" baseline="30000" dirty="0"/>
              <a:t>-</a:t>
            </a:r>
          </a:p>
        </p:txBody>
      </p:sp>
      <p:grpSp>
        <p:nvGrpSpPr>
          <p:cNvPr id="59" name="Group 58">
            <a:extLst>
              <a:ext uri="{FF2B5EF4-FFF2-40B4-BE49-F238E27FC236}">
                <a16:creationId xmlns:a16="http://schemas.microsoft.com/office/drawing/2014/main" id="{3EFD539E-446F-C03A-AA2F-7ED489B1F6BF}"/>
              </a:ext>
            </a:extLst>
          </p:cNvPr>
          <p:cNvGrpSpPr/>
          <p:nvPr/>
        </p:nvGrpSpPr>
        <p:grpSpPr>
          <a:xfrm>
            <a:off x="3556650" y="1933300"/>
            <a:ext cx="4321258" cy="461665"/>
            <a:chOff x="3556650" y="1933300"/>
            <a:chExt cx="4321258" cy="461665"/>
          </a:xfrm>
        </p:grpSpPr>
        <p:cxnSp>
          <p:nvCxnSpPr>
            <p:cNvPr id="31" name="Straight Connector 30">
              <a:extLst>
                <a:ext uri="{FF2B5EF4-FFF2-40B4-BE49-F238E27FC236}">
                  <a16:creationId xmlns:a16="http://schemas.microsoft.com/office/drawing/2014/main" id="{05A77DC1-D086-074E-EC67-6BE2BDAA1995}"/>
                </a:ext>
              </a:extLst>
            </p:cNvPr>
            <p:cNvCxnSpPr/>
            <p:nvPr/>
          </p:nvCxnSpPr>
          <p:spPr>
            <a:xfrm>
              <a:off x="3556650" y="2361360"/>
              <a:ext cx="4321258" cy="0"/>
            </a:xfrm>
            <a:prstGeom prst="line">
              <a:avLst/>
            </a:prstGeom>
            <a:ln w="28575">
              <a:solidFill>
                <a:schemeClr val="accent2"/>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32" name="TextBox 31">
              <a:extLst>
                <a:ext uri="{FF2B5EF4-FFF2-40B4-BE49-F238E27FC236}">
                  <a16:creationId xmlns:a16="http://schemas.microsoft.com/office/drawing/2014/main" id="{13BE1808-F257-A5A6-A320-48339E000507}"/>
                </a:ext>
              </a:extLst>
            </p:cNvPr>
            <p:cNvSpPr txBox="1"/>
            <p:nvPr/>
          </p:nvSpPr>
          <p:spPr>
            <a:xfrm>
              <a:off x="4096536" y="1933300"/>
              <a:ext cx="817881" cy="461665"/>
            </a:xfrm>
            <a:prstGeom prst="rect">
              <a:avLst/>
            </a:prstGeom>
            <a:noFill/>
          </p:spPr>
          <p:txBody>
            <a:bodyPr wrap="square" rtlCol="0">
              <a:spAutoFit/>
            </a:bodyPr>
            <a:lstStyle/>
            <a:p>
              <a:r>
                <a:rPr lang="en-US" i="1" dirty="0">
                  <a:cs typeface="Times New Roman" panose="02020603050405020304" pitchFamily="18" charset="0"/>
                </a:rPr>
                <a:t>G</a:t>
              </a:r>
              <a:r>
                <a:rPr lang="en-US" baseline="-25000" dirty="0">
                  <a:cs typeface="Times New Roman" panose="02020603050405020304" pitchFamily="18" charset="0"/>
                </a:rPr>
                <a:t>GJ</a:t>
              </a:r>
              <a:endParaRPr lang="en-US" dirty="0"/>
            </a:p>
          </p:txBody>
        </p:sp>
      </p:grpSp>
      <p:cxnSp>
        <p:nvCxnSpPr>
          <p:cNvPr id="33" name="Straight Connector 32">
            <a:extLst>
              <a:ext uri="{FF2B5EF4-FFF2-40B4-BE49-F238E27FC236}">
                <a16:creationId xmlns:a16="http://schemas.microsoft.com/office/drawing/2014/main" id="{0A2B3BE4-48E9-1203-EED1-78AE1E4186E7}"/>
              </a:ext>
            </a:extLst>
          </p:cNvPr>
          <p:cNvCxnSpPr>
            <a:cxnSpLocks/>
          </p:cNvCxnSpPr>
          <p:nvPr/>
        </p:nvCxnSpPr>
        <p:spPr>
          <a:xfrm flipV="1">
            <a:off x="3477939" y="2502033"/>
            <a:ext cx="3964707" cy="1418493"/>
          </a:xfrm>
          <a:prstGeom prst="line">
            <a:avLst/>
          </a:prstGeom>
          <a:ln w="28575">
            <a:solidFill>
              <a:schemeClr val="accent2"/>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35" name="TextBox 34">
            <a:extLst>
              <a:ext uri="{FF2B5EF4-FFF2-40B4-BE49-F238E27FC236}">
                <a16:creationId xmlns:a16="http://schemas.microsoft.com/office/drawing/2014/main" id="{C6641D46-E793-7B33-BD3A-665670B80731}"/>
              </a:ext>
            </a:extLst>
          </p:cNvPr>
          <p:cNvSpPr txBox="1"/>
          <p:nvPr/>
        </p:nvSpPr>
        <p:spPr>
          <a:xfrm>
            <a:off x="5866732" y="2457489"/>
            <a:ext cx="817881" cy="461665"/>
          </a:xfrm>
          <a:prstGeom prst="rect">
            <a:avLst/>
          </a:prstGeom>
          <a:noFill/>
        </p:spPr>
        <p:txBody>
          <a:bodyPr wrap="square" rtlCol="0">
            <a:spAutoFit/>
          </a:bodyPr>
          <a:lstStyle/>
          <a:p>
            <a:r>
              <a:rPr lang="en-US" i="1" dirty="0">
                <a:cs typeface="Times New Roman" panose="02020603050405020304" pitchFamily="18" charset="0"/>
              </a:rPr>
              <a:t>I</a:t>
            </a:r>
            <a:r>
              <a:rPr lang="en-US" baseline="-25000" dirty="0">
                <a:cs typeface="Times New Roman" panose="02020603050405020304" pitchFamily="18" charset="0"/>
              </a:rPr>
              <a:t>GJ</a:t>
            </a:r>
            <a:endParaRPr lang="en-US" dirty="0"/>
          </a:p>
        </p:txBody>
      </p:sp>
      <p:grpSp>
        <p:nvGrpSpPr>
          <p:cNvPr id="36" name="Group 35">
            <a:extLst>
              <a:ext uri="{FF2B5EF4-FFF2-40B4-BE49-F238E27FC236}">
                <a16:creationId xmlns:a16="http://schemas.microsoft.com/office/drawing/2014/main" id="{37D1D748-B76B-4212-FABF-C453D93E4E48}"/>
              </a:ext>
            </a:extLst>
          </p:cNvPr>
          <p:cNvGrpSpPr/>
          <p:nvPr/>
        </p:nvGrpSpPr>
        <p:grpSpPr>
          <a:xfrm>
            <a:off x="125041" y="3698014"/>
            <a:ext cx="5284898" cy="2483505"/>
            <a:chOff x="3342640" y="2763520"/>
            <a:chExt cx="5284898" cy="2483505"/>
          </a:xfrm>
        </p:grpSpPr>
        <p:cxnSp>
          <p:nvCxnSpPr>
            <p:cNvPr id="37" name="Straight Connector 36">
              <a:extLst>
                <a:ext uri="{FF2B5EF4-FFF2-40B4-BE49-F238E27FC236}">
                  <a16:creationId xmlns:a16="http://schemas.microsoft.com/office/drawing/2014/main" id="{4C1CC7D5-92D1-0D93-8FE7-70C5D17FD65F}"/>
                </a:ext>
              </a:extLst>
            </p:cNvPr>
            <p:cNvCxnSpPr>
              <a:cxnSpLocks/>
            </p:cNvCxnSpPr>
            <p:nvPr/>
          </p:nvCxnSpPr>
          <p:spPr>
            <a:xfrm>
              <a:off x="3342640" y="4856480"/>
              <a:ext cx="5151120" cy="0"/>
            </a:xfrm>
            <a:prstGeom prst="line">
              <a:avLst/>
            </a:prstGeom>
            <a:ln w="285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BF38FB1E-5B32-E2CF-8CEB-E3763D23CF68}"/>
                </a:ext>
              </a:extLst>
            </p:cNvPr>
            <p:cNvCxnSpPr>
              <a:cxnSpLocks/>
            </p:cNvCxnSpPr>
            <p:nvPr/>
          </p:nvCxnSpPr>
          <p:spPr>
            <a:xfrm>
              <a:off x="5765800" y="2971800"/>
              <a:ext cx="0" cy="1884680"/>
            </a:xfrm>
            <a:prstGeom prst="line">
              <a:avLst/>
            </a:prstGeom>
            <a:ln w="285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39" name="TextBox 38">
              <a:extLst>
                <a:ext uri="{FF2B5EF4-FFF2-40B4-BE49-F238E27FC236}">
                  <a16:creationId xmlns:a16="http://schemas.microsoft.com/office/drawing/2014/main" id="{1AA0B9DD-A284-E747-ABAD-DD7C98A2ECB8}"/>
                </a:ext>
              </a:extLst>
            </p:cNvPr>
            <p:cNvSpPr txBox="1"/>
            <p:nvPr/>
          </p:nvSpPr>
          <p:spPr>
            <a:xfrm>
              <a:off x="7523479" y="4785360"/>
              <a:ext cx="1104059" cy="461665"/>
            </a:xfrm>
            <a:prstGeom prst="rect">
              <a:avLst/>
            </a:prstGeom>
            <a:noFill/>
          </p:spPr>
          <p:txBody>
            <a:bodyPr wrap="square" rtlCol="0">
              <a:spAutoFit/>
            </a:bodyPr>
            <a:lstStyle/>
            <a:p>
              <a:r>
                <a:rPr lang="el-GR" dirty="0">
                  <a:cs typeface="Times New Roman" panose="02020603050405020304" pitchFamily="18" charset="0"/>
                </a:rPr>
                <a:t>Δ</a:t>
              </a:r>
              <a:r>
                <a:rPr lang="en-US" i="1" dirty="0" err="1">
                  <a:cs typeface="Times New Roman" panose="02020603050405020304" pitchFamily="18" charset="0"/>
                </a:rPr>
                <a:t>V</a:t>
              </a:r>
              <a:r>
                <a:rPr lang="en-US" baseline="-25000" dirty="0" err="1">
                  <a:cs typeface="Times New Roman" panose="02020603050405020304" pitchFamily="18" charset="0"/>
                </a:rPr>
                <a:t>mem</a:t>
              </a:r>
              <a:endParaRPr lang="en-US" dirty="0"/>
            </a:p>
          </p:txBody>
        </p:sp>
        <p:sp>
          <p:nvSpPr>
            <p:cNvPr id="40" name="TextBox 39">
              <a:extLst>
                <a:ext uri="{FF2B5EF4-FFF2-40B4-BE49-F238E27FC236}">
                  <a16:creationId xmlns:a16="http://schemas.microsoft.com/office/drawing/2014/main" id="{CA8AC85B-64A5-E633-B1EB-D7F9DA5CCB8F}"/>
                </a:ext>
              </a:extLst>
            </p:cNvPr>
            <p:cNvSpPr txBox="1"/>
            <p:nvPr/>
          </p:nvSpPr>
          <p:spPr>
            <a:xfrm>
              <a:off x="5694679" y="2763520"/>
              <a:ext cx="736601" cy="461665"/>
            </a:xfrm>
            <a:prstGeom prst="rect">
              <a:avLst/>
            </a:prstGeom>
            <a:noFill/>
          </p:spPr>
          <p:txBody>
            <a:bodyPr wrap="square" rtlCol="0">
              <a:spAutoFit/>
            </a:bodyPr>
            <a:lstStyle/>
            <a:p>
              <a:r>
                <a:rPr lang="en-US" i="1" dirty="0">
                  <a:cs typeface="Times New Roman" panose="02020603050405020304" pitchFamily="18" charset="0"/>
                </a:rPr>
                <a:t>G</a:t>
              </a:r>
              <a:r>
                <a:rPr lang="en-US" baseline="-25000" dirty="0">
                  <a:cs typeface="Times New Roman" panose="02020603050405020304" pitchFamily="18" charset="0"/>
                </a:rPr>
                <a:t>GJ</a:t>
              </a:r>
              <a:endParaRPr lang="en-US" i="1" dirty="0"/>
            </a:p>
          </p:txBody>
        </p:sp>
        <p:sp>
          <p:nvSpPr>
            <p:cNvPr id="41" name="Freeform: Shape 40">
              <a:extLst>
                <a:ext uri="{FF2B5EF4-FFF2-40B4-BE49-F238E27FC236}">
                  <a16:creationId xmlns:a16="http://schemas.microsoft.com/office/drawing/2014/main" id="{6026B778-AC23-3658-1504-E450989C10ED}"/>
                </a:ext>
              </a:extLst>
            </p:cNvPr>
            <p:cNvSpPr/>
            <p:nvPr/>
          </p:nvSpPr>
          <p:spPr>
            <a:xfrm>
              <a:off x="3352800" y="3365299"/>
              <a:ext cx="2414891" cy="1316563"/>
            </a:xfrm>
            <a:custGeom>
              <a:avLst/>
              <a:gdLst>
                <a:gd name="connsiteX0" fmla="*/ 0 w 2414891"/>
                <a:gd name="connsiteY0" fmla="*/ 1308301 h 1316563"/>
                <a:gd name="connsiteX1" fmla="*/ 1016000 w 2414891"/>
                <a:gd name="connsiteY1" fmla="*/ 1298141 h 1316563"/>
                <a:gd name="connsiteX2" fmla="*/ 1270000 w 2414891"/>
                <a:gd name="connsiteY2" fmla="*/ 1145741 h 1316563"/>
                <a:gd name="connsiteX3" fmla="*/ 1351280 w 2414891"/>
                <a:gd name="connsiteY3" fmla="*/ 830781 h 1316563"/>
                <a:gd name="connsiteX4" fmla="*/ 1432560 w 2414891"/>
                <a:gd name="connsiteY4" fmla="*/ 414221 h 1316563"/>
                <a:gd name="connsiteX5" fmla="*/ 1676400 w 2414891"/>
                <a:gd name="connsiteY5" fmla="*/ 89101 h 1316563"/>
                <a:gd name="connsiteX6" fmla="*/ 2346960 w 2414891"/>
                <a:gd name="connsiteY6" fmla="*/ 7821 h 1316563"/>
                <a:gd name="connsiteX7" fmla="*/ 2357120 w 2414891"/>
                <a:gd name="connsiteY7" fmla="*/ 7821 h 13165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414891" h="1316563">
                  <a:moveTo>
                    <a:pt x="0" y="1308301"/>
                  </a:moveTo>
                  <a:cubicBezTo>
                    <a:pt x="402166" y="1316767"/>
                    <a:pt x="804333" y="1325234"/>
                    <a:pt x="1016000" y="1298141"/>
                  </a:cubicBezTo>
                  <a:cubicBezTo>
                    <a:pt x="1227667" y="1271048"/>
                    <a:pt x="1214120" y="1223634"/>
                    <a:pt x="1270000" y="1145741"/>
                  </a:cubicBezTo>
                  <a:cubicBezTo>
                    <a:pt x="1325880" y="1067848"/>
                    <a:pt x="1324187" y="952701"/>
                    <a:pt x="1351280" y="830781"/>
                  </a:cubicBezTo>
                  <a:cubicBezTo>
                    <a:pt x="1378373" y="708861"/>
                    <a:pt x="1378373" y="537834"/>
                    <a:pt x="1432560" y="414221"/>
                  </a:cubicBezTo>
                  <a:cubicBezTo>
                    <a:pt x="1486747" y="290608"/>
                    <a:pt x="1524000" y="156834"/>
                    <a:pt x="1676400" y="89101"/>
                  </a:cubicBezTo>
                  <a:cubicBezTo>
                    <a:pt x="1828800" y="21368"/>
                    <a:pt x="2233507" y="21368"/>
                    <a:pt x="2346960" y="7821"/>
                  </a:cubicBezTo>
                  <a:cubicBezTo>
                    <a:pt x="2460413" y="-5726"/>
                    <a:pt x="2408766" y="1047"/>
                    <a:pt x="2357120" y="7821"/>
                  </a:cubicBezTo>
                </a:path>
              </a:pathLst>
            </a:cu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Freeform: Shape 41">
              <a:extLst>
                <a:ext uri="{FF2B5EF4-FFF2-40B4-BE49-F238E27FC236}">
                  <a16:creationId xmlns:a16="http://schemas.microsoft.com/office/drawing/2014/main" id="{606DD076-6936-FE2A-F0C1-9D61475D02CE}"/>
                </a:ext>
              </a:extLst>
            </p:cNvPr>
            <p:cNvSpPr/>
            <p:nvPr/>
          </p:nvSpPr>
          <p:spPr>
            <a:xfrm flipH="1">
              <a:off x="5781040" y="3375459"/>
              <a:ext cx="2414891" cy="1316563"/>
            </a:xfrm>
            <a:custGeom>
              <a:avLst/>
              <a:gdLst>
                <a:gd name="connsiteX0" fmla="*/ 0 w 2414891"/>
                <a:gd name="connsiteY0" fmla="*/ 1308301 h 1316563"/>
                <a:gd name="connsiteX1" fmla="*/ 1016000 w 2414891"/>
                <a:gd name="connsiteY1" fmla="*/ 1298141 h 1316563"/>
                <a:gd name="connsiteX2" fmla="*/ 1270000 w 2414891"/>
                <a:gd name="connsiteY2" fmla="*/ 1145741 h 1316563"/>
                <a:gd name="connsiteX3" fmla="*/ 1351280 w 2414891"/>
                <a:gd name="connsiteY3" fmla="*/ 830781 h 1316563"/>
                <a:gd name="connsiteX4" fmla="*/ 1432560 w 2414891"/>
                <a:gd name="connsiteY4" fmla="*/ 414221 h 1316563"/>
                <a:gd name="connsiteX5" fmla="*/ 1676400 w 2414891"/>
                <a:gd name="connsiteY5" fmla="*/ 89101 h 1316563"/>
                <a:gd name="connsiteX6" fmla="*/ 2346960 w 2414891"/>
                <a:gd name="connsiteY6" fmla="*/ 7821 h 1316563"/>
                <a:gd name="connsiteX7" fmla="*/ 2357120 w 2414891"/>
                <a:gd name="connsiteY7" fmla="*/ 7821 h 13165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414891" h="1316563">
                  <a:moveTo>
                    <a:pt x="0" y="1308301"/>
                  </a:moveTo>
                  <a:cubicBezTo>
                    <a:pt x="402166" y="1316767"/>
                    <a:pt x="804333" y="1325234"/>
                    <a:pt x="1016000" y="1298141"/>
                  </a:cubicBezTo>
                  <a:cubicBezTo>
                    <a:pt x="1227667" y="1271048"/>
                    <a:pt x="1214120" y="1223634"/>
                    <a:pt x="1270000" y="1145741"/>
                  </a:cubicBezTo>
                  <a:cubicBezTo>
                    <a:pt x="1325880" y="1067848"/>
                    <a:pt x="1324187" y="952701"/>
                    <a:pt x="1351280" y="830781"/>
                  </a:cubicBezTo>
                  <a:cubicBezTo>
                    <a:pt x="1378373" y="708861"/>
                    <a:pt x="1378373" y="537834"/>
                    <a:pt x="1432560" y="414221"/>
                  </a:cubicBezTo>
                  <a:cubicBezTo>
                    <a:pt x="1486747" y="290608"/>
                    <a:pt x="1524000" y="156834"/>
                    <a:pt x="1676400" y="89101"/>
                  </a:cubicBezTo>
                  <a:cubicBezTo>
                    <a:pt x="1828800" y="21368"/>
                    <a:pt x="2233507" y="21368"/>
                    <a:pt x="2346960" y="7821"/>
                  </a:cubicBezTo>
                  <a:cubicBezTo>
                    <a:pt x="2460413" y="-5726"/>
                    <a:pt x="2408766" y="1047"/>
                    <a:pt x="2357120" y="7821"/>
                  </a:cubicBezTo>
                </a:path>
              </a:pathLst>
            </a:cu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3" name="Content Placeholder 2">
            <a:extLst>
              <a:ext uri="{FF2B5EF4-FFF2-40B4-BE49-F238E27FC236}">
                <a16:creationId xmlns:a16="http://schemas.microsoft.com/office/drawing/2014/main" id="{4122BFD6-78B4-12C8-0E64-EEAA437023D4}"/>
              </a:ext>
            </a:extLst>
          </p:cNvPr>
          <p:cNvSpPr txBox="1">
            <a:spLocks/>
          </p:cNvSpPr>
          <p:nvPr/>
        </p:nvSpPr>
        <p:spPr bwMode="auto">
          <a:xfrm>
            <a:off x="4482771" y="4085429"/>
            <a:ext cx="4445640" cy="15007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har char="•"/>
              <a:defRPr sz="28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r>
              <a:rPr lang="en-US" sz="2400" i="1" kern="0" dirty="0"/>
              <a:t>G</a:t>
            </a:r>
            <a:r>
              <a:rPr lang="en-US" sz="2400" kern="0" baseline="-25000" dirty="0"/>
              <a:t>GJ</a:t>
            </a:r>
            <a:r>
              <a:rPr lang="en-US" sz="2400" kern="0" dirty="0"/>
              <a:t> really looks more like this</a:t>
            </a:r>
          </a:p>
          <a:p>
            <a:r>
              <a:rPr lang="en-US" sz="2400" kern="0" dirty="0"/>
              <a:t>Can you draw </a:t>
            </a:r>
            <a:r>
              <a:rPr lang="en-US" sz="2400" i="1" kern="0" dirty="0"/>
              <a:t>I</a:t>
            </a:r>
            <a:r>
              <a:rPr lang="en-US" sz="2400" kern="0" baseline="-25000" dirty="0"/>
              <a:t>GJ</a:t>
            </a:r>
            <a:r>
              <a:rPr lang="en-US" sz="2400" kern="0" dirty="0"/>
              <a:t>?</a:t>
            </a:r>
          </a:p>
          <a:p>
            <a:r>
              <a:rPr lang="en-US" sz="2400" kern="0" dirty="0"/>
              <a:t>Anything really weird about it?</a:t>
            </a:r>
            <a:endParaRPr lang="en-US" sz="2000" kern="0" dirty="0"/>
          </a:p>
        </p:txBody>
      </p:sp>
      <p:cxnSp>
        <p:nvCxnSpPr>
          <p:cNvPr id="48" name="Straight Connector 47">
            <a:extLst>
              <a:ext uri="{FF2B5EF4-FFF2-40B4-BE49-F238E27FC236}">
                <a16:creationId xmlns:a16="http://schemas.microsoft.com/office/drawing/2014/main" id="{1D170309-9EC0-8D58-341D-5448CA94E130}"/>
              </a:ext>
            </a:extLst>
          </p:cNvPr>
          <p:cNvCxnSpPr>
            <a:cxnSpLocks/>
          </p:cNvCxnSpPr>
          <p:nvPr/>
        </p:nvCxnSpPr>
        <p:spPr>
          <a:xfrm flipV="1">
            <a:off x="2554896" y="5090338"/>
            <a:ext cx="423704" cy="698892"/>
          </a:xfrm>
          <a:prstGeom prst="line">
            <a:avLst/>
          </a:prstGeom>
          <a:ln w="28575">
            <a:solidFill>
              <a:schemeClr val="accent2"/>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29D8BECF-C5E1-5429-8E21-24A40A89DD83}"/>
              </a:ext>
            </a:extLst>
          </p:cNvPr>
          <p:cNvCxnSpPr>
            <a:cxnSpLocks/>
          </p:cNvCxnSpPr>
          <p:nvPr/>
        </p:nvCxnSpPr>
        <p:spPr>
          <a:xfrm flipV="1">
            <a:off x="2587225" y="5312114"/>
            <a:ext cx="2255735" cy="477116"/>
          </a:xfrm>
          <a:prstGeom prst="line">
            <a:avLst/>
          </a:prstGeom>
          <a:ln w="28575">
            <a:solidFill>
              <a:schemeClr val="accent2"/>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56" name="Freeform: Shape 55">
            <a:extLst>
              <a:ext uri="{FF2B5EF4-FFF2-40B4-BE49-F238E27FC236}">
                <a16:creationId xmlns:a16="http://schemas.microsoft.com/office/drawing/2014/main" id="{BA50778F-5E4B-CB41-21D8-9036282497B1}"/>
              </a:ext>
            </a:extLst>
          </p:cNvPr>
          <p:cNvSpPr/>
          <p:nvPr/>
        </p:nvSpPr>
        <p:spPr>
          <a:xfrm>
            <a:off x="2572378" y="4924249"/>
            <a:ext cx="2110154" cy="853553"/>
          </a:xfrm>
          <a:custGeom>
            <a:avLst/>
            <a:gdLst>
              <a:gd name="connsiteX0" fmla="*/ 0 w 2110154"/>
              <a:gd name="connsiteY0" fmla="*/ 853553 h 853553"/>
              <a:gd name="connsiteX1" fmla="*/ 351692 w 2110154"/>
              <a:gd name="connsiteY1" fmla="*/ 310942 h 853553"/>
              <a:gd name="connsiteX2" fmla="*/ 442127 w 2110154"/>
              <a:gd name="connsiteY2" fmla="*/ 120024 h 853553"/>
              <a:gd name="connsiteX3" fmla="*/ 643095 w 2110154"/>
              <a:gd name="connsiteY3" fmla="*/ 29588 h 853553"/>
              <a:gd name="connsiteX4" fmla="*/ 844062 w 2110154"/>
              <a:gd name="connsiteY4" fmla="*/ 9492 h 853553"/>
              <a:gd name="connsiteX5" fmla="*/ 924448 w 2110154"/>
              <a:gd name="connsiteY5" fmla="*/ 170265 h 853553"/>
              <a:gd name="connsiteX6" fmla="*/ 1065125 w 2110154"/>
              <a:gd name="connsiteY6" fmla="*/ 361184 h 853553"/>
              <a:gd name="connsiteX7" fmla="*/ 1195754 w 2110154"/>
              <a:gd name="connsiteY7" fmla="*/ 501861 h 853553"/>
              <a:gd name="connsiteX8" fmla="*/ 1446963 w 2110154"/>
              <a:gd name="connsiteY8" fmla="*/ 542054 h 853553"/>
              <a:gd name="connsiteX9" fmla="*/ 2110154 w 2110154"/>
              <a:gd name="connsiteY9" fmla="*/ 421474 h 8535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110154" h="853553">
                <a:moveTo>
                  <a:pt x="0" y="853553"/>
                </a:moveTo>
                <a:cubicBezTo>
                  <a:pt x="139002" y="643375"/>
                  <a:pt x="278004" y="433197"/>
                  <a:pt x="351692" y="310942"/>
                </a:cubicBezTo>
                <a:cubicBezTo>
                  <a:pt x="425380" y="188687"/>
                  <a:pt x="393560" y="166916"/>
                  <a:pt x="442127" y="120024"/>
                </a:cubicBezTo>
                <a:cubicBezTo>
                  <a:pt x="490694" y="73132"/>
                  <a:pt x="576106" y="48010"/>
                  <a:pt x="643095" y="29588"/>
                </a:cubicBezTo>
                <a:cubicBezTo>
                  <a:pt x="710084" y="11166"/>
                  <a:pt x="797170" y="-13954"/>
                  <a:pt x="844062" y="9492"/>
                </a:cubicBezTo>
                <a:cubicBezTo>
                  <a:pt x="890954" y="32938"/>
                  <a:pt x="887604" y="111650"/>
                  <a:pt x="924448" y="170265"/>
                </a:cubicBezTo>
                <a:cubicBezTo>
                  <a:pt x="961292" y="228880"/>
                  <a:pt x="1019907" y="305918"/>
                  <a:pt x="1065125" y="361184"/>
                </a:cubicBezTo>
                <a:cubicBezTo>
                  <a:pt x="1110343" y="416450"/>
                  <a:pt x="1132114" y="471716"/>
                  <a:pt x="1195754" y="501861"/>
                </a:cubicBezTo>
                <a:cubicBezTo>
                  <a:pt x="1259394" y="532006"/>
                  <a:pt x="1294563" y="555452"/>
                  <a:pt x="1446963" y="542054"/>
                </a:cubicBezTo>
                <a:cubicBezTo>
                  <a:pt x="1599363" y="528656"/>
                  <a:pt x="1854758" y="475065"/>
                  <a:pt x="2110154" y="421474"/>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TextBox 56">
            <a:extLst>
              <a:ext uri="{FF2B5EF4-FFF2-40B4-BE49-F238E27FC236}">
                <a16:creationId xmlns:a16="http://schemas.microsoft.com/office/drawing/2014/main" id="{F160313D-ABE4-9EC0-150F-3FF4F2A970E7}"/>
              </a:ext>
            </a:extLst>
          </p:cNvPr>
          <p:cNvSpPr txBox="1"/>
          <p:nvPr/>
        </p:nvSpPr>
        <p:spPr>
          <a:xfrm>
            <a:off x="6019798" y="5586210"/>
            <a:ext cx="2722267" cy="461665"/>
          </a:xfrm>
          <a:prstGeom prst="rect">
            <a:avLst/>
          </a:prstGeom>
          <a:noFill/>
          <a:ln w="19050">
            <a:solidFill>
              <a:schemeClr val="accent2"/>
            </a:solidFill>
          </a:ln>
        </p:spPr>
        <p:txBody>
          <a:bodyPr wrap="square" rtlCol="0">
            <a:spAutoFit/>
          </a:bodyPr>
          <a:lstStyle/>
          <a:p>
            <a:r>
              <a:rPr lang="en-US" dirty="0"/>
              <a:t>Negative resistance!</a:t>
            </a:r>
          </a:p>
        </p:txBody>
      </p:sp>
    </p:spTree>
    <p:extLst>
      <p:ext uri="{BB962C8B-B14F-4D97-AF65-F5344CB8AC3E}">
        <p14:creationId xmlns:p14="http://schemas.microsoft.com/office/powerpoint/2010/main" val="14232277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8"/>
                                        </p:tgtEl>
                                        <p:attrNameLst>
                                          <p:attrName>style.visibility</p:attrName>
                                        </p:attrNameLst>
                                      </p:cBhvr>
                                      <p:to>
                                        <p:strVal val="visible"/>
                                      </p:to>
                                    </p:set>
                                    <p:animEffect transition="in" filter="fade">
                                      <p:cBhvr>
                                        <p:cTn id="7" dur="500"/>
                                        <p:tgtEl>
                                          <p:spTgt spid="58"/>
                                        </p:tgtEl>
                                      </p:cBhvr>
                                    </p:animEffect>
                                  </p:childTnLst>
                                </p:cTn>
                              </p:par>
                              <p:par>
                                <p:cTn id="8" presetID="10" presetClass="entr" presetSubtype="0" fill="hold" nodeType="withEffect">
                                  <p:stCondLst>
                                    <p:cond delay="0"/>
                                  </p:stCondLst>
                                  <p:childTnLst>
                                    <p:set>
                                      <p:cBhvr>
                                        <p:cTn id="9" dur="1" fill="hold">
                                          <p:stCondLst>
                                            <p:cond delay="0"/>
                                          </p:stCondLst>
                                        </p:cTn>
                                        <p:tgtEl>
                                          <p:spTgt spid="59"/>
                                        </p:tgtEl>
                                        <p:attrNameLst>
                                          <p:attrName>style.visibility</p:attrName>
                                        </p:attrNameLst>
                                      </p:cBhvr>
                                      <p:to>
                                        <p:strVal val="visible"/>
                                      </p:to>
                                    </p:set>
                                    <p:animEffect transition="in" filter="fade">
                                      <p:cBhvr>
                                        <p:cTn id="10" dur="500"/>
                                        <p:tgtEl>
                                          <p:spTgt spid="59"/>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35"/>
                                        </p:tgtEl>
                                        <p:attrNameLst>
                                          <p:attrName>style.visibility</p:attrName>
                                        </p:attrNameLst>
                                      </p:cBhvr>
                                      <p:to>
                                        <p:strVal val="visible"/>
                                      </p:to>
                                    </p:set>
                                    <p:animEffect transition="in" filter="fade">
                                      <p:cBhvr>
                                        <p:cTn id="15" dur="500"/>
                                        <p:tgtEl>
                                          <p:spTgt spid="35"/>
                                        </p:tgtEl>
                                      </p:cBhvr>
                                    </p:animEffect>
                                  </p:childTnLst>
                                </p:cTn>
                              </p:par>
                              <p:par>
                                <p:cTn id="16" presetID="10" presetClass="entr" presetSubtype="0" fill="hold" nodeType="withEffect">
                                  <p:stCondLst>
                                    <p:cond delay="0"/>
                                  </p:stCondLst>
                                  <p:childTnLst>
                                    <p:set>
                                      <p:cBhvr>
                                        <p:cTn id="17" dur="1" fill="hold">
                                          <p:stCondLst>
                                            <p:cond delay="0"/>
                                          </p:stCondLst>
                                        </p:cTn>
                                        <p:tgtEl>
                                          <p:spTgt spid="33"/>
                                        </p:tgtEl>
                                        <p:attrNameLst>
                                          <p:attrName>style.visibility</p:attrName>
                                        </p:attrNameLst>
                                      </p:cBhvr>
                                      <p:to>
                                        <p:strVal val="visible"/>
                                      </p:to>
                                    </p:set>
                                    <p:animEffect transition="in" filter="fade">
                                      <p:cBhvr>
                                        <p:cTn id="18" dur="500"/>
                                        <p:tgtEl>
                                          <p:spTgt spid="33"/>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43">
                                            <p:txEl>
                                              <p:pRg st="0" end="0"/>
                                            </p:txEl>
                                          </p:spTgt>
                                        </p:tgtEl>
                                        <p:attrNameLst>
                                          <p:attrName>style.visibility</p:attrName>
                                        </p:attrNameLst>
                                      </p:cBhvr>
                                      <p:to>
                                        <p:strVal val="visible"/>
                                      </p:to>
                                    </p:set>
                                    <p:animEffect transition="in" filter="fade">
                                      <p:cBhvr>
                                        <p:cTn id="23" dur="500"/>
                                        <p:tgtEl>
                                          <p:spTgt spid="43">
                                            <p:txEl>
                                              <p:pRg st="0" end="0"/>
                                            </p:txEl>
                                          </p:spTgt>
                                        </p:tgtEl>
                                      </p:cBhvr>
                                    </p:animEffect>
                                  </p:childTnLst>
                                </p:cTn>
                              </p:par>
                              <p:par>
                                <p:cTn id="24" presetID="10" presetClass="entr" presetSubtype="0" fill="hold" nodeType="withEffect">
                                  <p:stCondLst>
                                    <p:cond delay="0"/>
                                  </p:stCondLst>
                                  <p:childTnLst>
                                    <p:set>
                                      <p:cBhvr>
                                        <p:cTn id="25" dur="1" fill="hold">
                                          <p:stCondLst>
                                            <p:cond delay="0"/>
                                          </p:stCondLst>
                                        </p:cTn>
                                        <p:tgtEl>
                                          <p:spTgt spid="36"/>
                                        </p:tgtEl>
                                        <p:attrNameLst>
                                          <p:attrName>style.visibility</p:attrName>
                                        </p:attrNameLst>
                                      </p:cBhvr>
                                      <p:to>
                                        <p:strVal val="visible"/>
                                      </p:to>
                                    </p:set>
                                    <p:animEffect transition="in" filter="fade">
                                      <p:cBhvr>
                                        <p:cTn id="26" dur="500"/>
                                        <p:tgtEl>
                                          <p:spTgt spid="36"/>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nodeType="clickEffect">
                                  <p:stCondLst>
                                    <p:cond delay="0"/>
                                  </p:stCondLst>
                                  <p:childTnLst>
                                    <p:set>
                                      <p:cBhvr>
                                        <p:cTn id="30" dur="1" fill="hold">
                                          <p:stCondLst>
                                            <p:cond delay="0"/>
                                          </p:stCondLst>
                                        </p:cTn>
                                        <p:tgtEl>
                                          <p:spTgt spid="43">
                                            <p:txEl>
                                              <p:pRg st="1" end="1"/>
                                            </p:txEl>
                                          </p:spTgt>
                                        </p:tgtEl>
                                        <p:attrNameLst>
                                          <p:attrName>style.visibility</p:attrName>
                                        </p:attrNameLst>
                                      </p:cBhvr>
                                      <p:to>
                                        <p:strVal val="visible"/>
                                      </p:to>
                                    </p:set>
                                    <p:animEffect transition="in" filter="fade">
                                      <p:cBhvr>
                                        <p:cTn id="31" dur="500"/>
                                        <p:tgtEl>
                                          <p:spTgt spid="43">
                                            <p:txEl>
                                              <p:pRg st="1" end="1"/>
                                            </p:txEl>
                                          </p:spTgt>
                                        </p:tgtEl>
                                      </p:cBhvr>
                                    </p:animEffect>
                                  </p:childTnLst>
                                </p:cTn>
                              </p:par>
                              <p:par>
                                <p:cTn id="32" presetID="10" presetClass="entr" presetSubtype="0" fill="hold" nodeType="withEffect">
                                  <p:stCondLst>
                                    <p:cond delay="0"/>
                                  </p:stCondLst>
                                  <p:childTnLst>
                                    <p:set>
                                      <p:cBhvr>
                                        <p:cTn id="33" dur="1" fill="hold">
                                          <p:stCondLst>
                                            <p:cond delay="0"/>
                                          </p:stCondLst>
                                        </p:cTn>
                                        <p:tgtEl>
                                          <p:spTgt spid="43">
                                            <p:txEl>
                                              <p:pRg st="2" end="2"/>
                                            </p:txEl>
                                          </p:spTgt>
                                        </p:tgtEl>
                                        <p:attrNameLst>
                                          <p:attrName>style.visibility</p:attrName>
                                        </p:attrNameLst>
                                      </p:cBhvr>
                                      <p:to>
                                        <p:strVal val="visible"/>
                                      </p:to>
                                    </p:set>
                                    <p:animEffect transition="in" filter="fade">
                                      <p:cBhvr>
                                        <p:cTn id="34" dur="500"/>
                                        <p:tgtEl>
                                          <p:spTgt spid="43">
                                            <p:txEl>
                                              <p:pRg st="2" end="2"/>
                                            </p:txEl>
                                          </p:spTgt>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nodeType="clickEffect">
                                  <p:stCondLst>
                                    <p:cond delay="0"/>
                                  </p:stCondLst>
                                  <p:childTnLst>
                                    <p:set>
                                      <p:cBhvr>
                                        <p:cTn id="38" dur="1" fill="hold">
                                          <p:stCondLst>
                                            <p:cond delay="0"/>
                                          </p:stCondLst>
                                        </p:cTn>
                                        <p:tgtEl>
                                          <p:spTgt spid="48"/>
                                        </p:tgtEl>
                                        <p:attrNameLst>
                                          <p:attrName>style.visibility</p:attrName>
                                        </p:attrNameLst>
                                      </p:cBhvr>
                                      <p:to>
                                        <p:strVal val="visible"/>
                                      </p:to>
                                    </p:set>
                                    <p:animEffect transition="in" filter="fade">
                                      <p:cBhvr>
                                        <p:cTn id="39" dur="500"/>
                                        <p:tgtEl>
                                          <p:spTgt spid="48"/>
                                        </p:tgtEl>
                                      </p:cBhvr>
                                    </p:animEffect>
                                  </p:childTnLst>
                                </p:cTn>
                              </p:par>
                            </p:childTnLst>
                          </p:cTn>
                        </p:par>
                      </p:childTnLst>
                    </p:cTn>
                  </p:par>
                  <p:par>
                    <p:cTn id="40" fill="hold">
                      <p:stCondLst>
                        <p:cond delay="indefinite"/>
                      </p:stCondLst>
                      <p:childTnLst>
                        <p:par>
                          <p:cTn id="41" fill="hold">
                            <p:stCondLst>
                              <p:cond delay="0"/>
                            </p:stCondLst>
                            <p:childTnLst>
                              <p:par>
                                <p:cTn id="42" presetID="10" presetClass="entr" presetSubtype="0" fill="hold" nodeType="clickEffect">
                                  <p:stCondLst>
                                    <p:cond delay="0"/>
                                  </p:stCondLst>
                                  <p:childTnLst>
                                    <p:set>
                                      <p:cBhvr>
                                        <p:cTn id="43" dur="1" fill="hold">
                                          <p:stCondLst>
                                            <p:cond delay="0"/>
                                          </p:stCondLst>
                                        </p:cTn>
                                        <p:tgtEl>
                                          <p:spTgt spid="50"/>
                                        </p:tgtEl>
                                        <p:attrNameLst>
                                          <p:attrName>style.visibility</p:attrName>
                                        </p:attrNameLst>
                                      </p:cBhvr>
                                      <p:to>
                                        <p:strVal val="visible"/>
                                      </p:to>
                                    </p:set>
                                    <p:animEffect transition="in" filter="fade">
                                      <p:cBhvr>
                                        <p:cTn id="44" dur="500"/>
                                        <p:tgtEl>
                                          <p:spTgt spid="50"/>
                                        </p:tgtEl>
                                      </p:cBhvr>
                                    </p:animEffect>
                                  </p:childTnLst>
                                </p:cTn>
                              </p:par>
                            </p:childTnLst>
                          </p:cTn>
                        </p:par>
                      </p:childTnLst>
                    </p:cTn>
                  </p:par>
                  <p:par>
                    <p:cTn id="45" fill="hold">
                      <p:stCondLst>
                        <p:cond delay="indefinite"/>
                      </p:stCondLst>
                      <p:childTnLst>
                        <p:par>
                          <p:cTn id="46" fill="hold">
                            <p:stCondLst>
                              <p:cond delay="0"/>
                            </p:stCondLst>
                            <p:childTnLst>
                              <p:par>
                                <p:cTn id="47" presetID="10" presetClass="exit" presetSubtype="0" fill="hold" nodeType="clickEffect">
                                  <p:stCondLst>
                                    <p:cond delay="0"/>
                                  </p:stCondLst>
                                  <p:childTnLst>
                                    <p:animEffect transition="out" filter="fade">
                                      <p:cBhvr>
                                        <p:cTn id="48" dur="500"/>
                                        <p:tgtEl>
                                          <p:spTgt spid="48"/>
                                        </p:tgtEl>
                                      </p:cBhvr>
                                    </p:animEffect>
                                    <p:set>
                                      <p:cBhvr>
                                        <p:cTn id="49" dur="1" fill="hold">
                                          <p:stCondLst>
                                            <p:cond delay="499"/>
                                          </p:stCondLst>
                                        </p:cTn>
                                        <p:tgtEl>
                                          <p:spTgt spid="48"/>
                                        </p:tgtEl>
                                        <p:attrNameLst>
                                          <p:attrName>style.visibility</p:attrName>
                                        </p:attrNameLst>
                                      </p:cBhvr>
                                      <p:to>
                                        <p:strVal val="hidden"/>
                                      </p:to>
                                    </p:set>
                                  </p:childTnLst>
                                </p:cTn>
                              </p:par>
                              <p:par>
                                <p:cTn id="50" presetID="10" presetClass="exit" presetSubtype="0" fill="hold" nodeType="withEffect">
                                  <p:stCondLst>
                                    <p:cond delay="0"/>
                                  </p:stCondLst>
                                  <p:childTnLst>
                                    <p:animEffect transition="out" filter="fade">
                                      <p:cBhvr>
                                        <p:cTn id="51" dur="500"/>
                                        <p:tgtEl>
                                          <p:spTgt spid="50"/>
                                        </p:tgtEl>
                                      </p:cBhvr>
                                    </p:animEffect>
                                    <p:set>
                                      <p:cBhvr>
                                        <p:cTn id="52" dur="1" fill="hold">
                                          <p:stCondLst>
                                            <p:cond delay="499"/>
                                          </p:stCondLst>
                                        </p:cTn>
                                        <p:tgtEl>
                                          <p:spTgt spid="50"/>
                                        </p:tgtEl>
                                        <p:attrNameLst>
                                          <p:attrName>style.visibility</p:attrName>
                                        </p:attrNameLst>
                                      </p:cBhvr>
                                      <p:to>
                                        <p:strVal val="hidden"/>
                                      </p:to>
                                    </p:set>
                                  </p:childTnLst>
                                </p:cTn>
                              </p:par>
                              <p:par>
                                <p:cTn id="53" presetID="10" presetClass="entr" presetSubtype="0" fill="hold" grpId="0" nodeType="withEffect">
                                  <p:stCondLst>
                                    <p:cond delay="0"/>
                                  </p:stCondLst>
                                  <p:childTnLst>
                                    <p:set>
                                      <p:cBhvr>
                                        <p:cTn id="54" dur="1" fill="hold">
                                          <p:stCondLst>
                                            <p:cond delay="0"/>
                                          </p:stCondLst>
                                        </p:cTn>
                                        <p:tgtEl>
                                          <p:spTgt spid="56"/>
                                        </p:tgtEl>
                                        <p:attrNameLst>
                                          <p:attrName>style.visibility</p:attrName>
                                        </p:attrNameLst>
                                      </p:cBhvr>
                                      <p:to>
                                        <p:strVal val="visible"/>
                                      </p:to>
                                    </p:set>
                                    <p:animEffect transition="in" filter="fade">
                                      <p:cBhvr>
                                        <p:cTn id="55" dur="500"/>
                                        <p:tgtEl>
                                          <p:spTgt spid="56"/>
                                        </p:tgtEl>
                                      </p:cBhvr>
                                    </p:animEffect>
                                  </p:childTnLst>
                                </p:cTn>
                              </p:par>
                            </p:childTnLst>
                          </p:cTn>
                        </p:par>
                      </p:childTnLst>
                    </p:cTn>
                  </p:par>
                  <p:par>
                    <p:cTn id="56" fill="hold">
                      <p:stCondLst>
                        <p:cond delay="indefinite"/>
                      </p:stCondLst>
                      <p:childTnLst>
                        <p:par>
                          <p:cTn id="57" fill="hold">
                            <p:stCondLst>
                              <p:cond delay="0"/>
                            </p:stCondLst>
                            <p:childTnLst>
                              <p:par>
                                <p:cTn id="58" presetID="10" presetClass="entr" presetSubtype="0" fill="hold" grpId="0" nodeType="clickEffect">
                                  <p:stCondLst>
                                    <p:cond delay="0"/>
                                  </p:stCondLst>
                                  <p:childTnLst>
                                    <p:set>
                                      <p:cBhvr>
                                        <p:cTn id="59" dur="1" fill="hold">
                                          <p:stCondLst>
                                            <p:cond delay="0"/>
                                          </p:stCondLst>
                                        </p:cTn>
                                        <p:tgtEl>
                                          <p:spTgt spid="57"/>
                                        </p:tgtEl>
                                        <p:attrNameLst>
                                          <p:attrName>style.visibility</p:attrName>
                                        </p:attrNameLst>
                                      </p:cBhvr>
                                      <p:to>
                                        <p:strVal val="visible"/>
                                      </p:to>
                                    </p:set>
                                    <p:animEffect transition="in" filter="fade">
                                      <p:cBhvr>
                                        <p:cTn id="60" dur="500"/>
                                        <p:tgtEl>
                                          <p:spTgt spid="5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 grpId="0"/>
      <p:bldP spid="56" grpId="0" animBg="1"/>
      <p:bldP spid="57"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58F2A59-74B4-4546-B1FA-4E0E870BA685}"/>
              </a:ext>
            </a:extLst>
          </p:cNvPr>
          <p:cNvSpPr>
            <a:spLocks noGrp="1"/>
          </p:cNvSpPr>
          <p:nvPr>
            <p:ph idx="1"/>
          </p:nvPr>
        </p:nvSpPr>
        <p:spPr>
          <a:xfrm>
            <a:off x="2751662" y="812800"/>
            <a:ext cx="6273800" cy="1777998"/>
          </a:xfrm>
        </p:spPr>
        <p:txBody>
          <a:bodyPr/>
          <a:lstStyle/>
          <a:p>
            <a:r>
              <a:rPr lang="en-US" sz="2400" dirty="0"/>
              <a:t>Lots of feedback between the                electrical and chemical networks</a:t>
            </a:r>
          </a:p>
          <a:p>
            <a:pPr lvl="1">
              <a:spcBef>
                <a:spcPts val="0"/>
              </a:spcBef>
            </a:pPr>
            <a:r>
              <a:rPr lang="en-US" sz="2000" dirty="0"/>
              <a:t>Cell voltage can turn on/off GJs, which pass ions</a:t>
            </a:r>
          </a:p>
          <a:p>
            <a:pPr lvl="1">
              <a:spcBef>
                <a:spcPts val="0"/>
              </a:spcBef>
            </a:pPr>
            <a:r>
              <a:rPr lang="en-US" sz="2000" dirty="0"/>
              <a:t>Ions can change </a:t>
            </a:r>
            <a:r>
              <a:rPr lang="en-US" sz="2000" i="1" dirty="0" err="1"/>
              <a:t>V</a:t>
            </a:r>
            <a:r>
              <a:rPr lang="en-US" sz="2000" baseline="-25000" dirty="0" err="1"/>
              <a:t>mem</a:t>
            </a:r>
            <a:r>
              <a:rPr lang="en-US" sz="2000" dirty="0"/>
              <a:t> directly, or by control ion channels, which control voltage; or can activate TFs</a:t>
            </a:r>
          </a:p>
          <a:p>
            <a:pPr lvl="1">
              <a:spcBef>
                <a:spcPts val="0"/>
              </a:spcBef>
            </a:pPr>
            <a:r>
              <a:rPr lang="en-US" sz="2000" dirty="0"/>
              <a:t>The feedback has gain</a:t>
            </a:r>
          </a:p>
          <a:p>
            <a:pPr>
              <a:spcBef>
                <a:spcPts val="0"/>
              </a:spcBef>
            </a:pPr>
            <a:r>
              <a:rPr lang="en-US" sz="2400" dirty="0"/>
              <a:t>Bottom line: we have the material to build a bioelectrical computer</a:t>
            </a:r>
            <a:endParaRPr lang="en-US" sz="2000" dirty="0"/>
          </a:p>
          <a:p>
            <a:pPr>
              <a:spcBef>
                <a:spcPts val="0"/>
              </a:spcBef>
            </a:pPr>
            <a:endParaRPr lang="en-US" sz="2400" dirty="0"/>
          </a:p>
        </p:txBody>
      </p:sp>
      <p:sp>
        <p:nvSpPr>
          <p:cNvPr id="4" name="Footer Placeholder 3">
            <a:extLst>
              <a:ext uri="{FF2B5EF4-FFF2-40B4-BE49-F238E27FC236}">
                <a16:creationId xmlns:a16="http://schemas.microsoft.com/office/drawing/2014/main" id="{B88E0F01-829A-49B4-B914-BDE1FF1DFF72}"/>
              </a:ext>
            </a:extLst>
          </p:cNvPr>
          <p:cNvSpPr>
            <a:spLocks noGrp="1"/>
          </p:cNvSpPr>
          <p:nvPr>
            <p:ph type="ftr" sz="quarter" idx="11"/>
          </p:nvPr>
        </p:nvSpPr>
        <p:spPr/>
        <p:txBody>
          <a:bodyPr/>
          <a:lstStyle/>
          <a:p>
            <a:pPr>
              <a:defRPr/>
            </a:pPr>
            <a:r>
              <a:rPr lang="en-US" dirty="0"/>
              <a:t>Bioelectricity Joel Grodstein</a:t>
            </a:r>
          </a:p>
        </p:txBody>
      </p:sp>
      <p:sp>
        <p:nvSpPr>
          <p:cNvPr id="5" name="Rectangle: Rounded Corners 4">
            <a:extLst>
              <a:ext uri="{FF2B5EF4-FFF2-40B4-BE49-F238E27FC236}">
                <a16:creationId xmlns:a16="http://schemas.microsoft.com/office/drawing/2014/main" id="{BBDF468D-8D40-4592-A863-692019989473}"/>
              </a:ext>
            </a:extLst>
          </p:cNvPr>
          <p:cNvSpPr/>
          <p:nvPr/>
        </p:nvSpPr>
        <p:spPr>
          <a:xfrm>
            <a:off x="215899" y="228599"/>
            <a:ext cx="1955800" cy="1777999"/>
          </a:xfrm>
          <a:prstGeom prst="round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tlCol="0" anchor="t" anchorCtr="0"/>
          <a:lstStyle/>
          <a:p>
            <a:r>
              <a:rPr lang="en-US" dirty="0">
                <a:solidFill>
                  <a:schemeClr val="accent2"/>
                </a:solidFill>
              </a:rPr>
              <a:t>Cell #1, </a:t>
            </a:r>
            <a:r>
              <a:rPr lang="en-US" i="1" dirty="0">
                <a:solidFill>
                  <a:schemeClr val="accent2"/>
                </a:solidFill>
              </a:rPr>
              <a:t>V</a:t>
            </a:r>
            <a:r>
              <a:rPr lang="en-US" baseline="-25000" dirty="0">
                <a:solidFill>
                  <a:schemeClr val="accent2"/>
                </a:solidFill>
              </a:rPr>
              <a:t>1</a:t>
            </a:r>
            <a:endParaRPr lang="en-US" dirty="0">
              <a:solidFill>
                <a:schemeClr val="accent2"/>
              </a:solidFill>
            </a:endParaRPr>
          </a:p>
        </p:txBody>
      </p:sp>
      <p:sp>
        <p:nvSpPr>
          <p:cNvPr id="6" name="Rectangle: Rounded Corners 5">
            <a:extLst>
              <a:ext uri="{FF2B5EF4-FFF2-40B4-BE49-F238E27FC236}">
                <a16:creationId xmlns:a16="http://schemas.microsoft.com/office/drawing/2014/main" id="{E0E72A4D-40BD-410A-A67D-D776B55213D5}"/>
              </a:ext>
            </a:extLst>
          </p:cNvPr>
          <p:cNvSpPr/>
          <p:nvPr/>
        </p:nvSpPr>
        <p:spPr>
          <a:xfrm>
            <a:off x="215899" y="2319866"/>
            <a:ext cx="1955800" cy="1777999"/>
          </a:xfrm>
          <a:prstGeom prst="round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bIns="0" rtlCol="0" anchor="b" anchorCtr="0"/>
          <a:lstStyle/>
          <a:p>
            <a:r>
              <a:rPr lang="en-US" dirty="0">
                <a:solidFill>
                  <a:schemeClr val="accent2"/>
                </a:solidFill>
              </a:rPr>
              <a:t>Cell #2, </a:t>
            </a:r>
            <a:r>
              <a:rPr lang="en-US" i="1" dirty="0">
                <a:solidFill>
                  <a:schemeClr val="accent2"/>
                </a:solidFill>
              </a:rPr>
              <a:t>V</a:t>
            </a:r>
            <a:r>
              <a:rPr lang="en-US" baseline="-25000" dirty="0">
                <a:solidFill>
                  <a:schemeClr val="accent2"/>
                </a:solidFill>
              </a:rPr>
              <a:t>2</a:t>
            </a:r>
            <a:endParaRPr lang="en-US" dirty="0">
              <a:solidFill>
                <a:schemeClr val="accent2"/>
              </a:solidFill>
            </a:endParaRPr>
          </a:p>
        </p:txBody>
      </p:sp>
      <p:cxnSp>
        <p:nvCxnSpPr>
          <p:cNvPr id="8" name="Straight Connector 7">
            <a:extLst>
              <a:ext uri="{FF2B5EF4-FFF2-40B4-BE49-F238E27FC236}">
                <a16:creationId xmlns:a16="http://schemas.microsoft.com/office/drawing/2014/main" id="{A50C9831-15F8-4112-8B60-E23CE4B6128F}"/>
              </a:ext>
            </a:extLst>
          </p:cNvPr>
          <p:cNvCxnSpPr/>
          <p:nvPr/>
        </p:nvCxnSpPr>
        <p:spPr>
          <a:xfrm>
            <a:off x="990600" y="2002367"/>
            <a:ext cx="0" cy="330200"/>
          </a:xfrm>
          <a:prstGeom prst="line">
            <a:avLst/>
          </a:prstGeom>
          <a:ln w="28575">
            <a:solidFill>
              <a:schemeClr val="accent2"/>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CE9FA24C-66CB-4AF3-A5A1-640173729BDE}"/>
              </a:ext>
            </a:extLst>
          </p:cNvPr>
          <p:cNvCxnSpPr/>
          <p:nvPr/>
        </p:nvCxnSpPr>
        <p:spPr>
          <a:xfrm>
            <a:off x="1337734" y="2002367"/>
            <a:ext cx="0" cy="330200"/>
          </a:xfrm>
          <a:prstGeom prst="line">
            <a:avLst/>
          </a:prstGeom>
          <a:ln w="28575">
            <a:solidFill>
              <a:schemeClr val="accent2"/>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0" name="Rectangle 9">
            <a:extLst>
              <a:ext uri="{FF2B5EF4-FFF2-40B4-BE49-F238E27FC236}">
                <a16:creationId xmlns:a16="http://schemas.microsoft.com/office/drawing/2014/main" id="{14BA1487-D2B8-4C8E-8BA2-B95963756A24}"/>
              </a:ext>
            </a:extLst>
          </p:cNvPr>
          <p:cNvSpPr/>
          <p:nvPr/>
        </p:nvSpPr>
        <p:spPr>
          <a:xfrm>
            <a:off x="1024468" y="1862667"/>
            <a:ext cx="301752" cy="6096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val 10">
            <a:extLst>
              <a:ext uri="{FF2B5EF4-FFF2-40B4-BE49-F238E27FC236}">
                <a16:creationId xmlns:a16="http://schemas.microsoft.com/office/drawing/2014/main" id="{9C624963-A05C-43E1-97CE-081649E0E7D0}"/>
              </a:ext>
            </a:extLst>
          </p:cNvPr>
          <p:cNvSpPr/>
          <p:nvPr/>
        </p:nvSpPr>
        <p:spPr>
          <a:xfrm>
            <a:off x="1024467" y="1320800"/>
            <a:ext cx="169333" cy="169333"/>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76FCE4AA-CD05-49AB-9321-6A6FFB3B1A72}"/>
              </a:ext>
            </a:extLst>
          </p:cNvPr>
          <p:cNvSpPr/>
          <p:nvPr/>
        </p:nvSpPr>
        <p:spPr>
          <a:xfrm>
            <a:off x="1617134" y="1549403"/>
            <a:ext cx="169333" cy="169333"/>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Double Bracket 12">
            <a:extLst>
              <a:ext uri="{FF2B5EF4-FFF2-40B4-BE49-F238E27FC236}">
                <a16:creationId xmlns:a16="http://schemas.microsoft.com/office/drawing/2014/main" id="{76430995-8BAC-43A0-BF1D-37CC12579DA1}"/>
              </a:ext>
            </a:extLst>
          </p:cNvPr>
          <p:cNvSpPr/>
          <p:nvPr/>
        </p:nvSpPr>
        <p:spPr>
          <a:xfrm rot="16200000">
            <a:off x="2034114" y="772582"/>
            <a:ext cx="292100" cy="372533"/>
          </a:xfrm>
          <a:prstGeom prst="bracketPair">
            <a:avLst/>
          </a:prstGeom>
          <a:solidFill>
            <a:schemeClr val="bg1"/>
          </a:solidFill>
          <a:ln w="28575">
            <a:solidFill>
              <a:schemeClr val="accent2"/>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5" name="Double Bracket 14">
            <a:extLst>
              <a:ext uri="{FF2B5EF4-FFF2-40B4-BE49-F238E27FC236}">
                <a16:creationId xmlns:a16="http://schemas.microsoft.com/office/drawing/2014/main" id="{4646A455-CC09-49E2-95A1-99CC17D49045}"/>
              </a:ext>
            </a:extLst>
          </p:cNvPr>
          <p:cNvSpPr/>
          <p:nvPr/>
        </p:nvSpPr>
        <p:spPr>
          <a:xfrm rot="16200000">
            <a:off x="2034112" y="3007786"/>
            <a:ext cx="292100" cy="372533"/>
          </a:xfrm>
          <a:prstGeom prst="bracketPair">
            <a:avLst/>
          </a:prstGeom>
          <a:solidFill>
            <a:schemeClr val="bg1"/>
          </a:solidFill>
          <a:ln w="28575">
            <a:solidFill>
              <a:schemeClr val="accent2"/>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cxnSp>
        <p:nvCxnSpPr>
          <p:cNvPr id="16" name="Straight Arrow Connector 15">
            <a:extLst>
              <a:ext uri="{FF2B5EF4-FFF2-40B4-BE49-F238E27FC236}">
                <a16:creationId xmlns:a16="http://schemas.microsoft.com/office/drawing/2014/main" id="{03F2AE07-2F04-40ED-83D4-9B4B52499793}"/>
              </a:ext>
            </a:extLst>
          </p:cNvPr>
          <p:cNvCxnSpPr>
            <a:cxnSpLocks/>
          </p:cNvCxnSpPr>
          <p:nvPr/>
        </p:nvCxnSpPr>
        <p:spPr>
          <a:xfrm flipH="1">
            <a:off x="1464733" y="1811867"/>
            <a:ext cx="1684867" cy="381000"/>
          </a:xfrm>
          <a:prstGeom prst="straightConnector1">
            <a:avLst/>
          </a:prstGeom>
          <a:ln w="2857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57CA7609-1FC7-4830-AB1F-C5BEA0A9884C}"/>
              </a:ext>
            </a:extLst>
          </p:cNvPr>
          <p:cNvCxnSpPr>
            <a:cxnSpLocks/>
          </p:cNvCxnSpPr>
          <p:nvPr/>
        </p:nvCxnSpPr>
        <p:spPr>
          <a:xfrm>
            <a:off x="1244600" y="3098800"/>
            <a:ext cx="643467" cy="1"/>
          </a:xfrm>
          <a:prstGeom prst="straightConnector1">
            <a:avLst/>
          </a:prstGeom>
          <a:ln w="2857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732116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16"/>
                                        </p:tgtEl>
                                        <p:attrNameLst>
                                          <p:attrName>style.visibility</p:attrName>
                                        </p:attrNameLst>
                                      </p:cBhvr>
                                      <p:to>
                                        <p:strVal val="visible"/>
                                      </p:to>
                                    </p:set>
                                    <p:animEffect transition="in" filter="fade">
                                      <p:cBhvr>
                                        <p:cTn id="10" dur="500"/>
                                        <p:tgtEl>
                                          <p:spTgt spid="16"/>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0"/>
                                        </p:tgtEl>
                                        <p:attrNameLst>
                                          <p:attrName>style.visibility</p:attrName>
                                        </p:attrNameLst>
                                      </p:cBhvr>
                                      <p:to>
                                        <p:strVal val="visible"/>
                                      </p:to>
                                    </p:set>
                                    <p:animEffect transition="in" filter="fade">
                                      <p:cBhvr>
                                        <p:cTn id="15" dur="500"/>
                                        <p:tgtEl>
                                          <p:spTgt spid="10"/>
                                        </p:tgtEl>
                                      </p:cBhvr>
                                    </p:animEffect>
                                  </p:childTnLst>
                                </p:cTn>
                              </p:par>
                            </p:childTnLst>
                          </p:cTn>
                        </p:par>
                      </p:childTnLst>
                    </p:cTn>
                  </p:par>
                  <p:par>
                    <p:cTn id="16" fill="hold">
                      <p:stCondLst>
                        <p:cond delay="indefinite"/>
                      </p:stCondLst>
                      <p:childTnLst>
                        <p:par>
                          <p:cTn id="17" fill="hold">
                            <p:stCondLst>
                              <p:cond delay="0"/>
                            </p:stCondLst>
                            <p:childTnLst>
                              <p:par>
                                <p:cTn id="18" presetID="42" presetClass="path" presetSubtype="0" accel="50000" decel="50000" fill="hold" grpId="0" nodeType="clickEffect">
                                  <p:stCondLst>
                                    <p:cond delay="0"/>
                                  </p:stCondLst>
                                  <p:childTnLst>
                                    <p:animMotion origin="layout" path="M 0 0 L 0 0.25 E" pathEditMode="relative" ptsTypes="">
                                      <p:cBhvr>
                                        <p:cTn id="19" dur="2000" fill="hold"/>
                                        <p:tgtEl>
                                          <p:spTgt spid="11"/>
                                        </p:tgtEl>
                                        <p:attrNameLst>
                                          <p:attrName>ppt_x</p:attrName>
                                          <p:attrName>ppt_y</p:attrName>
                                        </p:attrNameLst>
                                      </p:cBhvr>
                                    </p:animMotion>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nodeType="clickEffect">
                                  <p:stCondLst>
                                    <p:cond delay="0"/>
                                  </p:stCondLst>
                                  <p:childTnLst>
                                    <p:set>
                                      <p:cBhvr>
                                        <p:cTn id="23" dur="1" fill="hold">
                                          <p:stCondLst>
                                            <p:cond delay="0"/>
                                          </p:stCondLst>
                                        </p:cTn>
                                        <p:tgtEl>
                                          <p:spTgt spid="3">
                                            <p:txEl>
                                              <p:pRg st="2" end="2"/>
                                            </p:txEl>
                                          </p:spTgt>
                                        </p:tgtEl>
                                        <p:attrNameLst>
                                          <p:attrName>style.visibility</p:attrName>
                                        </p:attrNameLst>
                                      </p:cBhvr>
                                      <p:to>
                                        <p:strVal val="visible"/>
                                      </p:to>
                                    </p:set>
                                    <p:animEffect transition="in" filter="fade">
                                      <p:cBhvr>
                                        <p:cTn id="24" dur="500"/>
                                        <p:tgtEl>
                                          <p:spTgt spid="3">
                                            <p:txEl>
                                              <p:pRg st="2" end="2"/>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nodeType="clickEffect">
                                  <p:stCondLst>
                                    <p:cond delay="0"/>
                                  </p:stCondLst>
                                  <p:childTnLst>
                                    <p:set>
                                      <p:cBhvr>
                                        <p:cTn id="28" dur="1" fill="hold">
                                          <p:stCondLst>
                                            <p:cond delay="0"/>
                                          </p:stCondLst>
                                        </p:cTn>
                                        <p:tgtEl>
                                          <p:spTgt spid="25"/>
                                        </p:tgtEl>
                                        <p:attrNameLst>
                                          <p:attrName>style.visibility</p:attrName>
                                        </p:attrNameLst>
                                      </p:cBhvr>
                                      <p:to>
                                        <p:strVal val="visible"/>
                                      </p:to>
                                    </p:set>
                                    <p:animEffect transition="in" filter="fade">
                                      <p:cBhvr>
                                        <p:cTn id="29" dur="500"/>
                                        <p:tgtEl>
                                          <p:spTgt spid="25"/>
                                        </p:tgtEl>
                                      </p:cBhvr>
                                    </p:animEffect>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nodeType="clickEffect">
                                  <p:stCondLst>
                                    <p:cond delay="0"/>
                                  </p:stCondLst>
                                  <p:childTnLst>
                                    <p:set>
                                      <p:cBhvr>
                                        <p:cTn id="33" dur="1" fill="hold">
                                          <p:stCondLst>
                                            <p:cond delay="0"/>
                                          </p:stCondLst>
                                        </p:cTn>
                                        <p:tgtEl>
                                          <p:spTgt spid="3">
                                            <p:txEl>
                                              <p:pRg st="3" end="3"/>
                                            </p:txEl>
                                          </p:spTgt>
                                        </p:tgtEl>
                                        <p:attrNameLst>
                                          <p:attrName>style.visibility</p:attrName>
                                        </p:attrNameLst>
                                      </p:cBhvr>
                                      <p:to>
                                        <p:strVal val="visible"/>
                                      </p:to>
                                    </p:set>
                                    <p:animEffect transition="in" filter="fade">
                                      <p:cBhvr>
                                        <p:cTn id="34" dur="500"/>
                                        <p:tgtEl>
                                          <p:spTgt spid="3">
                                            <p:txEl>
                                              <p:pRg st="3" end="3"/>
                                            </p:txEl>
                                          </p:spTgt>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nodeType="clickEffect">
                                  <p:stCondLst>
                                    <p:cond delay="0"/>
                                  </p:stCondLst>
                                  <p:childTnLst>
                                    <p:set>
                                      <p:cBhvr>
                                        <p:cTn id="38" dur="1" fill="hold">
                                          <p:stCondLst>
                                            <p:cond delay="0"/>
                                          </p:stCondLst>
                                        </p:cTn>
                                        <p:tgtEl>
                                          <p:spTgt spid="3">
                                            <p:txEl>
                                              <p:pRg st="4" end="4"/>
                                            </p:txEl>
                                          </p:spTgt>
                                        </p:tgtEl>
                                        <p:attrNameLst>
                                          <p:attrName>style.visibility</p:attrName>
                                        </p:attrNameLst>
                                      </p:cBhvr>
                                      <p:to>
                                        <p:strVal val="visible"/>
                                      </p:to>
                                    </p:set>
                                    <p:animEffect transition="in" filter="fade">
                                      <p:cBhvr>
                                        <p:cTn id="39"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1B97487-B5E7-47F9-BB2E-923C4A4272E2}"/>
              </a:ext>
            </a:extLst>
          </p:cNvPr>
          <p:cNvSpPr>
            <a:spLocks noGrp="1"/>
          </p:cNvSpPr>
          <p:nvPr>
            <p:ph idx="1"/>
          </p:nvPr>
        </p:nvSpPr>
        <p:spPr>
          <a:xfrm>
            <a:off x="643467" y="2082796"/>
            <a:ext cx="7730066" cy="3303120"/>
          </a:xfrm>
        </p:spPr>
        <p:txBody>
          <a:bodyPr/>
          <a:lstStyle/>
          <a:p>
            <a:r>
              <a:rPr lang="en-US" sz="2400" dirty="0"/>
              <a:t>Block GJs </a:t>
            </a:r>
            <a:r>
              <a:rPr lang="en-US" sz="2400" dirty="0">
                <a:latin typeface="Times New Roman" panose="02020603050405020304" pitchFamily="18" charset="0"/>
                <a:cs typeface="Times New Roman" panose="02020603050405020304" pitchFamily="18" charset="0"/>
              </a:rPr>
              <a:t>→ occasionally get a 2H worm</a:t>
            </a:r>
            <a:endParaRPr lang="en-US" sz="2400" dirty="0"/>
          </a:p>
          <a:p>
            <a:r>
              <a:rPr lang="en-US" sz="2400" dirty="0"/>
              <a:t>Block GJs and neurons </a:t>
            </a:r>
            <a:r>
              <a:rPr lang="en-US" sz="2400" dirty="0">
                <a:latin typeface="Times New Roman" panose="02020603050405020304" pitchFamily="18" charset="0"/>
                <a:cs typeface="Times New Roman" panose="02020603050405020304" pitchFamily="18" charset="0"/>
              </a:rPr>
              <a:t>→ </a:t>
            </a:r>
            <a:r>
              <a:rPr lang="en-US" sz="2400" i="1" dirty="0">
                <a:latin typeface="Times New Roman" panose="02020603050405020304" pitchFamily="18" charset="0"/>
                <a:cs typeface="Times New Roman" panose="02020603050405020304" pitchFamily="18" charset="0"/>
              </a:rPr>
              <a:t>really </a:t>
            </a:r>
            <a:r>
              <a:rPr lang="en-US" sz="2400" dirty="0">
                <a:latin typeface="Times New Roman" panose="02020603050405020304" pitchFamily="18" charset="0"/>
                <a:cs typeface="Times New Roman" panose="02020603050405020304" pitchFamily="18" charset="0"/>
              </a:rPr>
              <a:t>weird results</a:t>
            </a:r>
            <a:endParaRPr lang="en-US" sz="2400" dirty="0"/>
          </a:p>
          <a:p>
            <a:r>
              <a:rPr lang="en-US" sz="2400" dirty="0"/>
              <a:t>Conclusions about how </a:t>
            </a:r>
            <a:r>
              <a:rPr lang="en-US" sz="2400" i="1" dirty="0" err="1"/>
              <a:t>V</a:t>
            </a:r>
            <a:r>
              <a:rPr lang="en-US" sz="2400" baseline="-25000" dirty="0" err="1"/>
              <a:t>mem</a:t>
            </a:r>
            <a:r>
              <a:rPr lang="en-US" sz="2400" dirty="0"/>
              <a:t> patterns are formed?</a:t>
            </a:r>
          </a:p>
          <a:p>
            <a:pPr lvl="1">
              <a:spcBef>
                <a:spcPts val="0"/>
              </a:spcBef>
            </a:pPr>
            <a:r>
              <a:rPr lang="en-US" sz="2000" dirty="0"/>
              <a:t>GJs and neurons both working together somehow</a:t>
            </a:r>
          </a:p>
          <a:p>
            <a:pPr>
              <a:spcBef>
                <a:spcPts val="600"/>
              </a:spcBef>
            </a:pPr>
            <a:r>
              <a:rPr lang="en-US" sz="2400" dirty="0"/>
              <a:t>Proof of concept for </a:t>
            </a:r>
            <a:r>
              <a:rPr lang="en-US" sz="2400"/>
              <a:t>regenerative medicine</a:t>
            </a:r>
            <a:endParaRPr lang="en-US" sz="2400" dirty="0"/>
          </a:p>
          <a:p>
            <a:pPr lvl="1">
              <a:spcBef>
                <a:spcPts val="0"/>
              </a:spcBef>
            </a:pPr>
            <a:r>
              <a:rPr lang="en-US" sz="2000" dirty="0"/>
              <a:t>we are using a high-level API to control what grows</a:t>
            </a:r>
          </a:p>
          <a:p>
            <a:r>
              <a:rPr lang="en-US" sz="2400" dirty="0"/>
              <a:t>We have a sensible theory</a:t>
            </a:r>
          </a:p>
          <a:p>
            <a:pPr lvl="1">
              <a:spcBef>
                <a:spcPts val="0"/>
              </a:spcBef>
            </a:pPr>
            <a:r>
              <a:rPr lang="en-US" sz="2000" dirty="0"/>
              <a:t>Time to look at more weird science </a:t>
            </a:r>
            <a:r>
              <a:rPr lang="en-US" sz="2000" dirty="0">
                <a:sym typeface="Wingdings" panose="05000000000000000000" pitchFamily="2" charset="2"/>
              </a:rPr>
              <a:t></a:t>
            </a:r>
            <a:endParaRPr lang="en-US" sz="2000" dirty="0"/>
          </a:p>
          <a:p>
            <a:pPr lvl="1">
              <a:spcBef>
                <a:spcPts val="0"/>
              </a:spcBef>
            </a:pPr>
            <a:endParaRPr lang="en-US" sz="2000" dirty="0"/>
          </a:p>
          <a:p>
            <a:endParaRPr lang="en-US" sz="2400" dirty="0"/>
          </a:p>
        </p:txBody>
      </p:sp>
      <p:sp>
        <p:nvSpPr>
          <p:cNvPr id="4" name="Footer Placeholder 3">
            <a:extLst>
              <a:ext uri="{FF2B5EF4-FFF2-40B4-BE49-F238E27FC236}">
                <a16:creationId xmlns:a16="http://schemas.microsoft.com/office/drawing/2014/main" id="{1106BA15-78F6-4C13-A498-7B56EF414FB8}"/>
              </a:ext>
            </a:extLst>
          </p:cNvPr>
          <p:cNvSpPr>
            <a:spLocks noGrp="1"/>
          </p:cNvSpPr>
          <p:nvPr>
            <p:ph type="ftr" sz="quarter" idx="11"/>
          </p:nvPr>
        </p:nvSpPr>
        <p:spPr>
          <a:xfrm>
            <a:off x="5037670" y="6323500"/>
            <a:ext cx="2895600" cy="215444"/>
          </a:xfrm>
        </p:spPr>
        <p:txBody>
          <a:bodyPr>
            <a:spAutoFit/>
          </a:bodyPr>
          <a:lstStyle/>
          <a:p>
            <a:pPr>
              <a:defRPr/>
            </a:pPr>
            <a:r>
              <a:rPr lang="en-US" dirty="0"/>
              <a:t>Bioelectricity Joel Grodstein</a:t>
            </a:r>
          </a:p>
        </p:txBody>
      </p:sp>
      <p:sp>
        <p:nvSpPr>
          <p:cNvPr id="8" name="TextBox 7">
            <a:extLst>
              <a:ext uri="{FF2B5EF4-FFF2-40B4-BE49-F238E27FC236}">
                <a16:creationId xmlns:a16="http://schemas.microsoft.com/office/drawing/2014/main" id="{E4E8D58C-44DA-40A3-984B-D058D6E7A368}"/>
              </a:ext>
            </a:extLst>
          </p:cNvPr>
          <p:cNvSpPr txBox="1"/>
          <p:nvPr/>
        </p:nvSpPr>
        <p:spPr>
          <a:xfrm>
            <a:off x="491067" y="6261945"/>
            <a:ext cx="4461934" cy="369332"/>
          </a:xfrm>
          <a:prstGeom prst="rect">
            <a:avLst/>
          </a:prstGeom>
          <a:noFill/>
        </p:spPr>
        <p:txBody>
          <a:bodyPr wrap="square" rtlCol="0">
            <a:spAutoFit/>
          </a:bodyPr>
          <a:lstStyle/>
          <a:p>
            <a:r>
              <a:rPr lang="en-US" sz="1800" dirty="0"/>
              <a:t>Credit: </a:t>
            </a:r>
            <a:r>
              <a:rPr lang="en-US" sz="1800" i="1" dirty="0"/>
              <a:t>Modeling Planarian Regeneration…</a:t>
            </a:r>
            <a:endParaRPr lang="en-US" sz="1800" dirty="0"/>
          </a:p>
        </p:txBody>
      </p:sp>
      <p:pic>
        <p:nvPicPr>
          <p:cNvPr id="7" name="Picture 6">
            <a:extLst>
              <a:ext uri="{FF2B5EF4-FFF2-40B4-BE49-F238E27FC236}">
                <a16:creationId xmlns:a16="http://schemas.microsoft.com/office/drawing/2014/main" id="{87EE9997-ABC3-4858-8820-0F72FE7F1B5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856959" y="433295"/>
            <a:ext cx="5572125" cy="1552575"/>
          </a:xfrm>
          <a:prstGeom prst="rect">
            <a:avLst/>
          </a:prstGeom>
        </p:spPr>
      </p:pic>
    </p:spTree>
    <p:extLst>
      <p:ext uri="{BB962C8B-B14F-4D97-AF65-F5344CB8AC3E}">
        <p14:creationId xmlns:p14="http://schemas.microsoft.com/office/powerpoint/2010/main" val="18565910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animEffect transition="in" filter="fade">
                                      <p:cBhvr>
                                        <p:cTn id="7" dur="500"/>
                                        <p:tgtEl>
                                          <p:spTgt spid="3">
                                            <p:txEl>
                                              <p:pRg st="3" end="3"/>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4" end="4"/>
                                            </p:txEl>
                                          </p:spTgt>
                                        </p:tgtEl>
                                        <p:attrNameLst>
                                          <p:attrName>style.visibility</p:attrName>
                                        </p:attrNameLst>
                                      </p:cBhvr>
                                      <p:to>
                                        <p:strVal val="visible"/>
                                      </p:to>
                                    </p:set>
                                    <p:animEffect transition="in" filter="fade">
                                      <p:cBhvr>
                                        <p:cTn id="12" dur="500"/>
                                        <p:tgtEl>
                                          <p:spTgt spid="3">
                                            <p:txEl>
                                              <p:pRg st="4" end="4"/>
                                            </p:txEl>
                                          </p:spTgt>
                                        </p:tgtEl>
                                      </p:cBhvr>
                                    </p:animEffect>
                                  </p:childTnLst>
                                </p:cTn>
                              </p:par>
                              <p:par>
                                <p:cTn id="13" presetID="10" presetClass="entr" presetSubtype="0" fill="hold" nodeType="with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animEffect transition="in" filter="fade">
                                      <p:cBhvr>
                                        <p:cTn id="15" dur="500"/>
                                        <p:tgtEl>
                                          <p:spTgt spid="3">
                                            <p:txEl>
                                              <p:pRg st="5" end="5"/>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3">
                                            <p:txEl>
                                              <p:pRg st="6" end="6"/>
                                            </p:txEl>
                                          </p:spTgt>
                                        </p:tgtEl>
                                        <p:attrNameLst>
                                          <p:attrName>style.visibility</p:attrName>
                                        </p:attrNameLst>
                                      </p:cBhvr>
                                      <p:to>
                                        <p:strVal val="visible"/>
                                      </p:to>
                                    </p:set>
                                    <p:animEffect transition="in" filter="fade">
                                      <p:cBhvr>
                                        <p:cTn id="20" dur="500"/>
                                        <p:tgtEl>
                                          <p:spTgt spid="3">
                                            <p:txEl>
                                              <p:pRg st="6" end="6"/>
                                            </p:txEl>
                                          </p:spTgt>
                                        </p:tgtEl>
                                      </p:cBhvr>
                                    </p:animEffect>
                                  </p:childTnLst>
                                </p:cTn>
                              </p:par>
                              <p:par>
                                <p:cTn id="21" presetID="10" presetClass="entr" presetSubtype="0" fill="hold" nodeType="withEffect">
                                  <p:stCondLst>
                                    <p:cond delay="0"/>
                                  </p:stCondLst>
                                  <p:childTnLst>
                                    <p:set>
                                      <p:cBhvr>
                                        <p:cTn id="22" dur="1" fill="hold">
                                          <p:stCondLst>
                                            <p:cond delay="0"/>
                                          </p:stCondLst>
                                        </p:cTn>
                                        <p:tgtEl>
                                          <p:spTgt spid="3">
                                            <p:txEl>
                                              <p:pRg st="7" end="7"/>
                                            </p:txEl>
                                          </p:spTgt>
                                        </p:tgtEl>
                                        <p:attrNameLst>
                                          <p:attrName>style.visibility</p:attrName>
                                        </p:attrNameLst>
                                      </p:cBhvr>
                                      <p:to>
                                        <p:strVal val="visible"/>
                                      </p:to>
                                    </p:set>
                                    <p:animEffect transition="in" filter="fade">
                                      <p:cBhvr>
                                        <p:cTn id="23" dur="5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316B8B-0EFE-4BE3-9564-0264F76E4140}"/>
              </a:ext>
            </a:extLst>
          </p:cNvPr>
          <p:cNvSpPr>
            <a:spLocks noGrp="1"/>
          </p:cNvSpPr>
          <p:nvPr>
            <p:ph type="title"/>
          </p:nvPr>
        </p:nvSpPr>
        <p:spPr>
          <a:xfrm>
            <a:off x="685800" y="304800"/>
            <a:ext cx="8077200" cy="812800"/>
          </a:xfrm>
        </p:spPr>
        <p:txBody>
          <a:bodyPr/>
          <a:lstStyle/>
          <a:p>
            <a:pPr algn="l"/>
            <a:r>
              <a:rPr lang="en-US" dirty="0"/>
              <a:t>The amazing </a:t>
            </a:r>
            <a:r>
              <a:rPr lang="en-US" dirty="0" err="1"/>
              <a:t>planaria</a:t>
            </a:r>
            <a:r>
              <a:rPr lang="en-US" dirty="0"/>
              <a:t>: head shape </a:t>
            </a:r>
          </a:p>
        </p:txBody>
      </p:sp>
      <p:sp>
        <p:nvSpPr>
          <p:cNvPr id="3" name="Content Placeholder 2">
            <a:extLst>
              <a:ext uri="{FF2B5EF4-FFF2-40B4-BE49-F238E27FC236}">
                <a16:creationId xmlns:a16="http://schemas.microsoft.com/office/drawing/2014/main" id="{88E790D4-1EDF-4B78-860E-BBF92CF6C427}"/>
              </a:ext>
            </a:extLst>
          </p:cNvPr>
          <p:cNvSpPr>
            <a:spLocks noGrp="1"/>
          </p:cNvSpPr>
          <p:nvPr>
            <p:ph idx="1"/>
          </p:nvPr>
        </p:nvSpPr>
        <p:spPr>
          <a:xfrm>
            <a:off x="330200" y="1642533"/>
            <a:ext cx="4428067" cy="1998137"/>
          </a:xfrm>
        </p:spPr>
        <p:txBody>
          <a:bodyPr/>
          <a:lstStyle/>
          <a:p>
            <a:r>
              <a:rPr lang="en-US" sz="2000" dirty="0"/>
              <a:t>Procedure:</a:t>
            </a:r>
          </a:p>
          <a:p>
            <a:pPr lvl="1">
              <a:spcBef>
                <a:spcPts val="0"/>
              </a:spcBef>
            </a:pPr>
            <a:r>
              <a:rPr lang="en-US" sz="1800" dirty="0"/>
              <a:t>Start with </a:t>
            </a:r>
            <a:r>
              <a:rPr lang="en-US" sz="1800" dirty="0" err="1"/>
              <a:t>Girardia</a:t>
            </a:r>
            <a:r>
              <a:rPr lang="en-US" sz="1800" dirty="0"/>
              <a:t> </a:t>
            </a:r>
            <a:r>
              <a:rPr lang="en-US" sz="1800" dirty="0" err="1"/>
              <a:t>dorotocephala</a:t>
            </a:r>
            <a:r>
              <a:rPr lang="en-US" sz="1800" dirty="0"/>
              <a:t>, a particular planarian species</a:t>
            </a:r>
          </a:p>
          <a:p>
            <a:pPr lvl="1">
              <a:spcBef>
                <a:spcPts val="0"/>
              </a:spcBef>
            </a:pPr>
            <a:r>
              <a:rPr lang="en-US" sz="1800" dirty="0"/>
              <a:t>Cut off head and tail; preserve the trunk</a:t>
            </a:r>
          </a:p>
          <a:p>
            <a:pPr lvl="1">
              <a:spcBef>
                <a:spcPts val="0"/>
              </a:spcBef>
            </a:pPr>
            <a:r>
              <a:rPr lang="en-US" sz="1800" dirty="0"/>
              <a:t>Dunk in octanol (blocks GJs) 3 days</a:t>
            </a:r>
          </a:p>
          <a:p>
            <a:pPr lvl="1">
              <a:spcBef>
                <a:spcPts val="0"/>
              </a:spcBef>
            </a:pPr>
            <a:r>
              <a:rPr lang="en-US" sz="1800" dirty="0"/>
              <a:t>Regenerate 7 days in water</a:t>
            </a:r>
          </a:p>
        </p:txBody>
      </p:sp>
      <p:sp>
        <p:nvSpPr>
          <p:cNvPr id="4" name="Footer Placeholder 3">
            <a:extLst>
              <a:ext uri="{FF2B5EF4-FFF2-40B4-BE49-F238E27FC236}">
                <a16:creationId xmlns:a16="http://schemas.microsoft.com/office/drawing/2014/main" id="{39CA73E8-6A79-4502-93E8-5593B4232587}"/>
              </a:ext>
            </a:extLst>
          </p:cNvPr>
          <p:cNvSpPr>
            <a:spLocks noGrp="1"/>
          </p:cNvSpPr>
          <p:nvPr>
            <p:ph type="ftr" sz="quarter" idx="11"/>
          </p:nvPr>
        </p:nvSpPr>
        <p:spPr>
          <a:xfrm>
            <a:off x="6857802" y="5901272"/>
            <a:ext cx="2066271" cy="215444"/>
          </a:xfrm>
        </p:spPr>
        <p:txBody>
          <a:bodyPr wrap="none">
            <a:spAutoFit/>
          </a:bodyPr>
          <a:lstStyle/>
          <a:p>
            <a:pPr>
              <a:defRPr/>
            </a:pPr>
            <a:r>
              <a:rPr lang="en-US" dirty="0"/>
              <a:t>Bioelectricity Joel Grodstein</a:t>
            </a:r>
          </a:p>
        </p:txBody>
      </p:sp>
      <p:sp>
        <p:nvSpPr>
          <p:cNvPr id="6" name="TextBox 5">
            <a:extLst>
              <a:ext uri="{FF2B5EF4-FFF2-40B4-BE49-F238E27FC236}">
                <a16:creationId xmlns:a16="http://schemas.microsoft.com/office/drawing/2014/main" id="{6D897B4F-0C3A-47A2-A9C9-E703DEF5A5D5}"/>
              </a:ext>
            </a:extLst>
          </p:cNvPr>
          <p:cNvSpPr txBox="1"/>
          <p:nvPr/>
        </p:nvSpPr>
        <p:spPr>
          <a:xfrm>
            <a:off x="203200" y="6160350"/>
            <a:ext cx="8322733" cy="646331"/>
          </a:xfrm>
          <a:prstGeom prst="rect">
            <a:avLst/>
          </a:prstGeom>
          <a:noFill/>
        </p:spPr>
        <p:txBody>
          <a:bodyPr wrap="square" rtlCol="0">
            <a:spAutoFit/>
          </a:bodyPr>
          <a:lstStyle/>
          <a:p>
            <a:r>
              <a:rPr lang="en-US" sz="1800" dirty="0"/>
              <a:t>Credit: </a:t>
            </a:r>
            <a:r>
              <a:rPr lang="en-US" sz="1800" i="1" dirty="0"/>
              <a:t>Gap junctional blockade stochastically induces different species-specific head anatomies in genetically wild-type </a:t>
            </a:r>
            <a:r>
              <a:rPr lang="en-US" sz="1800" i="1" dirty="0" err="1"/>
              <a:t>Girardia</a:t>
            </a:r>
            <a:r>
              <a:rPr lang="en-US" sz="1800" i="1" dirty="0"/>
              <a:t> </a:t>
            </a:r>
            <a:r>
              <a:rPr lang="en-US" sz="1800" i="1" dirty="0" err="1"/>
              <a:t>dorotocephala</a:t>
            </a:r>
            <a:r>
              <a:rPr lang="en-US" sz="1800" i="1" dirty="0"/>
              <a:t> flatworms</a:t>
            </a:r>
            <a:r>
              <a:rPr lang="en-US" sz="1800" dirty="0"/>
              <a:t>, 2018</a:t>
            </a:r>
          </a:p>
        </p:txBody>
      </p:sp>
      <p:pic>
        <p:nvPicPr>
          <p:cNvPr id="10" name="Picture 9">
            <a:extLst>
              <a:ext uri="{FF2B5EF4-FFF2-40B4-BE49-F238E27FC236}">
                <a16:creationId xmlns:a16="http://schemas.microsoft.com/office/drawing/2014/main" id="{C7195612-E3BD-4670-9205-B8B1FC66C92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990524" y="1172632"/>
            <a:ext cx="3738609" cy="3221567"/>
          </a:xfrm>
          <a:prstGeom prst="rect">
            <a:avLst/>
          </a:prstGeom>
        </p:spPr>
      </p:pic>
      <p:sp>
        <p:nvSpPr>
          <p:cNvPr id="11" name="Content Placeholder 2">
            <a:extLst>
              <a:ext uri="{FF2B5EF4-FFF2-40B4-BE49-F238E27FC236}">
                <a16:creationId xmlns:a16="http://schemas.microsoft.com/office/drawing/2014/main" id="{9DBA8237-4C37-4004-835D-5AF65396F058}"/>
              </a:ext>
            </a:extLst>
          </p:cNvPr>
          <p:cNvSpPr txBox="1">
            <a:spLocks/>
          </p:cNvSpPr>
          <p:nvPr/>
        </p:nvSpPr>
        <p:spPr bwMode="auto">
          <a:xfrm>
            <a:off x="279401" y="3894667"/>
            <a:ext cx="8644466" cy="18372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har char="•"/>
              <a:defRPr sz="28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r>
              <a:rPr lang="en-US" sz="2000" kern="0" dirty="0"/>
              <a:t>Results:</a:t>
            </a:r>
          </a:p>
          <a:p>
            <a:pPr lvl="1">
              <a:spcBef>
                <a:spcPts val="0"/>
              </a:spcBef>
            </a:pPr>
            <a:r>
              <a:rPr lang="en-US" sz="1800" kern="0" dirty="0"/>
              <a:t>The worm regrows with a new head shape</a:t>
            </a:r>
          </a:p>
          <a:p>
            <a:pPr lvl="1">
              <a:spcBef>
                <a:spcPts val="0"/>
              </a:spcBef>
            </a:pPr>
            <a:r>
              <a:rPr lang="en-US" sz="1800" kern="0" dirty="0"/>
              <a:t>The head always resembles </a:t>
            </a:r>
            <a:r>
              <a:rPr lang="en-US" sz="1800" i="1" kern="0" dirty="0"/>
              <a:t>some</a:t>
            </a:r>
            <a:r>
              <a:rPr lang="en-US" sz="1800" kern="0" dirty="0"/>
              <a:t> planarian species – never a new shape</a:t>
            </a:r>
          </a:p>
          <a:p>
            <a:pPr lvl="1">
              <a:spcBef>
                <a:spcPts val="0"/>
              </a:spcBef>
            </a:pPr>
            <a:r>
              <a:rPr lang="en-US" sz="1800" kern="0" dirty="0"/>
              <a:t>Probabilistic head-shape distribution; frequency mirrors evolutionary distance to the original species</a:t>
            </a:r>
          </a:p>
          <a:p>
            <a:pPr lvl="1">
              <a:spcBef>
                <a:spcPts val="0"/>
              </a:spcBef>
            </a:pPr>
            <a:r>
              <a:rPr lang="en-US" sz="1800" kern="0" dirty="0"/>
              <a:t>After several weeks: head reverts back to its original shape in a second repatterning!</a:t>
            </a:r>
          </a:p>
        </p:txBody>
      </p:sp>
    </p:spTree>
    <p:extLst>
      <p:ext uri="{BB962C8B-B14F-4D97-AF65-F5344CB8AC3E}">
        <p14:creationId xmlns:p14="http://schemas.microsoft.com/office/powerpoint/2010/main" val="35578301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1">
                                            <p:txEl>
                                              <p:pRg st="1" end="1"/>
                                            </p:txEl>
                                          </p:spTgt>
                                        </p:tgtEl>
                                        <p:attrNameLst>
                                          <p:attrName>style.visibility</p:attrName>
                                        </p:attrNameLst>
                                      </p:cBhvr>
                                      <p:to>
                                        <p:strVal val="visible"/>
                                      </p:to>
                                    </p:set>
                                    <p:animEffect transition="in" filter="fade">
                                      <p:cBhvr>
                                        <p:cTn id="12" dur="500"/>
                                        <p:tgtEl>
                                          <p:spTgt spid="11">
                                            <p:txEl>
                                              <p:pRg st="1" end="1"/>
                                            </p:txEl>
                                          </p:spTgt>
                                        </p:tgtEl>
                                      </p:cBhvr>
                                    </p:animEffect>
                                  </p:childTnLst>
                                </p:cTn>
                              </p:par>
                              <p:par>
                                <p:cTn id="13" presetID="10" presetClass="entr" presetSubtype="0" fill="hold" nodeType="withEffect">
                                  <p:stCondLst>
                                    <p:cond delay="0"/>
                                  </p:stCondLst>
                                  <p:childTnLst>
                                    <p:set>
                                      <p:cBhvr>
                                        <p:cTn id="14" dur="1" fill="hold">
                                          <p:stCondLst>
                                            <p:cond delay="0"/>
                                          </p:stCondLst>
                                        </p:cTn>
                                        <p:tgtEl>
                                          <p:spTgt spid="11">
                                            <p:txEl>
                                              <p:pRg st="0" end="0"/>
                                            </p:txEl>
                                          </p:spTgt>
                                        </p:tgtEl>
                                        <p:attrNameLst>
                                          <p:attrName>style.visibility</p:attrName>
                                        </p:attrNameLst>
                                      </p:cBhvr>
                                      <p:to>
                                        <p:strVal val="visible"/>
                                      </p:to>
                                    </p:set>
                                    <p:animEffect transition="in" filter="fade">
                                      <p:cBhvr>
                                        <p:cTn id="15" dur="500"/>
                                        <p:tgtEl>
                                          <p:spTgt spid="11">
                                            <p:txEl>
                                              <p:pRg st="0" end="0"/>
                                            </p:txEl>
                                          </p:spTgt>
                                        </p:tgtEl>
                                      </p:cBhvr>
                                    </p:animEffect>
                                  </p:childTnLst>
                                </p:cTn>
                              </p:par>
                              <p:par>
                                <p:cTn id="16" presetID="10" presetClass="entr" presetSubtype="0" fill="hold" nodeType="withEffect">
                                  <p:stCondLst>
                                    <p:cond delay="0"/>
                                  </p:stCondLst>
                                  <p:childTnLst>
                                    <p:set>
                                      <p:cBhvr>
                                        <p:cTn id="17" dur="1" fill="hold">
                                          <p:stCondLst>
                                            <p:cond delay="0"/>
                                          </p:stCondLst>
                                        </p:cTn>
                                        <p:tgtEl>
                                          <p:spTgt spid="11">
                                            <p:txEl>
                                              <p:pRg st="2" end="2"/>
                                            </p:txEl>
                                          </p:spTgt>
                                        </p:tgtEl>
                                        <p:attrNameLst>
                                          <p:attrName>style.visibility</p:attrName>
                                        </p:attrNameLst>
                                      </p:cBhvr>
                                      <p:to>
                                        <p:strVal val="visible"/>
                                      </p:to>
                                    </p:set>
                                    <p:animEffect transition="in" filter="fade">
                                      <p:cBhvr>
                                        <p:cTn id="18" dur="500"/>
                                        <p:tgtEl>
                                          <p:spTgt spid="11">
                                            <p:txEl>
                                              <p:pRg st="2" end="2"/>
                                            </p:txEl>
                                          </p:spTgt>
                                        </p:tgtEl>
                                      </p:cBhvr>
                                    </p:animEffect>
                                  </p:childTnLst>
                                </p:cTn>
                              </p:par>
                              <p:par>
                                <p:cTn id="19" presetID="10" presetClass="entr" presetSubtype="0" fill="hold" nodeType="withEffect">
                                  <p:stCondLst>
                                    <p:cond delay="0"/>
                                  </p:stCondLst>
                                  <p:childTnLst>
                                    <p:set>
                                      <p:cBhvr>
                                        <p:cTn id="20" dur="1" fill="hold">
                                          <p:stCondLst>
                                            <p:cond delay="0"/>
                                          </p:stCondLst>
                                        </p:cTn>
                                        <p:tgtEl>
                                          <p:spTgt spid="11">
                                            <p:txEl>
                                              <p:pRg st="3" end="3"/>
                                            </p:txEl>
                                          </p:spTgt>
                                        </p:tgtEl>
                                        <p:attrNameLst>
                                          <p:attrName>style.visibility</p:attrName>
                                        </p:attrNameLst>
                                      </p:cBhvr>
                                      <p:to>
                                        <p:strVal val="visible"/>
                                      </p:to>
                                    </p:set>
                                    <p:animEffect transition="in" filter="fade">
                                      <p:cBhvr>
                                        <p:cTn id="21" dur="500"/>
                                        <p:tgtEl>
                                          <p:spTgt spid="11">
                                            <p:txEl>
                                              <p:pRg st="3" end="3"/>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nodeType="clickEffect">
                                  <p:stCondLst>
                                    <p:cond delay="0"/>
                                  </p:stCondLst>
                                  <p:childTnLst>
                                    <p:set>
                                      <p:cBhvr>
                                        <p:cTn id="25" dur="1" fill="hold">
                                          <p:stCondLst>
                                            <p:cond delay="0"/>
                                          </p:stCondLst>
                                        </p:cTn>
                                        <p:tgtEl>
                                          <p:spTgt spid="11">
                                            <p:txEl>
                                              <p:pRg st="4" end="4"/>
                                            </p:txEl>
                                          </p:spTgt>
                                        </p:tgtEl>
                                        <p:attrNameLst>
                                          <p:attrName>style.visibility</p:attrName>
                                        </p:attrNameLst>
                                      </p:cBhvr>
                                      <p:to>
                                        <p:strVal val="visible"/>
                                      </p:to>
                                    </p:set>
                                    <p:animEffect transition="in" filter="fade">
                                      <p:cBhvr>
                                        <p:cTn id="26" dur="500"/>
                                        <p:tgtEl>
                                          <p:spTgt spid="11">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5E1A6A-DCF5-BF0F-77A4-2F5E85D46A59}"/>
              </a:ext>
            </a:extLst>
          </p:cNvPr>
          <p:cNvSpPr>
            <a:spLocks noGrp="1"/>
          </p:cNvSpPr>
          <p:nvPr>
            <p:ph type="title"/>
          </p:nvPr>
        </p:nvSpPr>
        <p:spPr/>
        <p:txBody>
          <a:bodyPr/>
          <a:lstStyle/>
          <a:p>
            <a:r>
              <a:rPr lang="en-US" dirty="0"/>
              <a:t>Theories?</a:t>
            </a:r>
          </a:p>
        </p:txBody>
      </p:sp>
      <p:sp>
        <p:nvSpPr>
          <p:cNvPr id="3" name="Content Placeholder 2">
            <a:extLst>
              <a:ext uri="{FF2B5EF4-FFF2-40B4-BE49-F238E27FC236}">
                <a16:creationId xmlns:a16="http://schemas.microsoft.com/office/drawing/2014/main" id="{571DE732-79A3-D62B-4938-8AE29EC2342A}"/>
              </a:ext>
            </a:extLst>
          </p:cNvPr>
          <p:cNvSpPr>
            <a:spLocks noGrp="1"/>
          </p:cNvSpPr>
          <p:nvPr>
            <p:ph idx="1"/>
          </p:nvPr>
        </p:nvSpPr>
        <p:spPr/>
        <p:txBody>
          <a:bodyPr/>
          <a:lstStyle/>
          <a:p>
            <a:r>
              <a:rPr lang="en-US" dirty="0"/>
              <a:t>Maybe your DNA “remembers” evolutionarily-earlier versions of shape?</a:t>
            </a:r>
          </a:p>
          <a:p>
            <a:r>
              <a:rPr lang="en-US" dirty="0"/>
              <a:t>Maybe the machine can get stuck in “local minimum” kind of things?</a:t>
            </a:r>
          </a:p>
          <a:p>
            <a:pPr lvl="1"/>
            <a:r>
              <a:rPr lang="en-US" dirty="0"/>
              <a:t>Lots of human-engineered machines should go from A</a:t>
            </a:r>
            <a:r>
              <a:rPr lang="en-US" dirty="0">
                <a:latin typeface="Times New Roman" panose="02020603050405020304" pitchFamily="18" charset="0"/>
                <a:cs typeface="Times New Roman" panose="02020603050405020304" pitchFamily="18" charset="0"/>
              </a:rPr>
              <a:t>→C but get stuck at B</a:t>
            </a:r>
            <a:endParaRPr lang="en-US" dirty="0"/>
          </a:p>
          <a:p>
            <a:pPr lvl="1"/>
            <a:r>
              <a:rPr lang="en-US" dirty="0"/>
              <a:t>Like simulated annealing and other </a:t>
            </a:r>
            <a:r>
              <a:rPr lang="en-US" dirty="0" err="1"/>
              <a:t>optimation</a:t>
            </a:r>
            <a:r>
              <a:rPr lang="en-US" dirty="0"/>
              <a:t> algorithms</a:t>
            </a:r>
          </a:p>
          <a:p>
            <a:pPr lvl="1"/>
            <a:endParaRPr lang="en-US" dirty="0"/>
          </a:p>
          <a:p>
            <a:endParaRPr lang="en-US" dirty="0"/>
          </a:p>
        </p:txBody>
      </p:sp>
      <p:sp>
        <p:nvSpPr>
          <p:cNvPr id="4" name="Footer Placeholder 3">
            <a:extLst>
              <a:ext uri="{FF2B5EF4-FFF2-40B4-BE49-F238E27FC236}">
                <a16:creationId xmlns:a16="http://schemas.microsoft.com/office/drawing/2014/main" id="{571E2A6D-47EC-333C-DB47-132E62E90F26}"/>
              </a:ext>
            </a:extLst>
          </p:cNvPr>
          <p:cNvSpPr>
            <a:spLocks noGrp="1"/>
          </p:cNvSpPr>
          <p:nvPr>
            <p:ph type="ftr" sz="quarter" idx="11"/>
          </p:nvPr>
        </p:nvSpPr>
        <p:spPr/>
        <p:txBody>
          <a:bodyPr/>
          <a:lstStyle/>
          <a:p>
            <a:pPr>
              <a:defRPr/>
            </a:pPr>
            <a:r>
              <a:rPr lang="en-US"/>
              <a:t>Bioelectricity Joel Grodstein</a:t>
            </a:r>
            <a:endParaRPr lang="en-US" dirty="0"/>
          </a:p>
        </p:txBody>
      </p:sp>
    </p:spTree>
    <p:extLst>
      <p:ext uri="{BB962C8B-B14F-4D97-AF65-F5344CB8AC3E}">
        <p14:creationId xmlns:p14="http://schemas.microsoft.com/office/powerpoint/2010/main" val="425420146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1CE7D7-123D-4AA9-8051-123F570754E4}"/>
              </a:ext>
            </a:extLst>
          </p:cNvPr>
          <p:cNvSpPr>
            <a:spLocks noGrp="1"/>
          </p:cNvSpPr>
          <p:nvPr>
            <p:ph type="title"/>
          </p:nvPr>
        </p:nvSpPr>
        <p:spPr>
          <a:xfrm>
            <a:off x="237067" y="304800"/>
            <a:ext cx="8559800" cy="1143000"/>
          </a:xfrm>
        </p:spPr>
        <p:txBody>
          <a:bodyPr/>
          <a:lstStyle/>
          <a:p>
            <a:r>
              <a:rPr lang="en-US" dirty="0"/>
              <a:t>The miracle of Bambi</a:t>
            </a:r>
          </a:p>
        </p:txBody>
      </p:sp>
      <p:sp>
        <p:nvSpPr>
          <p:cNvPr id="3" name="Content Placeholder 2">
            <a:extLst>
              <a:ext uri="{FF2B5EF4-FFF2-40B4-BE49-F238E27FC236}">
                <a16:creationId xmlns:a16="http://schemas.microsoft.com/office/drawing/2014/main" id="{50FAE265-53FC-4B6E-92DB-227CEAFD8D04}"/>
              </a:ext>
            </a:extLst>
          </p:cNvPr>
          <p:cNvSpPr>
            <a:spLocks noGrp="1"/>
          </p:cNvSpPr>
          <p:nvPr>
            <p:ph idx="1"/>
          </p:nvPr>
        </p:nvSpPr>
        <p:spPr>
          <a:xfrm>
            <a:off x="685800" y="2167469"/>
            <a:ext cx="7772400" cy="2495972"/>
          </a:xfrm>
        </p:spPr>
        <p:txBody>
          <a:bodyPr/>
          <a:lstStyle/>
          <a:p>
            <a:r>
              <a:rPr lang="en-US" sz="2400" dirty="0"/>
              <a:t>Male deer shed and regenerate their antlers every year</a:t>
            </a:r>
          </a:p>
          <a:p>
            <a:pPr lvl="1">
              <a:spcBef>
                <a:spcPts val="0"/>
              </a:spcBef>
            </a:pPr>
            <a:r>
              <a:rPr lang="en-US" sz="2000" dirty="0"/>
              <a:t>Antler shape changes slightly every year until maturity</a:t>
            </a:r>
          </a:p>
          <a:p>
            <a:pPr lvl="1">
              <a:spcBef>
                <a:spcPts val="0"/>
              </a:spcBef>
            </a:pPr>
            <a:r>
              <a:rPr lang="en-US" sz="2000" dirty="0"/>
              <a:t>Becomes more complex</a:t>
            </a:r>
          </a:p>
          <a:p>
            <a:pPr lvl="1">
              <a:spcBef>
                <a:spcPts val="0"/>
              </a:spcBef>
            </a:pPr>
            <a:r>
              <a:rPr lang="en-US" sz="2000" dirty="0"/>
              <a:t>After maturity, the shape is fixed</a:t>
            </a:r>
          </a:p>
          <a:p>
            <a:endParaRPr lang="en-US" dirty="0"/>
          </a:p>
        </p:txBody>
      </p:sp>
      <p:sp>
        <p:nvSpPr>
          <p:cNvPr id="4" name="Footer Placeholder 3">
            <a:extLst>
              <a:ext uri="{FF2B5EF4-FFF2-40B4-BE49-F238E27FC236}">
                <a16:creationId xmlns:a16="http://schemas.microsoft.com/office/drawing/2014/main" id="{85667E7C-367D-4AF3-9012-5B0980CAB9AD}"/>
              </a:ext>
            </a:extLst>
          </p:cNvPr>
          <p:cNvSpPr>
            <a:spLocks noGrp="1"/>
          </p:cNvSpPr>
          <p:nvPr>
            <p:ph type="ftr" sz="quarter" idx="11"/>
          </p:nvPr>
        </p:nvSpPr>
        <p:spPr/>
        <p:txBody>
          <a:bodyPr/>
          <a:lstStyle/>
          <a:p>
            <a:pPr>
              <a:defRPr/>
            </a:pPr>
            <a:r>
              <a:rPr lang="en-US" dirty="0"/>
              <a:t>Bioelectricity Joel Grodstein</a:t>
            </a:r>
          </a:p>
        </p:txBody>
      </p:sp>
    </p:spTree>
    <p:extLst>
      <p:ext uri="{BB962C8B-B14F-4D97-AF65-F5344CB8AC3E}">
        <p14:creationId xmlns:p14="http://schemas.microsoft.com/office/powerpoint/2010/main" val="19092208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fade">
                                      <p:cBhvr>
                                        <p:cTn id="10" dur="500"/>
                                        <p:tgtEl>
                                          <p:spTgt spid="3">
                                            <p:txEl>
                                              <p:pRg st="1" end="1"/>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Effect transition="in" filter="fade">
                                      <p:cBhvr>
                                        <p:cTn id="13" dur="500"/>
                                        <p:tgtEl>
                                          <p:spTgt spid="3">
                                            <p:txEl>
                                              <p:pRg st="2" end="2"/>
                                            </p:txEl>
                                          </p:spTgt>
                                        </p:tgtEl>
                                      </p:cBhvr>
                                    </p:animEffect>
                                  </p:childTnLst>
                                </p:cTn>
                              </p:par>
                              <p:par>
                                <p:cTn id="14" presetID="10" presetClass="entr" presetSubtype="0" fill="hold" nodeType="withEffect">
                                  <p:stCondLst>
                                    <p:cond delay="0"/>
                                  </p:stCondLst>
                                  <p:childTnLst>
                                    <p:set>
                                      <p:cBhvr>
                                        <p:cTn id="15" dur="1" fill="hold">
                                          <p:stCondLst>
                                            <p:cond delay="0"/>
                                          </p:stCondLst>
                                        </p:cTn>
                                        <p:tgtEl>
                                          <p:spTgt spid="3">
                                            <p:txEl>
                                              <p:pRg st="3" end="3"/>
                                            </p:txEl>
                                          </p:spTgt>
                                        </p:tgtEl>
                                        <p:attrNameLst>
                                          <p:attrName>style.visibility</p:attrName>
                                        </p:attrNameLst>
                                      </p:cBhvr>
                                      <p:to>
                                        <p:strVal val="visible"/>
                                      </p:to>
                                    </p:set>
                                    <p:animEffect transition="in" filter="fade">
                                      <p:cBhvr>
                                        <p:cTn id="16"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D25B7882-8C65-4B1E-902A-E31663902DD6}"/>
              </a:ext>
            </a:extLst>
          </p:cNvPr>
          <p:cNvSpPr>
            <a:spLocks noGrp="1"/>
          </p:cNvSpPr>
          <p:nvPr>
            <p:ph type="ftr" sz="quarter" idx="11"/>
          </p:nvPr>
        </p:nvSpPr>
        <p:spPr>
          <a:xfrm>
            <a:off x="5520267" y="6400800"/>
            <a:ext cx="2895600" cy="215444"/>
          </a:xfrm>
        </p:spPr>
        <p:txBody>
          <a:bodyPr/>
          <a:lstStyle/>
          <a:p>
            <a:pPr>
              <a:defRPr/>
            </a:pPr>
            <a:r>
              <a:rPr lang="en-US" dirty="0"/>
              <a:t>Bioelectricity Joel Grodstein</a:t>
            </a:r>
          </a:p>
        </p:txBody>
      </p:sp>
      <p:pic>
        <p:nvPicPr>
          <p:cNvPr id="6" name="Picture 5">
            <a:extLst>
              <a:ext uri="{FF2B5EF4-FFF2-40B4-BE49-F238E27FC236}">
                <a16:creationId xmlns:a16="http://schemas.microsoft.com/office/drawing/2014/main" id="{F466A313-8997-4701-88A1-1A4C93603BA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618151" y="1129089"/>
            <a:ext cx="3200148" cy="4163299"/>
          </a:xfrm>
          <a:prstGeom prst="rect">
            <a:avLst/>
          </a:prstGeom>
        </p:spPr>
      </p:pic>
      <p:sp>
        <p:nvSpPr>
          <p:cNvPr id="10" name="TextBox 9">
            <a:extLst>
              <a:ext uri="{FF2B5EF4-FFF2-40B4-BE49-F238E27FC236}">
                <a16:creationId xmlns:a16="http://schemas.microsoft.com/office/drawing/2014/main" id="{AB9945E9-D0F9-4BD3-8BE0-4C8BC8D15DC8}"/>
              </a:ext>
            </a:extLst>
          </p:cNvPr>
          <p:cNvSpPr txBox="1"/>
          <p:nvPr/>
        </p:nvSpPr>
        <p:spPr>
          <a:xfrm>
            <a:off x="2429673" y="1214596"/>
            <a:ext cx="449162" cy="3561806"/>
          </a:xfrm>
          <a:prstGeom prst="rect">
            <a:avLst/>
          </a:prstGeom>
          <a:noFill/>
        </p:spPr>
        <p:txBody>
          <a:bodyPr vert="vert" wrap="square" rtlCol="0">
            <a:spAutoFit/>
          </a:bodyPr>
          <a:lstStyle/>
          <a:p>
            <a:pPr>
              <a:lnSpc>
                <a:spcPts val="2000"/>
              </a:lnSpc>
            </a:pPr>
            <a:r>
              <a:rPr lang="en-US" dirty="0"/>
              <a:t>year   6             7               8</a:t>
            </a:r>
          </a:p>
        </p:txBody>
      </p:sp>
      <p:sp>
        <p:nvSpPr>
          <p:cNvPr id="11" name="TextBox 10">
            <a:extLst>
              <a:ext uri="{FF2B5EF4-FFF2-40B4-BE49-F238E27FC236}">
                <a16:creationId xmlns:a16="http://schemas.microsoft.com/office/drawing/2014/main" id="{9CF5A40E-932B-4D02-9742-D821A0696784}"/>
              </a:ext>
            </a:extLst>
          </p:cNvPr>
          <p:cNvSpPr txBox="1"/>
          <p:nvPr/>
        </p:nvSpPr>
        <p:spPr>
          <a:xfrm>
            <a:off x="203200" y="5974079"/>
            <a:ext cx="7974149" cy="646331"/>
          </a:xfrm>
          <a:prstGeom prst="rect">
            <a:avLst/>
          </a:prstGeom>
          <a:noFill/>
        </p:spPr>
        <p:txBody>
          <a:bodyPr wrap="square" rtlCol="0">
            <a:spAutoFit/>
          </a:bodyPr>
          <a:lstStyle/>
          <a:p>
            <a:r>
              <a:rPr lang="en-US" sz="1800" dirty="0"/>
              <a:t>Credit: </a:t>
            </a:r>
            <a:r>
              <a:rPr lang="en-US" sz="1800" i="1" dirty="0"/>
              <a:t>A linear-encoding model explains the variability of the target morphology in regeneration</a:t>
            </a:r>
            <a:r>
              <a:rPr lang="en-US" sz="1800" dirty="0"/>
              <a:t>, Interface, 2014</a:t>
            </a:r>
          </a:p>
        </p:txBody>
      </p:sp>
      <p:sp>
        <p:nvSpPr>
          <p:cNvPr id="12" name="TextBox 11">
            <a:extLst>
              <a:ext uri="{FF2B5EF4-FFF2-40B4-BE49-F238E27FC236}">
                <a16:creationId xmlns:a16="http://schemas.microsoft.com/office/drawing/2014/main" id="{A93EDA42-5F7E-4773-860F-ED6521E5F6D4}"/>
              </a:ext>
            </a:extLst>
          </p:cNvPr>
          <p:cNvSpPr txBox="1"/>
          <p:nvPr/>
        </p:nvSpPr>
        <p:spPr>
          <a:xfrm>
            <a:off x="6206236" y="943026"/>
            <a:ext cx="1680755" cy="1015663"/>
          </a:xfrm>
          <a:prstGeom prst="rect">
            <a:avLst/>
          </a:prstGeom>
          <a:noFill/>
        </p:spPr>
        <p:txBody>
          <a:bodyPr wrap="square" rtlCol="0">
            <a:spAutoFit/>
          </a:bodyPr>
          <a:lstStyle/>
          <a:p>
            <a:r>
              <a:rPr lang="en-US" sz="2000" dirty="0">
                <a:solidFill>
                  <a:schemeClr val="accent2"/>
                </a:solidFill>
              </a:rPr>
              <a:t>Normal mature antler shape (fixed)</a:t>
            </a:r>
          </a:p>
        </p:txBody>
      </p:sp>
      <p:cxnSp>
        <p:nvCxnSpPr>
          <p:cNvPr id="14" name="Straight Arrow Connector 13">
            <a:extLst>
              <a:ext uri="{FF2B5EF4-FFF2-40B4-BE49-F238E27FC236}">
                <a16:creationId xmlns:a16="http://schemas.microsoft.com/office/drawing/2014/main" id="{6C337F81-BAF4-4023-9845-EA5F9DEAB6D5}"/>
              </a:ext>
            </a:extLst>
          </p:cNvPr>
          <p:cNvCxnSpPr>
            <a:cxnSpLocks/>
          </p:cNvCxnSpPr>
          <p:nvPr/>
        </p:nvCxnSpPr>
        <p:spPr>
          <a:xfrm flipH="1">
            <a:off x="5752730" y="1296140"/>
            <a:ext cx="781236" cy="195309"/>
          </a:xfrm>
          <a:prstGeom prst="straightConnector1">
            <a:avLst/>
          </a:prstGeom>
          <a:ln w="2857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sp>
        <p:nvSpPr>
          <p:cNvPr id="16" name="TextBox 15">
            <a:extLst>
              <a:ext uri="{FF2B5EF4-FFF2-40B4-BE49-F238E27FC236}">
                <a16:creationId xmlns:a16="http://schemas.microsoft.com/office/drawing/2014/main" id="{5F82BF60-2DAE-4D44-936E-B81B9920F4F4}"/>
              </a:ext>
            </a:extLst>
          </p:cNvPr>
          <p:cNvSpPr txBox="1"/>
          <p:nvPr/>
        </p:nvSpPr>
        <p:spPr>
          <a:xfrm>
            <a:off x="203200" y="369574"/>
            <a:ext cx="2167589" cy="707886"/>
          </a:xfrm>
          <a:prstGeom prst="rect">
            <a:avLst/>
          </a:prstGeom>
          <a:noFill/>
        </p:spPr>
        <p:txBody>
          <a:bodyPr wrap="square" rtlCol="0">
            <a:spAutoFit/>
          </a:bodyPr>
          <a:lstStyle/>
          <a:p>
            <a:r>
              <a:rPr lang="en-US" sz="2000" dirty="0">
                <a:solidFill>
                  <a:schemeClr val="accent2"/>
                </a:solidFill>
              </a:rPr>
              <a:t>except… injury to left antler, year 6</a:t>
            </a:r>
          </a:p>
        </p:txBody>
      </p:sp>
      <p:cxnSp>
        <p:nvCxnSpPr>
          <p:cNvPr id="17" name="Straight Arrow Connector 16">
            <a:extLst>
              <a:ext uri="{FF2B5EF4-FFF2-40B4-BE49-F238E27FC236}">
                <a16:creationId xmlns:a16="http://schemas.microsoft.com/office/drawing/2014/main" id="{05E52951-FB8F-4DDB-9509-9ACCCE3C8856}"/>
              </a:ext>
            </a:extLst>
          </p:cNvPr>
          <p:cNvCxnSpPr>
            <a:cxnSpLocks/>
            <a:stCxn id="16" idx="3"/>
          </p:cNvCxnSpPr>
          <p:nvPr/>
        </p:nvCxnSpPr>
        <p:spPr>
          <a:xfrm>
            <a:off x="2370789" y="723517"/>
            <a:ext cx="656496" cy="421702"/>
          </a:xfrm>
          <a:prstGeom prst="straightConnector1">
            <a:avLst/>
          </a:prstGeom>
          <a:ln w="2857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sp>
        <p:nvSpPr>
          <p:cNvPr id="20" name="TextBox 19">
            <a:extLst>
              <a:ext uri="{FF2B5EF4-FFF2-40B4-BE49-F238E27FC236}">
                <a16:creationId xmlns:a16="http://schemas.microsoft.com/office/drawing/2014/main" id="{70C55E61-BCB2-4D6D-ABA5-0ECB6E49875D}"/>
              </a:ext>
            </a:extLst>
          </p:cNvPr>
          <p:cNvSpPr txBox="1"/>
          <p:nvPr/>
        </p:nvSpPr>
        <p:spPr>
          <a:xfrm>
            <a:off x="261723" y="1724049"/>
            <a:ext cx="1680755" cy="1015663"/>
          </a:xfrm>
          <a:prstGeom prst="rect">
            <a:avLst/>
          </a:prstGeom>
          <a:noFill/>
        </p:spPr>
        <p:txBody>
          <a:bodyPr wrap="square" rtlCol="0">
            <a:spAutoFit/>
          </a:bodyPr>
          <a:lstStyle/>
          <a:p>
            <a:r>
              <a:rPr lang="en-US" sz="2000" dirty="0">
                <a:solidFill>
                  <a:schemeClr val="accent2"/>
                </a:solidFill>
              </a:rPr>
              <a:t>Injured shape persists two years</a:t>
            </a:r>
          </a:p>
        </p:txBody>
      </p:sp>
      <p:cxnSp>
        <p:nvCxnSpPr>
          <p:cNvPr id="21" name="Straight Arrow Connector 20">
            <a:extLst>
              <a:ext uri="{FF2B5EF4-FFF2-40B4-BE49-F238E27FC236}">
                <a16:creationId xmlns:a16="http://schemas.microsoft.com/office/drawing/2014/main" id="{50C5D46F-DD59-489B-9454-4B34845C994D}"/>
              </a:ext>
            </a:extLst>
          </p:cNvPr>
          <p:cNvCxnSpPr>
            <a:cxnSpLocks/>
          </p:cNvCxnSpPr>
          <p:nvPr/>
        </p:nvCxnSpPr>
        <p:spPr>
          <a:xfrm>
            <a:off x="1585426" y="2494758"/>
            <a:ext cx="1515292" cy="2002972"/>
          </a:xfrm>
          <a:prstGeom prst="straightConnector1">
            <a:avLst/>
          </a:prstGeom>
          <a:ln w="2857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4C7089BB-5794-40E7-93D0-7E4E03ABB0A6}"/>
              </a:ext>
            </a:extLst>
          </p:cNvPr>
          <p:cNvCxnSpPr>
            <a:cxnSpLocks/>
          </p:cNvCxnSpPr>
          <p:nvPr/>
        </p:nvCxnSpPr>
        <p:spPr>
          <a:xfrm>
            <a:off x="1707346" y="2303170"/>
            <a:ext cx="1506583" cy="870857"/>
          </a:xfrm>
          <a:prstGeom prst="straightConnector1">
            <a:avLst/>
          </a:prstGeom>
          <a:ln w="2857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sp>
        <p:nvSpPr>
          <p:cNvPr id="27" name="TextBox 26">
            <a:extLst>
              <a:ext uri="{FF2B5EF4-FFF2-40B4-BE49-F238E27FC236}">
                <a16:creationId xmlns:a16="http://schemas.microsoft.com/office/drawing/2014/main" id="{118B19D1-C2C8-40B1-8C47-E9F7BE5281BF}"/>
              </a:ext>
            </a:extLst>
          </p:cNvPr>
          <p:cNvSpPr txBox="1"/>
          <p:nvPr/>
        </p:nvSpPr>
        <p:spPr>
          <a:xfrm>
            <a:off x="6292409" y="2760370"/>
            <a:ext cx="2411324" cy="1323439"/>
          </a:xfrm>
          <a:prstGeom prst="rect">
            <a:avLst/>
          </a:prstGeom>
          <a:noFill/>
        </p:spPr>
        <p:txBody>
          <a:bodyPr wrap="square" rtlCol="0">
            <a:spAutoFit/>
          </a:bodyPr>
          <a:lstStyle/>
          <a:p>
            <a:r>
              <a:rPr lang="en-US" sz="2000" dirty="0">
                <a:solidFill>
                  <a:schemeClr val="accent2"/>
                </a:solidFill>
              </a:rPr>
              <a:t>Shape change sort of propagates to uninjured right antler!</a:t>
            </a:r>
          </a:p>
        </p:txBody>
      </p:sp>
      <p:cxnSp>
        <p:nvCxnSpPr>
          <p:cNvPr id="28" name="Straight Arrow Connector 27">
            <a:extLst>
              <a:ext uri="{FF2B5EF4-FFF2-40B4-BE49-F238E27FC236}">
                <a16:creationId xmlns:a16="http://schemas.microsoft.com/office/drawing/2014/main" id="{4165C889-0EFB-472D-9992-67BA1BAC32DA}"/>
              </a:ext>
            </a:extLst>
          </p:cNvPr>
          <p:cNvCxnSpPr>
            <a:cxnSpLocks/>
          </p:cNvCxnSpPr>
          <p:nvPr/>
        </p:nvCxnSpPr>
        <p:spPr>
          <a:xfrm flipH="1">
            <a:off x="5452032" y="3091296"/>
            <a:ext cx="901337" cy="0"/>
          </a:xfrm>
          <a:prstGeom prst="straightConnector1">
            <a:avLst/>
          </a:prstGeom>
          <a:ln w="2857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30" name="Straight Arrow Connector 29">
            <a:extLst>
              <a:ext uri="{FF2B5EF4-FFF2-40B4-BE49-F238E27FC236}">
                <a16:creationId xmlns:a16="http://schemas.microsoft.com/office/drawing/2014/main" id="{1A70F818-2428-4D5E-B0F0-2CEC6E623652}"/>
              </a:ext>
            </a:extLst>
          </p:cNvPr>
          <p:cNvCxnSpPr>
            <a:cxnSpLocks/>
          </p:cNvCxnSpPr>
          <p:nvPr/>
        </p:nvCxnSpPr>
        <p:spPr>
          <a:xfrm flipH="1">
            <a:off x="5364946" y="3339490"/>
            <a:ext cx="827314" cy="1166948"/>
          </a:xfrm>
          <a:prstGeom prst="straightConnector1">
            <a:avLst/>
          </a:prstGeom>
          <a:ln w="2857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sp>
        <p:nvSpPr>
          <p:cNvPr id="33" name="TextBox 32">
            <a:extLst>
              <a:ext uri="{FF2B5EF4-FFF2-40B4-BE49-F238E27FC236}">
                <a16:creationId xmlns:a16="http://schemas.microsoft.com/office/drawing/2014/main" id="{4C3FC156-76EE-45BC-9380-88E08BF453CA}"/>
              </a:ext>
            </a:extLst>
          </p:cNvPr>
          <p:cNvSpPr txBox="1"/>
          <p:nvPr/>
        </p:nvSpPr>
        <p:spPr>
          <a:xfrm>
            <a:off x="5588001" y="4741576"/>
            <a:ext cx="3115732" cy="1015663"/>
          </a:xfrm>
          <a:prstGeom prst="rect">
            <a:avLst/>
          </a:prstGeom>
          <a:noFill/>
        </p:spPr>
        <p:txBody>
          <a:bodyPr wrap="square" rtlCol="0">
            <a:spAutoFit/>
          </a:bodyPr>
          <a:lstStyle/>
          <a:p>
            <a:r>
              <a:rPr lang="en-US" sz="2000" dirty="0">
                <a:solidFill>
                  <a:schemeClr val="accent2"/>
                </a:solidFill>
              </a:rPr>
              <a:t>Not shown: antlers will eventually return to their normal shape</a:t>
            </a:r>
          </a:p>
        </p:txBody>
      </p:sp>
      <p:sp>
        <p:nvSpPr>
          <p:cNvPr id="8" name="TextBox 7">
            <a:extLst>
              <a:ext uri="{FF2B5EF4-FFF2-40B4-BE49-F238E27FC236}">
                <a16:creationId xmlns:a16="http://schemas.microsoft.com/office/drawing/2014/main" id="{F90129D8-A4B5-45D7-B6A6-9231FF7CBB0D}"/>
              </a:ext>
            </a:extLst>
          </p:cNvPr>
          <p:cNvSpPr txBox="1"/>
          <p:nvPr/>
        </p:nvSpPr>
        <p:spPr>
          <a:xfrm>
            <a:off x="3258105" y="648070"/>
            <a:ext cx="790113" cy="461665"/>
          </a:xfrm>
          <a:prstGeom prst="rect">
            <a:avLst/>
          </a:prstGeom>
          <a:noFill/>
        </p:spPr>
        <p:txBody>
          <a:bodyPr wrap="square" rtlCol="0">
            <a:spAutoFit/>
          </a:bodyPr>
          <a:lstStyle/>
          <a:p>
            <a:r>
              <a:rPr lang="en-US" dirty="0"/>
              <a:t>left</a:t>
            </a:r>
          </a:p>
        </p:txBody>
      </p:sp>
      <p:sp>
        <p:nvSpPr>
          <p:cNvPr id="22" name="TextBox 21">
            <a:extLst>
              <a:ext uri="{FF2B5EF4-FFF2-40B4-BE49-F238E27FC236}">
                <a16:creationId xmlns:a16="http://schemas.microsoft.com/office/drawing/2014/main" id="{BD862F2F-1471-416A-9A8B-B320BA672DC6}"/>
              </a:ext>
            </a:extLst>
          </p:cNvPr>
          <p:cNvSpPr txBox="1"/>
          <p:nvPr/>
        </p:nvSpPr>
        <p:spPr>
          <a:xfrm>
            <a:off x="4813177" y="702816"/>
            <a:ext cx="790113" cy="461665"/>
          </a:xfrm>
          <a:prstGeom prst="rect">
            <a:avLst/>
          </a:prstGeom>
          <a:noFill/>
        </p:spPr>
        <p:txBody>
          <a:bodyPr wrap="square" rtlCol="0">
            <a:spAutoFit/>
          </a:bodyPr>
          <a:lstStyle/>
          <a:p>
            <a:r>
              <a:rPr lang="en-US" dirty="0"/>
              <a:t>right</a:t>
            </a:r>
          </a:p>
        </p:txBody>
      </p:sp>
    </p:spTree>
    <p:extLst>
      <p:ext uri="{BB962C8B-B14F-4D97-AF65-F5344CB8AC3E}">
        <p14:creationId xmlns:p14="http://schemas.microsoft.com/office/powerpoint/2010/main" val="39835528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500"/>
                                        <p:tgtEl>
                                          <p:spTgt spid="12"/>
                                        </p:tgtEl>
                                      </p:cBhvr>
                                    </p:animEffect>
                                  </p:childTnLst>
                                </p:cTn>
                              </p:par>
                              <p:par>
                                <p:cTn id="8" presetID="10" presetClass="entr" presetSubtype="0" fill="hold" nodeType="withEffect">
                                  <p:stCondLst>
                                    <p:cond delay="0"/>
                                  </p:stCondLst>
                                  <p:childTnLst>
                                    <p:set>
                                      <p:cBhvr>
                                        <p:cTn id="9" dur="1" fill="hold">
                                          <p:stCondLst>
                                            <p:cond delay="0"/>
                                          </p:stCondLst>
                                        </p:cTn>
                                        <p:tgtEl>
                                          <p:spTgt spid="14"/>
                                        </p:tgtEl>
                                        <p:attrNameLst>
                                          <p:attrName>style.visibility</p:attrName>
                                        </p:attrNameLst>
                                      </p:cBhvr>
                                      <p:to>
                                        <p:strVal val="visible"/>
                                      </p:to>
                                    </p:set>
                                    <p:animEffect transition="in" filter="fade">
                                      <p:cBhvr>
                                        <p:cTn id="10" dur="500"/>
                                        <p:tgtEl>
                                          <p:spTgt spid="14"/>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6"/>
                                        </p:tgtEl>
                                        <p:attrNameLst>
                                          <p:attrName>style.visibility</p:attrName>
                                        </p:attrNameLst>
                                      </p:cBhvr>
                                      <p:to>
                                        <p:strVal val="visible"/>
                                      </p:to>
                                    </p:set>
                                    <p:animEffect transition="in" filter="fade">
                                      <p:cBhvr>
                                        <p:cTn id="15" dur="500"/>
                                        <p:tgtEl>
                                          <p:spTgt spid="16"/>
                                        </p:tgtEl>
                                      </p:cBhvr>
                                    </p:animEffect>
                                  </p:childTnLst>
                                </p:cTn>
                              </p:par>
                              <p:par>
                                <p:cTn id="16" presetID="10" presetClass="entr" presetSubtype="0" fill="hold" nodeType="withEffect">
                                  <p:stCondLst>
                                    <p:cond delay="0"/>
                                  </p:stCondLst>
                                  <p:childTnLst>
                                    <p:set>
                                      <p:cBhvr>
                                        <p:cTn id="17" dur="1" fill="hold">
                                          <p:stCondLst>
                                            <p:cond delay="0"/>
                                          </p:stCondLst>
                                        </p:cTn>
                                        <p:tgtEl>
                                          <p:spTgt spid="17"/>
                                        </p:tgtEl>
                                        <p:attrNameLst>
                                          <p:attrName>style.visibility</p:attrName>
                                        </p:attrNameLst>
                                      </p:cBhvr>
                                      <p:to>
                                        <p:strVal val="visible"/>
                                      </p:to>
                                    </p:set>
                                    <p:animEffect transition="in" filter="fade">
                                      <p:cBhvr>
                                        <p:cTn id="18" dur="500"/>
                                        <p:tgtEl>
                                          <p:spTgt spid="17"/>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20"/>
                                        </p:tgtEl>
                                        <p:attrNameLst>
                                          <p:attrName>style.visibility</p:attrName>
                                        </p:attrNameLst>
                                      </p:cBhvr>
                                      <p:to>
                                        <p:strVal val="visible"/>
                                      </p:to>
                                    </p:set>
                                    <p:animEffect transition="in" filter="fade">
                                      <p:cBhvr>
                                        <p:cTn id="23" dur="500"/>
                                        <p:tgtEl>
                                          <p:spTgt spid="20"/>
                                        </p:tgtEl>
                                      </p:cBhvr>
                                    </p:animEffect>
                                  </p:childTnLst>
                                </p:cTn>
                              </p:par>
                              <p:par>
                                <p:cTn id="24" presetID="10" presetClass="entr" presetSubtype="0" fill="hold" nodeType="withEffect">
                                  <p:stCondLst>
                                    <p:cond delay="0"/>
                                  </p:stCondLst>
                                  <p:childTnLst>
                                    <p:set>
                                      <p:cBhvr>
                                        <p:cTn id="25" dur="1" fill="hold">
                                          <p:stCondLst>
                                            <p:cond delay="0"/>
                                          </p:stCondLst>
                                        </p:cTn>
                                        <p:tgtEl>
                                          <p:spTgt spid="21"/>
                                        </p:tgtEl>
                                        <p:attrNameLst>
                                          <p:attrName>style.visibility</p:attrName>
                                        </p:attrNameLst>
                                      </p:cBhvr>
                                      <p:to>
                                        <p:strVal val="visible"/>
                                      </p:to>
                                    </p:set>
                                    <p:animEffect transition="in" filter="fade">
                                      <p:cBhvr>
                                        <p:cTn id="26" dur="500"/>
                                        <p:tgtEl>
                                          <p:spTgt spid="21"/>
                                        </p:tgtEl>
                                      </p:cBhvr>
                                    </p:animEffect>
                                  </p:childTnLst>
                                </p:cTn>
                              </p:par>
                              <p:par>
                                <p:cTn id="27" presetID="10" presetClass="entr" presetSubtype="0" fill="hold" nodeType="withEffect">
                                  <p:stCondLst>
                                    <p:cond delay="0"/>
                                  </p:stCondLst>
                                  <p:childTnLst>
                                    <p:set>
                                      <p:cBhvr>
                                        <p:cTn id="28" dur="1" fill="hold">
                                          <p:stCondLst>
                                            <p:cond delay="0"/>
                                          </p:stCondLst>
                                        </p:cTn>
                                        <p:tgtEl>
                                          <p:spTgt spid="24"/>
                                        </p:tgtEl>
                                        <p:attrNameLst>
                                          <p:attrName>style.visibility</p:attrName>
                                        </p:attrNameLst>
                                      </p:cBhvr>
                                      <p:to>
                                        <p:strVal val="visible"/>
                                      </p:to>
                                    </p:set>
                                    <p:animEffect transition="in" filter="fade">
                                      <p:cBhvr>
                                        <p:cTn id="29" dur="500"/>
                                        <p:tgtEl>
                                          <p:spTgt spid="24"/>
                                        </p:tgtEl>
                                      </p:cBhvr>
                                    </p:animEffect>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grpId="0" nodeType="clickEffect">
                                  <p:stCondLst>
                                    <p:cond delay="0"/>
                                  </p:stCondLst>
                                  <p:childTnLst>
                                    <p:set>
                                      <p:cBhvr>
                                        <p:cTn id="33" dur="1" fill="hold">
                                          <p:stCondLst>
                                            <p:cond delay="0"/>
                                          </p:stCondLst>
                                        </p:cTn>
                                        <p:tgtEl>
                                          <p:spTgt spid="27"/>
                                        </p:tgtEl>
                                        <p:attrNameLst>
                                          <p:attrName>style.visibility</p:attrName>
                                        </p:attrNameLst>
                                      </p:cBhvr>
                                      <p:to>
                                        <p:strVal val="visible"/>
                                      </p:to>
                                    </p:set>
                                    <p:animEffect transition="in" filter="fade">
                                      <p:cBhvr>
                                        <p:cTn id="34" dur="500"/>
                                        <p:tgtEl>
                                          <p:spTgt spid="27"/>
                                        </p:tgtEl>
                                      </p:cBhvr>
                                    </p:animEffect>
                                  </p:childTnLst>
                                </p:cTn>
                              </p:par>
                              <p:par>
                                <p:cTn id="35" presetID="10" presetClass="entr" presetSubtype="0" fill="hold" nodeType="withEffect">
                                  <p:stCondLst>
                                    <p:cond delay="0"/>
                                  </p:stCondLst>
                                  <p:childTnLst>
                                    <p:set>
                                      <p:cBhvr>
                                        <p:cTn id="36" dur="1" fill="hold">
                                          <p:stCondLst>
                                            <p:cond delay="0"/>
                                          </p:stCondLst>
                                        </p:cTn>
                                        <p:tgtEl>
                                          <p:spTgt spid="28"/>
                                        </p:tgtEl>
                                        <p:attrNameLst>
                                          <p:attrName>style.visibility</p:attrName>
                                        </p:attrNameLst>
                                      </p:cBhvr>
                                      <p:to>
                                        <p:strVal val="visible"/>
                                      </p:to>
                                    </p:set>
                                    <p:animEffect transition="in" filter="fade">
                                      <p:cBhvr>
                                        <p:cTn id="37" dur="500"/>
                                        <p:tgtEl>
                                          <p:spTgt spid="28"/>
                                        </p:tgtEl>
                                      </p:cBhvr>
                                    </p:animEffect>
                                  </p:childTnLst>
                                </p:cTn>
                              </p:par>
                              <p:par>
                                <p:cTn id="38" presetID="10" presetClass="entr" presetSubtype="0" fill="hold" nodeType="withEffect">
                                  <p:stCondLst>
                                    <p:cond delay="0"/>
                                  </p:stCondLst>
                                  <p:childTnLst>
                                    <p:set>
                                      <p:cBhvr>
                                        <p:cTn id="39" dur="1" fill="hold">
                                          <p:stCondLst>
                                            <p:cond delay="0"/>
                                          </p:stCondLst>
                                        </p:cTn>
                                        <p:tgtEl>
                                          <p:spTgt spid="30"/>
                                        </p:tgtEl>
                                        <p:attrNameLst>
                                          <p:attrName>style.visibility</p:attrName>
                                        </p:attrNameLst>
                                      </p:cBhvr>
                                      <p:to>
                                        <p:strVal val="visible"/>
                                      </p:to>
                                    </p:set>
                                    <p:animEffect transition="in" filter="fade">
                                      <p:cBhvr>
                                        <p:cTn id="40" dur="500"/>
                                        <p:tgtEl>
                                          <p:spTgt spid="30"/>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grpId="0" nodeType="clickEffect">
                                  <p:stCondLst>
                                    <p:cond delay="0"/>
                                  </p:stCondLst>
                                  <p:childTnLst>
                                    <p:set>
                                      <p:cBhvr>
                                        <p:cTn id="44" dur="1" fill="hold">
                                          <p:stCondLst>
                                            <p:cond delay="0"/>
                                          </p:stCondLst>
                                        </p:cTn>
                                        <p:tgtEl>
                                          <p:spTgt spid="33"/>
                                        </p:tgtEl>
                                        <p:attrNameLst>
                                          <p:attrName>style.visibility</p:attrName>
                                        </p:attrNameLst>
                                      </p:cBhvr>
                                      <p:to>
                                        <p:strVal val="visible"/>
                                      </p:to>
                                    </p:set>
                                    <p:animEffect transition="in" filter="fade">
                                      <p:cBhvr>
                                        <p:cTn id="45" dur="500"/>
                                        <p:tgtEl>
                                          <p:spTgt spid="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6" grpId="0"/>
      <p:bldP spid="20" grpId="0"/>
      <p:bldP spid="27" grpId="0"/>
      <p:bldP spid="33"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467AB0-DB76-4598-9465-DA34B558087D}"/>
              </a:ext>
            </a:extLst>
          </p:cNvPr>
          <p:cNvSpPr>
            <a:spLocks noGrp="1"/>
          </p:cNvSpPr>
          <p:nvPr>
            <p:ph type="title"/>
          </p:nvPr>
        </p:nvSpPr>
        <p:spPr>
          <a:xfrm>
            <a:off x="2075876" y="304800"/>
            <a:ext cx="5359400" cy="1143000"/>
          </a:xfrm>
        </p:spPr>
        <p:txBody>
          <a:bodyPr/>
          <a:lstStyle/>
          <a:p>
            <a:r>
              <a:rPr lang="en-US" dirty="0"/>
              <a:t>Where is the deer hiding its memory?</a:t>
            </a:r>
          </a:p>
        </p:txBody>
      </p:sp>
      <p:sp>
        <p:nvSpPr>
          <p:cNvPr id="3" name="Content Placeholder 2">
            <a:extLst>
              <a:ext uri="{FF2B5EF4-FFF2-40B4-BE49-F238E27FC236}">
                <a16:creationId xmlns:a16="http://schemas.microsoft.com/office/drawing/2014/main" id="{EF915BD6-C88F-4AF4-BEF6-938E899B77D7}"/>
              </a:ext>
            </a:extLst>
          </p:cNvPr>
          <p:cNvSpPr>
            <a:spLocks noGrp="1"/>
          </p:cNvSpPr>
          <p:nvPr>
            <p:ph idx="1"/>
          </p:nvPr>
        </p:nvSpPr>
        <p:spPr/>
        <p:txBody>
          <a:bodyPr/>
          <a:lstStyle/>
          <a:p>
            <a:r>
              <a:rPr lang="en-US" sz="2400" dirty="0"/>
              <a:t>Even though the antlers are completely lost every year, the memory of the new shape persists</a:t>
            </a:r>
          </a:p>
          <a:p>
            <a:r>
              <a:rPr lang="en-US" sz="2400" dirty="0"/>
              <a:t>Harry Potter and the Chamber of Secrets</a:t>
            </a:r>
          </a:p>
          <a:p>
            <a:pPr lvl="1">
              <a:spcBef>
                <a:spcPts val="0"/>
              </a:spcBef>
            </a:pPr>
            <a:r>
              <a:rPr lang="en-US" sz="2000" dirty="0"/>
              <a:t>“Ginny!” said Mr. Weasley, flabbergasted. “Haven’t I taught you anything? What have I always told you? Never trust anything that can think for itself if you can’t see where it keeps its brain?”</a:t>
            </a:r>
          </a:p>
          <a:p>
            <a:r>
              <a:rPr lang="en-US" sz="2400" dirty="0"/>
              <a:t>Where is the memory of the new shape held?</a:t>
            </a:r>
          </a:p>
          <a:p>
            <a:pPr lvl="1">
              <a:spcBef>
                <a:spcPts val="0"/>
              </a:spcBef>
            </a:pPr>
            <a:r>
              <a:rPr lang="en-US" sz="2000" dirty="0"/>
              <a:t>Clearly somewhere outside of the antlers themselves</a:t>
            </a:r>
          </a:p>
          <a:p>
            <a:pPr lvl="1">
              <a:spcBef>
                <a:spcPts val="0"/>
              </a:spcBef>
            </a:pPr>
            <a:r>
              <a:rPr lang="en-US" sz="2000" dirty="0"/>
              <a:t>Not in any DNA (no reason to suspect DNA mutation)</a:t>
            </a:r>
          </a:p>
          <a:p>
            <a:r>
              <a:rPr lang="en-US" sz="2400" dirty="0"/>
              <a:t>Do we really believe that a pixel-by-pixel image of the antlers is stored somewhere in the deer’s body?</a:t>
            </a:r>
          </a:p>
          <a:p>
            <a:pPr lvl="1">
              <a:spcBef>
                <a:spcPts val="0"/>
              </a:spcBef>
            </a:pPr>
            <a:r>
              <a:rPr lang="en-US" sz="2000" dirty="0"/>
              <a:t>Somebody should tell Mr. Weasley about primitive cognition </a:t>
            </a:r>
            <a:r>
              <a:rPr lang="en-US" sz="2000" dirty="0">
                <a:sym typeface="Wingdings" panose="05000000000000000000" pitchFamily="2" charset="2"/>
              </a:rPr>
              <a:t></a:t>
            </a:r>
            <a:endParaRPr lang="en-US" sz="2000" dirty="0"/>
          </a:p>
          <a:p>
            <a:endParaRPr lang="en-US" dirty="0"/>
          </a:p>
        </p:txBody>
      </p:sp>
      <p:sp>
        <p:nvSpPr>
          <p:cNvPr id="4" name="Footer Placeholder 3">
            <a:extLst>
              <a:ext uri="{FF2B5EF4-FFF2-40B4-BE49-F238E27FC236}">
                <a16:creationId xmlns:a16="http://schemas.microsoft.com/office/drawing/2014/main" id="{16B8C82C-4690-4B99-9F10-5AC36BBA959B}"/>
              </a:ext>
            </a:extLst>
          </p:cNvPr>
          <p:cNvSpPr>
            <a:spLocks noGrp="1"/>
          </p:cNvSpPr>
          <p:nvPr>
            <p:ph type="ftr" sz="quarter" idx="11"/>
          </p:nvPr>
        </p:nvSpPr>
        <p:spPr/>
        <p:txBody>
          <a:bodyPr/>
          <a:lstStyle/>
          <a:p>
            <a:pPr>
              <a:defRPr/>
            </a:pPr>
            <a:r>
              <a:rPr lang="en-US" dirty="0"/>
              <a:t>Bioelectricity Joel Grodstein</a:t>
            </a:r>
          </a:p>
        </p:txBody>
      </p:sp>
    </p:spTree>
    <p:extLst>
      <p:ext uri="{BB962C8B-B14F-4D97-AF65-F5344CB8AC3E}">
        <p14:creationId xmlns:p14="http://schemas.microsoft.com/office/powerpoint/2010/main" val="40471990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animEffect transition="in" filter="fade">
                                      <p:cBhvr>
                                        <p:cTn id="7" dur="500"/>
                                        <p:tgtEl>
                                          <p:spTgt spid="3">
                                            <p:txEl>
                                              <p:pRg st="3" end="3"/>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par>
                                <p:cTn id="18" presetID="10" presetClass="entr" presetSubtype="0" fill="hold" nodeType="withEffect">
                                  <p:stCondLst>
                                    <p:cond delay="0"/>
                                  </p:stCondLst>
                                  <p:childTnLst>
                                    <p:set>
                                      <p:cBhvr>
                                        <p:cTn id="19" dur="1" fill="hold">
                                          <p:stCondLst>
                                            <p:cond delay="0"/>
                                          </p:stCondLst>
                                        </p:cTn>
                                        <p:tgtEl>
                                          <p:spTgt spid="3">
                                            <p:txEl>
                                              <p:pRg st="4" end="4"/>
                                            </p:txEl>
                                          </p:spTgt>
                                        </p:tgtEl>
                                        <p:attrNameLst>
                                          <p:attrName>style.visibility</p:attrName>
                                        </p:attrNameLst>
                                      </p:cBhvr>
                                      <p:to>
                                        <p:strVal val="visible"/>
                                      </p:to>
                                    </p:set>
                                    <p:animEffect transition="in" filter="fade">
                                      <p:cBhvr>
                                        <p:cTn id="20" dur="500"/>
                                        <p:tgtEl>
                                          <p:spTgt spid="3">
                                            <p:txEl>
                                              <p:pRg st="4" end="4"/>
                                            </p:txEl>
                                          </p:spTgt>
                                        </p:tgtEl>
                                      </p:cBhvr>
                                    </p:animEffect>
                                  </p:childTnLst>
                                </p:cTn>
                              </p:par>
                              <p:par>
                                <p:cTn id="21" presetID="10" presetClass="entr" presetSubtype="0" fill="hold" nodeType="with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animEffect transition="in" filter="fade">
                                      <p:cBhvr>
                                        <p:cTn id="23" dur="500"/>
                                        <p:tgtEl>
                                          <p:spTgt spid="3">
                                            <p:txEl>
                                              <p:pRg st="5" end="5"/>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nodeType="clickEffect">
                                  <p:stCondLst>
                                    <p:cond delay="0"/>
                                  </p:stCondLst>
                                  <p:childTnLst>
                                    <p:set>
                                      <p:cBhvr>
                                        <p:cTn id="27" dur="1" fill="hold">
                                          <p:stCondLst>
                                            <p:cond delay="0"/>
                                          </p:stCondLst>
                                        </p:cTn>
                                        <p:tgtEl>
                                          <p:spTgt spid="3">
                                            <p:txEl>
                                              <p:pRg st="6" end="6"/>
                                            </p:txEl>
                                          </p:spTgt>
                                        </p:tgtEl>
                                        <p:attrNameLst>
                                          <p:attrName>style.visibility</p:attrName>
                                        </p:attrNameLst>
                                      </p:cBhvr>
                                      <p:to>
                                        <p:strVal val="visible"/>
                                      </p:to>
                                    </p:set>
                                    <p:animEffect transition="in" filter="fade">
                                      <p:cBhvr>
                                        <p:cTn id="28" dur="500"/>
                                        <p:tgtEl>
                                          <p:spTgt spid="3">
                                            <p:txEl>
                                              <p:pRg st="6" end="6"/>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nodeType="clickEffect">
                                  <p:stCondLst>
                                    <p:cond delay="0"/>
                                  </p:stCondLst>
                                  <p:childTnLst>
                                    <p:set>
                                      <p:cBhvr>
                                        <p:cTn id="32" dur="1" fill="hold">
                                          <p:stCondLst>
                                            <p:cond delay="0"/>
                                          </p:stCondLst>
                                        </p:cTn>
                                        <p:tgtEl>
                                          <p:spTgt spid="3">
                                            <p:txEl>
                                              <p:pRg st="7" end="7"/>
                                            </p:txEl>
                                          </p:spTgt>
                                        </p:tgtEl>
                                        <p:attrNameLst>
                                          <p:attrName>style.visibility</p:attrName>
                                        </p:attrNameLst>
                                      </p:cBhvr>
                                      <p:to>
                                        <p:strVal val="visible"/>
                                      </p:to>
                                    </p:set>
                                    <p:animEffect transition="in" filter="fade">
                                      <p:cBhvr>
                                        <p:cTn id="33" dur="5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89C4BB-E724-4054-A7FC-FED840079689}"/>
              </a:ext>
            </a:extLst>
          </p:cNvPr>
          <p:cNvSpPr>
            <a:spLocks noGrp="1"/>
          </p:cNvSpPr>
          <p:nvPr>
            <p:ph type="title"/>
          </p:nvPr>
        </p:nvSpPr>
        <p:spPr/>
        <p:txBody>
          <a:bodyPr/>
          <a:lstStyle/>
          <a:p>
            <a:r>
              <a:rPr lang="en-US" dirty="0"/>
              <a:t>More weird stories: crabs</a:t>
            </a:r>
          </a:p>
        </p:txBody>
      </p:sp>
      <p:sp>
        <p:nvSpPr>
          <p:cNvPr id="3" name="Content Placeholder 2">
            <a:extLst>
              <a:ext uri="{FF2B5EF4-FFF2-40B4-BE49-F238E27FC236}">
                <a16:creationId xmlns:a16="http://schemas.microsoft.com/office/drawing/2014/main" id="{FF48006F-21DA-4FA9-91D6-751BDE1B3372}"/>
              </a:ext>
            </a:extLst>
          </p:cNvPr>
          <p:cNvSpPr>
            <a:spLocks noGrp="1"/>
          </p:cNvSpPr>
          <p:nvPr>
            <p:ph idx="1"/>
          </p:nvPr>
        </p:nvSpPr>
        <p:spPr>
          <a:xfrm>
            <a:off x="1701800" y="4394200"/>
            <a:ext cx="6756400" cy="1701800"/>
          </a:xfrm>
        </p:spPr>
        <p:txBody>
          <a:bodyPr/>
          <a:lstStyle/>
          <a:p>
            <a:r>
              <a:rPr lang="en-US" dirty="0"/>
              <a:t>a</a:t>
            </a:r>
          </a:p>
        </p:txBody>
      </p:sp>
      <p:sp>
        <p:nvSpPr>
          <p:cNvPr id="4" name="Footer Placeholder 3">
            <a:extLst>
              <a:ext uri="{FF2B5EF4-FFF2-40B4-BE49-F238E27FC236}">
                <a16:creationId xmlns:a16="http://schemas.microsoft.com/office/drawing/2014/main" id="{24E282D7-D2C9-4D48-9E0B-C9082B0D01BB}"/>
              </a:ext>
            </a:extLst>
          </p:cNvPr>
          <p:cNvSpPr>
            <a:spLocks noGrp="1"/>
          </p:cNvSpPr>
          <p:nvPr>
            <p:ph type="ftr" sz="quarter" idx="11"/>
          </p:nvPr>
        </p:nvSpPr>
        <p:spPr>
          <a:xfrm>
            <a:off x="5384800" y="6375404"/>
            <a:ext cx="2895600" cy="215444"/>
          </a:xfrm>
        </p:spPr>
        <p:txBody>
          <a:bodyPr/>
          <a:lstStyle/>
          <a:p>
            <a:pPr>
              <a:defRPr/>
            </a:pPr>
            <a:r>
              <a:rPr lang="en-US" dirty="0"/>
              <a:t>Bioelectricity Joel Grodstein</a:t>
            </a:r>
          </a:p>
        </p:txBody>
      </p:sp>
      <p:pic>
        <p:nvPicPr>
          <p:cNvPr id="6" name="Picture 5">
            <a:extLst>
              <a:ext uri="{FF2B5EF4-FFF2-40B4-BE49-F238E27FC236}">
                <a16:creationId xmlns:a16="http://schemas.microsoft.com/office/drawing/2014/main" id="{3F0D53AB-E65D-497D-88B9-CC2D1A3AC5A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0148" y="1474213"/>
            <a:ext cx="4034875" cy="3478787"/>
          </a:xfrm>
          <a:prstGeom prst="rect">
            <a:avLst/>
          </a:prstGeom>
        </p:spPr>
      </p:pic>
      <p:sp>
        <p:nvSpPr>
          <p:cNvPr id="9" name="TextBox 8">
            <a:extLst>
              <a:ext uri="{FF2B5EF4-FFF2-40B4-BE49-F238E27FC236}">
                <a16:creationId xmlns:a16="http://schemas.microsoft.com/office/drawing/2014/main" id="{17FC1FA5-196A-4D22-B3FE-AC08B19422E1}"/>
              </a:ext>
            </a:extLst>
          </p:cNvPr>
          <p:cNvSpPr txBox="1"/>
          <p:nvPr/>
        </p:nvSpPr>
        <p:spPr>
          <a:xfrm>
            <a:off x="5147733" y="1405467"/>
            <a:ext cx="3234268" cy="646331"/>
          </a:xfrm>
          <a:prstGeom prst="rect">
            <a:avLst/>
          </a:prstGeom>
          <a:noFill/>
        </p:spPr>
        <p:txBody>
          <a:bodyPr wrap="square" rtlCol="0">
            <a:spAutoFit/>
          </a:bodyPr>
          <a:lstStyle/>
          <a:p>
            <a:r>
              <a:rPr lang="en-US" sz="1800" dirty="0"/>
              <a:t>A normal fiddler crab has no inherent asymmetry</a:t>
            </a:r>
          </a:p>
        </p:txBody>
      </p:sp>
      <p:sp>
        <p:nvSpPr>
          <p:cNvPr id="10" name="TextBox 9">
            <a:extLst>
              <a:ext uri="{FF2B5EF4-FFF2-40B4-BE49-F238E27FC236}">
                <a16:creationId xmlns:a16="http://schemas.microsoft.com/office/drawing/2014/main" id="{D52E30A6-4AB5-4644-A5B2-360D6B5CF483}"/>
              </a:ext>
            </a:extLst>
          </p:cNvPr>
          <p:cNvSpPr txBox="1"/>
          <p:nvPr/>
        </p:nvSpPr>
        <p:spPr>
          <a:xfrm>
            <a:off x="5147733" y="2150536"/>
            <a:ext cx="3234268" cy="923330"/>
          </a:xfrm>
          <a:prstGeom prst="rect">
            <a:avLst/>
          </a:prstGeom>
          <a:noFill/>
        </p:spPr>
        <p:txBody>
          <a:bodyPr wrap="square" rtlCol="0">
            <a:spAutoFit/>
          </a:bodyPr>
          <a:lstStyle/>
          <a:p>
            <a:r>
              <a:rPr lang="en-US" sz="1800" dirty="0"/>
              <a:t>Cut off either one of its front “crusher” legs during growth (accidents happen in nature)</a:t>
            </a:r>
          </a:p>
        </p:txBody>
      </p:sp>
      <p:sp>
        <p:nvSpPr>
          <p:cNvPr id="11" name="TextBox 10">
            <a:extLst>
              <a:ext uri="{FF2B5EF4-FFF2-40B4-BE49-F238E27FC236}">
                <a16:creationId xmlns:a16="http://schemas.microsoft.com/office/drawing/2014/main" id="{DD8866CD-E05B-4520-B331-284C966EA5D2}"/>
              </a:ext>
            </a:extLst>
          </p:cNvPr>
          <p:cNvSpPr txBox="1"/>
          <p:nvPr/>
        </p:nvSpPr>
        <p:spPr>
          <a:xfrm>
            <a:off x="5147733" y="3048002"/>
            <a:ext cx="3234268" cy="646331"/>
          </a:xfrm>
          <a:prstGeom prst="rect">
            <a:avLst/>
          </a:prstGeom>
          <a:noFill/>
        </p:spPr>
        <p:txBody>
          <a:bodyPr wrap="square" rtlCol="0">
            <a:spAutoFit/>
          </a:bodyPr>
          <a:lstStyle/>
          <a:p>
            <a:r>
              <a:rPr lang="en-US" sz="1800" dirty="0"/>
              <a:t>It keeps growing until normal sized – but its partner gets huge!</a:t>
            </a:r>
          </a:p>
        </p:txBody>
      </p:sp>
      <p:sp>
        <p:nvSpPr>
          <p:cNvPr id="12" name="TextBox 11">
            <a:extLst>
              <a:ext uri="{FF2B5EF4-FFF2-40B4-BE49-F238E27FC236}">
                <a16:creationId xmlns:a16="http://schemas.microsoft.com/office/drawing/2014/main" id="{01AF1C29-6779-4BDC-A6EB-2BA4AECE364E}"/>
              </a:ext>
            </a:extLst>
          </p:cNvPr>
          <p:cNvSpPr txBox="1"/>
          <p:nvPr/>
        </p:nvSpPr>
        <p:spPr>
          <a:xfrm>
            <a:off x="5147733" y="3835402"/>
            <a:ext cx="3132667" cy="646331"/>
          </a:xfrm>
          <a:prstGeom prst="rect">
            <a:avLst/>
          </a:prstGeom>
          <a:noFill/>
        </p:spPr>
        <p:txBody>
          <a:bodyPr wrap="square" rtlCol="0">
            <a:spAutoFit/>
          </a:bodyPr>
          <a:lstStyle/>
          <a:p>
            <a:r>
              <a:rPr lang="en-US" sz="1800" dirty="0"/>
              <a:t>Now cut off both front crushers. What happens?</a:t>
            </a:r>
          </a:p>
        </p:txBody>
      </p:sp>
      <p:sp>
        <p:nvSpPr>
          <p:cNvPr id="13" name="TextBox 12">
            <a:extLst>
              <a:ext uri="{FF2B5EF4-FFF2-40B4-BE49-F238E27FC236}">
                <a16:creationId xmlns:a16="http://schemas.microsoft.com/office/drawing/2014/main" id="{B6E0BAA1-6A76-4A05-AB95-242F6C46FD83}"/>
              </a:ext>
            </a:extLst>
          </p:cNvPr>
          <p:cNvSpPr txBox="1"/>
          <p:nvPr/>
        </p:nvSpPr>
        <p:spPr>
          <a:xfrm>
            <a:off x="1524000" y="5147735"/>
            <a:ext cx="3132667" cy="646331"/>
          </a:xfrm>
          <a:prstGeom prst="rect">
            <a:avLst/>
          </a:prstGeom>
          <a:noFill/>
        </p:spPr>
        <p:txBody>
          <a:bodyPr wrap="square" rtlCol="0">
            <a:spAutoFit/>
          </a:bodyPr>
          <a:lstStyle/>
          <a:p>
            <a:r>
              <a:rPr lang="en-US" sz="1800" dirty="0"/>
              <a:t>The first amputation is remembered!</a:t>
            </a:r>
          </a:p>
        </p:txBody>
      </p:sp>
      <p:sp>
        <p:nvSpPr>
          <p:cNvPr id="14" name="Rectangle 13">
            <a:extLst>
              <a:ext uri="{FF2B5EF4-FFF2-40B4-BE49-F238E27FC236}">
                <a16:creationId xmlns:a16="http://schemas.microsoft.com/office/drawing/2014/main" id="{2CABBD0D-9E53-4F38-8CC3-290D89E65A12}"/>
              </a:ext>
            </a:extLst>
          </p:cNvPr>
          <p:cNvSpPr/>
          <p:nvPr/>
        </p:nvSpPr>
        <p:spPr>
          <a:xfrm>
            <a:off x="313267" y="2006600"/>
            <a:ext cx="4004733" cy="74506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B85C869A-C6B7-4372-8CEC-29E5B02F3975}"/>
              </a:ext>
            </a:extLst>
          </p:cNvPr>
          <p:cNvSpPr/>
          <p:nvPr/>
        </p:nvSpPr>
        <p:spPr>
          <a:xfrm>
            <a:off x="313266" y="2717800"/>
            <a:ext cx="4004733" cy="104986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Box 15">
            <a:extLst>
              <a:ext uri="{FF2B5EF4-FFF2-40B4-BE49-F238E27FC236}">
                <a16:creationId xmlns:a16="http://schemas.microsoft.com/office/drawing/2014/main" id="{44A5B33F-AD64-4C11-A72A-D37583AC83B0}"/>
              </a:ext>
            </a:extLst>
          </p:cNvPr>
          <p:cNvSpPr txBox="1"/>
          <p:nvPr/>
        </p:nvSpPr>
        <p:spPr>
          <a:xfrm>
            <a:off x="203200" y="5974079"/>
            <a:ext cx="7974149" cy="646331"/>
          </a:xfrm>
          <a:prstGeom prst="rect">
            <a:avLst/>
          </a:prstGeom>
          <a:noFill/>
        </p:spPr>
        <p:txBody>
          <a:bodyPr wrap="square" rtlCol="0">
            <a:spAutoFit/>
          </a:bodyPr>
          <a:lstStyle/>
          <a:p>
            <a:r>
              <a:rPr lang="en-US" sz="1800" dirty="0"/>
              <a:t>Credit: </a:t>
            </a:r>
            <a:r>
              <a:rPr lang="en-US" sz="1800" i="1" dirty="0"/>
              <a:t>A linear-encoding model explains the variability of the target morphology in regeneration</a:t>
            </a:r>
            <a:r>
              <a:rPr lang="en-US" sz="1800" dirty="0"/>
              <a:t>, Interface, 2014</a:t>
            </a:r>
          </a:p>
        </p:txBody>
      </p:sp>
      <p:sp>
        <p:nvSpPr>
          <p:cNvPr id="17" name="Rectangle 16">
            <a:extLst>
              <a:ext uri="{FF2B5EF4-FFF2-40B4-BE49-F238E27FC236}">
                <a16:creationId xmlns:a16="http://schemas.microsoft.com/office/drawing/2014/main" id="{89240ECE-E5A5-44E4-BE13-0B42F13568BA}"/>
              </a:ext>
            </a:extLst>
          </p:cNvPr>
          <p:cNvSpPr/>
          <p:nvPr/>
        </p:nvSpPr>
        <p:spPr>
          <a:xfrm>
            <a:off x="1016000" y="3742266"/>
            <a:ext cx="533401" cy="115146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DCE7D7B4-E784-42A5-AB1D-6D33B25B5480}"/>
              </a:ext>
            </a:extLst>
          </p:cNvPr>
          <p:cNvSpPr/>
          <p:nvPr/>
        </p:nvSpPr>
        <p:spPr>
          <a:xfrm>
            <a:off x="3852334" y="3784599"/>
            <a:ext cx="533401" cy="115146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EE3B5085-69D6-4A8E-8BEB-DCE24DB4D5E7}"/>
              </a:ext>
            </a:extLst>
          </p:cNvPr>
          <p:cNvSpPr/>
          <p:nvPr/>
        </p:nvSpPr>
        <p:spPr>
          <a:xfrm>
            <a:off x="313265" y="3733800"/>
            <a:ext cx="4004733" cy="1134533"/>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5733666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xit" presetSubtype="0" fill="hold" grpId="0" nodeType="clickEffect">
                                  <p:stCondLst>
                                    <p:cond delay="0"/>
                                  </p:stCondLst>
                                  <p:childTnLst>
                                    <p:animEffect transition="out" filter="fade">
                                      <p:cBhvr>
                                        <p:cTn id="11" dur="500"/>
                                        <p:tgtEl>
                                          <p:spTgt spid="14"/>
                                        </p:tgtEl>
                                      </p:cBhvr>
                                    </p:animEffect>
                                    <p:set>
                                      <p:cBhvr>
                                        <p:cTn id="12" dur="1" fill="hold">
                                          <p:stCondLst>
                                            <p:cond delay="499"/>
                                          </p:stCondLst>
                                        </p:cTn>
                                        <p:tgtEl>
                                          <p:spTgt spid="14"/>
                                        </p:tgtEl>
                                        <p:attrNameLst>
                                          <p:attrName>style.visibility</p:attrName>
                                        </p:attrNameLst>
                                      </p:cBhvr>
                                      <p:to>
                                        <p:strVal val="hidden"/>
                                      </p:to>
                                    </p:se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fade">
                                      <p:cBhvr>
                                        <p:cTn id="17" dur="500"/>
                                        <p:tgtEl>
                                          <p:spTgt spid="11"/>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xit" presetSubtype="0" fill="hold" grpId="0" nodeType="clickEffect">
                                  <p:stCondLst>
                                    <p:cond delay="0"/>
                                  </p:stCondLst>
                                  <p:childTnLst>
                                    <p:animEffect transition="out" filter="fade">
                                      <p:cBhvr>
                                        <p:cTn id="21" dur="500"/>
                                        <p:tgtEl>
                                          <p:spTgt spid="15"/>
                                        </p:tgtEl>
                                      </p:cBhvr>
                                    </p:animEffect>
                                    <p:set>
                                      <p:cBhvr>
                                        <p:cTn id="22" dur="1" fill="hold">
                                          <p:stCondLst>
                                            <p:cond delay="499"/>
                                          </p:stCondLst>
                                        </p:cTn>
                                        <p:tgtEl>
                                          <p:spTgt spid="15"/>
                                        </p:tgtEl>
                                        <p:attrNameLst>
                                          <p:attrName>style.visibility</p:attrName>
                                        </p:attrNameLst>
                                      </p:cBhvr>
                                      <p:to>
                                        <p:strVal val="hidden"/>
                                      </p:to>
                                    </p:se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2"/>
                                        </p:tgtEl>
                                        <p:attrNameLst>
                                          <p:attrName>style.visibility</p:attrName>
                                        </p:attrNameLst>
                                      </p:cBhvr>
                                      <p:to>
                                        <p:strVal val="visible"/>
                                      </p:to>
                                    </p:set>
                                    <p:animEffect transition="in" filter="fade">
                                      <p:cBhvr>
                                        <p:cTn id="27" dur="500"/>
                                        <p:tgtEl>
                                          <p:spTgt spid="12"/>
                                        </p:tgtEl>
                                      </p:cBhvr>
                                    </p:animEffect>
                                  </p:childTnLst>
                                </p:cTn>
                              </p:par>
                              <p:par>
                                <p:cTn id="28" presetID="10" presetClass="exit" presetSubtype="0" fill="hold" grpId="0" nodeType="withEffect">
                                  <p:stCondLst>
                                    <p:cond delay="0"/>
                                  </p:stCondLst>
                                  <p:childTnLst>
                                    <p:animEffect transition="out" filter="fade">
                                      <p:cBhvr>
                                        <p:cTn id="29" dur="500"/>
                                        <p:tgtEl>
                                          <p:spTgt spid="19"/>
                                        </p:tgtEl>
                                      </p:cBhvr>
                                    </p:animEffect>
                                    <p:set>
                                      <p:cBhvr>
                                        <p:cTn id="30" dur="1" fill="hold">
                                          <p:stCondLst>
                                            <p:cond delay="499"/>
                                          </p:stCondLst>
                                        </p:cTn>
                                        <p:tgtEl>
                                          <p:spTgt spid="19"/>
                                        </p:tgtEl>
                                        <p:attrNameLst>
                                          <p:attrName>style.visibility</p:attrName>
                                        </p:attrNameLst>
                                      </p:cBhvr>
                                      <p:to>
                                        <p:strVal val="hidden"/>
                                      </p:to>
                                    </p:set>
                                  </p:childTnLst>
                                </p:cTn>
                              </p:par>
                            </p:childTnLst>
                          </p:cTn>
                        </p:par>
                      </p:childTnLst>
                    </p:cTn>
                  </p:par>
                  <p:par>
                    <p:cTn id="31" fill="hold">
                      <p:stCondLst>
                        <p:cond delay="indefinite"/>
                      </p:stCondLst>
                      <p:childTnLst>
                        <p:par>
                          <p:cTn id="32" fill="hold">
                            <p:stCondLst>
                              <p:cond delay="0"/>
                            </p:stCondLst>
                            <p:childTnLst>
                              <p:par>
                                <p:cTn id="33" presetID="10" presetClass="exit" presetSubtype="0" fill="hold" grpId="0" nodeType="clickEffect">
                                  <p:stCondLst>
                                    <p:cond delay="0"/>
                                  </p:stCondLst>
                                  <p:childTnLst>
                                    <p:animEffect transition="out" filter="fade">
                                      <p:cBhvr>
                                        <p:cTn id="34" dur="500"/>
                                        <p:tgtEl>
                                          <p:spTgt spid="17"/>
                                        </p:tgtEl>
                                      </p:cBhvr>
                                    </p:animEffect>
                                    <p:set>
                                      <p:cBhvr>
                                        <p:cTn id="35" dur="1" fill="hold">
                                          <p:stCondLst>
                                            <p:cond delay="499"/>
                                          </p:stCondLst>
                                        </p:cTn>
                                        <p:tgtEl>
                                          <p:spTgt spid="17"/>
                                        </p:tgtEl>
                                        <p:attrNameLst>
                                          <p:attrName>style.visibility</p:attrName>
                                        </p:attrNameLst>
                                      </p:cBhvr>
                                      <p:to>
                                        <p:strVal val="hidden"/>
                                      </p:to>
                                    </p:set>
                                  </p:childTnLst>
                                </p:cTn>
                              </p:par>
                              <p:par>
                                <p:cTn id="36" presetID="10" presetClass="exit" presetSubtype="0" fill="hold" grpId="0" nodeType="withEffect">
                                  <p:stCondLst>
                                    <p:cond delay="0"/>
                                  </p:stCondLst>
                                  <p:childTnLst>
                                    <p:animEffect transition="out" filter="fade">
                                      <p:cBhvr>
                                        <p:cTn id="37" dur="500"/>
                                        <p:tgtEl>
                                          <p:spTgt spid="18"/>
                                        </p:tgtEl>
                                      </p:cBhvr>
                                    </p:animEffect>
                                    <p:set>
                                      <p:cBhvr>
                                        <p:cTn id="38" dur="1" fill="hold">
                                          <p:stCondLst>
                                            <p:cond delay="499"/>
                                          </p:stCondLst>
                                        </p:cTn>
                                        <p:tgtEl>
                                          <p:spTgt spid="18"/>
                                        </p:tgtEl>
                                        <p:attrNameLst>
                                          <p:attrName>style.visibility</p:attrName>
                                        </p:attrNameLst>
                                      </p:cBhvr>
                                      <p:to>
                                        <p:strVal val="hidden"/>
                                      </p:to>
                                    </p:set>
                                  </p:childTnLst>
                                </p:cTn>
                              </p:par>
                            </p:childTnLst>
                          </p:cTn>
                        </p:par>
                      </p:childTnLst>
                    </p:cTn>
                  </p:par>
                  <p:par>
                    <p:cTn id="39" fill="hold">
                      <p:stCondLst>
                        <p:cond delay="indefinite"/>
                      </p:stCondLst>
                      <p:childTnLst>
                        <p:par>
                          <p:cTn id="40" fill="hold">
                            <p:stCondLst>
                              <p:cond delay="0"/>
                            </p:stCondLst>
                            <p:childTnLst>
                              <p:par>
                                <p:cTn id="41" presetID="10" presetClass="entr" presetSubtype="0" fill="hold" grpId="0" nodeType="clickEffect">
                                  <p:stCondLst>
                                    <p:cond delay="0"/>
                                  </p:stCondLst>
                                  <p:childTnLst>
                                    <p:set>
                                      <p:cBhvr>
                                        <p:cTn id="42" dur="1" fill="hold">
                                          <p:stCondLst>
                                            <p:cond delay="0"/>
                                          </p:stCondLst>
                                        </p:cTn>
                                        <p:tgtEl>
                                          <p:spTgt spid="13"/>
                                        </p:tgtEl>
                                        <p:attrNameLst>
                                          <p:attrName>style.visibility</p:attrName>
                                        </p:attrNameLst>
                                      </p:cBhvr>
                                      <p:to>
                                        <p:strVal val="visible"/>
                                      </p:to>
                                    </p:set>
                                    <p:animEffect transition="in" filter="fade">
                                      <p:cBhvr>
                                        <p:cTn id="43"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1" grpId="0"/>
      <p:bldP spid="12" grpId="0"/>
      <p:bldP spid="13" grpId="0"/>
      <p:bldP spid="14" grpId="0" animBg="1"/>
      <p:bldP spid="15" grpId="0" animBg="1"/>
      <p:bldP spid="17" grpId="0" animBg="1"/>
      <p:bldP spid="18" grpId="0" animBg="1"/>
      <p:bldP spid="19"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91E9DC-28BD-4AA2-9417-474FE86E2A5C}"/>
              </a:ext>
            </a:extLst>
          </p:cNvPr>
          <p:cNvSpPr>
            <a:spLocks noGrp="1"/>
          </p:cNvSpPr>
          <p:nvPr>
            <p:ph type="title"/>
          </p:nvPr>
        </p:nvSpPr>
        <p:spPr/>
        <p:txBody>
          <a:bodyPr/>
          <a:lstStyle/>
          <a:p>
            <a:r>
              <a:rPr lang="en-US" dirty="0"/>
              <a:t>More amazing </a:t>
            </a:r>
            <a:r>
              <a:rPr lang="en-US" dirty="0" err="1"/>
              <a:t>planaria</a:t>
            </a:r>
            <a:r>
              <a:rPr lang="en-US" dirty="0"/>
              <a:t> feats</a:t>
            </a:r>
          </a:p>
        </p:txBody>
      </p:sp>
      <p:sp>
        <p:nvSpPr>
          <p:cNvPr id="3" name="Content Placeholder 2">
            <a:extLst>
              <a:ext uri="{FF2B5EF4-FFF2-40B4-BE49-F238E27FC236}">
                <a16:creationId xmlns:a16="http://schemas.microsoft.com/office/drawing/2014/main" id="{157A4077-31DC-473A-BD58-ACAA2B678883}"/>
              </a:ext>
            </a:extLst>
          </p:cNvPr>
          <p:cNvSpPr>
            <a:spLocks noGrp="1"/>
          </p:cNvSpPr>
          <p:nvPr>
            <p:ph idx="1"/>
          </p:nvPr>
        </p:nvSpPr>
        <p:spPr>
          <a:xfrm>
            <a:off x="685800" y="1371591"/>
            <a:ext cx="7772400" cy="4639739"/>
          </a:xfrm>
        </p:spPr>
        <p:txBody>
          <a:bodyPr/>
          <a:lstStyle/>
          <a:p>
            <a:r>
              <a:rPr lang="en-US" sz="2000" dirty="0"/>
              <a:t>Not all memory is stored in the brain</a:t>
            </a:r>
          </a:p>
          <a:p>
            <a:r>
              <a:rPr lang="en-US" sz="2000" dirty="0"/>
              <a:t>Experiment, part 1</a:t>
            </a:r>
          </a:p>
          <a:p>
            <a:pPr lvl="1">
              <a:spcBef>
                <a:spcPts val="0"/>
              </a:spcBef>
            </a:pPr>
            <a:r>
              <a:rPr lang="en-US" sz="1800" dirty="0"/>
              <a:t>Feed </a:t>
            </a:r>
            <a:r>
              <a:rPr lang="en-US" sz="1800" dirty="0" err="1"/>
              <a:t>planaria</a:t>
            </a:r>
            <a:r>
              <a:rPr lang="en-US" sz="1800" dirty="0"/>
              <a:t> on a textured surface</a:t>
            </a:r>
          </a:p>
          <a:p>
            <a:pPr lvl="1">
              <a:spcBef>
                <a:spcPts val="0"/>
              </a:spcBef>
            </a:pPr>
            <a:r>
              <a:rPr lang="en-US" sz="1800" dirty="0"/>
              <a:t>Remove for two weeks</a:t>
            </a:r>
          </a:p>
          <a:p>
            <a:pPr lvl="1">
              <a:spcBef>
                <a:spcPts val="0"/>
              </a:spcBef>
            </a:pPr>
            <a:r>
              <a:rPr lang="en-US" sz="1800" dirty="0"/>
              <a:t>They now feed on a textured surface quicker than untrained </a:t>
            </a:r>
            <a:r>
              <a:rPr lang="en-US" sz="1800" dirty="0" err="1"/>
              <a:t>planaria</a:t>
            </a:r>
            <a:endParaRPr lang="en-US" sz="1800" dirty="0"/>
          </a:p>
          <a:p>
            <a:pPr lvl="1">
              <a:spcBef>
                <a:spcPts val="0"/>
              </a:spcBef>
            </a:pPr>
            <a:r>
              <a:rPr lang="en-US" sz="1800" dirty="0"/>
              <a:t>Conclusion: “long-term” memory is possible. Long enough to regrow!</a:t>
            </a:r>
          </a:p>
          <a:p>
            <a:r>
              <a:rPr lang="en-US" sz="2000" dirty="0"/>
              <a:t>Experiment, part 2</a:t>
            </a:r>
          </a:p>
          <a:p>
            <a:pPr lvl="1">
              <a:spcBef>
                <a:spcPts val="0"/>
              </a:spcBef>
            </a:pPr>
            <a:r>
              <a:rPr lang="en-US" sz="1800" dirty="0"/>
              <a:t>cut off their heads, regrow (</a:t>
            </a:r>
            <a:r>
              <a:rPr lang="en-US" sz="1800" dirty="0">
                <a:sym typeface="Symbol" panose="05050102010706020507" pitchFamily="18" charset="2"/>
              </a:rPr>
              <a:t>14 days)</a:t>
            </a:r>
            <a:r>
              <a:rPr lang="en-US" sz="1800" dirty="0"/>
              <a:t> </a:t>
            </a:r>
          </a:p>
          <a:p>
            <a:pPr lvl="1">
              <a:spcBef>
                <a:spcPts val="0"/>
              </a:spcBef>
            </a:pPr>
            <a:r>
              <a:rPr lang="en-US" sz="1800" dirty="0"/>
              <a:t>Will they still retain their training?</a:t>
            </a:r>
          </a:p>
          <a:p>
            <a:r>
              <a:rPr lang="en-US" sz="2200" dirty="0"/>
              <a:t>No?</a:t>
            </a:r>
          </a:p>
          <a:p>
            <a:pPr lvl="1">
              <a:spcBef>
                <a:spcPts val="0"/>
              </a:spcBef>
            </a:pPr>
            <a:r>
              <a:rPr lang="en-US" sz="1800" dirty="0"/>
              <a:t>Memories are stored in your brain</a:t>
            </a:r>
          </a:p>
          <a:p>
            <a:pPr lvl="1">
              <a:spcBef>
                <a:spcPts val="0"/>
              </a:spcBef>
            </a:pPr>
            <a:r>
              <a:rPr lang="en-US" sz="1800" dirty="0"/>
              <a:t>If you regrow a new one, they’re gone</a:t>
            </a:r>
          </a:p>
          <a:p>
            <a:r>
              <a:rPr lang="en-US" sz="2200" dirty="0"/>
              <a:t>Yes?</a:t>
            </a:r>
          </a:p>
          <a:p>
            <a:pPr lvl="1">
              <a:spcBef>
                <a:spcPts val="0"/>
              </a:spcBef>
            </a:pPr>
            <a:r>
              <a:rPr lang="en-US" sz="1800" dirty="0"/>
              <a:t>Morphogenesis clearly create neurons.</a:t>
            </a:r>
          </a:p>
          <a:p>
            <a:pPr lvl="1">
              <a:spcBef>
                <a:spcPts val="0"/>
              </a:spcBef>
            </a:pPr>
            <a:r>
              <a:rPr lang="en-US" sz="1800" dirty="0"/>
              <a:t>Human newborns can cry, suckle, etc.</a:t>
            </a:r>
          </a:p>
          <a:p>
            <a:pPr marL="0" indent="0">
              <a:buNone/>
            </a:pPr>
            <a:endParaRPr lang="en-US" sz="2200" dirty="0"/>
          </a:p>
          <a:p>
            <a:endParaRPr lang="en-US" dirty="0"/>
          </a:p>
        </p:txBody>
      </p:sp>
      <p:sp>
        <p:nvSpPr>
          <p:cNvPr id="4" name="Footer Placeholder 3">
            <a:extLst>
              <a:ext uri="{FF2B5EF4-FFF2-40B4-BE49-F238E27FC236}">
                <a16:creationId xmlns:a16="http://schemas.microsoft.com/office/drawing/2014/main" id="{A58C6401-1DD2-4D02-9691-DAF3915EB22F}"/>
              </a:ext>
            </a:extLst>
          </p:cNvPr>
          <p:cNvSpPr>
            <a:spLocks noGrp="1"/>
          </p:cNvSpPr>
          <p:nvPr>
            <p:ph type="ftr" sz="quarter" idx="11"/>
          </p:nvPr>
        </p:nvSpPr>
        <p:spPr>
          <a:xfrm>
            <a:off x="5638807" y="6491582"/>
            <a:ext cx="2895600" cy="215444"/>
          </a:xfrm>
        </p:spPr>
        <p:txBody>
          <a:bodyPr/>
          <a:lstStyle/>
          <a:p>
            <a:pPr>
              <a:defRPr/>
            </a:pPr>
            <a:r>
              <a:rPr lang="en-US" dirty="0"/>
              <a:t>Bioelectricity Joel Grodstein</a:t>
            </a:r>
          </a:p>
        </p:txBody>
      </p:sp>
      <p:sp>
        <p:nvSpPr>
          <p:cNvPr id="5" name="TextBox 4">
            <a:extLst>
              <a:ext uri="{FF2B5EF4-FFF2-40B4-BE49-F238E27FC236}">
                <a16:creationId xmlns:a16="http://schemas.microsoft.com/office/drawing/2014/main" id="{83A533D7-824D-4392-9E16-509B76219992}"/>
              </a:ext>
            </a:extLst>
          </p:cNvPr>
          <p:cNvSpPr txBox="1"/>
          <p:nvPr/>
        </p:nvSpPr>
        <p:spPr>
          <a:xfrm>
            <a:off x="203200" y="6160350"/>
            <a:ext cx="7907867" cy="646331"/>
          </a:xfrm>
          <a:prstGeom prst="rect">
            <a:avLst/>
          </a:prstGeom>
          <a:noFill/>
        </p:spPr>
        <p:txBody>
          <a:bodyPr wrap="square" rtlCol="0">
            <a:spAutoFit/>
          </a:bodyPr>
          <a:lstStyle/>
          <a:p>
            <a:r>
              <a:rPr lang="en-US" sz="1800" dirty="0"/>
              <a:t>Credit: </a:t>
            </a:r>
            <a:r>
              <a:rPr lang="en-US" sz="1800" i="1" dirty="0"/>
              <a:t>An automated training paradigm reveals long-term memory in planarians and its persistence through head regeneration</a:t>
            </a:r>
            <a:r>
              <a:rPr lang="en-US" sz="1800" b="1" i="1" dirty="0"/>
              <a:t>,</a:t>
            </a:r>
            <a:r>
              <a:rPr lang="en-US" sz="1800" dirty="0"/>
              <a:t> 2013</a:t>
            </a:r>
          </a:p>
        </p:txBody>
      </p:sp>
    </p:spTree>
    <p:extLst>
      <p:ext uri="{BB962C8B-B14F-4D97-AF65-F5344CB8AC3E}">
        <p14:creationId xmlns:p14="http://schemas.microsoft.com/office/powerpoint/2010/main" val="33508611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6" end="6"/>
                                            </p:txEl>
                                          </p:spTgt>
                                        </p:tgtEl>
                                        <p:attrNameLst>
                                          <p:attrName>style.visibility</p:attrName>
                                        </p:attrNameLst>
                                      </p:cBhvr>
                                      <p:to>
                                        <p:strVal val="visible"/>
                                      </p:to>
                                    </p:set>
                                    <p:animEffect transition="in" filter="fade">
                                      <p:cBhvr>
                                        <p:cTn id="7" dur="500"/>
                                        <p:tgtEl>
                                          <p:spTgt spid="3">
                                            <p:txEl>
                                              <p:pRg st="6" end="6"/>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7" end="7"/>
                                            </p:txEl>
                                          </p:spTgt>
                                        </p:tgtEl>
                                        <p:attrNameLst>
                                          <p:attrName>style.visibility</p:attrName>
                                        </p:attrNameLst>
                                      </p:cBhvr>
                                      <p:to>
                                        <p:strVal val="visible"/>
                                      </p:to>
                                    </p:set>
                                    <p:animEffect transition="in" filter="fade">
                                      <p:cBhvr>
                                        <p:cTn id="10" dur="500"/>
                                        <p:tgtEl>
                                          <p:spTgt spid="3">
                                            <p:txEl>
                                              <p:pRg st="7" end="7"/>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3">
                                            <p:txEl>
                                              <p:pRg st="8" end="8"/>
                                            </p:txEl>
                                          </p:spTgt>
                                        </p:tgtEl>
                                        <p:attrNameLst>
                                          <p:attrName>style.visibility</p:attrName>
                                        </p:attrNameLst>
                                      </p:cBhvr>
                                      <p:to>
                                        <p:strVal val="visible"/>
                                      </p:to>
                                    </p:set>
                                    <p:animEffect transition="in" filter="fade">
                                      <p:cBhvr>
                                        <p:cTn id="13" dur="500"/>
                                        <p:tgtEl>
                                          <p:spTgt spid="3">
                                            <p:txEl>
                                              <p:pRg st="8" end="8"/>
                                            </p:txEl>
                                          </p:spTgt>
                                        </p:tgtEl>
                                      </p:cBhvr>
                                    </p:animEffect>
                                  </p:childTnLst>
                                </p:cTn>
                              </p:par>
                              <p:par>
                                <p:cTn id="14" presetID="10" presetClass="entr" presetSubtype="0" fill="hold" nodeType="withEffect">
                                  <p:stCondLst>
                                    <p:cond delay="0"/>
                                  </p:stCondLst>
                                  <p:childTnLst>
                                    <p:set>
                                      <p:cBhvr>
                                        <p:cTn id="15" dur="1" fill="hold">
                                          <p:stCondLst>
                                            <p:cond delay="0"/>
                                          </p:stCondLst>
                                        </p:cTn>
                                        <p:tgtEl>
                                          <p:spTgt spid="3">
                                            <p:txEl>
                                              <p:pRg st="9" end="9"/>
                                            </p:txEl>
                                          </p:spTgt>
                                        </p:tgtEl>
                                        <p:attrNameLst>
                                          <p:attrName>style.visibility</p:attrName>
                                        </p:attrNameLst>
                                      </p:cBhvr>
                                      <p:to>
                                        <p:strVal val="visible"/>
                                      </p:to>
                                    </p:set>
                                    <p:animEffect transition="in" filter="fade">
                                      <p:cBhvr>
                                        <p:cTn id="16" dur="500"/>
                                        <p:tgtEl>
                                          <p:spTgt spid="3">
                                            <p:txEl>
                                              <p:pRg st="9" end="9"/>
                                            </p:txEl>
                                          </p:spTgt>
                                        </p:tgtEl>
                                      </p:cBhvr>
                                    </p:animEffect>
                                  </p:childTnLst>
                                </p:cTn>
                              </p:par>
                              <p:par>
                                <p:cTn id="17" presetID="10" presetClass="entr" presetSubtype="0" fill="hold" nodeType="withEffect">
                                  <p:stCondLst>
                                    <p:cond delay="0"/>
                                  </p:stCondLst>
                                  <p:childTnLst>
                                    <p:set>
                                      <p:cBhvr>
                                        <p:cTn id="18" dur="1" fill="hold">
                                          <p:stCondLst>
                                            <p:cond delay="0"/>
                                          </p:stCondLst>
                                        </p:cTn>
                                        <p:tgtEl>
                                          <p:spTgt spid="3">
                                            <p:txEl>
                                              <p:pRg st="12" end="12"/>
                                            </p:txEl>
                                          </p:spTgt>
                                        </p:tgtEl>
                                        <p:attrNameLst>
                                          <p:attrName>style.visibility</p:attrName>
                                        </p:attrNameLst>
                                      </p:cBhvr>
                                      <p:to>
                                        <p:strVal val="visible"/>
                                      </p:to>
                                    </p:set>
                                    <p:animEffect transition="in" filter="fade">
                                      <p:cBhvr>
                                        <p:cTn id="19" dur="500"/>
                                        <p:tgtEl>
                                          <p:spTgt spid="3">
                                            <p:txEl>
                                              <p:pRg st="12" end="12"/>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nodeType="clickEffect">
                                  <p:stCondLst>
                                    <p:cond delay="0"/>
                                  </p:stCondLst>
                                  <p:childTnLst>
                                    <p:set>
                                      <p:cBhvr>
                                        <p:cTn id="23" dur="1" fill="hold">
                                          <p:stCondLst>
                                            <p:cond delay="0"/>
                                          </p:stCondLst>
                                        </p:cTn>
                                        <p:tgtEl>
                                          <p:spTgt spid="3">
                                            <p:txEl>
                                              <p:pRg st="10" end="10"/>
                                            </p:txEl>
                                          </p:spTgt>
                                        </p:tgtEl>
                                        <p:attrNameLst>
                                          <p:attrName>style.visibility</p:attrName>
                                        </p:attrNameLst>
                                      </p:cBhvr>
                                      <p:to>
                                        <p:strVal val="visible"/>
                                      </p:to>
                                    </p:set>
                                    <p:animEffect transition="in" filter="fade">
                                      <p:cBhvr>
                                        <p:cTn id="24" dur="500"/>
                                        <p:tgtEl>
                                          <p:spTgt spid="3">
                                            <p:txEl>
                                              <p:pRg st="10" end="10"/>
                                            </p:txEl>
                                          </p:spTgt>
                                        </p:tgtEl>
                                      </p:cBhvr>
                                    </p:animEffect>
                                  </p:childTnLst>
                                </p:cTn>
                              </p:par>
                              <p:par>
                                <p:cTn id="25" presetID="10" presetClass="entr" presetSubtype="0" fill="hold" nodeType="withEffect">
                                  <p:stCondLst>
                                    <p:cond delay="0"/>
                                  </p:stCondLst>
                                  <p:childTnLst>
                                    <p:set>
                                      <p:cBhvr>
                                        <p:cTn id="26" dur="1" fill="hold">
                                          <p:stCondLst>
                                            <p:cond delay="0"/>
                                          </p:stCondLst>
                                        </p:cTn>
                                        <p:tgtEl>
                                          <p:spTgt spid="3">
                                            <p:txEl>
                                              <p:pRg st="11" end="11"/>
                                            </p:txEl>
                                          </p:spTgt>
                                        </p:tgtEl>
                                        <p:attrNameLst>
                                          <p:attrName>style.visibility</p:attrName>
                                        </p:attrNameLst>
                                      </p:cBhvr>
                                      <p:to>
                                        <p:strVal val="visible"/>
                                      </p:to>
                                    </p:set>
                                    <p:animEffect transition="in" filter="fade">
                                      <p:cBhvr>
                                        <p:cTn id="27" dur="500"/>
                                        <p:tgtEl>
                                          <p:spTgt spid="3">
                                            <p:txEl>
                                              <p:pRg st="11" end="11"/>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
                                            <p:txEl>
                                              <p:pRg st="13" end="13"/>
                                            </p:txEl>
                                          </p:spTgt>
                                        </p:tgtEl>
                                        <p:attrNameLst>
                                          <p:attrName>style.visibility</p:attrName>
                                        </p:attrNameLst>
                                      </p:cBhvr>
                                      <p:to>
                                        <p:strVal val="visible"/>
                                      </p:to>
                                    </p:set>
                                    <p:animEffect transition="in" filter="fade">
                                      <p:cBhvr>
                                        <p:cTn id="32" dur="500"/>
                                        <p:tgtEl>
                                          <p:spTgt spid="3">
                                            <p:txEl>
                                              <p:pRg st="13" end="13"/>
                                            </p:txEl>
                                          </p:spTgt>
                                        </p:tgtEl>
                                      </p:cBhvr>
                                    </p:animEffect>
                                  </p:childTnLst>
                                </p:cTn>
                              </p:par>
                              <p:par>
                                <p:cTn id="33" presetID="10" presetClass="entr" presetSubtype="0" fill="hold" nodeType="withEffect">
                                  <p:stCondLst>
                                    <p:cond delay="0"/>
                                  </p:stCondLst>
                                  <p:childTnLst>
                                    <p:set>
                                      <p:cBhvr>
                                        <p:cTn id="34" dur="1" fill="hold">
                                          <p:stCondLst>
                                            <p:cond delay="0"/>
                                          </p:stCondLst>
                                        </p:cTn>
                                        <p:tgtEl>
                                          <p:spTgt spid="3">
                                            <p:txEl>
                                              <p:pRg st="14" end="14"/>
                                            </p:txEl>
                                          </p:spTgt>
                                        </p:tgtEl>
                                        <p:attrNameLst>
                                          <p:attrName>style.visibility</p:attrName>
                                        </p:attrNameLst>
                                      </p:cBhvr>
                                      <p:to>
                                        <p:strVal val="visible"/>
                                      </p:to>
                                    </p:set>
                                    <p:animEffect transition="in" filter="fade">
                                      <p:cBhvr>
                                        <p:cTn id="35" dur="500"/>
                                        <p:tgtEl>
                                          <p:spTgt spid="3">
                                            <p:txEl>
                                              <p:pRg st="14" end="1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40A97E-EB33-45C8-A859-EE06299E2734}"/>
              </a:ext>
            </a:extLst>
          </p:cNvPr>
          <p:cNvSpPr>
            <a:spLocks noGrp="1"/>
          </p:cNvSpPr>
          <p:nvPr>
            <p:ph type="title"/>
          </p:nvPr>
        </p:nvSpPr>
        <p:spPr/>
        <p:txBody>
          <a:bodyPr/>
          <a:lstStyle/>
          <a:p>
            <a:r>
              <a:rPr lang="en-US" dirty="0"/>
              <a:t>Theories?</a:t>
            </a:r>
          </a:p>
        </p:txBody>
      </p:sp>
      <p:sp>
        <p:nvSpPr>
          <p:cNvPr id="3" name="Content Placeholder 2">
            <a:extLst>
              <a:ext uri="{FF2B5EF4-FFF2-40B4-BE49-F238E27FC236}">
                <a16:creationId xmlns:a16="http://schemas.microsoft.com/office/drawing/2014/main" id="{7D369876-BBE1-42F4-8C83-EAA087C9C12C}"/>
              </a:ext>
            </a:extLst>
          </p:cNvPr>
          <p:cNvSpPr>
            <a:spLocks noGrp="1"/>
          </p:cNvSpPr>
          <p:nvPr>
            <p:ph idx="1"/>
          </p:nvPr>
        </p:nvSpPr>
        <p:spPr>
          <a:xfrm>
            <a:off x="685800" y="1343893"/>
            <a:ext cx="7772400" cy="5013692"/>
          </a:xfrm>
        </p:spPr>
        <p:txBody>
          <a:bodyPr/>
          <a:lstStyle/>
          <a:p>
            <a:r>
              <a:rPr lang="en-US" dirty="0"/>
              <a:t>How is the target state stored?</a:t>
            </a:r>
          </a:p>
          <a:p>
            <a:pPr lvl="1">
              <a:spcBef>
                <a:spcPts val="0"/>
              </a:spcBef>
            </a:pPr>
            <a:r>
              <a:rPr lang="en-US" dirty="0"/>
              <a:t>Partly in </a:t>
            </a:r>
            <a:r>
              <a:rPr lang="en-US" i="1" dirty="0" err="1"/>
              <a:t>V</a:t>
            </a:r>
            <a:r>
              <a:rPr lang="en-US" baseline="-25000" dirty="0" err="1"/>
              <a:t>mem</a:t>
            </a:r>
            <a:r>
              <a:rPr lang="en-US" dirty="0"/>
              <a:t> patterns – rewritable, redundant/nonlocal </a:t>
            </a:r>
          </a:p>
          <a:p>
            <a:pPr lvl="1">
              <a:spcBef>
                <a:spcPts val="0"/>
              </a:spcBef>
            </a:pPr>
            <a:r>
              <a:rPr lang="en-US" dirty="0"/>
              <a:t>DNA tends to snap it to one of a small number of “reasonable” goals stored in DNA</a:t>
            </a:r>
          </a:p>
          <a:p>
            <a:r>
              <a:rPr lang="en-US" dirty="0"/>
              <a:t>Redundant storage is used in all computers (ECC, </a:t>
            </a:r>
            <a:r>
              <a:rPr lang="en-US" dirty="0" err="1"/>
              <a:t>chipkill</a:t>
            </a:r>
            <a:r>
              <a:rPr lang="en-US" dirty="0"/>
              <a:t>)</a:t>
            </a:r>
          </a:p>
        </p:txBody>
      </p:sp>
      <p:sp>
        <p:nvSpPr>
          <p:cNvPr id="4" name="Footer Placeholder 3">
            <a:extLst>
              <a:ext uri="{FF2B5EF4-FFF2-40B4-BE49-F238E27FC236}">
                <a16:creationId xmlns:a16="http://schemas.microsoft.com/office/drawing/2014/main" id="{C4C772FC-C321-45B6-87FC-E3F6F7F0E8CE}"/>
              </a:ext>
            </a:extLst>
          </p:cNvPr>
          <p:cNvSpPr>
            <a:spLocks noGrp="1"/>
          </p:cNvSpPr>
          <p:nvPr>
            <p:ph type="ftr" sz="quarter" idx="11"/>
          </p:nvPr>
        </p:nvSpPr>
        <p:spPr/>
        <p:txBody>
          <a:bodyPr/>
          <a:lstStyle/>
          <a:p>
            <a:pPr>
              <a:defRPr/>
            </a:pPr>
            <a:r>
              <a:rPr lang="en-US"/>
              <a:t>Bioelectricity Joel Grodstein</a:t>
            </a:r>
            <a:endParaRPr lang="en-US" dirty="0"/>
          </a:p>
        </p:txBody>
      </p:sp>
    </p:spTree>
    <p:extLst>
      <p:ext uri="{BB962C8B-B14F-4D97-AF65-F5344CB8AC3E}">
        <p14:creationId xmlns:p14="http://schemas.microsoft.com/office/powerpoint/2010/main" val="28956897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fade">
                                      <p:cBhvr>
                                        <p:cTn id="10" dur="500"/>
                                        <p:tgtEl>
                                          <p:spTgt spid="3">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fade">
                                      <p:cBhvr>
                                        <p:cTn id="15" dur="500"/>
                                        <p:tgtEl>
                                          <p:spTgt spid="3">
                                            <p:txEl>
                                              <p:pRg st="2" end="2"/>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3">
                                            <p:txEl>
                                              <p:pRg st="3" end="3"/>
                                            </p:txEl>
                                          </p:spTgt>
                                        </p:tgtEl>
                                        <p:attrNameLst>
                                          <p:attrName>style.visibility</p:attrName>
                                        </p:attrNameLst>
                                      </p:cBhvr>
                                      <p:to>
                                        <p:strVal val="visible"/>
                                      </p:to>
                                    </p:set>
                                    <p:animEffect transition="in" filter="fade">
                                      <p:cBhvr>
                                        <p:cTn id="20"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D32EA9-0835-45DB-B2E1-60A7D5DC2D66}"/>
              </a:ext>
            </a:extLst>
          </p:cNvPr>
          <p:cNvSpPr>
            <a:spLocks noGrp="1"/>
          </p:cNvSpPr>
          <p:nvPr>
            <p:ph type="title"/>
          </p:nvPr>
        </p:nvSpPr>
        <p:spPr/>
        <p:txBody>
          <a:bodyPr/>
          <a:lstStyle/>
          <a:p>
            <a:r>
              <a:rPr lang="en-US" dirty="0"/>
              <a:t>Layered systems are awesome</a:t>
            </a:r>
          </a:p>
        </p:txBody>
      </p:sp>
      <p:sp>
        <p:nvSpPr>
          <p:cNvPr id="3" name="Content Placeholder 2">
            <a:extLst>
              <a:ext uri="{FF2B5EF4-FFF2-40B4-BE49-F238E27FC236}">
                <a16:creationId xmlns:a16="http://schemas.microsoft.com/office/drawing/2014/main" id="{D91C9B28-30F2-4D31-BFA8-E92720F23A21}"/>
              </a:ext>
            </a:extLst>
          </p:cNvPr>
          <p:cNvSpPr>
            <a:spLocks noGrp="1"/>
          </p:cNvSpPr>
          <p:nvPr>
            <p:ph idx="1"/>
          </p:nvPr>
        </p:nvSpPr>
        <p:spPr>
          <a:xfrm>
            <a:off x="685800" y="1676400"/>
            <a:ext cx="5342860" cy="4419600"/>
          </a:xfrm>
        </p:spPr>
        <p:txBody>
          <a:bodyPr/>
          <a:lstStyle/>
          <a:p>
            <a:r>
              <a:rPr lang="en-US" sz="2400" dirty="0"/>
              <a:t>Engineers build layered HW/SW systems frequently</a:t>
            </a:r>
          </a:p>
          <a:p>
            <a:pPr lvl="1">
              <a:spcBef>
                <a:spcPts val="0"/>
              </a:spcBef>
            </a:pPr>
            <a:r>
              <a:rPr lang="en-US" sz="2000" dirty="0"/>
              <a:t>They’re often quite complex!</a:t>
            </a:r>
          </a:p>
          <a:p>
            <a:pPr lvl="1">
              <a:spcBef>
                <a:spcPts val="0"/>
              </a:spcBef>
            </a:pPr>
            <a:r>
              <a:rPr lang="en-US" sz="2000" dirty="0"/>
              <a:t>But way simpler than one big system</a:t>
            </a:r>
          </a:p>
          <a:p>
            <a:r>
              <a:rPr lang="en-US" sz="2400" dirty="0"/>
              <a:t>We can manipulate shape without understanding the lower layer</a:t>
            </a:r>
          </a:p>
          <a:p>
            <a:pPr lvl="1">
              <a:spcBef>
                <a:spcPts val="0"/>
              </a:spcBef>
            </a:pPr>
            <a:r>
              <a:rPr lang="en-US" sz="2000" dirty="0"/>
              <a:t>We just need the API – which we’re saying is the </a:t>
            </a:r>
            <a:r>
              <a:rPr lang="en-US" sz="2000" i="1" dirty="0" err="1"/>
              <a:t>V</a:t>
            </a:r>
            <a:r>
              <a:rPr lang="en-US" sz="2000" baseline="-25000" dirty="0" err="1"/>
              <a:t>mem</a:t>
            </a:r>
            <a:r>
              <a:rPr lang="en-US" sz="2000" dirty="0"/>
              <a:t> pattern</a:t>
            </a:r>
          </a:p>
          <a:p>
            <a:pPr lvl="1">
              <a:spcBef>
                <a:spcPts val="0"/>
              </a:spcBef>
            </a:pPr>
            <a:r>
              <a:rPr lang="en-US" sz="2000" i="1" dirty="0" err="1"/>
              <a:t>V</a:t>
            </a:r>
            <a:r>
              <a:rPr lang="en-US" sz="2000" baseline="-25000" dirty="0" err="1"/>
              <a:t>mem</a:t>
            </a:r>
            <a:r>
              <a:rPr lang="en-US" sz="2000" dirty="0"/>
              <a:t> is an </a:t>
            </a:r>
            <a:r>
              <a:rPr lang="en-US" sz="2000" i="1" dirty="0"/>
              <a:t>instructive </a:t>
            </a:r>
            <a:r>
              <a:rPr lang="en-US" sz="2000" dirty="0"/>
              <a:t>signal; it tells the lower layer what to do</a:t>
            </a:r>
          </a:p>
          <a:p>
            <a:pPr lvl="1">
              <a:spcBef>
                <a:spcPts val="0"/>
              </a:spcBef>
            </a:pPr>
            <a:r>
              <a:rPr lang="en-US" sz="2000" dirty="0"/>
              <a:t>The lower layer doesn’t care how we make a </a:t>
            </a:r>
            <a:r>
              <a:rPr lang="en-US" sz="2000" i="1" dirty="0" err="1"/>
              <a:t>V</a:t>
            </a:r>
            <a:r>
              <a:rPr lang="en-US" sz="2000" baseline="-25000" dirty="0" err="1"/>
              <a:t>mem</a:t>
            </a:r>
            <a:r>
              <a:rPr lang="en-US" sz="2000" dirty="0"/>
              <a:t> pattern</a:t>
            </a:r>
          </a:p>
          <a:p>
            <a:pPr>
              <a:spcBef>
                <a:spcPts val="0"/>
              </a:spcBef>
            </a:pPr>
            <a:r>
              <a:rPr lang="en-US" sz="2400" dirty="0"/>
              <a:t>Abstraction is a powerful tool</a:t>
            </a:r>
          </a:p>
          <a:p>
            <a:endParaRPr lang="en-US" dirty="0"/>
          </a:p>
        </p:txBody>
      </p:sp>
      <p:sp>
        <p:nvSpPr>
          <p:cNvPr id="4" name="Footer Placeholder 3">
            <a:extLst>
              <a:ext uri="{FF2B5EF4-FFF2-40B4-BE49-F238E27FC236}">
                <a16:creationId xmlns:a16="http://schemas.microsoft.com/office/drawing/2014/main" id="{D118C76B-4219-4B6C-AC0A-7C131DF3ECBC}"/>
              </a:ext>
            </a:extLst>
          </p:cNvPr>
          <p:cNvSpPr>
            <a:spLocks noGrp="1"/>
          </p:cNvSpPr>
          <p:nvPr>
            <p:ph type="ftr" sz="quarter" idx="11"/>
          </p:nvPr>
        </p:nvSpPr>
        <p:spPr/>
        <p:txBody>
          <a:bodyPr/>
          <a:lstStyle/>
          <a:p>
            <a:pPr>
              <a:defRPr/>
            </a:pPr>
            <a:r>
              <a:rPr lang="en-US" dirty="0"/>
              <a:t>Bioelectricity Joel Grodstein</a:t>
            </a:r>
          </a:p>
        </p:txBody>
      </p:sp>
      <p:sp>
        <p:nvSpPr>
          <p:cNvPr id="5" name="TextBox 4">
            <a:extLst>
              <a:ext uri="{FF2B5EF4-FFF2-40B4-BE49-F238E27FC236}">
                <a16:creationId xmlns:a16="http://schemas.microsoft.com/office/drawing/2014/main" id="{F5617F13-E556-4E30-80EE-E30AD127C9C7}"/>
              </a:ext>
            </a:extLst>
          </p:cNvPr>
          <p:cNvSpPr txBox="1"/>
          <p:nvPr/>
        </p:nvSpPr>
        <p:spPr>
          <a:xfrm>
            <a:off x="6290734" y="2463800"/>
            <a:ext cx="2167467" cy="830997"/>
          </a:xfrm>
          <a:prstGeom prst="rect">
            <a:avLst/>
          </a:prstGeom>
          <a:noFill/>
          <a:ln w="12700">
            <a:solidFill>
              <a:schemeClr val="accent2"/>
            </a:solidFill>
          </a:ln>
        </p:spPr>
        <p:txBody>
          <a:bodyPr wrap="square" rtlCol="0">
            <a:spAutoFit/>
          </a:bodyPr>
          <a:lstStyle/>
          <a:p>
            <a:pPr algn="ctr"/>
            <a:r>
              <a:rPr lang="en-US" dirty="0"/>
              <a:t>Create </a:t>
            </a:r>
            <a:r>
              <a:rPr lang="en-US" i="1" dirty="0" err="1"/>
              <a:t>V</a:t>
            </a:r>
            <a:r>
              <a:rPr lang="en-US" baseline="-25000" dirty="0" err="1"/>
              <a:t>mem</a:t>
            </a:r>
            <a:r>
              <a:rPr lang="en-US" dirty="0"/>
              <a:t> pattern</a:t>
            </a:r>
          </a:p>
        </p:txBody>
      </p:sp>
      <p:sp>
        <p:nvSpPr>
          <p:cNvPr id="6" name="TextBox 5">
            <a:extLst>
              <a:ext uri="{FF2B5EF4-FFF2-40B4-BE49-F238E27FC236}">
                <a16:creationId xmlns:a16="http://schemas.microsoft.com/office/drawing/2014/main" id="{ECCFD1F9-D736-4758-8075-B69A68B3A82B}"/>
              </a:ext>
            </a:extLst>
          </p:cNvPr>
          <p:cNvSpPr txBox="1"/>
          <p:nvPr/>
        </p:nvSpPr>
        <p:spPr>
          <a:xfrm>
            <a:off x="6239932" y="4394200"/>
            <a:ext cx="2523067" cy="1100667"/>
          </a:xfrm>
          <a:prstGeom prst="rect">
            <a:avLst/>
          </a:prstGeom>
          <a:noFill/>
          <a:ln w="12700">
            <a:solidFill>
              <a:schemeClr val="accent2"/>
            </a:solidFill>
          </a:ln>
        </p:spPr>
        <p:txBody>
          <a:bodyPr wrap="square" rtlCol="0" anchor="ctr" anchorCtr="0">
            <a:noAutofit/>
          </a:bodyPr>
          <a:lstStyle/>
          <a:p>
            <a:pPr algn="ctr"/>
            <a:r>
              <a:rPr lang="en-US" dirty="0"/>
              <a:t>compare</a:t>
            </a:r>
          </a:p>
        </p:txBody>
      </p:sp>
      <p:sp>
        <p:nvSpPr>
          <p:cNvPr id="7" name="Arrow: Down 6">
            <a:extLst>
              <a:ext uri="{FF2B5EF4-FFF2-40B4-BE49-F238E27FC236}">
                <a16:creationId xmlns:a16="http://schemas.microsoft.com/office/drawing/2014/main" id="{1847E75B-3B9B-49B3-BB4F-940A5739AAC4}"/>
              </a:ext>
            </a:extLst>
          </p:cNvPr>
          <p:cNvSpPr/>
          <p:nvPr/>
        </p:nvSpPr>
        <p:spPr>
          <a:xfrm>
            <a:off x="8036247" y="3573532"/>
            <a:ext cx="262466" cy="795867"/>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8" name="Straight Connector 7">
            <a:extLst>
              <a:ext uri="{FF2B5EF4-FFF2-40B4-BE49-F238E27FC236}">
                <a16:creationId xmlns:a16="http://schemas.microsoft.com/office/drawing/2014/main" id="{6FC6D0BC-EFE0-46DD-8290-102778FA7C2B}"/>
              </a:ext>
            </a:extLst>
          </p:cNvPr>
          <p:cNvCxnSpPr/>
          <p:nvPr/>
        </p:nvCxnSpPr>
        <p:spPr>
          <a:xfrm>
            <a:off x="6273800" y="3826933"/>
            <a:ext cx="2413000" cy="0"/>
          </a:xfrm>
          <a:prstGeom prst="line">
            <a:avLst/>
          </a:prstGeom>
          <a:ln w="28575">
            <a:solidFill>
              <a:schemeClr val="accent2"/>
            </a:solidFill>
            <a:prstDash val="dash"/>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A6D92AD2-7943-489C-8F61-268978CFDA8E}"/>
              </a:ext>
            </a:extLst>
          </p:cNvPr>
          <p:cNvSpPr txBox="1"/>
          <p:nvPr/>
        </p:nvSpPr>
        <p:spPr>
          <a:xfrm>
            <a:off x="8195733" y="3437467"/>
            <a:ext cx="719667" cy="461665"/>
          </a:xfrm>
          <a:prstGeom prst="rect">
            <a:avLst/>
          </a:prstGeom>
          <a:noFill/>
        </p:spPr>
        <p:txBody>
          <a:bodyPr wrap="square" rtlCol="0">
            <a:spAutoFit/>
          </a:bodyPr>
          <a:lstStyle/>
          <a:p>
            <a:r>
              <a:rPr lang="en-US" dirty="0"/>
              <a:t>API</a:t>
            </a:r>
          </a:p>
        </p:txBody>
      </p:sp>
      <p:sp>
        <p:nvSpPr>
          <p:cNvPr id="10" name="TextBox 9">
            <a:extLst>
              <a:ext uri="{FF2B5EF4-FFF2-40B4-BE49-F238E27FC236}">
                <a16:creationId xmlns:a16="http://schemas.microsoft.com/office/drawing/2014/main" id="{95AEED91-C3C3-40C6-A635-D3A5A62896D9}"/>
              </a:ext>
            </a:extLst>
          </p:cNvPr>
          <p:cNvSpPr txBox="1"/>
          <p:nvPr/>
        </p:nvSpPr>
        <p:spPr>
          <a:xfrm>
            <a:off x="7746999" y="4275670"/>
            <a:ext cx="897468" cy="400110"/>
          </a:xfrm>
          <a:prstGeom prst="rect">
            <a:avLst/>
          </a:prstGeom>
          <a:noFill/>
        </p:spPr>
        <p:txBody>
          <a:bodyPr wrap="square" rtlCol="0">
            <a:spAutoFit/>
          </a:bodyPr>
          <a:lstStyle/>
          <a:p>
            <a:r>
              <a:rPr lang="en-US" sz="2000" dirty="0"/>
              <a:t>target</a:t>
            </a:r>
          </a:p>
        </p:txBody>
      </p:sp>
      <p:sp>
        <p:nvSpPr>
          <p:cNvPr id="11" name="TextBox 10">
            <a:extLst>
              <a:ext uri="{FF2B5EF4-FFF2-40B4-BE49-F238E27FC236}">
                <a16:creationId xmlns:a16="http://schemas.microsoft.com/office/drawing/2014/main" id="{D5BC0EF6-C908-4D1D-A61E-CB305A2CBEB9}"/>
              </a:ext>
            </a:extLst>
          </p:cNvPr>
          <p:cNvSpPr txBox="1"/>
          <p:nvPr/>
        </p:nvSpPr>
        <p:spPr>
          <a:xfrm>
            <a:off x="6180665" y="4343403"/>
            <a:ext cx="939801" cy="400110"/>
          </a:xfrm>
          <a:prstGeom prst="rect">
            <a:avLst/>
          </a:prstGeom>
          <a:noFill/>
        </p:spPr>
        <p:txBody>
          <a:bodyPr wrap="square" rtlCol="0">
            <a:spAutoFit/>
          </a:bodyPr>
          <a:lstStyle/>
          <a:p>
            <a:r>
              <a:rPr lang="en-US" sz="2000" dirty="0"/>
              <a:t>current</a:t>
            </a:r>
          </a:p>
        </p:txBody>
      </p:sp>
      <p:sp>
        <p:nvSpPr>
          <p:cNvPr id="12" name="TextBox 11">
            <a:extLst>
              <a:ext uri="{FF2B5EF4-FFF2-40B4-BE49-F238E27FC236}">
                <a16:creationId xmlns:a16="http://schemas.microsoft.com/office/drawing/2014/main" id="{52EB9EB4-A2D9-4838-A6A3-F148B74B9D46}"/>
              </a:ext>
            </a:extLst>
          </p:cNvPr>
          <p:cNvSpPr txBox="1"/>
          <p:nvPr/>
        </p:nvSpPr>
        <p:spPr>
          <a:xfrm>
            <a:off x="6742614" y="5620687"/>
            <a:ext cx="1455086" cy="830997"/>
          </a:xfrm>
          <a:prstGeom prst="rect">
            <a:avLst/>
          </a:prstGeom>
          <a:noFill/>
        </p:spPr>
        <p:txBody>
          <a:bodyPr wrap="square" rtlCol="0">
            <a:spAutoFit/>
          </a:bodyPr>
          <a:lstStyle/>
          <a:p>
            <a:pPr algn="ctr"/>
            <a:r>
              <a:rPr lang="en-US" dirty="0"/>
              <a:t>growth directions</a:t>
            </a:r>
          </a:p>
        </p:txBody>
      </p:sp>
      <p:sp>
        <p:nvSpPr>
          <p:cNvPr id="13" name="Arrow: Down 12">
            <a:extLst>
              <a:ext uri="{FF2B5EF4-FFF2-40B4-BE49-F238E27FC236}">
                <a16:creationId xmlns:a16="http://schemas.microsoft.com/office/drawing/2014/main" id="{35E269AF-8DA7-4BFB-A46B-D3E6C1E865BB}"/>
              </a:ext>
            </a:extLst>
          </p:cNvPr>
          <p:cNvSpPr/>
          <p:nvPr/>
        </p:nvSpPr>
        <p:spPr>
          <a:xfrm>
            <a:off x="6498070" y="4136065"/>
            <a:ext cx="242971" cy="290035"/>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Arrow: Down 13">
            <a:extLst>
              <a:ext uri="{FF2B5EF4-FFF2-40B4-BE49-F238E27FC236}">
                <a16:creationId xmlns:a16="http://schemas.microsoft.com/office/drawing/2014/main" id="{046F7235-C325-487F-BAA1-FFF5DB3E3B9F}"/>
              </a:ext>
            </a:extLst>
          </p:cNvPr>
          <p:cNvSpPr/>
          <p:nvPr/>
        </p:nvSpPr>
        <p:spPr>
          <a:xfrm>
            <a:off x="7373484" y="5231220"/>
            <a:ext cx="218164" cy="612554"/>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837599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animEffect transition="in" filter="fade">
                                      <p:cBhvr>
                                        <p:cTn id="7" dur="500"/>
                                        <p:tgtEl>
                                          <p:spTgt spid="3">
                                            <p:txEl>
                                              <p:pRg st="3" end="3"/>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4" end="4"/>
                                            </p:txEl>
                                          </p:spTgt>
                                        </p:tgtEl>
                                        <p:attrNameLst>
                                          <p:attrName>style.visibility</p:attrName>
                                        </p:attrNameLst>
                                      </p:cBhvr>
                                      <p:to>
                                        <p:strVal val="visible"/>
                                      </p:to>
                                    </p:set>
                                    <p:animEffect transition="in" filter="fade">
                                      <p:cBhvr>
                                        <p:cTn id="10" dur="500"/>
                                        <p:tgtEl>
                                          <p:spTgt spid="3">
                                            <p:txEl>
                                              <p:pRg st="4" end="4"/>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3">
                                            <p:txEl>
                                              <p:pRg st="5" end="5"/>
                                            </p:txEl>
                                          </p:spTgt>
                                        </p:tgtEl>
                                        <p:attrNameLst>
                                          <p:attrName>style.visibility</p:attrName>
                                        </p:attrNameLst>
                                      </p:cBhvr>
                                      <p:to>
                                        <p:strVal val="visible"/>
                                      </p:to>
                                    </p:set>
                                    <p:animEffect transition="in" filter="fade">
                                      <p:cBhvr>
                                        <p:cTn id="13" dur="500"/>
                                        <p:tgtEl>
                                          <p:spTgt spid="3">
                                            <p:txEl>
                                              <p:pRg st="5" end="5"/>
                                            </p:txEl>
                                          </p:spTgt>
                                        </p:tgtEl>
                                      </p:cBhvr>
                                    </p:animEffect>
                                  </p:childTnLst>
                                </p:cTn>
                              </p:par>
                              <p:par>
                                <p:cTn id="14" presetID="10" presetClass="entr" presetSubtype="0" fill="hold" nodeType="withEffect">
                                  <p:stCondLst>
                                    <p:cond delay="0"/>
                                  </p:stCondLst>
                                  <p:childTnLst>
                                    <p:set>
                                      <p:cBhvr>
                                        <p:cTn id="15" dur="1" fill="hold">
                                          <p:stCondLst>
                                            <p:cond delay="0"/>
                                          </p:stCondLst>
                                        </p:cTn>
                                        <p:tgtEl>
                                          <p:spTgt spid="3">
                                            <p:txEl>
                                              <p:pRg st="6" end="6"/>
                                            </p:txEl>
                                          </p:spTgt>
                                        </p:tgtEl>
                                        <p:attrNameLst>
                                          <p:attrName>style.visibility</p:attrName>
                                        </p:attrNameLst>
                                      </p:cBhvr>
                                      <p:to>
                                        <p:strVal val="visible"/>
                                      </p:to>
                                    </p:set>
                                    <p:animEffect transition="in" filter="fade">
                                      <p:cBhvr>
                                        <p:cTn id="16" dur="500"/>
                                        <p:tgtEl>
                                          <p:spTgt spid="3">
                                            <p:txEl>
                                              <p:pRg st="6" end="6"/>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3">
                                            <p:txEl>
                                              <p:pRg st="7" end="7"/>
                                            </p:txEl>
                                          </p:spTgt>
                                        </p:tgtEl>
                                        <p:attrNameLst>
                                          <p:attrName>style.visibility</p:attrName>
                                        </p:attrNameLst>
                                      </p:cBhvr>
                                      <p:to>
                                        <p:strVal val="visible"/>
                                      </p:to>
                                    </p:set>
                                    <p:animEffect transition="in" filter="fade">
                                      <p:cBhvr>
                                        <p:cTn id="21" dur="5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103D6E-51C3-4566-B571-C1A5E16561FA}"/>
              </a:ext>
            </a:extLst>
          </p:cNvPr>
          <p:cNvSpPr>
            <a:spLocks noGrp="1"/>
          </p:cNvSpPr>
          <p:nvPr>
            <p:ph type="title"/>
          </p:nvPr>
        </p:nvSpPr>
        <p:spPr/>
        <p:txBody>
          <a:bodyPr/>
          <a:lstStyle/>
          <a:p>
            <a:r>
              <a:rPr lang="en-US" dirty="0"/>
              <a:t>Background material</a:t>
            </a:r>
          </a:p>
        </p:txBody>
      </p:sp>
      <p:sp>
        <p:nvSpPr>
          <p:cNvPr id="3" name="Content Placeholder 2">
            <a:extLst>
              <a:ext uri="{FF2B5EF4-FFF2-40B4-BE49-F238E27FC236}">
                <a16:creationId xmlns:a16="http://schemas.microsoft.com/office/drawing/2014/main" id="{03DFA224-F95C-4B66-999B-FA208100DF3A}"/>
              </a:ext>
            </a:extLst>
          </p:cNvPr>
          <p:cNvSpPr>
            <a:spLocks noGrp="1"/>
          </p:cNvSpPr>
          <p:nvPr>
            <p:ph idx="1"/>
          </p:nvPr>
        </p:nvSpPr>
        <p:spPr>
          <a:xfrm>
            <a:off x="685800" y="1676400"/>
            <a:ext cx="8280400" cy="4419600"/>
          </a:xfrm>
        </p:spPr>
        <p:txBody>
          <a:bodyPr/>
          <a:lstStyle/>
          <a:p>
            <a:r>
              <a:rPr lang="en-US" dirty="0">
                <a:hlinkClick r:id="rId2"/>
              </a:rPr>
              <a:t>https://vimeo.com/184365295</a:t>
            </a:r>
            <a:r>
              <a:rPr lang="en-US" dirty="0"/>
              <a:t> </a:t>
            </a:r>
          </a:p>
          <a:p>
            <a:pPr lvl="1"/>
            <a:r>
              <a:rPr lang="en-US" dirty="0"/>
              <a:t>Very nice overview and introduction, from talk at the Wyss institute 2016</a:t>
            </a:r>
          </a:p>
          <a:p>
            <a:r>
              <a:rPr lang="en-US" dirty="0">
                <a:hlinkClick r:id="rId3"/>
              </a:rPr>
              <a:t>https://allencenter.tufts.edu/</a:t>
            </a:r>
            <a:endParaRPr lang="en-US" dirty="0"/>
          </a:p>
          <a:p>
            <a:pPr lvl="1"/>
            <a:r>
              <a:rPr lang="en-US" dirty="0"/>
              <a:t>More background and context</a:t>
            </a:r>
          </a:p>
          <a:p>
            <a:r>
              <a:rPr lang="en-US" dirty="0">
                <a:hlinkClick r:id="rId4"/>
              </a:rPr>
              <a:t>https://allencenter.tufts.edu/our-research/publications/</a:t>
            </a:r>
            <a:endParaRPr lang="en-US" dirty="0"/>
          </a:p>
          <a:p>
            <a:pPr lvl="1"/>
            <a:r>
              <a:rPr lang="en-US" dirty="0"/>
              <a:t>Full bibliography, and lots more reading</a:t>
            </a:r>
          </a:p>
        </p:txBody>
      </p:sp>
      <p:sp>
        <p:nvSpPr>
          <p:cNvPr id="4" name="Footer Placeholder 3">
            <a:extLst>
              <a:ext uri="{FF2B5EF4-FFF2-40B4-BE49-F238E27FC236}">
                <a16:creationId xmlns:a16="http://schemas.microsoft.com/office/drawing/2014/main" id="{B0BD5452-AF58-4DE4-9229-1A46FE003437}"/>
              </a:ext>
            </a:extLst>
          </p:cNvPr>
          <p:cNvSpPr>
            <a:spLocks noGrp="1"/>
          </p:cNvSpPr>
          <p:nvPr>
            <p:ph type="ftr" sz="quarter" idx="11"/>
          </p:nvPr>
        </p:nvSpPr>
        <p:spPr/>
        <p:txBody>
          <a:bodyPr/>
          <a:lstStyle/>
          <a:p>
            <a:pPr>
              <a:defRPr/>
            </a:pPr>
            <a:r>
              <a:rPr lang="en-US" dirty="0"/>
              <a:t>Bioelectricity Joel Grodstein</a:t>
            </a:r>
          </a:p>
        </p:txBody>
      </p:sp>
    </p:spTree>
    <p:extLst>
      <p:ext uri="{BB962C8B-B14F-4D97-AF65-F5344CB8AC3E}">
        <p14:creationId xmlns:p14="http://schemas.microsoft.com/office/powerpoint/2010/main" val="268119812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CB492A-AC91-4F17-840F-99E89E799099}"/>
              </a:ext>
            </a:extLst>
          </p:cNvPr>
          <p:cNvSpPr>
            <a:spLocks noGrp="1"/>
          </p:cNvSpPr>
          <p:nvPr>
            <p:ph type="title"/>
          </p:nvPr>
        </p:nvSpPr>
        <p:spPr/>
        <p:txBody>
          <a:bodyPr/>
          <a:lstStyle/>
          <a:p>
            <a:r>
              <a:rPr lang="en-US" dirty="0"/>
              <a:t>More progress</a:t>
            </a:r>
          </a:p>
        </p:txBody>
      </p:sp>
      <p:sp>
        <p:nvSpPr>
          <p:cNvPr id="3" name="Content Placeholder 2">
            <a:extLst>
              <a:ext uri="{FF2B5EF4-FFF2-40B4-BE49-F238E27FC236}">
                <a16:creationId xmlns:a16="http://schemas.microsoft.com/office/drawing/2014/main" id="{178BEA3D-76D0-464A-8472-B5E36F41216C}"/>
              </a:ext>
            </a:extLst>
          </p:cNvPr>
          <p:cNvSpPr>
            <a:spLocks noGrp="1"/>
          </p:cNvSpPr>
          <p:nvPr>
            <p:ph idx="1"/>
          </p:nvPr>
        </p:nvSpPr>
        <p:spPr>
          <a:xfrm>
            <a:off x="685800" y="1676400"/>
            <a:ext cx="7772400" cy="1028299"/>
          </a:xfrm>
        </p:spPr>
        <p:txBody>
          <a:bodyPr/>
          <a:lstStyle/>
          <a:p>
            <a:r>
              <a:rPr lang="en-US" sz="2400" dirty="0"/>
              <a:t>They induced leg regrowth in an </a:t>
            </a:r>
            <a:r>
              <a:rPr lang="en-US" sz="2400" i="1" dirty="0"/>
              <a:t>adult</a:t>
            </a:r>
            <a:r>
              <a:rPr lang="en-US" sz="2400" dirty="0"/>
              <a:t> frog by imposing an embryonic </a:t>
            </a:r>
            <a:r>
              <a:rPr lang="en-US" sz="2400" i="1" dirty="0" err="1"/>
              <a:t>V</a:t>
            </a:r>
            <a:r>
              <a:rPr lang="en-US" sz="2400" baseline="-25000" dirty="0" err="1"/>
              <a:t>mem</a:t>
            </a:r>
            <a:r>
              <a:rPr lang="en-US" sz="2400" dirty="0"/>
              <a:t> pattern and then letting it sit for 7 weeks.</a:t>
            </a:r>
          </a:p>
          <a:p>
            <a:endParaRPr lang="en-US" dirty="0"/>
          </a:p>
        </p:txBody>
      </p:sp>
      <p:sp>
        <p:nvSpPr>
          <p:cNvPr id="4" name="Footer Placeholder 3">
            <a:extLst>
              <a:ext uri="{FF2B5EF4-FFF2-40B4-BE49-F238E27FC236}">
                <a16:creationId xmlns:a16="http://schemas.microsoft.com/office/drawing/2014/main" id="{95BAAE9A-352E-4E1B-AE90-4EFDA1D6E7FB}"/>
              </a:ext>
            </a:extLst>
          </p:cNvPr>
          <p:cNvSpPr>
            <a:spLocks noGrp="1"/>
          </p:cNvSpPr>
          <p:nvPr>
            <p:ph type="ftr" sz="quarter" idx="11"/>
          </p:nvPr>
        </p:nvSpPr>
        <p:spPr/>
        <p:txBody>
          <a:bodyPr/>
          <a:lstStyle/>
          <a:p>
            <a:pPr>
              <a:defRPr/>
            </a:pPr>
            <a:r>
              <a:rPr lang="en-US" dirty="0"/>
              <a:t>Bioelectricity Joel Grodstein</a:t>
            </a:r>
          </a:p>
        </p:txBody>
      </p:sp>
      <p:pic>
        <p:nvPicPr>
          <p:cNvPr id="8" name="Picture 7">
            <a:extLst>
              <a:ext uri="{FF2B5EF4-FFF2-40B4-BE49-F238E27FC236}">
                <a16:creationId xmlns:a16="http://schemas.microsoft.com/office/drawing/2014/main" id="{2CC2F286-5160-4BE0-9C8E-5D77D817510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70409" y="3088277"/>
            <a:ext cx="2667544" cy="2956388"/>
          </a:xfrm>
          <a:prstGeom prst="rect">
            <a:avLst/>
          </a:prstGeom>
        </p:spPr>
      </p:pic>
      <p:sp>
        <p:nvSpPr>
          <p:cNvPr id="9" name="TextBox 8">
            <a:extLst>
              <a:ext uri="{FF2B5EF4-FFF2-40B4-BE49-F238E27FC236}">
                <a16:creationId xmlns:a16="http://schemas.microsoft.com/office/drawing/2014/main" id="{477A2947-4905-434D-9097-E920C786D8B6}"/>
              </a:ext>
            </a:extLst>
          </p:cNvPr>
          <p:cNvSpPr txBox="1"/>
          <p:nvPr/>
        </p:nvSpPr>
        <p:spPr>
          <a:xfrm>
            <a:off x="3365884" y="5487550"/>
            <a:ext cx="5585612" cy="646331"/>
          </a:xfrm>
          <a:prstGeom prst="rect">
            <a:avLst/>
          </a:prstGeom>
          <a:noFill/>
        </p:spPr>
        <p:txBody>
          <a:bodyPr wrap="square" rtlCol="0">
            <a:spAutoFit/>
          </a:bodyPr>
          <a:lstStyle/>
          <a:p>
            <a:r>
              <a:rPr lang="en-US" sz="1800" dirty="0"/>
              <a:t>Credit: </a:t>
            </a:r>
            <a:r>
              <a:rPr lang="en-US" sz="1800" i="1" dirty="0"/>
              <a:t>Cracking the bioelectric code: probing endogenous ionic controls of pattern formulation</a:t>
            </a:r>
            <a:r>
              <a:rPr lang="en-US" sz="1800" dirty="0"/>
              <a:t>, 2013</a:t>
            </a:r>
          </a:p>
        </p:txBody>
      </p:sp>
      <p:sp>
        <p:nvSpPr>
          <p:cNvPr id="10" name="Content Placeholder 2">
            <a:extLst>
              <a:ext uri="{FF2B5EF4-FFF2-40B4-BE49-F238E27FC236}">
                <a16:creationId xmlns:a16="http://schemas.microsoft.com/office/drawing/2014/main" id="{2B1C81A9-30D1-4C35-8AC6-7B99CB57B833}"/>
              </a:ext>
            </a:extLst>
          </p:cNvPr>
          <p:cNvSpPr txBox="1">
            <a:spLocks/>
          </p:cNvSpPr>
          <p:nvPr/>
        </p:nvSpPr>
        <p:spPr bwMode="auto">
          <a:xfrm>
            <a:off x="3408145" y="2608446"/>
            <a:ext cx="5485598" cy="28791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har char="•"/>
              <a:defRPr sz="28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r>
              <a:rPr lang="en-US" sz="2400" kern="0" dirty="0"/>
              <a:t>Original work: they found a drug cocktail that affected </a:t>
            </a:r>
            <a:r>
              <a:rPr lang="en-US" sz="2400" i="1" kern="0" dirty="0" err="1"/>
              <a:t>V</a:t>
            </a:r>
            <a:r>
              <a:rPr lang="en-US" sz="2400" kern="0" baseline="-25000" dirty="0" err="1"/>
              <a:t>mem</a:t>
            </a:r>
            <a:r>
              <a:rPr lang="en-US" sz="2400" kern="0" dirty="0"/>
              <a:t> and induced regrowth of an amputated tail</a:t>
            </a:r>
          </a:p>
          <a:p>
            <a:r>
              <a:rPr lang="en-US" sz="2400" kern="0" dirty="0"/>
              <a:t>Then the same cocktail also worked for leg regrowth</a:t>
            </a:r>
          </a:p>
          <a:p>
            <a:r>
              <a:rPr lang="en-US" sz="2400" kern="0" dirty="0"/>
              <a:t>The cocktail is really a “rebuild whatever usually goes here” recipe</a:t>
            </a:r>
          </a:p>
          <a:p>
            <a:endParaRPr lang="en-US" kern="0" dirty="0"/>
          </a:p>
        </p:txBody>
      </p:sp>
    </p:spTree>
    <p:extLst>
      <p:ext uri="{BB962C8B-B14F-4D97-AF65-F5344CB8AC3E}">
        <p14:creationId xmlns:p14="http://schemas.microsoft.com/office/powerpoint/2010/main" val="30373948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091D3F-4639-4E45-AAD5-96CA7AC5E8FA}"/>
              </a:ext>
            </a:extLst>
          </p:cNvPr>
          <p:cNvSpPr>
            <a:spLocks noGrp="1"/>
          </p:cNvSpPr>
          <p:nvPr>
            <p:ph type="title"/>
          </p:nvPr>
        </p:nvSpPr>
        <p:spPr/>
        <p:txBody>
          <a:bodyPr/>
          <a:lstStyle/>
          <a:p>
            <a:r>
              <a:rPr lang="en-US" dirty="0"/>
              <a:t>Where do we go from here?</a:t>
            </a:r>
          </a:p>
        </p:txBody>
      </p:sp>
      <p:sp>
        <p:nvSpPr>
          <p:cNvPr id="3" name="Content Placeholder 2">
            <a:extLst>
              <a:ext uri="{FF2B5EF4-FFF2-40B4-BE49-F238E27FC236}">
                <a16:creationId xmlns:a16="http://schemas.microsoft.com/office/drawing/2014/main" id="{166879D5-7CF3-430C-B079-6707C15930B3}"/>
              </a:ext>
            </a:extLst>
          </p:cNvPr>
          <p:cNvSpPr>
            <a:spLocks noGrp="1"/>
          </p:cNvSpPr>
          <p:nvPr>
            <p:ph idx="1"/>
          </p:nvPr>
        </p:nvSpPr>
        <p:spPr/>
        <p:txBody>
          <a:bodyPr/>
          <a:lstStyle/>
          <a:p>
            <a:r>
              <a:rPr lang="en-US" dirty="0"/>
              <a:t>Next up: dig into a planarian </a:t>
            </a:r>
            <a:r>
              <a:rPr lang="en-US" i="1" dirty="0" err="1"/>
              <a:t>V</a:t>
            </a:r>
            <a:r>
              <a:rPr lang="en-US" baseline="-25000" dirty="0" err="1"/>
              <a:t>mem</a:t>
            </a:r>
            <a:r>
              <a:rPr lang="en-US" dirty="0"/>
              <a:t> hypothesis</a:t>
            </a:r>
          </a:p>
          <a:p>
            <a:pPr lvl="1"/>
            <a:r>
              <a:rPr lang="en-US" dirty="0"/>
              <a:t>Understand &amp; program a way it </a:t>
            </a:r>
            <a:r>
              <a:rPr lang="en-US" i="1" dirty="0"/>
              <a:t>might</a:t>
            </a:r>
            <a:r>
              <a:rPr lang="en-US" dirty="0"/>
              <a:t> build a </a:t>
            </a:r>
            <a:r>
              <a:rPr lang="en-US" i="1" dirty="0" err="1"/>
              <a:t>V</a:t>
            </a:r>
            <a:r>
              <a:rPr lang="en-US" baseline="-25000" dirty="0" err="1"/>
              <a:t>mem</a:t>
            </a:r>
            <a:r>
              <a:rPr lang="en-US" dirty="0"/>
              <a:t> pattern to distinguish head from tail</a:t>
            </a:r>
          </a:p>
        </p:txBody>
      </p:sp>
      <p:sp>
        <p:nvSpPr>
          <p:cNvPr id="4" name="Footer Placeholder 3">
            <a:extLst>
              <a:ext uri="{FF2B5EF4-FFF2-40B4-BE49-F238E27FC236}">
                <a16:creationId xmlns:a16="http://schemas.microsoft.com/office/drawing/2014/main" id="{6321D82A-83B0-4D0E-A4F3-AA736AB14C28}"/>
              </a:ext>
            </a:extLst>
          </p:cNvPr>
          <p:cNvSpPr>
            <a:spLocks noGrp="1"/>
          </p:cNvSpPr>
          <p:nvPr>
            <p:ph type="ftr" sz="quarter" idx="11"/>
          </p:nvPr>
        </p:nvSpPr>
        <p:spPr/>
        <p:txBody>
          <a:bodyPr/>
          <a:lstStyle/>
          <a:p>
            <a:pPr>
              <a:defRPr/>
            </a:pPr>
            <a:r>
              <a:rPr lang="en-US" dirty="0"/>
              <a:t>Bioelectricity Joel Grodstein</a:t>
            </a:r>
          </a:p>
        </p:txBody>
      </p:sp>
    </p:spTree>
    <p:extLst>
      <p:ext uri="{BB962C8B-B14F-4D97-AF65-F5344CB8AC3E}">
        <p14:creationId xmlns:p14="http://schemas.microsoft.com/office/powerpoint/2010/main" val="133070649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194EBD-17E3-4B55-A5B0-707B413CA466}"/>
              </a:ext>
            </a:extLst>
          </p:cNvPr>
          <p:cNvSpPr>
            <a:spLocks noGrp="1"/>
          </p:cNvSpPr>
          <p:nvPr>
            <p:ph type="title"/>
          </p:nvPr>
        </p:nvSpPr>
        <p:spPr/>
        <p:txBody>
          <a:bodyPr/>
          <a:lstStyle/>
          <a:p>
            <a:r>
              <a:rPr lang="en-US" dirty="0"/>
              <a:t>Debate</a:t>
            </a:r>
          </a:p>
        </p:txBody>
      </p:sp>
      <p:sp>
        <p:nvSpPr>
          <p:cNvPr id="3" name="Content Placeholder 2">
            <a:extLst>
              <a:ext uri="{FF2B5EF4-FFF2-40B4-BE49-F238E27FC236}">
                <a16:creationId xmlns:a16="http://schemas.microsoft.com/office/drawing/2014/main" id="{5DD6E81F-56F1-4657-A80B-E40A012A784B}"/>
              </a:ext>
            </a:extLst>
          </p:cNvPr>
          <p:cNvSpPr>
            <a:spLocks noGrp="1"/>
          </p:cNvSpPr>
          <p:nvPr>
            <p:ph idx="1"/>
          </p:nvPr>
        </p:nvSpPr>
        <p:spPr/>
        <p:txBody>
          <a:bodyPr/>
          <a:lstStyle/>
          <a:p>
            <a:r>
              <a:rPr lang="en-US" dirty="0"/>
              <a:t>Take some time to think about:</a:t>
            </a:r>
          </a:p>
          <a:p>
            <a:pPr lvl="1"/>
            <a:r>
              <a:rPr lang="en-US" dirty="0"/>
              <a:t>What animal facts does our model explain?</a:t>
            </a:r>
          </a:p>
          <a:p>
            <a:pPr lvl="1"/>
            <a:r>
              <a:rPr lang="en-US" dirty="0"/>
              <a:t>What doesn’t it explain?</a:t>
            </a:r>
          </a:p>
        </p:txBody>
      </p:sp>
      <p:sp>
        <p:nvSpPr>
          <p:cNvPr id="4" name="Footer Placeholder 3">
            <a:extLst>
              <a:ext uri="{FF2B5EF4-FFF2-40B4-BE49-F238E27FC236}">
                <a16:creationId xmlns:a16="http://schemas.microsoft.com/office/drawing/2014/main" id="{87456E3B-06DF-4660-BAE7-6C4279D87B27}"/>
              </a:ext>
            </a:extLst>
          </p:cNvPr>
          <p:cNvSpPr>
            <a:spLocks noGrp="1"/>
          </p:cNvSpPr>
          <p:nvPr>
            <p:ph type="ftr" sz="quarter" idx="11"/>
          </p:nvPr>
        </p:nvSpPr>
        <p:spPr/>
        <p:txBody>
          <a:bodyPr/>
          <a:lstStyle/>
          <a:p>
            <a:pPr>
              <a:defRPr/>
            </a:pPr>
            <a:r>
              <a:rPr lang="en-US" dirty="0"/>
              <a:t>Bioelectricity Joel Grodstein</a:t>
            </a:r>
          </a:p>
        </p:txBody>
      </p:sp>
    </p:spTree>
    <p:extLst>
      <p:ext uri="{BB962C8B-B14F-4D97-AF65-F5344CB8AC3E}">
        <p14:creationId xmlns:p14="http://schemas.microsoft.com/office/powerpoint/2010/main" val="37684197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F4DC5F-5B94-443A-AB12-756066D5E081}"/>
              </a:ext>
            </a:extLst>
          </p:cNvPr>
          <p:cNvSpPr>
            <a:spLocks noGrp="1"/>
          </p:cNvSpPr>
          <p:nvPr>
            <p:ph type="title"/>
          </p:nvPr>
        </p:nvSpPr>
        <p:spPr/>
        <p:txBody>
          <a:bodyPr/>
          <a:lstStyle/>
          <a:p>
            <a:r>
              <a:rPr lang="en-US" dirty="0"/>
              <a:t>BACKUP</a:t>
            </a:r>
          </a:p>
        </p:txBody>
      </p:sp>
      <p:sp>
        <p:nvSpPr>
          <p:cNvPr id="3" name="Content Placeholder 2">
            <a:extLst>
              <a:ext uri="{FF2B5EF4-FFF2-40B4-BE49-F238E27FC236}">
                <a16:creationId xmlns:a16="http://schemas.microsoft.com/office/drawing/2014/main" id="{536ED2D4-86EC-4855-9ACE-BB49507FAD3C}"/>
              </a:ext>
            </a:extLst>
          </p:cNvPr>
          <p:cNvSpPr>
            <a:spLocks noGrp="1"/>
          </p:cNvSpPr>
          <p:nvPr>
            <p:ph idx="1"/>
          </p:nvPr>
        </p:nvSpPr>
        <p:spPr/>
        <p:txBody>
          <a:bodyPr/>
          <a:lstStyle/>
          <a:p>
            <a:endParaRPr lang="en-US"/>
          </a:p>
        </p:txBody>
      </p:sp>
      <p:sp>
        <p:nvSpPr>
          <p:cNvPr id="4" name="Footer Placeholder 3">
            <a:extLst>
              <a:ext uri="{FF2B5EF4-FFF2-40B4-BE49-F238E27FC236}">
                <a16:creationId xmlns:a16="http://schemas.microsoft.com/office/drawing/2014/main" id="{6361A646-2FF3-42F3-8E3D-7C14A183E78E}"/>
              </a:ext>
            </a:extLst>
          </p:cNvPr>
          <p:cNvSpPr>
            <a:spLocks noGrp="1"/>
          </p:cNvSpPr>
          <p:nvPr>
            <p:ph type="ftr" sz="quarter" idx="11"/>
          </p:nvPr>
        </p:nvSpPr>
        <p:spPr/>
        <p:txBody>
          <a:bodyPr/>
          <a:lstStyle/>
          <a:p>
            <a:pPr>
              <a:defRPr/>
            </a:pPr>
            <a:r>
              <a:rPr lang="en-US" dirty="0"/>
              <a:t>Bioelectricity Joel Grodstein</a:t>
            </a:r>
          </a:p>
        </p:txBody>
      </p:sp>
    </p:spTree>
    <p:extLst>
      <p:ext uri="{BB962C8B-B14F-4D97-AF65-F5344CB8AC3E}">
        <p14:creationId xmlns:p14="http://schemas.microsoft.com/office/powerpoint/2010/main" val="185064794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91E9DC-28BD-4AA2-9417-474FE86E2A5C}"/>
              </a:ext>
            </a:extLst>
          </p:cNvPr>
          <p:cNvSpPr>
            <a:spLocks noGrp="1"/>
          </p:cNvSpPr>
          <p:nvPr>
            <p:ph type="title"/>
          </p:nvPr>
        </p:nvSpPr>
        <p:spPr/>
        <p:txBody>
          <a:bodyPr/>
          <a:lstStyle/>
          <a:p>
            <a:r>
              <a:rPr lang="en-US" dirty="0"/>
              <a:t>More amazing </a:t>
            </a:r>
            <a:r>
              <a:rPr lang="en-US" dirty="0" err="1"/>
              <a:t>planaria</a:t>
            </a:r>
            <a:r>
              <a:rPr lang="en-US" dirty="0"/>
              <a:t> feats</a:t>
            </a:r>
          </a:p>
        </p:txBody>
      </p:sp>
      <p:sp>
        <p:nvSpPr>
          <p:cNvPr id="3" name="Content Placeholder 2">
            <a:extLst>
              <a:ext uri="{FF2B5EF4-FFF2-40B4-BE49-F238E27FC236}">
                <a16:creationId xmlns:a16="http://schemas.microsoft.com/office/drawing/2014/main" id="{157A4077-31DC-473A-BD58-ACAA2B678883}"/>
              </a:ext>
            </a:extLst>
          </p:cNvPr>
          <p:cNvSpPr>
            <a:spLocks noGrp="1"/>
          </p:cNvSpPr>
          <p:nvPr>
            <p:ph idx="1"/>
          </p:nvPr>
        </p:nvSpPr>
        <p:spPr>
          <a:xfrm>
            <a:off x="685800" y="1439328"/>
            <a:ext cx="7772400" cy="4419600"/>
          </a:xfrm>
        </p:spPr>
        <p:txBody>
          <a:bodyPr/>
          <a:lstStyle/>
          <a:p>
            <a:r>
              <a:rPr lang="en-US" sz="2400" dirty="0"/>
              <a:t>Why is this experiment interesting?</a:t>
            </a:r>
            <a:endParaRPr lang="en-US" sz="2000" dirty="0"/>
          </a:p>
          <a:p>
            <a:pPr lvl="1"/>
            <a:r>
              <a:rPr lang="en-US" sz="2000" dirty="0"/>
              <a:t>Currently neurons in the human CNS do not regrow. But what if, e.g., stem-cell treatments can regrow neurons for humans with neurological disease? What connections will they have?</a:t>
            </a:r>
          </a:p>
          <a:p>
            <a:pPr lvl="1"/>
            <a:r>
              <a:rPr lang="en-US" sz="2000" dirty="0"/>
              <a:t>More evidence that bioelectrical patterns are stored throughout the body and can have </a:t>
            </a:r>
            <a:r>
              <a:rPr lang="en-US" sz="2000" i="1" dirty="0"/>
              <a:t>wide-ranging</a:t>
            </a:r>
            <a:r>
              <a:rPr lang="en-US" sz="2000" dirty="0"/>
              <a:t> effects on regrowth</a:t>
            </a:r>
          </a:p>
          <a:p>
            <a:pPr lvl="1"/>
            <a:r>
              <a:rPr lang="en-US" sz="2000" dirty="0"/>
              <a:t>Does this help to explain the moose &amp; crab data?</a:t>
            </a:r>
          </a:p>
        </p:txBody>
      </p:sp>
      <p:sp>
        <p:nvSpPr>
          <p:cNvPr id="4" name="Footer Placeholder 3">
            <a:extLst>
              <a:ext uri="{FF2B5EF4-FFF2-40B4-BE49-F238E27FC236}">
                <a16:creationId xmlns:a16="http://schemas.microsoft.com/office/drawing/2014/main" id="{A58C6401-1DD2-4D02-9691-DAF3915EB22F}"/>
              </a:ext>
            </a:extLst>
          </p:cNvPr>
          <p:cNvSpPr>
            <a:spLocks noGrp="1"/>
          </p:cNvSpPr>
          <p:nvPr>
            <p:ph type="ftr" sz="quarter" idx="11"/>
          </p:nvPr>
        </p:nvSpPr>
        <p:spPr>
          <a:xfrm>
            <a:off x="5638807" y="6491582"/>
            <a:ext cx="2895600" cy="215444"/>
          </a:xfrm>
        </p:spPr>
        <p:txBody>
          <a:bodyPr/>
          <a:lstStyle/>
          <a:p>
            <a:pPr>
              <a:defRPr/>
            </a:pPr>
            <a:r>
              <a:rPr lang="en-US" dirty="0"/>
              <a:t>Bioelectricity Joel Grodstein</a:t>
            </a:r>
          </a:p>
        </p:txBody>
      </p:sp>
      <p:sp>
        <p:nvSpPr>
          <p:cNvPr id="5" name="TextBox 4">
            <a:extLst>
              <a:ext uri="{FF2B5EF4-FFF2-40B4-BE49-F238E27FC236}">
                <a16:creationId xmlns:a16="http://schemas.microsoft.com/office/drawing/2014/main" id="{83A533D7-824D-4392-9E16-509B76219992}"/>
              </a:ext>
            </a:extLst>
          </p:cNvPr>
          <p:cNvSpPr txBox="1"/>
          <p:nvPr/>
        </p:nvSpPr>
        <p:spPr>
          <a:xfrm>
            <a:off x="203200" y="6160350"/>
            <a:ext cx="7907867" cy="646331"/>
          </a:xfrm>
          <a:prstGeom prst="rect">
            <a:avLst/>
          </a:prstGeom>
          <a:noFill/>
        </p:spPr>
        <p:txBody>
          <a:bodyPr wrap="square" rtlCol="0">
            <a:spAutoFit/>
          </a:bodyPr>
          <a:lstStyle/>
          <a:p>
            <a:r>
              <a:rPr lang="en-US" sz="1800" dirty="0"/>
              <a:t>Credit: </a:t>
            </a:r>
            <a:r>
              <a:rPr lang="en-US" sz="1800" i="1" dirty="0"/>
              <a:t>An automated training paradigm reveals long-term memory in planarians and its persistence through head regeneration</a:t>
            </a:r>
            <a:r>
              <a:rPr lang="en-US" sz="1800" b="1" i="1" dirty="0"/>
              <a:t>,</a:t>
            </a:r>
            <a:r>
              <a:rPr lang="en-US" sz="1800" dirty="0"/>
              <a:t> 2013</a:t>
            </a:r>
          </a:p>
        </p:txBody>
      </p:sp>
    </p:spTree>
    <p:extLst>
      <p:ext uri="{BB962C8B-B14F-4D97-AF65-F5344CB8AC3E}">
        <p14:creationId xmlns:p14="http://schemas.microsoft.com/office/powerpoint/2010/main" val="382473685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70F007-6685-4DB4-BCB0-9D8514A8D5A0}"/>
              </a:ext>
            </a:extLst>
          </p:cNvPr>
          <p:cNvSpPr>
            <a:spLocks noGrp="1"/>
          </p:cNvSpPr>
          <p:nvPr>
            <p:ph type="title"/>
          </p:nvPr>
        </p:nvSpPr>
        <p:spPr/>
        <p:txBody>
          <a:bodyPr/>
          <a:lstStyle/>
          <a:p>
            <a:r>
              <a:rPr lang="en-US" dirty="0"/>
              <a:t>Layers</a:t>
            </a:r>
          </a:p>
        </p:txBody>
      </p:sp>
      <p:sp>
        <p:nvSpPr>
          <p:cNvPr id="3" name="Content Placeholder 2">
            <a:extLst>
              <a:ext uri="{FF2B5EF4-FFF2-40B4-BE49-F238E27FC236}">
                <a16:creationId xmlns:a16="http://schemas.microsoft.com/office/drawing/2014/main" id="{C878125A-5F67-4846-B390-BA02892D8EA9}"/>
              </a:ext>
            </a:extLst>
          </p:cNvPr>
          <p:cNvSpPr>
            <a:spLocks noGrp="1"/>
          </p:cNvSpPr>
          <p:nvPr>
            <p:ph idx="1"/>
          </p:nvPr>
        </p:nvSpPr>
        <p:spPr>
          <a:xfrm>
            <a:off x="685800" y="1676400"/>
            <a:ext cx="4876800" cy="4419600"/>
          </a:xfrm>
        </p:spPr>
        <p:txBody>
          <a:bodyPr/>
          <a:lstStyle/>
          <a:p>
            <a:r>
              <a:rPr lang="en-US" sz="2000" dirty="0"/>
              <a:t>The growing body acts as a layered piece of software.</a:t>
            </a:r>
          </a:p>
          <a:p>
            <a:pPr lvl="1">
              <a:spcBef>
                <a:spcPts val="0"/>
              </a:spcBef>
            </a:pPr>
            <a:r>
              <a:rPr lang="en-US" sz="1800" dirty="0"/>
              <a:t>The upper layer creates a pattern of </a:t>
            </a:r>
            <a:r>
              <a:rPr lang="en-US" sz="1800" i="1" dirty="0" err="1"/>
              <a:t>V</a:t>
            </a:r>
            <a:r>
              <a:rPr lang="en-US" sz="1800" baseline="-25000" dirty="0" err="1"/>
              <a:t>mem</a:t>
            </a:r>
            <a:r>
              <a:rPr lang="en-US" sz="1800" dirty="0"/>
              <a:t>.</a:t>
            </a:r>
          </a:p>
          <a:p>
            <a:pPr lvl="1">
              <a:spcBef>
                <a:spcPts val="0"/>
              </a:spcBef>
            </a:pPr>
            <a:r>
              <a:rPr lang="en-US" sz="1800" dirty="0"/>
              <a:t>The lower layer sees that pattern, and creates body shapes based on it.</a:t>
            </a:r>
          </a:p>
          <a:p>
            <a:pPr lvl="1">
              <a:spcBef>
                <a:spcPts val="0"/>
              </a:spcBef>
            </a:pPr>
            <a:r>
              <a:rPr lang="en-US" sz="1800" dirty="0"/>
              <a:t>Note that both layers are controlled by DNA, but it’s still a layered system.</a:t>
            </a:r>
          </a:p>
          <a:p>
            <a:r>
              <a:rPr lang="en-US" sz="2000" dirty="0"/>
              <a:t>“Neural” networks are part of one or both layers</a:t>
            </a:r>
          </a:p>
          <a:p>
            <a:pPr lvl="1">
              <a:spcBef>
                <a:spcPts val="0"/>
              </a:spcBef>
            </a:pPr>
            <a:r>
              <a:rPr lang="en-US" sz="1800" dirty="0"/>
              <a:t>In the upper layer, could decide what to build</a:t>
            </a:r>
          </a:p>
          <a:p>
            <a:pPr lvl="1">
              <a:spcBef>
                <a:spcPts val="0"/>
              </a:spcBef>
            </a:pPr>
            <a:r>
              <a:rPr lang="en-US" sz="1800" dirty="0"/>
              <a:t>In the lower layer, could implement “current state vs. desired state → what to do next”</a:t>
            </a:r>
          </a:p>
          <a:p>
            <a:pPr lvl="1">
              <a:spcBef>
                <a:spcPts val="0"/>
              </a:spcBef>
            </a:pPr>
            <a:r>
              <a:rPr lang="en-US" sz="1800" dirty="0"/>
              <a:t>Lower layer also outputs “All done” signal</a:t>
            </a:r>
          </a:p>
          <a:p>
            <a:endParaRPr lang="en-US" dirty="0"/>
          </a:p>
        </p:txBody>
      </p:sp>
      <p:sp>
        <p:nvSpPr>
          <p:cNvPr id="4" name="Footer Placeholder 3">
            <a:extLst>
              <a:ext uri="{FF2B5EF4-FFF2-40B4-BE49-F238E27FC236}">
                <a16:creationId xmlns:a16="http://schemas.microsoft.com/office/drawing/2014/main" id="{E8AD74FA-D849-4265-8D58-493EB7A3DCF7}"/>
              </a:ext>
            </a:extLst>
          </p:cNvPr>
          <p:cNvSpPr>
            <a:spLocks noGrp="1"/>
          </p:cNvSpPr>
          <p:nvPr>
            <p:ph type="ftr" sz="quarter" idx="11"/>
          </p:nvPr>
        </p:nvSpPr>
        <p:spPr/>
        <p:txBody>
          <a:bodyPr/>
          <a:lstStyle/>
          <a:p>
            <a:pPr>
              <a:defRPr/>
            </a:pPr>
            <a:r>
              <a:rPr lang="en-US" dirty="0"/>
              <a:t>Bioelectricity Joel Grodstein</a:t>
            </a:r>
          </a:p>
        </p:txBody>
      </p:sp>
      <p:sp>
        <p:nvSpPr>
          <p:cNvPr id="6" name="TextBox 5">
            <a:extLst>
              <a:ext uri="{FF2B5EF4-FFF2-40B4-BE49-F238E27FC236}">
                <a16:creationId xmlns:a16="http://schemas.microsoft.com/office/drawing/2014/main" id="{D1526F46-24B8-41D7-A479-B12E90AE0386}"/>
              </a:ext>
            </a:extLst>
          </p:cNvPr>
          <p:cNvSpPr txBox="1"/>
          <p:nvPr/>
        </p:nvSpPr>
        <p:spPr>
          <a:xfrm>
            <a:off x="6290734" y="2463800"/>
            <a:ext cx="2167467" cy="830997"/>
          </a:xfrm>
          <a:prstGeom prst="rect">
            <a:avLst/>
          </a:prstGeom>
          <a:noFill/>
          <a:ln w="12700">
            <a:solidFill>
              <a:schemeClr val="accent2"/>
            </a:solidFill>
          </a:ln>
        </p:spPr>
        <p:txBody>
          <a:bodyPr wrap="square" rtlCol="0">
            <a:spAutoFit/>
          </a:bodyPr>
          <a:lstStyle/>
          <a:p>
            <a:pPr algn="ctr"/>
            <a:r>
              <a:rPr lang="en-US" dirty="0"/>
              <a:t>Create </a:t>
            </a:r>
            <a:r>
              <a:rPr lang="en-US" i="1" dirty="0" err="1"/>
              <a:t>V</a:t>
            </a:r>
            <a:r>
              <a:rPr lang="en-US" baseline="-25000" dirty="0" err="1"/>
              <a:t>mem</a:t>
            </a:r>
            <a:r>
              <a:rPr lang="en-US" dirty="0"/>
              <a:t> pattern</a:t>
            </a:r>
          </a:p>
        </p:txBody>
      </p:sp>
      <p:grpSp>
        <p:nvGrpSpPr>
          <p:cNvPr id="5" name="Group 4">
            <a:extLst>
              <a:ext uri="{FF2B5EF4-FFF2-40B4-BE49-F238E27FC236}">
                <a16:creationId xmlns:a16="http://schemas.microsoft.com/office/drawing/2014/main" id="{FCA7562C-D3CB-4AC7-A9B3-ADACEB57BA86}"/>
              </a:ext>
            </a:extLst>
          </p:cNvPr>
          <p:cNvGrpSpPr/>
          <p:nvPr/>
        </p:nvGrpSpPr>
        <p:grpSpPr>
          <a:xfrm>
            <a:off x="6239932" y="3445936"/>
            <a:ext cx="2523067" cy="2148593"/>
            <a:chOff x="6239932" y="3445936"/>
            <a:chExt cx="2523067" cy="2148593"/>
          </a:xfrm>
        </p:grpSpPr>
        <p:sp>
          <p:nvSpPr>
            <p:cNvPr id="10" name="TextBox 9">
              <a:extLst>
                <a:ext uri="{FF2B5EF4-FFF2-40B4-BE49-F238E27FC236}">
                  <a16:creationId xmlns:a16="http://schemas.microsoft.com/office/drawing/2014/main" id="{33B17081-A442-421A-960E-A63391896BDC}"/>
                </a:ext>
              </a:extLst>
            </p:cNvPr>
            <p:cNvSpPr txBox="1"/>
            <p:nvPr/>
          </p:nvSpPr>
          <p:spPr>
            <a:xfrm>
              <a:off x="6239932" y="4394200"/>
              <a:ext cx="2523067" cy="1200329"/>
            </a:xfrm>
            <a:prstGeom prst="rect">
              <a:avLst/>
            </a:prstGeom>
            <a:noFill/>
            <a:ln w="12700">
              <a:solidFill>
                <a:schemeClr val="accent2"/>
              </a:solidFill>
            </a:ln>
          </p:spPr>
          <p:txBody>
            <a:bodyPr wrap="square" rtlCol="0">
              <a:spAutoFit/>
            </a:bodyPr>
            <a:lstStyle/>
            <a:p>
              <a:pPr algn="ctr"/>
              <a:r>
                <a:rPr lang="en-US" dirty="0"/>
                <a:t>Differentiate cells following </a:t>
              </a:r>
              <a:r>
                <a:rPr lang="en-US" i="1" dirty="0" err="1"/>
                <a:t>V</a:t>
              </a:r>
              <a:r>
                <a:rPr lang="en-US" baseline="-25000" dirty="0" err="1"/>
                <a:t>mem</a:t>
              </a:r>
              <a:r>
                <a:rPr lang="en-US" dirty="0"/>
                <a:t> pattern</a:t>
              </a:r>
            </a:p>
          </p:txBody>
        </p:sp>
        <p:sp>
          <p:nvSpPr>
            <p:cNvPr id="11" name="Arrow: Down 10">
              <a:extLst>
                <a:ext uri="{FF2B5EF4-FFF2-40B4-BE49-F238E27FC236}">
                  <a16:creationId xmlns:a16="http://schemas.microsoft.com/office/drawing/2014/main" id="{70450EFC-3C68-4AA3-B474-A4C8A9D54BCB}"/>
                </a:ext>
              </a:extLst>
            </p:cNvPr>
            <p:cNvSpPr/>
            <p:nvPr/>
          </p:nvSpPr>
          <p:spPr>
            <a:xfrm>
              <a:off x="7281334" y="3445936"/>
              <a:ext cx="262466" cy="795867"/>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13" name="Straight Connector 12">
            <a:extLst>
              <a:ext uri="{FF2B5EF4-FFF2-40B4-BE49-F238E27FC236}">
                <a16:creationId xmlns:a16="http://schemas.microsoft.com/office/drawing/2014/main" id="{5A85AD53-3E22-4C72-A034-627520D2C9A8}"/>
              </a:ext>
            </a:extLst>
          </p:cNvPr>
          <p:cNvCxnSpPr/>
          <p:nvPr/>
        </p:nvCxnSpPr>
        <p:spPr>
          <a:xfrm>
            <a:off x="6273800" y="3826933"/>
            <a:ext cx="2413000" cy="0"/>
          </a:xfrm>
          <a:prstGeom prst="line">
            <a:avLst/>
          </a:prstGeom>
          <a:ln w="28575">
            <a:solidFill>
              <a:schemeClr val="accent2"/>
            </a:solidFill>
            <a:prstDash val="dash"/>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37B89BD1-6B90-408F-947C-F8AF7AB778F6}"/>
              </a:ext>
            </a:extLst>
          </p:cNvPr>
          <p:cNvSpPr txBox="1"/>
          <p:nvPr/>
        </p:nvSpPr>
        <p:spPr>
          <a:xfrm>
            <a:off x="8195733" y="3437467"/>
            <a:ext cx="719667" cy="461665"/>
          </a:xfrm>
          <a:prstGeom prst="rect">
            <a:avLst/>
          </a:prstGeom>
          <a:noFill/>
        </p:spPr>
        <p:txBody>
          <a:bodyPr wrap="square" rtlCol="0">
            <a:spAutoFit/>
          </a:bodyPr>
          <a:lstStyle/>
          <a:p>
            <a:r>
              <a:rPr lang="en-US" dirty="0"/>
              <a:t>API</a:t>
            </a:r>
          </a:p>
        </p:txBody>
      </p:sp>
      <p:grpSp>
        <p:nvGrpSpPr>
          <p:cNvPr id="12" name="Group 11">
            <a:extLst>
              <a:ext uri="{FF2B5EF4-FFF2-40B4-BE49-F238E27FC236}">
                <a16:creationId xmlns:a16="http://schemas.microsoft.com/office/drawing/2014/main" id="{FB6BB60F-9C65-4CFE-8931-C67B5EE3A940}"/>
              </a:ext>
            </a:extLst>
          </p:cNvPr>
          <p:cNvGrpSpPr/>
          <p:nvPr/>
        </p:nvGrpSpPr>
        <p:grpSpPr>
          <a:xfrm>
            <a:off x="6180665" y="3573532"/>
            <a:ext cx="2582334" cy="2878152"/>
            <a:chOff x="6180665" y="3573532"/>
            <a:chExt cx="2582334" cy="2878152"/>
          </a:xfrm>
        </p:grpSpPr>
        <p:sp>
          <p:nvSpPr>
            <p:cNvPr id="15" name="TextBox 14">
              <a:extLst>
                <a:ext uri="{FF2B5EF4-FFF2-40B4-BE49-F238E27FC236}">
                  <a16:creationId xmlns:a16="http://schemas.microsoft.com/office/drawing/2014/main" id="{BCA7AFAD-28BE-46F0-8FDA-7CD8CAE480B5}"/>
                </a:ext>
              </a:extLst>
            </p:cNvPr>
            <p:cNvSpPr txBox="1"/>
            <p:nvPr/>
          </p:nvSpPr>
          <p:spPr>
            <a:xfrm>
              <a:off x="6239932" y="4394200"/>
              <a:ext cx="2523067" cy="1100667"/>
            </a:xfrm>
            <a:prstGeom prst="rect">
              <a:avLst/>
            </a:prstGeom>
            <a:noFill/>
            <a:ln w="12700">
              <a:solidFill>
                <a:schemeClr val="accent2"/>
              </a:solidFill>
            </a:ln>
          </p:spPr>
          <p:txBody>
            <a:bodyPr wrap="square" rtlCol="0" anchor="ctr" anchorCtr="0">
              <a:noAutofit/>
            </a:bodyPr>
            <a:lstStyle/>
            <a:p>
              <a:pPr algn="ctr"/>
              <a:r>
                <a:rPr lang="en-US" dirty="0"/>
                <a:t>compare</a:t>
              </a:r>
            </a:p>
          </p:txBody>
        </p:sp>
        <p:sp>
          <p:nvSpPr>
            <p:cNvPr id="16" name="Arrow: Down 15">
              <a:extLst>
                <a:ext uri="{FF2B5EF4-FFF2-40B4-BE49-F238E27FC236}">
                  <a16:creationId xmlns:a16="http://schemas.microsoft.com/office/drawing/2014/main" id="{250F2FA4-5DC7-493A-801B-F0FB24242336}"/>
                </a:ext>
              </a:extLst>
            </p:cNvPr>
            <p:cNvSpPr/>
            <p:nvPr/>
          </p:nvSpPr>
          <p:spPr>
            <a:xfrm>
              <a:off x="8036247" y="3573532"/>
              <a:ext cx="262466" cy="795867"/>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extBox 16">
              <a:extLst>
                <a:ext uri="{FF2B5EF4-FFF2-40B4-BE49-F238E27FC236}">
                  <a16:creationId xmlns:a16="http://schemas.microsoft.com/office/drawing/2014/main" id="{AE5C8556-D1CE-4646-BADB-5F4CAFF954D5}"/>
                </a:ext>
              </a:extLst>
            </p:cNvPr>
            <p:cNvSpPr txBox="1"/>
            <p:nvPr/>
          </p:nvSpPr>
          <p:spPr>
            <a:xfrm>
              <a:off x="7746999" y="4275670"/>
              <a:ext cx="897468" cy="400110"/>
            </a:xfrm>
            <a:prstGeom prst="rect">
              <a:avLst/>
            </a:prstGeom>
            <a:noFill/>
          </p:spPr>
          <p:txBody>
            <a:bodyPr wrap="square" rtlCol="0">
              <a:spAutoFit/>
            </a:bodyPr>
            <a:lstStyle/>
            <a:p>
              <a:r>
                <a:rPr lang="en-US" sz="2000" dirty="0"/>
                <a:t>target</a:t>
              </a:r>
            </a:p>
          </p:txBody>
        </p:sp>
        <p:sp>
          <p:nvSpPr>
            <p:cNvPr id="18" name="TextBox 17">
              <a:extLst>
                <a:ext uri="{FF2B5EF4-FFF2-40B4-BE49-F238E27FC236}">
                  <a16:creationId xmlns:a16="http://schemas.microsoft.com/office/drawing/2014/main" id="{EE3BC477-9105-4CC2-907F-6E2B9B37C75C}"/>
                </a:ext>
              </a:extLst>
            </p:cNvPr>
            <p:cNvSpPr txBox="1"/>
            <p:nvPr/>
          </p:nvSpPr>
          <p:spPr>
            <a:xfrm>
              <a:off x="6180665" y="4343403"/>
              <a:ext cx="939801" cy="400110"/>
            </a:xfrm>
            <a:prstGeom prst="rect">
              <a:avLst/>
            </a:prstGeom>
            <a:noFill/>
          </p:spPr>
          <p:txBody>
            <a:bodyPr wrap="square" rtlCol="0">
              <a:spAutoFit/>
            </a:bodyPr>
            <a:lstStyle/>
            <a:p>
              <a:r>
                <a:rPr lang="en-US" sz="2000" dirty="0"/>
                <a:t>current</a:t>
              </a:r>
            </a:p>
          </p:txBody>
        </p:sp>
        <p:sp>
          <p:nvSpPr>
            <p:cNvPr id="19" name="TextBox 18">
              <a:extLst>
                <a:ext uri="{FF2B5EF4-FFF2-40B4-BE49-F238E27FC236}">
                  <a16:creationId xmlns:a16="http://schemas.microsoft.com/office/drawing/2014/main" id="{A60217E7-E666-4240-B818-5C684C4C2747}"/>
                </a:ext>
              </a:extLst>
            </p:cNvPr>
            <p:cNvSpPr txBox="1"/>
            <p:nvPr/>
          </p:nvSpPr>
          <p:spPr>
            <a:xfrm>
              <a:off x="6742614" y="5620687"/>
              <a:ext cx="1455086" cy="830997"/>
            </a:xfrm>
            <a:prstGeom prst="rect">
              <a:avLst/>
            </a:prstGeom>
            <a:noFill/>
          </p:spPr>
          <p:txBody>
            <a:bodyPr wrap="square" rtlCol="0">
              <a:spAutoFit/>
            </a:bodyPr>
            <a:lstStyle/>
            <a:p>
              <a:pPr algn="ctr"/>
              <a:r>
                <a:rPr lang="en-US" dirty="0"/>
                <a:t>growth directions</a:t>
              </a:r>
            </a:p>
          </p:txBody>
        </p:sp>
        <p:sp>
          <p:nvSpPr>
            <p:cNvPr id="20" name="Arrow: Down 19">
              <a:extLst>
                <a:ext uri="{FF2B5EF4-FFF2-40B4-BE49-F238E27FC236}">
                  <a16:creationId xmlns:a16="http://schemas.microsoft.com/office/drawing/2014/main" id="{BFA61DA1-FED9-4D52-A9C8-1ABF4AC74B96}"/>
                </a:ext>
              </a:extLst>
            </p:cNvPr>
            <p:cNvSpPr/>
            <p:nvPr/>
          </p:nvSpPr>
          <p:spPr>
            <a:xfrm>
              <a:off x="6498070" y="4136065"/>
              <a:ext cx="242971" cy="290035"/>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Arrow: Down 20">
              <a:extLst>
                <a:ext uri="{FF2B5EF4-FFF2-40B4-BE49-F238E27FC236}">
                  <a16:creationId xmlns:a16="http://schemas.microsoft.com/office/drawing/2014/main" id="{E92B2EE0-8AF6-44A9-99D1-E154FBF54ECF}"/>
                </a:ext>
              </a:extLst>
            </p:cNvPr>
            <p:cNvSpPr/>
            <p:nvPr/>
          </p:nvSpPr>
          <p:spPr>
            <a:xfrm>
              <a:off x="7373484" y="5231220"/>
              <a:ext cx="218164" cy="612554"/>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1026556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animEffect transition="in" filter="fade">
                                      <p:cBhvr>
                                        <p:cTn id="7" dur="500"/>
                                        <p:tgtEl>
                                          <p:spTgt spid="3">
                                            <p:txEl>
                                              <p:pRg st="4" end="4"/>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5" end="5"/>
                                            </p:txEl>
                                          </p:spTgt>
                                        </p:tgtEl>
                                        <p:attrNameLst>
                                          <p:attrName>style.visibility</p:attrName>
                                        </p:attrNameLst>
                                      </p:cBhvr>
                                      <p:to>
                                        <p:strVal val="visible"/>
                                      </p:to>
                                    </p:set>
                                    <p:animEffect transition="in" filter="fade">
                                      <p:cBhvr>
                                        <p:cTn id="10" dur="500"/>
                                        <p:tgtEl>
                                          <p:spTgt spid="3">
                                            <p:txEl>
                                              <p:pRg st="5" end="5"/>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3">
                                            <p:txEl>
                                              <p:pRg st="6" end="6"/>
                                            </p:txEl>
                                          </p:spTgt>
                                        </p:tgtEl>
                                        <p:attrNameLst>
                                          <p:attrName>style.visibility</p:attrName>
                                        </p:attrNameLst>
                                      </p:cBhvr>
                                      <p:to>
                                        <p:strVal val="visible"/>
                                      </p:to>
                                    </p:set>
                                    <p:animEffect transition="in" filter="fade">
                                      <p:cBhvr>
                                        <p:cTn id="13" dur="500"/>
                                        <p:tgtEl>
                                          <p:spTgt spid="3">
                                            <p:txEl>
                                              <p:pRg st="6" end="6"/>
                                            </p:txEl>
                                          </p:spTgt>
                                        </p:tgtEl>
                                      </p:cBhvr>
                                    </p:animEffect>
                                  </p:childTnLst>
                                </p:cTn>
                              </p:par>
                              <p:par>
                                <p:cTn id="14" presetID="10" presetClass="entr" presetSubtype="0" fill="hold" nodeType="withEffect">
                                  <p:stCondLst>
                                    <p:cond delay="0"/>
                                  </p:stCondLst>
                                  <p:childTnLst>
                                    <p:set>
                                      <p:cBhvr>
                                        <p:cTn id="15" dur="1" fill="hold">
                                          <p:stCondLst>
                                            <p:cond delay="0"/>
                                          </p:stCondLst>
                                        </p:cTn>
                                        <p:tgtEl>
                                          <p:spTgt spid="3">
                                            <p:txEl>
                                              <p:pRg st="7" end="7"/>
                                            </p:txEl>
                                          </p:spTgt>
                                        </p:tgtEl>
                                        <p:attrNameLst>
                                          <p:attrName>style.visibility</p:attrName>
                                        </p:attrNameLst>
                                      </p:cBhvr>
                                      <p:to>
                                        <p:strVal val="visible"/>
                                      </p:to>
                                    </p:set>
                                    <p:animEffect transition="in" filter="fade">
                                      <p:cBhvr>
                                        <p:cTn id="16" dur="500"/>
                                        <p:tgtEl>
                                          <p:spTgt spid="3">
                                            <p:txEl>
                                              <p:pRg st="7" end="7"/>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xit" presetSubtype="0" fill="hold" nodeType="clickEffect">
                                  <p:stCondLst>
                                    <p:cond delay="0"/>
                                  </p:stCondLst>
                                  <p:childTnLst>
                                    <p:animEffect transition="out" filter="fade">
                                      <p:cBhvr>
                                        <p:cTn id="20" dur="500"/>
                                        <p:tgtEl>
                                          <p:spTgt spid="5"/>
                                        </p:tgtEl>
                                      </p:cBhvr>
                                    </p:animEffect>
                                    <p:set>
                                      <p:cBhvr>
                                        <p:cTn id="21" dur="1" fill="hold">
                                          <p:stCondLst>
                                            <p:cond delay="499"/>
                                          </p:stCondLst>
                                        </p:cTn>
                                        <p:tgtEl>
                                          <p:spTgt spid="5"/>
                                        </p:tgtEl>
                                        <p:attrNameLst>
                                          <p:attrName>style.visibility</p:attrName>
                                        </p:attrNameLst>
                                      </p:cBhvr>
                                      <p:to>
                                        <p:strVal val="hidden"/>
                                      </p:to>
                                    </p:set>
                                  </p:childTnLst>
                                </p:cTn>
                              </p:par>
                              <p:par>
                                <p:cTn id="22" presetID="10" presetClass="entr" presetSubtype="0" fill="hold" nodeType="withEffect">
                                  <p:stCondLst>
                                    <p:cond delay="0"/>
                                  </p:stCondLst>
                                  <p:childTnLst>
                                    <p:set>
                                      <p:cBhvr>
                                        <p:cTn id="23" dur="1" fill="hold">
                                          <p:stCondLst>
                                            <p:cond delay="0"/>
                                          </p:stCondLst>
                                        </p:cTn>
                                        <p:tgtEl>
                                          <p:spTgt spid="12"/>
                                        </p:tgtEl>
                                        <p:attrNameLst>
                                          <p:attrName>style.visibility</p:attrName>
                                        </p:attrNameLst>
                                      </p:cBhvr>
                                      <p:to>
                                        <p:strVal val="visible"/>
                                      </p:to>
                                    </p:set>
                                    <p:animEffect transition="in" filter="fade">
                                      <p:cBhvr>
                                        <p:cTn id="24"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70F007-6685-4DB4-BCB0-9D8514A8D5A0}"/>
              </a:ext>
            </a:extLst>
          </p:cNvPr>
          <p:cNvSpPr>
            <a:spLocks noGrp="1"/>
          </p:cNvSpPr>
          <p:nvPr>
            <p:ph type="title"/>
          </p:nvPr>
        </p:nvSpPr>
        <p:spPr/>
        <p:txBody>
          <a:bodyPr/>
          <a:lstStyle/>
          <a:p>
            <a:r>
              <a:rPr lang="en-US" dirty="0"/>
              <a:t>Layers</a:t>
            </a:r>
          </a:p>
        </p:txBody>
      </p:sp>
      <p:sp>
        <p:nvSpPr>
          <p:cNvPr id="3" name="Content Placeholder 2">
            <a:extLst>
              <a:ext uri="{FF2B5EF4-FFF2-40B4-BE49-F238E27FC236}">
                <a16:creationId xmlns:a16="http://schemas.microsoft.com/office/drawing/2014/main" id="{C878125A-5F67-4846-B390-BA02892D8EA9}"/>
              </a:ext>
            </a:extLst>
          </p:cNvPr>
          <p:cNvSpPr>
            <a:spLocks noGrp="1"/>
          </p:cNvSpPr>
          <p:nvPr>
            <p:ph idx="1"/>
          </p:nvPr>
        </p:nvSpPr>
        <p:spPr>
          <a:xfrm>
            <a:off x="614778" y="1969363"/>
            <a:ext cx="4876800" cy="3623570"/>
          </a:xfrm>
        </p:spPr>
        <p:txBody>
          <a:bodyPr/>
          <a:lstStyle/>
          <a:p>
            <a:r>
              <a:rPr lang="en-US" sz="2400" dirty="0"/>
              <a:t>Answer to “how do we build the </a:t>
            </a:r>
            <a:r>
              <a:rPr lang="en-US" sz="2400" i="1" dirty="0" err="1"/>
              <a:t>V</a:t>
            </a:r>
            <a:r>
              <a:rPr lang="en-US" sz="2400" baseline="-25000" dirty="0" err="1"/>
              <a:t>mem</a:t>
            </a:r>
            <a:r>
              <a:rPr lang="en-US" sz="2400" dirty="0"/>
              <a:t> pattern?”</a:t>
            </a:r>
          </a:p>
          <a:p>
            <a:r>
              <a:rPr lang="en-US" sz="2400" dirty="0"/>
              <a:t>Can we drill down into these two black boxes?</a:t>
            </a:r>
          </a:p>
          <a:p>
            <a:pPr lvl="1">
              <a:spcBef>
                <a:spcPts val="0"/>
              </a:spcBef>
            </a:pPr>
            <a:r>
              <a:rPr lang="en-US" sz="2000" dirty="0"/>
              <a:t>How might these machines be built?</a:t>
            </a:r>
          </a:p>
          <a:p>
            <a:pPr lvl="1">
              <a:spcBef>
                <a:spcPts val="0"/>
              </a:spcBef>
            </a:pPr>
            <a:r>
              <a:rPr lang="en-US" sz="2000" dirty="0"/>
              <a:t>What computations could they be implementing?</a:t>
            </a:r>
          </a:p>
          <a:p>
            <a:pPr>
              <a:spcBef>
                <a:spcPts val="0"/>
              </a:spcBef>
            </a:pPr>
            <a:r>
              <a:rPr lang="en-US" sz="2400" dirty="0"/>
              <a:t>Hint – we haven’t talked about neural networks yet</a:t>
            </a:r>
            <a:endParaRPr lang="en-US" sz="2200" dirty="0"/>
          </a:p>
          <a:p>
            <a:pPr marL="0" indent="0">
              <a:buNone/>
            </a:pPr>
            <a:endParaRPr lang="en-US" dirty="0"/>
          </a:p>
        </p:txBody>
      </p:sp>
      <p:sp>
        <p:nvSpPr>
          <p:cNvPr id="4" name="Footer Placeholder 3">
            <a:extLst>
              <a:ext uri="{FF2B5EF4-FFF2-40B4-BE49-F238E27FC236}">
                <a16:creationId xmlns:a16="http://schemas.microsoft.com/office/drawing/2014/main" id="{E8AD74FA-D849-4265-8D58-493EB7A3DCF7}"/>
              </a:ext>
            </a:extLst>
          </p:cNvPr>
          <p:cNvSpPr>
            <a:spLocks noGrp="1"/>
          </p:cNvSpPr>
          <p:nvPr>
            <p:ph type="ftr" sz="quarter" idx="11"/>
          </p:nvPr>
        </p:nvSpPr>
        <p:spPr/>
        <p:txBody>
          <a:bodyPr/>
          <a:lstStyle/>
          <a:p>
            <a:pPr>
              <a:defRPr/>
            </a:pPr>
            <a:r>
              <a:rPr lang="en-US" dirty="0"/>
              <a:t>Bioelectricity Joel Grodstein</a:t>
            </a:r>
          </a:p>
        </p:txBody>
      </p:sp>
      <p:sp>
        <p:nvSpPr>
          <p:cNvPr id="6" name="TextBox 5">
            <a:extLst>
              <a:ext uri="{FF2B5EF4-FFF2-40B4-BE49-F238E27FC236}">
                <a16:creationId xmlns:a16="http://schemas.microsoft.com/office/drawing/2014/main" id="{D1526F46-24B8-41D7-A479-B12E90AE0386}"/>
              </a:ext>
            </a:extLst>
          </p:cNvPr>
          <p:cNvSpPr txBox="1"/>
          <p:nvPr/>
        </p:nvSpPr>
        <p:spPr>
          <a:xfrm>
            <a:off x="6290734" y="2463800"/>
            <a:ext cx="2167467" cy="830997"/>
          </a:xfrm>
          <a:prstGeom prst="rect">
            <a:avLst/>
          </a:prstGeom>
          <a:noFill/>
          <a:ln w="12700">
            <a:solidFill>
              <a:schemeClr val="accent2"/>
            </a:solidFill>
          </a:ln>
        </p:spPr>
        <p:txBody>
          <a:bodyPr wrap="square" rtlCol="0">
            <a:spAutoFit/>
          </a:bodyPr>
          <a:lstStyle/>
          <a:p>
            <a:pPr algn="ctr"/>
            <a:r>
              <a:rPr lang="en-US" dirty="0"/>
              <a:t>Create </a:t>
            </a:r>
            <a:r>
              <a:rPr lang="en-US" i="1" dirty="0" err="1"/>
              <a:t>V</a:t>
            </a:r>
            <a:r>
              <a:rPr lang="en-US" baseline="-25000" dirty="0" err="1"/>
              <a:t>mem</a:t>
            </a:r>
            <a:r>
              <a:rPr lang="en-US" dirty="0"/>
              <a:t> pattern</a:t>
            </a:r>
          </a:p>
        </p:txBody>
      </p:sp>
      <p:cxnSp>
        <p:nvCxnSpPr>
          <p:cNvPr id="13" name="Straight Connector 12">
            <a:extLst>
              <a:ext uri="{FF2B5EF4-FFF2-40B4-BE49-F238E27FC236}">
                <a16:creationId xmlns:a16="http://schemas.microsoft.com/office/drawing/2014/main" id="{5A85AD53-3E22-4C72-A034-627520D2C9A8}"/>
              </a:ext>
            </a:extLst>
          </p:cNvPr>
          <p:cNvCxnSpPr/>
          <p:nvPr/>
        </p:nvCxnSpPr>
        <p:spPr>
          <a:xfrm>
            <a:off x="6273800" y="3826933"/>
            <a:ext cx="2413000" cy="0"/>
          </a:xfrm>
          <a:prstGeom prst="line">
            <a:avLst/>
          </a:prstGeom>
          <a:ln w="28575">
            <a:solidFill>
              <a:schemeClr val="accent2"/>
            </a:solidFill>
            <a:prstDash val="dash"/>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37B89BD1-6B90-408F-947C-F8AF7AB778F6}"/>
              </a:ext>
            </a:extLst>
          </p:cNvPr>
          <p:cNvSpPr txBox="1"/>
          <p:nvPr/>
        </p:nvSpPr>
        <p:spPr>
          <a:xfrm>
            <a:off x="8195733" y="3437467"/>
            <a:ext cx="719667" cy="461665"/>
          </a:xfrm>
          <a:prstGeom prst="rect">
            <a:avLst/>
          </a:prstGeom>
          <a:noFill/>
        </p:spPr>
        <p:txBody>
          <a:bodyPr wrap="square" rtlCol="0">
            <a:spAutoFit/>
          </a:bodyPr>
          <a:lstStyle/>
          <a:p>
            <a:r>
              <a:rPr lang="en-US" dirty="0"/>
              <a:t>API</a:t>
            </a:r>
          </a:p>
        </p:txBody>
      </p:sp>
      <p:grpSp>
        <p:nvGrpSpPr>
          <p:cNvPr id="12" name="Group 11">
            <a:extLst>
              <a:ext uri="{FF2B5EF4-FFF2-40B4-BE49-F238E27FC236}">
                <a16:creationId xmlns:a16="http://schemas.microsoft.com/office/drawing/2014/main" id="{FB6BB60F-9C65-4CFE-8931-C67B5EE3A940}"/>
              </a:ext>
            </a:extLst>
          </p:cNvPr>
          <p:cNvGrpSpPr/>
          <p:nvPr/>
        </p:nvGrpSpPr>
        <p:grpSpPr>
          <a:xfrm>
            <a:off x="6180665" y="3573532"/>
            <a:ext cx="2582334" cy="2878152"/>
            <a:chOff x="6180665" y="3573532"/>
            <a:chExt cx="2582334" cy="2878152"/>
          </a:xfrm>
        </p:grpSpPr>
        <p:sp>
          <p:nvSpPr>
            <p:cNvPr id="15" name="TextBox 14">
              <a:extLst>
                <a:ext uri="{FF2B5EF4-FFF2-40B4-BE49-F238E27FC236}">
                  <a16:creationId xmlns:a16="http://schemas.microsoft.com/office/drawing/2014/main" id="{BCA7AFAD-28BE-46F0-8FDA-7CD8CAE480B5}"/>
                </a:ext>
              </a:extLst>
            </p:cNvPr>
            <p:cNvSpPr txBox="1"/>
            <p:nvPr/>
          </p:nvSpPr>
          <p:spPr>
            <a:xfrm>
              <a:off x="6239932" y="4394200"/>
              <a:ext cx="2523067" cy="1100667"/>
            </a:xfrm>
            <a:prstGeom prst="rect">
              <a:avLst/>
            </a:prstGeom>
            <a:noFill/>
            <a:ln w="12700">
              <a:solidFill>
                <a:schemeClr val="accent2"/>
              </a:solidFill>
            </a:ln>
          </p:spPr>
          <p:txBody>
            <a:bodyPr wrap="square" rtlCol="0" anchor="ctr" anchorCtr="0">
              <a:noAutofit/>
            </a:bodyPr>
            <a:lstStyle/>
            <a:p>
              <a:pPr algn="ctr"/>
              <a:r>
                <a:rPr lang="en-US" dirty="0"/>
                <a:t>compare</a:t>
              </a:r>
            </a:p>
          </p:txBody>
        </p:sp>
        <p:sp>
          <p:nvSpPr>
            <p:cNvPr id="16" name="Arrow: Down 15">
              <a:extLst>
                <a:ext uri="{FF2B5EF4-FFF2-40B4-BE49-F238E27FC236}">
                  <a16:creationId xmlns:a16="http://schemas.microsoft.com/office/drawing/2014/main" id="{250F2FA4-5DC7-493A-801B-F0FB24242336}"/>
                </a:ext>
              </a:extLst>
            </p:cNvPr>
            <p:cNvSpPr/>
            <p:nvPr/>
          </p:nvSpPr>
          <p:spPr>
            <a:xfrm>
              <a:off x="8036247" y="3573532"/>
              <a:ext cx="262466" cy="795867"/>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extBox 16">
              <a:extLst>
                <a:ext uri="{FF2B5EF4-FFF2-40B4-BE49-F238E27FC236}">
                  <a16:creationId xmlns:a16="http://schemas.microsoft.com/office/drawing/2014/main" id="{AE5C8556-D1CE-4646-BADB-5F4CAFF954D5}"/>
                </a:ext>
              </a:extLst>
            </p:cNvPr>
            <p:cNvSpPr txBox="1"/>
            <p:nvPr/>
          </p:nvSpPr>
          <p:spPr>
            <a:xfrm>
              <a:off x="7746999" y="4275670"/>
              <a:ext cx="897468" cy="400110"/>
            </a:xfrm>
            <a:prstGeom prst="rect">
              <a:avLst/>
            </a:prstGeom>
            <a:noFill/>
          </p:spPr>
          <p:txBody>
            <a:bodyPr wrap="square" rtlCol="0">
              <a:spAutoFit/>
            </a:bodyPr>
            <a:lstStyle/>
            <a:p>
              <a:r>
                <a:rPr lang="en-US" sz="2000" dirty="0"/>
                <a:t>target</a:t>
              </a:r>
            </a:p>
          </p:txBody>
        </p:sp>
        <p:sp>
          <p:nvSpPr>
            <p:cNvPr id="18" name="TextBox 17">
              <a:extLst>
                <a:ext uri="{FF2B5EF4-FFF2-40B4-BE49-F238E27FC236}">
                  <a16:creationId xmlns:a16="http://schemas.microsoft.com/office/drawing/2014/main" id="{EE3BC477-9105-4CC2-907F-6E2B9B37C75C}"/>
                </a:ext>
              </a:extLst>
            </p:cNvPr>
            <p:cNvSpPr txBox="1"/>
            <p:nvPr/>
          </p:nvSpPr>
          <p:spPr>
            <a:xfrm>
              <a:off x="6180665" y="4343403"/>
              <a:ext cx="939801" cy="400110"/>
            </a:xfrm>
            <a:prstGeom prst="rect">
              <a:avLst/>
            </a:prstGeom>
            <a:noFill/>
          </p:spPr>
          <p:txBody>
            <a:bodyPr wrap="square" rtlCol="0">
              <a:spAutoFit/>
            </a:bodyPr>
            <a:lstStyle/>
            <a:p>
              <a:r>
                <a:rPr lang="en-US" sz="2000" dirty="0"/>
                <a:t>current</a:t>
              </a:r>
            </a:p>
          </p:txBody>
        </p:sp>
        <p:sp>
          <p:nvSpPr>
            <p:cNvPr id="19" name="TextBox 18">
              <a:extLst>
                <a:ext uri="{FF2B5EF4-FFF2-40B4-BE49-F238E27FC236}">
                  <a16:creationId xmlns:a16="http://schemas.microsoft.com/office/drawing/2014/main" id="{A60217E7-E666-4240-B818-5C684C4C2747}"/>
                </a:ext>
              </a:extLst>
            </p:cNvPr>
            <p:cNvSpPr txBox="1"/>
            <p:nvPr/>
          </p:nvSpPr>
          <p:spPr>
            <a:xfrm>
              <a:off x="6742614" y="5620687"/>
              <a:ext cx="1455086" cy="830997"/>
            </a:xfrm>
            <a:prstGeom prst="rect">
              <a:avLst/>
            </a:prstGeom>
            <a:noFill/>
          </p:spPr>
          <p:txBody>
            <a:bodyPr wrap="square" rtlCol="0">
              <a:spAutoFit/>
            </a:bodyPr>
            <a:lstStyle/>
            <a:p>
              <a:pPr algn="ctr"/>
              <a:r>
                <a:rPr lang="en-US" dirty="0"/>
                <a:t>growth directions</a:t>
              </a:r>
            </a:p>
          </p:txBody>
        </p:sp>
        <p:sp>
          <p:nvSpPr>
            <p:cNvPr id="20" name="Arrow: Down 19">
              <a:extLst>
                <a:ext uri="{FF2B5EF4-FFF2-40B4-BE49-F238E27FC236}">
                  <a16:creationId xmlns:a16="http://schemas.microsoft.com/office/drawing/2014/main" id="{BFA61DA1-FED9-4D52-A9C8-1ABF4AC74B96}"/>
                </a:ext>
              </a:extLst>
            </p:cNvPr>
            <p:cNvSpPr/>
            <p:nvPr/>
          </p:nvSpPr>
          <p:spPr>
            <a:xfrm>
              <a:off x="6498070" y="4136065"/>
              <a:ext cx="242971" cy="290035"/>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Arrow: Down 20">
              <a:extLst>
                <a:ext uri="{FF2B5EF4-FFF2-40B4-BE49-F238E27FC236}">
                  <a16:creationId xmlns:a16="http://schemas.microsoft.com/office/drawing/2014/main" id="{E92B2EE0-8AF6-44A9-99D1-E154FBF54ECF}"/>
                </a:ext>
              </a:extLst>
            </p:cNvPr>
            <p:cNvSpPr/>
            <p:nvPr/>
          </p:nvSpPr>
          <p:spPr>
            <a:xfrm>
              <a:off x="7373484" y="5231220"/>
              <a:ext cx="218164" cy="612554"/>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2" name="TextBox 21">
            <a:extLst>
              <a:ext uri="{FF2B5EF4-FFF2-40B4-BE49-F238E27FC236}">
                <a16:creationId xmlns:a16="http://schemas.microsoft.com/office/drawing/2014/main" id="{DCC37170-7B9B-46DF-B276-E1F5B23F2639}"/>
              </a:ext>
            </a:extLst>
          </p:cNvPr>
          <p:cNvSpPr txBox="1"/>
          <p:nvPr/>
        </p:nvSpPr>
        <p:spPr>
          <a:xfrm>
            <a:off x="6265584" y="2483037"/>
            <a:ext cx="2230349" cy="830997"/>
          </a:xfrm>
          <a:prstGeom prst="rect">
            <a:avLst/>
          </a:prstGeom>
          <a:noFill/>
          <a:ln w="12700">
            <a:solidFill>
              <a:schemeClr val="accent2"/>
            </a:solidFill>
          </a:ln>
        </p:spPr>
        <p:txBody>
          <a:bodyPr wrap="square" rtlCol="0">
            <a:spAutoFit/>
          </a:bodyPr>
          <a:lstStyle/>
          <a:p>
            <a:pPr algn="ctr"/>
            <a:r>
              <a:rPr lang="en-US" dirty="0"/>
              <a:t>Create </a:t>
            </a:r>
            <a:r>
              <a:rPr lang="en-US" i="1" dirty="0" err="1"/>
              <a:t>V</a:t>
            </a:r>
            <a:r>
              <a:rPr lang="en-US" baseline="-25000" dirty="0" err="1"/>
              <a:t>mem</a:t>
            </a:r>
            <a:r>
              <a:rPr lang="en-US" dirty="0"/>
              <a:t> pattern with GJs</a:t>
            </a:r>
          </a:p>
        </p:txBody>
      </p:sp>
    </p:spTree>
    <p:extLst>
      <p:ext uri="{BB962C8B-B14F-4D97-AF65-F5344CB8AC3E}">
        <p14:creationId xmlns:p14="http://schemas.microsoft.com/office/powerpoint/2010/main" val="16016817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xit" presetSubtype="0" fill="hold" grpId="0" nodeType="clickEffect">
                                  <p:stCondLst>
                                    <p:cond delay="0"/>
                                  </p:stCondLst>
                                  <p:childTnLst>
                                    <p:animEffect transition="out" filter="fade">
                                      <p:cBhvr>
                                        <p:cTn id="6" dur="500"/>
                                        <p:tgtEl>
                                          <p:spTgt spid="6"/>
                                        </p:tgtEl>
                                      </p:cBhvr>
                                    </p:animEffect>
                                    <p:set>
                                      <p:cBhvr>
                                        <p:cTn id="7" dur="1" fill="hold">
                                          <p:stCondLst>
                                            <p:cond delay="499"/>
                                          </p:stCondLst>
                                        </p:cTn>
                                        <p:tgtEl>
                                          <p:spTgt spid="6"/>
                                        </p:tgtEl>
                                        <p:attrNameLst>
                                          <p:attrName>style.visibility</p:attrName>
                                        </p:attrNameLst>
                                      </p:cBhvr>
                                      <p:to>
                                        <p:strVal val="hidden"/>
                                      </p:to>
                                    </p:set>
                                  </p:childTnLst>
                                </p:cTn>
                              </p:par>
                              <p:par>
                                <p:cTn id="8" presetID="10" presetClass="entr" presetSubtype="0" fill="hold" grpId="0" nodeType="withEffect">
                                  <p:stCondLst>
                                    <p:cond delay="0"/>
                                  </p:stCondLst>
                                  <p:childTnLst>
                                    <p:set>
                                      <p:cBhvr>
                                        <p:cTn id="9" dur="1" fill="hold">
                                          <p:stCondLst>
                                            <p:cond delay="0"/>
                                          </p:stCondLst>
                                        </p:cTn>
                                        <p:tgtEl>
                                          <p:spTgt spid="22"/>
                                        </p:tgtEl>
                                        <p:attrNameLst>
                                          <p:attrName>style.visibility</p:attrName>
                                        </p:attrNameLst>
                                      </p:cBhvr>
                                      <p:to>
                                        <p:strVal val="visible"/>
                                      </p:to>
                                    </p:set>
                                    <p:animEffect transition="in" filter="fade">
                                      <p:cBhvr>
                                        <p:cTn id="10" dur="500"/>
                                        <p:tgtEl>
                                          <p:spTgt spid="22"/>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animEffect transition="in" filter="fade">
                                      <p:cBhvr>
                                        <p:cTn id="15" dur="500"/>
                                        <p:tgtEl>
                                          <p:spTgt spid="3">
                                            <p:txEl>
                                              <p:pRg st="1" end="1"/>
                                            </p:txEl>
                                          </p:spTgt>
                                        </p:tgtEl>
                                      </p:cBhvr>
                                    </p:animEffect>
                                  </p:childTnLst>
                                </p:cTn>
                              </p:par>
                              <p:par>
                                <p:cTn id="16" presetID="10" presetClass="entr" presetSubtype="0" fill="hold" nodeType="withEffect">
                                  <p:stCondLst>
                                    <p:cond delay="0"/>
                                  </p:stCondLst>
                                  <p:childTnLst>
                                    <p:set>
                                      <p:cBhvr>
                                        <p:cTn id="17" dur="1" fill="hold">
                                          <p:stCondLst>
                                            <p:cond delay="0"/>
                                          </p:stCondLst>
                                        </p:cTn>
                                        <p:tgtEl>
                                          <p:spTgt spid="3">
                                            <p:txEl>
                                              <p:pRg st="2" end="2"/>
                                            </p:txEl>
                                          </p:spTgt>
                                        </p:tgtEl>
                                        <p:attrNameLst>
                                          <p:attrName>style.visibility</p:attrName>
                                        </p:attrNameLst>
                                      </p:cBhvr>
                                      <p:to>
                                        <p:strVal val="visible"/>
                                      </p:to>
                                    </p:set>
                                    <p:animEffect transition="in" filter="fade">
                                      <p:cBhvr>
                                        <p:cTn id="18" dur="500"/>
                                        <p:tgtEl>
                                          <p:spTgt spid="3">
                                            <p:txEl>
                                              <p:pRg st="2" end="2"/>
                                            </p:txEl>
                                          </p:spTgt>
                                        </p:tgtEl>
                                      </p:cBhvr>
                                    </p:animEffect>
                                  </p:childTnLst>
                                </p:cTn>
                              </p:par>
                              <p:par>
                                <p:cTn id="19" presetID="10" presetClass="entr" presetSubtype="0" fill="hold" nodeType="with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animEffect transition="in" filter="fade">
                                      <p:cBhvr>
                                        <p:cTn id="21" dur="500"/>
                                        <p:tgtEl>
                                          <p:spTgt spid="3">
                                            <p:txEl>
                                              <p:pRg st="3" end="3"/>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nodeType="clickEffect">
                                  <p:stCondLst>
                                    <p:cond delay="0"/>
                                  </p:stCondLst>
                                  <p:childTnLst>
                                    <p:set>
                                      <p:cBhvr>
                                        <p:cTn id="25" dur="1" fill="hold">
                                          <p:stCondLst>
                                            <p:cond delay="0"/>
                                          </p:stCondLst>
                                        </p:cTn>
                                        <p:tgtEl>
                                          <p:spTgt spid="3">
                                            <p:txEl>
                                              <p:pRg st="4" end="4"/>
                                            </p:txEl>
                                          </p:spTgt>
                                        </p:tgtEl>
                                        <p:attrNameLst>
                                          <p:attrName>style.visibility</p:attrName>
                                        </p:attrNameLst>
                                      </p:cBhvr>
                                      <p:to>
                                        <p:strVal val="visible"/>
                                      </p:to>
                                    </p:set>
                                    <p:animEffect transition="in" filter="fade">
                                      <p:cBhvr>
                                        <p:cTn id="26"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22" grpId="0" animBg="1"/>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DC2F68-450A-43CE-8853-6BF0172C7256}"/>
              </a:ext>
            </a:extLst>
          </p:cNvPr>
          <p:cNvSpPr>
            <a:spLocks noGrp="1"/>
          </p:cNvSpPr>
          <p:nvPr>
            <p:ph type="title"/>
          </p:nvPr>
        </p:nvSpPr>
        <p:spPr/>
        <p:txBody>
          <a:bodyPr/>
          <a:lstStyle/>
          <a:p>
            <a:r>
              <a:rPr lang="en-US" dirty="0"/>
              <a:t>What does this explain?</a:t>
            </a:r>
          </a:p>
        </p:txBody>
      </p:sp>
      <p:sp>
        <p:nvSpPr>
          <p:cNvPr id="3" name="Content Placeholder 2">
            <a:extLst>
              <a:ext uri="{FF2B5EF4-FFF2-40B4-BE49-F238E27FC236}">
                <a16:creationId xmlns:a16="http://schemas.microsoft.com/office/drawing/2014/main" id="{ECD27539-5391-49D7-90D4-0C9FD2FA0C7B}"/>
              </a:ext>
            </a:extLst>
          </p:cNvPr>
          <p:cNvSpPr>
            <a:spLocks noGrp="1"/>
          </p:cNvSpPr>
          <p:nvPr>
            <p:ph idx="1"/>
          </p:nvPr>
        </p:nvSpPr>
        <p:spPr/>
        <p:txBody>
          <a:bodyPr/>
          <a:lstStyle/>
          <a:p>
            <a:r>
              <a:rPr lang="en-US" sz="2200" dirty="0"/>
              <a:t>The repeated observation (tadpoles, </a:t>
            </a:r>
            <a:r>
              <a:rPr lang="en-US" sz="2200" dirty="0" err="1"/>
              <a:t>planaria</a:t>
            </a:r>
            <a:r>
              <a:rPr lang="en-US" sz="2200" dirty="0"/>
              <a:t>) that we can control shape by controlling </a:t>
            </a:r>
            <a:r>
              <a:rPr lang="en-US" sz="2200" i="1" dirty="0" err="1"/>
              <a:t>V</a:t>
            </a:r>
            <a:r>
              <a:rPr lang="en-US" sz="2200" baseline="-25000" dirty="0" err="1"/>
              <a:t>mem</a:t>
            </a:r>
            <a:endParaRPr lang="en-US" sz="2200" dirty="0"/>
          </a:p>
          <a:p>
            <a:r>
              <a:rPr lang="en-US" sz="2200" dirty="0"/>
              <a:t>Reimplementation of the same shape repeatedly (deer, crab, Emmons-Bell)</a:t>
            </a:r>
          </a:p>
          <a:p>
            <a:pPr lvl="1"/>
            <a:r>
              <a:rPr lang="en-US" sz="1800" dirty="0"/>
              <a:t>The top level is picking the shape (and remember last year’s shape, even if it’s “wrong”). The lower level is implementing that shape, over and over.</a:t>
            </a:r>
          </a:p>
          <a:p>
            <a:r>
              <a:rPr lang="en-US" sz="2200" dirty="0"/>
              <a:t>Some specific </a:t>
            </a:r>
            <a:r>
              <a:rPr lang="en-US" sz="2200" i="1" dirty="0" err="1"/>
              <a:t>V</a:t>
            </a:r>
            <a:r>
              <a:rPr lang="en-US" sz="2200" baseline="-25000" dirty="0" err="1"/>
              <a:t>mem</a:t>
            </a:r>
            <a:r>
              <a:rPr lang="en-US" sz="2200" dirty="0"/>
              <a:t> patterns (planarian head-tail reversal)</a:t>
            </a:r>
          </a:p>
          <a:p>
            <a:pPr marL="57150" indent="0">
              <a:buNone/>
            </a:pPr>
            <a:endParaRPr lang="en-US" sz="2200" dirty="0"/>
          </a:p>
        </p:txBody>
      </p:sp>
      <p:sp>
        <p:nvSpPr>
          <p:cNvPr id="4" name="Footer Placeholder 3">
            <a:extLst>
              <a:ext uri="{FF2B5EF4-FFF2-40B4-BE49-F238E27FC236}">
                <a16:creationId xmlns:a16="http://schemas.microsoft.com/office/drawing/2014/main" id="{FE354A21-1DF6-405C-B035-67BE80E6ACC5}"/>
              </a:ext>
            </a:extLst>
          </p:cNvPr>
          <p:cNvSpPr>
            <a:spLocks noGrp="1"/>
          </p:cNvSpPr>
          <p:nvPr>
            <p:ph type="ftr" sz="quarter" idx="11"/>
          </p:nvPr>
        </p:nvSpPr>
        <p:spPr/>
        <p:txBody>
          <a:bodyPr/>
          <a:lstStyle/>
          <a:p>
            <a:pPr>
              <a:defRPr/>
            </a:pPr>
            <a:r>
              <a:rPr lang="en-US" dirty="0"/>
              <a:t>Bioelectricity Joel Grodstein</a:t>
            </a:r>
          </a:p>
        </p:txBody>
      </p:sp>
    </p:spTree>
    <p:extLst>
      <p:ext uri="{BB962C8B-B14F-4D97-AF65-F5344CB8AC3E}">
        <p14:creationId xmlns:p14="http://schemas.microsoft.com/office/powerpoint/2010/main" val="114002545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5F80BF-B5CD-42BD-A055-9BB6E787F4A1}"/>
              </a:ext>
            </a:extLst>
          </p:cNvPr>
          <p:cNvSpPr>
            <a:spLocks noGrp="1"/>
          </p:cNvSpPr>
          <p:nvPr>
            <p:ph type="title"/>
          </p:nvPr>
        </p:nvSpPr>
        <p:spPr/>
        <p:txBody>
          <a:bodyPr/>
          <a:lstStyle/>
          <a:p>
            <a:r>
              <a:rPr lang="en-US" dirty="0"/>
              <a:t>What does this not explain?</a:t>
            </a:r>
          </a:p>
        </p:txBody>
      </p:sp>
      <p:sp>
        <p:nvSpPr>
          <p:cNvPr id="3" name="Content Placeholder 2">
            <a:extLst>
              <a:ext uri="{FF2B5EF4-FFF2-40B4-BE49-F238E27FC236}">
                <a16:creationId xmlns:a16="http://schemas.microsoft.com/office/drawing/2014/main" id="{B316AF7B-64E8-423C-BE34-8DD223A0BCF0}"/>
              </a:ext>
            </a:extLst>
          </p:cNvPr>
          <p:cNvSpPr>
            <a:spLocks noGrp="1"/>
          </p:cNvSpPr>
          <p:nvPr>
            <p:ph idx="1"/>
          </p:nvPr>
        </p:nvSpPr>
        <p:spPr/>
        <p:txBody>
          <a:bodyPr/>
          <a:lstStyle/>
          <a:p>
            <a:r>
              <a:rPr lang="en-US" dirty="0"/>
              <a:t>Where the shape is stored in the deer &amp; crab</a:t>
            </a:r>
          </a:p>
          <a:p>
            <a:r>
              <a:rPr lang="en-US" dirty="0"/>
              <a:t>Why it regenerates after a few years.</a:t>
            </a:r>
          </a:p>
          <a:p>
            <a:r>
              <a:rPr lang="en-US" dirty="0"/>
              <a:t>Most of the implementation details </a:t>
            </a:r>
            <a:r>
              <a:rPr lang="en-US" dirty="0">
                <a:sym typeface="Wingdings" panose="05000000000000000000" pitchFamily="2" charset="2"/>
              </a:rPr>
              <a:t></a:t>
            </a:r>
          </a:p>
          <a:p>
            <a:pPr lvl="1"/>
            <a:r>
              <a:rPr lang="en-US" dirty="0">
                <a:sym typeface="Wingdings" panose="05000000000000000000" pitchFamily="2" charset="2"/>
              </a:rPr>
              <a:t>and speaking of which…</a:t>
            </a:r>
            <a:endParaRPr lang="en-US" dirty="0"/>
          </a:p>
        </p:txBody>
      </p:sp>
      <p:sp>
        <p:nvSpPr>
          <p:cNvPr id="4" name="Footer Placeholder 3">
            <a:extLst>
              <a:ext uri="{FF2B5EF4-FFF2-40B4-BE49-F238E27FC236}">
                <a16:creationId xmlns:a16="http://schemas.microsoft.com/office/drawing/2014/main" id="{B53133BF-2F18-4CAF-8619-F77FEBA75532}"/>
              </a:ext>
            </a:extLst>
          </p:cNvPr>
          <p:cNvSpPr>
            <a:spLocks noGrp="1"/>
          </p:cNvSpPr>
          <p:nvPr>
            <p:ph type="ftr" sz="quarter" idx="11"/>
          </p:nvPr>
        </p:nvSpPr>
        <p:spPr/>
        <p:txBody>
          <a:bodyPr/>
          <a:lstStyle/>
          <a:p>
            <a:pPr>
              <a:defRPr/>
            </a:pPr>
            <a:r>
              <a:rPr lang="en-US" dirty="0"/>
              <a:t>Bioelectricity Joel Grodstein</a:t>
            </a:r>
          </a:p>
        </p:txBody>
      </p:sp>
    </p:spTree>
    <p:extLst>
      <p:ext uri="{BB962C8B-B14F-4D97-AF65-F5344CB8AC3E}">
        <p14:creationId xmlns:p14="http://schemas.microsoft.com/office/powerpoint/2010/main" val="17241557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6B6663-8411-4FD4-9C6E-CF705F62F64D}"/>
              </a:ext>
            </a:extLst>
          </p:cNvPr>
          <p:cNvSpPr>
            <a:spLocks noGrp="1"/>
          </p:cNvSpPr>
          <p:nvPr>
            <p:ph type="title"/>
          </p:nvPr>
        </p:nvSpPr>
        <p:spPr/>
        <p:txBody>
          <a:bodyPr/>
          <a:lstStyle/>
          <a:p>
            <a:r>
              <a:rPr lang="en-US" dirty="0"/>
              <a:t>Hypothesis #1, again</a:t>
            </a:r>
          </a:p>
        </p:txBody>
      </p:sp>
      <p:sp>
        <p:nvSpPr>
          <p:cNvPr id="3" name="Content Placeholder 2">
            <a:extLst>
              <a:ext uri="{FF2B5EF4-FFF2-40B4-BE49-F238E27FC236}">
                <a16:creationId xmlns:a16="http://schemas.microsoft.com/office/drawing/2014/main" id="{F2B4CCE1-8468-4C28-8A52-87B84F47AC41}"/>
              </a:ext>
            </a:extLst>
          </p:cNvPr>
          <p:cNvSpPr>
            <a:spLocks noGrp="1"/>
          </p:cNvSpPr>
          <p:nvPr>
            <p:ph idx="1"/>
          </p:nvPr>
        </p:nvSpPr>
        <p:spPr/>
        <p:txBody>
          <a:bodyPr/>
          <a:lstStyle/>
          <a:p>
            <a:r>
              <a:rPr lang="en-US" sz="2400" dirty="0"/>
              <a:t>What if:</a:t>
            </a:r>
          </a:p>
          <a:p>
            <a:pPr lvl="1">
              <a:spcBef>
                <a:spcPts val="0"/>
              </a:spcBef>
            </a:pPr>
            <a:r>
              <a:rPr lang="en-US" sz="2000" dirty="0"/>
              <a:t>There is an explicit set of growth rules stored in the DNA</a:t>
            </a:r>
          </a:p>
          <a:p>
            <a:pPr lvl="1">
              <a:spcBef>
                <a:spcPts val="0"/>
              </a:spcBef>
            </a:pPr>
            <a:r>
              <a:rPr lang="en-US" sz="2000" dirty="0"/>
              <a:t>The injuries during growth </a:t>
            </a:r>
            <a:r>
              <a:rPr lang="en-US" sz="2000" i="1" dirty="0"/>
              <a:t>change the growth rules</a:t>
            </a:r>
            <a:r>
              <a:rPr lang="en-US" sz="2000" dirty="0"/>
              <a:t>, leading to a new end result</a:t>
            </a:r>
          </a:p>
          <a:p>
            <a:pPr lvl="1">
              <a:spcBef>
                <a:spcPts val="0"/>
              </a:spcBef>
            </a:pPr>
            <a:r>
              <a:rPr lang="en-US" sz="2000" dirty="0"/>
              <a:t>When we regrow again, the changed rules then merely produce the same result over and over again</a:t>
            </a:r>
          </a:p>
          <a:p>
            <a:r>
              <a:rPr lang="en-US" sz="2400" dirty="0"/>
              <a:t>Is that reasonable?</a:t>
            </a:r>
          </a:p>
          <a:p>
            <a:pPr lvl="1">
              <a:spcBef>
                <a:spcPts val="0"/>
              </a:spcBef>
            </a:pPr>
            <a:r>
              <a:rPr lang="en-US" sz="2000" dirty="0"/>
              <a:t>Physical injuries do not really mutate DNA; they just mechanically break (e.g.,) bones</a:t>
            </a:r>
          </a:p>
          <a:p>
            <a:pPr lvl="1">
              <a:spcBef>
                <a:spcPts val="0"/>
              </a:spcBef>
            </a:pPr>
            <a:r>
              <a:rPr lang="en-US" sz="2000" dirty="0"/>
              <a:t>It is not reasonable to believe that, in future years, a little machine inside the organism somehow breaks their crushers again, at just the right time, the newly-correct shape</a:t>
            </a:r>
          </a:p>
          <a:p>
            <a:pPr>
              <a:spcBef>
                <a:spcPts val="0"/>
              </a:spcBef>
            </a:pPr>
            <a:r>
              <a:rPr lang="en-US" sz="2400" dirty="0"/>
              <a:t>So let’s look at another piece of data</a:t>
            </a:r>
          </a:p>
          <a:p>
            <a:endParaRPr lang="en-US" dirty="0"/>
          </a:p>
        </p:txBody>
      </p:sp>
      <p:sp>
        <p:nvSpPr>
          <p:cNvPr id="4" name="Footer Placeholder 3">
            <a:extLst>
              <a:ext uri="{FF2B5EF4-FFF2-40B4-BE49-F238E27FC236}">
                <a16:creationId xmlns:a16="http://schemas.microsoft.com/office/drawing/2014/main" id="{6DD151E7-C25A-43C0-ACA8-2D5A5C83CBCD}"/>
              </a:ext>
            </a:extLst>
          </p:cNvPr>
          <p:cNvSpPr>
            <a:spLocks noGrp="1"/>
          </p:cNvSpPr>
          <p:nvPr>
            <p:ph type="ftr" sz="quarter" idx="11"/>
          </p:nvPr>
        </p:nvSpPr>
        <p:spPr/>
        <p:txBody>
          <a:bodyPr/>
          <a:lstStyle/>
          <a:p>
            <a:pPr>
              <a:defRPr/>
            </a:pPr>
            <a:r>
              <a:rPr lang="en-US" dirty="0"/>
              <a:t>Bioelectricity Joel Grodstein</a:t>
            </a:r>
          </a:p>
        </p:txBody>
      </p:sp>
    </p:spTree>
    <p:extLst>
      <p:ext uri="{BB962C8B-B14F-4D97-AF65-F5344CB8AC3E}">
        <p14:creationId xmlns:p14="http://schemas.microsoft.com/office/powerpoint/2010/main" val="42887218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5" end="5"/>
                                            </p:txEl>
                                          </p:spTgt>
                                        </p:tgtEl>
                                        <p:attrNameLst>
                                          <p:attrName>style.visibility</p:attrName>
                                        </p:attrNameLst>
                                      </p:cBhvr>
                                      <p:to>
                                        <p:strVal val="visible"/>
                                      </p:to>
                                    </p:set>
                                    <p:animEffect transition="in" filter="fade">
                                      <p:cBhvr>
                                        <p:cTn id="7" dur="500"/>
                                        <p:tgtEl>
                                          <p:spTgt spid="3">
                                            <p:txEl>
                                              <p:pRg st="5" end="5"/>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6" end="6"/>
                                            </p:txEl>
                                          </p:spTgt>
                                        </p:tgtEl>
                                        <p:attrNameLst>
                                          <p:attrName>style.visibility</p:attrName>
                                        </p:attrNameLst>
                                      </p:cBhvr>
                                      <p:to>
                                        <p:strVal val="visible"/>
                                      </p:to>
                                    </p:set>
                                    <p:animEffect transition="in" filter="fade">
                                      <p:cBhvr>
                                        <p:cTn id="10" dur="500"/>
                                        <p:tgtEl>
                                          <p:spTgt spid="3">
                                            <p:txEl>
                                              <p:pRg st="6" end="6"/>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3">
                                            <p:txEl>
                                              <p:pRg st="7" end="7"/>
                                            </p:txEl>
                                          </p:spTgt>
                                        </p:tgtEl>
                                        <p:attrNameLst>
                                          <p:attrName>style.visibility</p:attrName>
                                        </p:attrNameLst>
                                      </p:cBhvr>
                                      <p:to>
                                        <p:strVal val="visible"/>
                                      </p:to>
                                    </p:set>
                                    <p:animEffect transition="in" filter="fade">
                                      <p:cBhvr>
                                        <p:cTn id="15" dur="5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7BAF6B-3F52-46E6-90A1-776C677E339E}"/>
              </a:ext>
            </a:extLst>
          </p:cNvPr>
          <p:cNvSpPr>
            <a:spLocks noGrp="1"/>
          </p:cNvSpPr>
          <p:nvPr>
            <p:ph type="title"/>
          </p:nvPr>
        </p:nvSpPr>
        <p:spPr>
          <a:xfrm>
            <a:off x="474131" y="304800"/>
            <a:ext cx="8348133" cy="1143000"/>
          </a:xfrm>
        </p:spPr>
        <p:txBody>
          <a:bodyPr/>
          <a:lstStyle/>
          <a:p>
            <a:r>
              <a:rPr lang="en-US" dirty="0"/>
              <a:t>Why are good theories hard to find?</a:t>
            </a:r>
          </a:p>
        </p:txBody>
      </p:sp>
      <p:sp>
        <p:nvSpPr>
          <p:cNvPr id="3" name="Content Placeholder 2">
            <a:extLst>
              <a:ext uri="{FF2B5EF4-FFF2-40B4-BE49-F238E27FC236}">
                <a16:creationId xmlns:a16="http://schemas.microsoft.com/office/drawing/2014/main" id="{EA3FB3EB-F299-425E-B814-CE19CE29F7D2}"/>
              </a:ext>
            </a:extLst>
          </p:cNvPr>
          <p:cNvSpPr>
            <a:spLocks noGrp="1"/>
          </p:cNvSpPr>
          <p:nvPr>
            <p:ph idx="1"/>
          </p:nvPr>
        </p:nvSpPr>
        <p:spPr>
          <a:xfrm>
            <a:off x="685800" y="1126067"/>
            <a:ext cx="7772400" cy="5359404"/>
          </a:xfrm>
        </p:spPr>
        <p:txBody>
          <a:bodyPr/>
          <a:lstStyle/>
          <a:p>
            <a:r>
              <a:rPr lang="en-US" sz="2400" dirty="0"/>
              <a:t>Why is it hard to come up with good theories?</a:t>
            </a:r>
          </a:p>
          <a:p>
            <a:pPr lvl="1">
              <a:spcBef>
                <a:spcPts val="0"/>
              </a:spcBef>
            </a:pPr>
            <a:r>
              <a:rPr lang="en-US" sz="2000" dirty="0"/>
              <a:t>you can’t hit what you can’t see</a:t>
            </a:r>
          </a:p>
          <a:p>
            <a:pPr lvl="1">
              <a:spcBef>
                <a:spcPts val="0"/>
              </a:spcBef>
            </a:pPr>
            <a:r>
              <a:rPr lang="en-US" sz="2000" dirty="0"/>
              <a:t>it’s hard to explain what you can’t dissect</a:t>
            </a:r>
          </a:p>
          <a:p>
            <a:r>
              <a:rPr lang="en-US" sz="2400" dirty="0"/>
              <a:t>Classic technique in biology:</a:t>
            </a:r>
          </a:p>
          <a:p>
            <a:pPr lvl="1">
              <a:spcBef>
                <a:spcPts val="0"/>
              </a:spcBef>
            </a:pPr>
            <a:r>
              <a:rPr lang="en-US" sz="2000" dirty="0"/>
              <a:t>kill a specimen</a:t>
            </a:r>
          </a:p>
          <a:p>
            <a:pPr lvl="1">
              <a:spcBef>
                <a:spcPts val="0"/>
              </a:spcBef>
            </a:pPr>
            <a:r>
              <a:rPr lang="en-US" sz="2000" dirty="0"/>
              <a:t>examine it under a microscope</a:t>
            </a:r>
          </a:p>
          <a:p>
            <a:pPr lvl="1">
              <a:spcBef>
                <a:spcPts val="0"/>
              </a:spcBef>
            </a:pPr>
            <a:r>
              <a:rPr lang="en-US" sz="2000" dirty="0"/>
              <a:t>Doesn’t work for bioelectricity</a:t>
            </a:r>
          </a:p>
          <a:p>
            <a:r>
              <a:rPr lang="en-US" sz="2400" dirty="0"/>
              <a:t>Consider a bioelectric memory cell</a:t>
            </a:r>
          </a:p>
          <a:p>
            <a:pPr lvl="1">
              <a:spcBef>
                <a:spcPts val="0"/>
              </a:spcBef>
            </a:pPr>
            <a:r>
              <a:rPr lang="en-US" sz="2000" dirty="0"/>
              <a:t>Can store either a 0 or a 1</a:t>
            </a:r>
          </a:p>
          <a:p>
            <a:pPr lvl="1">
              <a:spcBef>
                <a:spcPts val="0"/>
              </a:spcBef>
            </a:pPr>
            <a:r>
              <a:rPr lang="en-US" sz="2000" dirty="0"/>
              <a:t>The basic parts of the cell are identical either way</a:t>
            </a:r>
          </a:p>
          <a:p>
            <a:pPr lvl="1">
              <a:spcBef>
                <a:spcPts val="0"/>
              </a:spcBef>
            </a:pPr>
            <a:r>
              <a:rPr lang="en-US" sz="2000" dirty="0"/>
              <a:t>The only difference is the electricity, which you don’t see under a microscope</a:t>
            </a:r>
          </a:p>
          <a:p>
            <a:r>
              <a:rPr lang="en-US" sz="2400" dirty="0"/>
              <a:t>Measurement techniques are improving</a:t>
            </a:r>
          </a:p>
          <a:p>
            <a:pPr lvl="1">
              <a:spcBef>
                <a:spcPts val="0"/>
              </a:spcBef>
            </a:pPr>
            <a:r>
              <a:rPr lang="en-US" sz="2000" dirty="0"/>
              <a:t>but need much more improvement still</a:t>
            </a:r>
          </a:p>
          <a:p>
            <a:pPr lvl="1">
              <a:spcBef>
                <a:spcPts val="0"/>
              </a:spcBef>
            </a:pPr>
            <a:r>
              <a:rPr lang="en-US" sz="2000" dirty="0"/>
              <a:t>killing a cell destroys its bioelectrical state</a:t>
            </a:r>
          </a:p>
        </p:txBody>
      </p:sp>
      <p:sp>
        <p:nvSpPr>
          <p:cNvPr id="4" name="Footer Placeholder 3">
            <a:extLst>
              <a:ext uri="{FF2B5EF4-FFF2-40B4-BE49-F238E27FC236}">
                <a16:creationId xmlns:a16="http://schemas.microsoft.com/office/drawing/2014/main" id="{9C779497-43EB-4169-9BB7-6DDB9C71141E}"/>
              </a:ext>
            </a:extLst>
          </p:cNvPr>
          <p:cNvSpPr>
            <a:spLocks noGrp="1"/>
          </p:cNvSpPr>
          <p:nvPr>
            <p:ph type="ftr" sz="quarter" idx="11"/>
          </p:nvPr>
        </p:nvSpPr>
        <p:spPr/>
        <p:txBody>
          <a:bodyPr/>
          <a:lstStyle/>
          <a:p>
            <a:pPr>
              <a:defRPr/>
            </a:pPr>
            <a:r>
              <a:rPr lang="en-US" dirty="0"/>
              <a:t>Bioelectricity Joel Grodstein</a:t>
            </a:r>
          </a:p>
        </p:txBody>
      </p:sp>
    </p:spTree>
    <p:extLst>
      <p:ext uri="{BB962C8B-B14F-4D97-AF65-F5344CB8AC3E}">
        <p14:creationId xmlns:p14="http://schemas.microsoft.com/office/powerpoint/2010/main" val="32311129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animEffect transition="in" filter="fade">
                                      <p:cBhvr>
                                        <p:cTn id="7" dur="500"/>
                                        <p:tgtEl>
                                          <p:spTgt spid="3">
                                            <p:txEl>
                                              <p:pRg st="3" end="3"/>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4" end="4"/>
                                            </p:txEl>
                                          </p:spTgt>
                                        </p:tgtEl>
                                        <p:attrNameLst>
                                          <p:attrName>style.visibility</p:attrName>
                                        </p:attrNameLst>
                                      </p:cBhvr>
                                      <p:to>
                                        <p:strVal val="visible"/>
                                      </p:to>
                                    </p:set>
                                    <p:animEffect transition="in" filter="fade">
                                      <p:cBhvr>
                                        <p:cTn id="10" dur="500"/>
                                        <p:tgtEl>
                                          <p:spTgt spid="3">
                                            <p:txEl>
                                              <p:pRg st="4" end="4"/>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3">
                                            <p:txEl>
                                              <p:pRg st="5" end="5"/>
                                            </p:txEl>
                                          </p:spTgt>
                                        </p:tgtEl>
                                        <p:attrNameLst>
                                          <p:attrName>style.visibility</p:attrName>
                                        </p:attrNameLst>
                                      </p:cBhvr>
                                      <p:to>
                                        <p:strVal val="visible"/>
                                      </p:to>
                                    </p:set>
                                    <p:animEffect transition="in" filter="fade">
                                      <p:cBhvr>
                                        <p:cTn id="13" dur="500"/>
                                        <p:tgtEl>
                                          <p:spTgt spid="3">
                                            <p:txEl>
                                              <p:pRg st="5" end="5"/>
                                            </p:txEl>
                                          </p:spTgt>
                                        </p:tgtEl>
                                      </p:cBhvr>
                                    </p:animEffect>
                                  </p:childTnLst>
                                </p:cTn>
                              </p:par>
                              <p:par>
                                <p:cTn id="14" presetID="10" presetClass="entr" presetSubtype="0" fill="hold" nodeType="withEffect">
                                  <p:stCondLst>
                                    <p:cond delay="0"/>
                                  </p:stCondLst>
                                  <p:childTnLst>
                                    <p:set>
                                      <p:cBhvr>
                                        <p:cTn id="15" dur="1" fill="hold">
                                          <p:stCondLst>
                                            <p:cond delay="0"/>
                                          </p:stCondLst>
                                        </p:cTn>
                                        <p:tgtEl>
                                          <p:spTgt spid="3">
                                            <p:txEl>
                                              <p:pRg st="6" end="6"/>
                                            </p:txEl>
                                          </p:spTgt>
                                        </p:tgtEl>
                                        <p:attrNameLst>
                                          <p:attrName>style.visibility</p:attrName>
                                        </p:attrNameLst>
                                      </p:cBhvr>
                                      <p:to>
                                        <p:strVal val="visible"/>
                                      </p:to>
                                    </p:set>
                                    <p:animEffect transition="in" filter="fade">
                                      <p:cBhvr>
                                        <p:cTn id="16" dur="500"/>
                                        <p:tgtEl>
                                          <p:spTgt spid="3">
                                            <p:txEl>
                                              <p:pRg st="6" end="6"/>
                                            </p:txEl>
                                          </p:spTgt>
                                        </p:tgtEl>
                                      </p:cBhvr>
                                    </p:animEffect>
                                  </p:childTnLst>
                                </p:cTn>
                              </p:par>
                              <p:par>
                                <p:cTn id="17" presetID="10" presetClass="entr" presetSubtype="0" fill="hold" nodeType="withEffect">
                                  <p:stCondLst>
                                    <p:cond delay="0"/>
                                  </p:stCondLst>
                                  <p:childTnLst>
                                    <p:set>
                                      <p:cBhvr>
                                        <p:cTn id="18" dur="1" fill="hold">
                                          <p:stCondLst>
                                            <p:cond delay="0"/>
                                          </p:stCondLst>
                                        </p:cTn>
                                        <p:tgtEl>
                                          <p:spTgt spid="3">
                                            <p:txEl>
                                              <p:pRg st="7" end="7"/>
                                            </p:txEl>
                                          </p:spTgt>
                                        </p:tgtEl>
                                        <p:attrNameLst>
                                          <p:attrName>style.visibility</p:attrName>
                                        </p:attrNameLst>
                                      </p:cBhvr>
                                      <p:to>
                                        <p:strVal val="visible"/>
                                      </p:to>
                                    </p:set>
                                    <p:animEffect transition="in" filter="fade">
                                      <p:cBhvr>
                                        <p:cTn id="19" dur="500"/>
                                        <p:tgtEl>
                                          <p:spTgt spid="3">
                                            <p:txEl>
                                              <p:pRg st="7" end="7"/>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nodeType="clickEffect">
                                  <p:stCondLst>
                                    <p:cond delay="0"/>
                                  </p:stCondLst>
                                  <p:childTnLst>
                                    <p:set>
                                      <p:cBhvr>
                                        <p:cTn id="23" dur="1" fill="hold">
                                          <p:stCondLst>
                                            <p:cond delay="0"/>
                                          </p:stCondLst>
                                        </p:cTn>
                                        <p:tgtEl>
                                          <p:spTgt spid="3">
                                            <p:txEl>
                                              <p:pRg st="8" end="8"/>
                                            </p:txEl>
                                          </p:spTgt>
                                        </p:tgtEl>
                                        <p:attrNameLst>
                                          <p:attrName>style.visibility</p:attrName>
                                        </p:attrNameLst>
                                      </p:cBhvr>
                                      <p:to>
                                        <p:strVal val="visible"/>
                                      </p:to>
                                    </p:set>
                                    <p:animEffect transition="in" filter="fade">
                                      <p:cBhvr>
                                        <p:cTn id="24" dur="500"/>
                                        <p:tgtEl>
                                          <p:spTgt spid="3">
                                            <p:txEl>
                                              <p:pRg st="8" end="8"/>
                                            </p:txEl>
                                          </p:spTgt>
                                        </p:tgtEl>
                                      </p:cBhvr>
                                    </p:animEffect>
                                  </p:childTnLst>
                                </p:cTn>
                              </p:par>
                              <p:par>
                                <p:cTn id="25" presetID="10" presetClass="entr" presetSubtype="0" fill="hold" nodeType="withEffect">
                                  <p:stCondLst>
                                    <p:cond delay="0"/>
                                  </p:stCondLst>
                                  <p:childTnLst>
                                    <p:set>
                                      <p:cBhvr>
                                        <p:cTn id="26" dur="1" fill="hold">
                                          <p:stCondLst>
                                            <p:cond delay="0"/>
                                          </p:stCondLst>
                                        </p:cTn>
                                        <p:tgtEl>
                                          <p:spTgt spid="3">
                                            <p:txEl>
                                              <p:pRg st="9" end="9"/>
                                            </p:txEl>
                                          </p:spTgt>
                                        </p:tgtEl>
                                        <p:attrNameLst>
                                          <p:attrName>style.visibility</p:attrName>
                                        </p:attrNameLst>
                                      </p:cBhvr>
                                      <p:to>
                                        <p:strVal val="visible"/>
                                      </p:to>
                                    </p:set>
                                    <p:animEffect transition="in" filter="fade">
                                      <p:cBhvr>
                                        <p:cTn id="27" dur="500"/>
                                        <p:tgtEl>
                                          <p:spTgt spid="3">
                                            <p:txEl>
                                              <p:pRg st="9" end="9"/>
                                            </p:txEl>
                                          </p:spTgt>
                                        </p:tgtEl>
                                      </p:cBhvr>
                                    </p:animEffect>
                                  </p:childTnLst>
                                </p:cTn>
                              </p:par>
                              <p:par>
                                <p:cTn id="28" presetID="10" presetClass="entr" presetSubtype="0" fill="hold" nodeType="withEffect">
                                  <p:stCondLst>
                                    <p:cond delay="0"/>
                                  </p:stCondLst>
                                  <p:childTnLst>
                                    <p:set>
                                      <p:cBhvr>
                                        <p:cTn id="29" dur="1" fill="hold">
                                          <p:stCondLst>
                                            <p:cond delay="0"/>
                                          </p:stCondLst>
                                        </p:cTn>
                                        <p:tgtEl>
                                          <p:spTgt spid="3">
                                            <p:txEl>
                                              <p:pRg st="10" end="10"/>
                                            </p:txEl>
                                          </p:spTgt>
                                        </p:tgtEl>
                                        <p:attrNameLst>
                                          <p:attrName>style.visibility</p:attrName>
                                        </p:attrNameLst>
                                      </p:cBhvr>
                                      <p:to>
                                        <p:strVal val="visible"/>
                                      </p:to>
                                    </p:set>
                                    <p:animEffect transition="in" filter="fade">
                                      <p:cBhvr>
                                        <p:cTn id="30" dur="500"/>
                                        <p:tgtEl>
                                          <p:spTgt spid="3">
                                            <p:txEl>
                                              <p:pRg st="10" end="10"/>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nodeType="clickEffect">
                                  <p:stCondLst>
                                    <p:cond delay="0"/>
                                  </p:stCondLst>
                                  <p:childTnLst>
                                    <p:set>
                                      <p:cBhvr>
                                        <p:cTn id="34" dur="1" fill="hold">
                                          <p:stCondLst>
                                            <p:cond delay="0"/>
                                          </p:stCondLst>
                                        </p:cTn>
                                        <p:tgtEl>
                                          <p:spTgt spid="3">
                                            <p:txEl>
                                              <p:pRg st="11" end="11"/>
                                            </p:txEl>
                                          </p:spTgt>
                                        </p:tgtEl>
                                        <p:attrNameLst>
                                          <p:attrName>style.visibility</p:attrName>
                                        </p:attrNameLst>
                                      </p:cBhvr>
                                      <p:to>
                                        <p:strVal val="visible"/>
                                      </p:to>
                                    </p:set>
                                    <p:animEffect transition="in" filter="fade">
                                      <p:cBhvr>
                                        <p:cTn id="35" dur="500"/>
                                        <p:tgtEl>
                                          <p:spTgt spid="3">
                                            <p:txEl>
                                              <p:pRg st="11" end="11"/>
                                            </p:txEl>
                                          </p:spTgt>
                                        </p:tgtEl>
                                      </p:cBhvr>
                                    </p:animEffect>
                                  </p:childTnLst>
                                </p:cTn>
                              </p:par>
                              <p:par>
                                <p:cTn id="36" presetID="10" presetClass="entr" presetSubtype="0" fill="hold" nodeType="withEffect">
                                  <p:stCondLst>
                                    <p:cond delay="0"/>
                                  </p:stCondLst>
                                  <p:childTnLst>
                                    <p:set>
                                      <p:cBhvr>
                                        <p:cTn id="37" dur="1" fill="hold">
                                          <p:stCondLst>
                                            <p:cond delay="0"/>
                                          </p:stCondLst>
                                        </p:cTn>
                                        <p:tgtEl>
                                          <p:spTgt spid="3">
                                            <p:txEl>
                                              <p:pRg st="12" end="12"/>
                                            </p:txEl>
                                          </p:spTgt>
                                        </p:tgtEl>
                                        <p:attrNameLst>
                                          <p:attrName>style.visibility</p:attrName>
                                        </p:attrNameLst>
                                      </p:cBhvr>
                                      <p:to>
                                        <p:strVal val="visible"/>
                                      </p:to>
                                    </p:set>
                                    <p:animEffect transition="in" filter="fade">
                                      <p:cBhvr>
                                        <p:cTn id="38" dur="500"/>
                                        <p:tgtEl>
                                          <p:spTgt spid="3">
                                            <p:txEl>
                                              <p:pRg st="12" end="12"/>
                                            </p:txEl>
                                          </p:spTgt>
                                        </p:tgtEl>
                                      </p:cBhvr>
                                    </p:animEffect>
                                  </p:childTnLst>
                                </p:cTn>
                              </p:par>
                              <p:par>
                                <p:cTn id="39" presetID="10" presetClass="entr" presetSubtype="0" fill="hold" nodeType="withEffect">
                                  <p:stCondLst>
                                    <p:cond delay="0"/>
                                  </p:stCondLst>
                                  <p:childTnLst>
                                    <p:set>
                                      <p:cBhvr>
                                        <p:cTn id="40" dur="1" fill="hold">
                                          <p:stCondLst>
                                            <p:cond delay="0"/>
                                          </p:stCondLst>
                                        </p:cTn>
                                        <p:tgtEl>
                                          <p:spTgt spid="3">
                                            <p:txEl>
                                              <p:pRg st="13" end="13"/>
                                            </p:txEl>
                                          </p:spTgt>
                                        </p:tgtEl>
                                        <p:attrNameLst>
                                          <p:attrName>style.visibility</p:attrName>
                                        </p:attrNameLst>
                                      </p:cBhvr>
                                      <p:to>
                                        <p:strVal val="visible"/>
                                      </p:to>
                                    </p:set>
                                    <p:animEffect transition="in" filter="fade">
                                      <p:cBhvr>
                                        <p:cTn id="41" dur="500"/>
                                        <p:tgtEl>
                                          <p:spTgt spid="3">
                                            <p:txEl>
                                              <p:pRg st="13" end="1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357458-078A-4209-932A-19A64ACAC12C}"/>
              </a:ext>
            </a:extLst>
          </p:cNvPr>
          <p:cNvSpPr>
            <a:spLocks noGrp="1"/>
          </p:cNvSpPr>
          <p:nvPr>
            <p:ph type="title"/>
          </p:nvPr>
        </p:nvSpPr>
        <p:spPr/>
        <p:txBody>
          <a:bodyPr/>
          <a:lstStyle/>
          <a:p>
            <a:r>
              <a:rPr lang="en-US" dirty="0"/>
              <a:t>Divide and conquer</a:t>
            </a:r>
          </a:p>
        </p:txBody>
      </p:sp>
      <p:sp>
        <p:nvSpPr>
          <p:cNvPr id="3" name="Content Placeholder 2">
            <a:extLst>
              <a:ext uri="{FF2B5EF4-FFF2-40B4-BE49-F238E27FC236}">
                <a16:creationId xmlns:a16="http://schemas.microsoft.com/office/drawing/2014/main" id="{96F8CF53-B757-408C-B64B-AC7377E59A82}"/>
              </a:ext>
            </a:extLst>
          </p:cNvPr>
          <p:cNvSpPr>
            <a:spLocks noGrp="1"/>
          </p:cNvSpPr>
          <p:nvPr>
            <p:ph idx="1"/>
          </p:nvPr>
        </p:nvSpPr>
        <p:spPr/>
        <p:txBody>
          <a:bodyPr/>
          <a:lstStyle/>
          <a:p>
            <a:r>
              <a:rPr lang="en-US" dirty="0"/>
              <a:t>GJs allow cells to communicate when needed</a:t>
            </a:r>
          </a:p>
          <a:p>
            <a:pPr lvl="1">
              <a:spcBef>
                <a:spcPts val="0"/>
              </a:spcBef>
            </a:pPr>
            <a:r>
              <a:rPr lang="en-US" dirty="0"/>
              <a:t>to decide where your eyes are and where your nose is</a:t>
            </a:r>
          </a:p>
          <a:p>
            <a:r>
              <a:rPr lang="en-US" dirty="0"/>
              <a:t>Once that’s done, we can turn off some GJs</a:t>
            </a:r>
          </a:p>
          <a:p>
            <a:pPr lvl="1">
              <a:spcBef>
                <a:spcPts val="0"/>
              </a:spcBef>
            </a:pPr>
            <a:r>
              <a:rPr lang="en-US" dirty="0"/>
              <a:t>thus create smaller, independent subnetworks</a:t>
            </a:r>
          </a:p>
          <a:p>
            <a:pPr lvl="1">
              <a:spcBef>
                <a:spcPts val="0"/>
              </a:spcBef>
            </a:pPr>
            <a:r>
              <a:rPr lang="en-US" dirty="0"/>
              <a:t>now decide where your retina is vs. your iris</a:t>
            </a:r>
          </a:p>
          <a:p>
            <a:pPr lvl="1">
              <a:spcBef>
                <a:spcPts val="0"/>
              </a:spcBef>
            </a:pPr>
            <a:r>
              <a:rPr lang="en-US" dirty="0"/>
              <a:t>and septum vs. nose hair</a:t>
            </a:r>
          </a:p>
          <a:p>
            <a:r>
              <a:rPr lang="en-US" dirty="0"/>
              <a:t>I.e., solve a huge problem by divide and conquer.</a:t>
            </a:r>
          </a:p>
        </p:txBody>
      </p:sp>
      <p:sp>
        <p:nvSpPr>
          <p:cNvPr id="4" name="Footer Placeholder 3">
            <a:extLst>
              <a:ext uri="{FF2B5EF4-FFF2-40B4-BE49-F238E27FC236}">
                <a16:creationId xmlns:a16="http://schemas.microsoft.com/office/drawing/2014/main" id="{2ADEC6EC-20D8-4728-A7E5-E5D8959B6342}"/>
              </a:ext>
            </a:extLst>
          </p:cNvPr>
          <p:cNvSpPr>
            <a:spLocks noGrp="1"/>
          </p:cNvSpPr>
          <p:nvPr>
            <p:ph type="ftr" sz="quarter" idx="11"/>
          </p:nvPr>
        </p:nvSpPr>
        <p:spPr/>
        <p:txBody>
          <a:bodyPr/>
          <a:lstStyle/>
          <a:p>
            <a:pPr>
              <a:defRPr/>
            </a:pPr>
            <a:r>
              <a:rPr lang="en-US" dirty="0"/>
              <a:t>Bioelectricity Joel Grodstein</a:t>
            </a:r>
          </a:p>
        </p:txBody>
      </p:sp>
    </p:spTree>
    <p:extLst>
      <p:ext uri="{BB962C8B-B14F-4D97-AF65-F5344CB8AC3E}">
        <p14:creationId xmlns:p14="http://schemas.microsoft.com/office/powerpoint/2010/main" val="2135602010"/>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58F2A59-74B4-4546-B1FA-4E0E870BA685}"/>
              </a:ext>
            </a:extLst>
          </p:cNvPr>
          <p:cNvSpPr>
            <a:spLocks noGrp="1"/>
          </p:cNvSpPr>
          <p:nvPr>
            <p:ph idx="1"/>
          </p:nvPr>
        </p:nvSpPr>
        <p:spPr>
          <a:xfrm>
            <a:off x="2751662" y="812800"/>
            <a:ext cx="6273800" cy="4419600"/>
          </a:xfrm>
        </p:spPr>
        <p:txBody>
          <a:bodyPr/>
          <a:lstStyle/>
          <a:p>
            <a:r>
              <a:rPr lang="en-US" sz="2400" dirty="0"/>
              <a:t>There are feedbacks between the electrical and chemical networks</a:t>
            </a:r>
          </a:p>
          <a:p>
            <a:pPr lvl="1">
              <a:spcBef>
                <a:spcPts val="0"/>
              </a:spcBef>
            </a:pPr>
            <a:r>
              <a:rPr lang="en-US" sz="2000" dirty="0"/>
              <a:t>Cell voltage can turn on/off GJs, which pass ions</a:t>
            </a:r>
          </a:p>
          <a:p>
            <a:pPr lvl="1">
              <a:spcBef>
                <a:spcPts val="0"/>
              </a:spcBef>
            </a:pPr>
            <a:r>
              <a:rPr lang="en-US" sz="2000" dirty="0"/>
              <a:t>Ions can control ion channels, which control voltage; or can activate TFs</a:t>
            </a:r>
          </a:p>
          <a:p>
            <a:r>
              <a:rPr lang="en-US" sz="2400" dirty="0"/>
              <a:t>The feedback system can create patterns of ions and </a:t>
            </a:r>
            <a:r>
              <a:rPr lang="en-US" sz="2400" i="1" dirty="0"/>
              <a:t>V</a:t>
            </a:r>
            <a:endParaRPr lang="en-US" sz="2400" dirty="0"/>
          </a:p>
          <a:p>
            <a:pPr lvl="1">
              <a:spcBef>
                <a:spcPts val="0"/>
              </a:spcBef>
            </a:pPr>
            <a:r>
              <a:rPr lang="en-US" sz="2000" dirty="0"/>
              <a:t>very like reaction-diffusion</a:t>
            </a:r>
          </a:p>
          <a:p>
            <a:pPr lvl="1">
              <a:spcBef>
                <a:spcPts val="0"/>
              </a:spcBef>
            </a:pPr>
            <a:r>
              <a:rPr lang="en-US" sz="2000" dirty="0"/>
              <a:t>called </a:t>
            </a:r>
            <a:r>
              <a:rPr lang="en-US" sz="2000" i="1" dirty="0"/>
              <a:t>gating-</a:t>
            </a:r>
            <a:r>
              <a:rPr lang="en-US" sz="2000" i="1" dirty="0" err="1"/>
              <a:t>electrodiffusion</a:t>
            </a:r>
            <a:endParaRPr lang="en-US" sz="2000" i="1" dirty="0"/>
          </a:p>
          <a:p>
            <a:pPr>
              <a:spcBef>
                <a:spcPts val="0"/>
              </a:spcBef>
            </a:pPr>
            <a:r>
              <a:rPr lang="en-US" sz="2400" dirty="0"/>
              <a:t>See</a:t>
            </a:r>
            <a:r>
              <a:rPr lang="en-US" sz="2400" i="1" dirty="0"/>
              <a:t> The Chemical Basis of Morphogenesis</a:t>
            </a:r>
            <a:r>
              <a:rPr lang="en-US" sz="2400" dirty="0"/>
              <a:t>, Alan Turing 1952</a:t>
            </a:r>
          </a:p>
          <a:p>
            <a:pPr lvl="1">
              <a:spcBef>
                <a:spcPts val="0"/>
              </a:spcBef>
            </a:pPr>
            <a:r>
              <a:rPr lang="en-US" sz="2000" dirty="0"/>
              <a:t>Or Wikipedia</a:t>
            </a:r>
          </a:p>
        </p:txBody>
      </p:sp>
      <p:sp>
        <p:nvSpPr>
          <p:cNvPr id="4" name="Footer Placeholder 3">
            <a:extLst>
              <a:ext uri="{FF2B5EF4-FFF2-40B4-BE49-F238E27FC236}">
                <a16:creationId xmlns:a16="http://schemas.microsoft.com/office/drawing/2014/main" id="{B88E0F01-829A-49B4-B914-BDE1FF1DFF72}"/>
              </a:ext>
            </a:extLst>
          </p:cNvPr>
          <p:cNvSpPr>
            <a:spLocks noGrp="1"/>
          </p:cNvSpPr>
          <p:nvPr>
            <p:ph type="ftr" sz="quarter" idx="11"/>
          </p:nvPr>
        </p:nvSpPr>
        <p:spPr/>
        <p:txBody>
          <a:bodyPr/>
          <a:lstStyle/>
          <a:p>
            <a:pPr>
              <a:defRPr/>
            </a:pPr>
            <a:r>
              <a:rPr lang="en-US" dirty="0"/>
              <a:t>Bioelectricity Joel Grodstein</a:t>
            </a:r>
          </a:p>
        </p:txBody>
      </p:sp>
      <p:sp>
        <p:nvSpPr>
          <p:cNvPr id="5" name="Rectangle: Rounded Corners 4">
            <a:extLst>
              <a:ext uri="{FF2B5EF4-FFF2-40B4-BE49-F238E27FC236}">
                <a16:creationId xmlns:a16="http://schemas.microsoft.com/office/drawing/2014/main" id="{BBDF468D-8D40-4592-A863-692019989473}"/>
              </a:ext>
            </a:extLst>
          </p:cNvPr>
          <p:cNvSpPr/>
          <p:nvPr/>
        </p:nvSpPr>
        <p:spPr>
          <a:xfrm>
            <a:off x="215899" y="228599"/>
            <a:ext cx="1955800" cy="1777999"/>
          </a:xfrm>
          <a:prstGeom prst="round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tlCol="0" anchor="t" anchorCtr="0"/>
          <a:lstStyle/>
          <a:p>
            <a:r>
              <a:rPr lang="en-US" dirty="0">
                <a:solidFill>
                  <a:schemeClr val="accent2"/>
                </a:solidFill>
              </a:rPr>
              <a:t>Cell #1, </a:t>
            </a:r>
            <a:r>
              <a:rPr lang="en-US" i="1" dirty="0">
                <a:solidFill>
                  <a:schemeClr val="accent2"/>
                </a:solidFill>
              </a:rPr>
              <a:t>V</a:t>
            </a:r>
            <a:r>
              <a:rPr lang="en-US" baseline="-25000" dirty="0">
                <a:solidFill>
                  <a:schemeClr val="accent2"/>
                </a:solidFill>
              </a:rPr>
              <a:t>1</a:t>
            </a:r>
            <a:endParaRPr lang="en-US" dirty="0">
              <a:solidFill>
                <a:schemeClr val="accent2"/>
              </a:solidFill>
            </a:endParaRPr>
          </a:p>
        </p:txBody>
      </p:sp>
      <p:sp>
        <p:nvSpPr>
          <p:cNvPr id="6" name="Rectangle: Rounded Corners 5">
            <a:extLst>
              <a:ext uri="{FF2B5EF4-FFF2-40B4-BE49-F238E27FC236}">
                <a16:creationId xmlns:a16="http://schemas.microsoft.com/office/drawing/2014/main" id="{E0E72A4D-40BD-410A-A67D-D776B55213D5}"/>
              </a:ext>
            </a:extLst>
          </p:cNvPr>
          <p:cNvSpPr/>
          <p:nvPr/>
        </p:nvSpPr>
        <p:spPr>
          <a:xfrm>
            <a:off x="215899" y="2319866"/>
            <a:ext cx="1955800" cy="1777999"/>
          </a:xfrm>
          <a:prstGeom prst="round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bIns="0" rtlCol="0" anchor="b" anchorCtr="0"/>
          <a:lstStyle/>
          <a:p>
            <a:r>
              <a:rPr lang="en-US" dirty="0">
                <a:solidFill>
                  <a:schemeClr val="accent2"/>
                </a:solidFill>
              </a:rPr>
              <a:t>Cell #2, </a:t>
            </a:r>
            <a:r>
              <a:rPr lang="en-US" i="1" dirty="0">
                <a:solidFill>
                  <a:schemeClr val="accent2"/>
                </a:solidFill>
              </a:rPr>
              <a:t>V</a:t>
            </a:r>
            <a:r>
              <a:rPr lang="en-US" baseline="-25000" dirty="0">
                <a:solidFill>
                  <a:schemeClr val="accent2"/>
                </a:solidFill>
              </a:rPr>
              <a:t>2</a:t>
            </a:r>
            <a:endParaRPr lang="en-US" dirty="0">
              <a:solidFill>
                <a:schemeClr val="accent2"/>
              </a:solidFill>
            </a:endParaRPr>
          </a:p>
        </p:txBody>
      </p:sp>
      <p:cxnSp>
        <p:nvCxnSpPr>
          <p:cNvPr id="8" name="Straight Connector 7">
            <a:extLst>
              <a:ext uri="{FF2B5EF4-FFF2-40B4-BE49-F238E27FC236}">
                <a16:creationId xmlns:a16="http://schemas.microsoft.com/office/drawing/2014/main" id="{A50C9831-15F8-4112-8B60-E23CE4B6128F}"/>
              </a:ext>
            </a:extLst>
          </p:cNvPr>
          <p:cNvCxnSpPr/>
          <p:nvPr/>
        </p:nvCxnSpPr>
        <p:spPr>
          <a:xfrm>
            <a:off x="990600" y="2002367"/>
            <a:ext cx="0" cy="330200"/>
          </a:xfrm>
          <a:prstGeom prst="line">
            <a:avLst/>
          </a:prstGeom>
          <a:ln w="28575">
            <a:solidFill>
              <a:schemeClr val="accent2"/>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CE9FA24C-66CB-4AF3-A5A1-640173729BDE}"/>
              </a:ext>
            </a:extLst>
          </p:cNvPr>
          <p:cNvCxnSpPr/>
          <p:nvPr/>
        </p:nvCxnSpPr>
        <p:spPr>
          <a:xfrm>
            <a:off x="1337734" y="2002367"/>
            <a:ext cx="0" cy="330200"/>
          </a:xfrm>
          <a:prstGeom prst="line">
            <a:avLst/>
          </a:prstGeom>
          <a:ln w="28575">
            <a:solidFill>
              <a:schemeClr val="accent2"/>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0" name="Rectangle 9">
            <a:extLst>
              <a:ext uri="{FF2B5EF4-FFF2-40B4-BE49-F238E27FC236}">
                <a16:creationId xmlns:a16="http://schemas.microsoft.com/office/drawing/2014/main" id="{14BA1487-D2B8-4C8E-8BA2-B95963756A24}"/>
              </a:ext>
            </a:extLst>
          </p:cNvPr>
          <p:cNvSpPr/>
          <p:nvPr/>
        </p:nvSpPr>
        <p:spPr>
          <a:xfrm>
            <a:off x="1024468" y="1862667"/>
            <a:ext cx="301752" cy="6096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val 10">
            <a:extLst>
              <a:ext uri="{FF2B5EF4-FFF2-40B4-BE49-F238E27FC236}">
                <a16:creationId xmlns:a16="http://schemas.microsoft.com/office/drawing/2014/main" id="{9C624963-A05C-43E1-97CE-081649E0E7D0}"/>
              </a:ext>
            </a:extLst>
          </p:cNvPr>
          <p:cNvSpPr/>
          <p:nvPr/>
        </p:nvSpPr>
        <p:spPr>
          <a:xfrm>
            <a:off x="1024467" y="1320800"/>
            <a:ext cx="169333" cy="169333"/>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76FCE4AA-CD05-49AB-9321-6A6FFB3B1A72}"/>
              </a:ext>
            </a:extLst>
          </p:cNvPr>
          <p:cNvSpPr/>
          <p:nvPr/>
        </p:nvSpPr>
        <p:spPr>
          <a:xfrm>
            <a:off x="1617134" y="1549403"/>
            <a:ext cx="169333" cy="169333"/>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26" name="Picture 2" descr="https://upload.wikimedia.org/wikipedia/commons/thumb/a/a4/Giant_Pufferfish_skin_pattern_detail.jpg/220px-Giant_Pufferfish_skin_pattern_detail.jpg">
            <a:extLst>
              <a:ext uri="{FF2B5EF4-FFF2-40B4-BE49-F238E27FC236}">
                <a16:creationId xmlns:a16="http://schemas.microsoft.com/office/drawing/2014/main" id="{9426E033-702A-4AB4-9DC7-78D11455B16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0850" y="4328583"/>
            <a:ext cx="2095500" cy="2095500"/>
          </a:xfrm>
          <a:prstGeom prst="rect">
            <a:avLst/>
          </a:prstGeom>
          <a:noFill/>
          <a:extLst>
            <a:ext uri="{909E8E84-426E-40DD-AFC4-6F175D3DCCD1}">
              <a14:hiddenFill xmlns:a14="http://schemas.microsoft.com/office/drawing/2010/main">
                <a:solidFill>
                  <a:srgbClr val="FFFFFF"/>
                </a:solidFill>
              </a14:hiddenFill>
            </a:ext>
          </a:extLst>
        </p:spPr>
      </p:pic>
      <p:sp>
        <p:nvSpPr>
          <p:cNvPr id="13" name="Double Bracket 12">
            <a:extLst>
              <a:ext uri="{FF2B5EF4-FFF2-40B4-BE49-F238E27FC236}">
                <a16:creationId xmlns:a16="http://schemas.microsoft.com/office/drawing/2014/main" id="{76430995-8BAC-43A0-BF1D-37CC12579DA1}"/>
              </a:ext>
            </a:extLst>
          </p:cNvPr>
          <p:cNvSpPr/>
          <p:nvPr/>
        </p:nvSpPr>
        <p:spPr>
          <a:xfrm rot="16200000">
            <a:off x="2034114" y="772582"/>
            <a:ext cx="292100" cy="372533"/>
          </a:xfrm>
          <a:prstGeom prst="bracketPair">
            <a:avLst/>
          </a:prstGeom>
          <a:solidFill>
            <a:schemeClr val="bg1"/>
          </a:solidFill>
          <a:ln w="28575">
            <a:solidFill>
              <a:schemeClr val="accent2"/>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5" name="Double Bracket 14">
            <a:extLst>
              <a:ext uri="{FF2B5EF4-FFF2-40B4-BE49-F238E27FC236}">
                <a16:creationId xmlns:a16="http://schemas.microsoft.com/office/drawing/2014/main" id="{4646A455-CC09-49E2-95A1-99CC17D49045}"/>
              </a:ext>
            </a:extLst>
          </p:cNvPr>
          <p:cNvSpPr/>
          <p:nvPr/>
        </p:nvSpPr>
        <p:spPr>
          <a:xfrm rot="16200000">
            <a:off x="2034112" y="3007786"/>
            <a:ext cx="292100" cy="372533"/>
          </a:xfrm>
          <a:prstGeom prst="bracketPair">
            <a:avLst/>
          </a:prstGeom>
          <a:solidFill>
            <a:schemeClr val="bg1"/>
          </a:solidFill>
          <a:ln w="28575">
            <a:solidFill>
              <a:schemeClr val="accent2"/>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cxnSp>
        <p:nvCxnSpPr>
          <p:cNvPr id="16" name="Straight Arrow Connector 15">
            <a:extLst>
              <a:ext uri="{FF2B5EF4-FFF2-40B4-BE49-F238E27FC236}">
                <a16:creationId xmlns:a16="http://schemas.microsoft.com/office/drawing/2014/main" id="{03F2AE07-2F04-40ED-83D4-9B4B52499793}"/>
              </a:ext>
            </a:extLst>
          </p:cNvPr>
          <p:cNvCxnSpPr>
            <a:cxnSpLocks/>
          </p:cNvCxnSpPr>
          <p:nvPr/>
        </p:nvCxnSpPr>
        <p:spPr>
          <a:xfrm flipH="1">
            <a:off x="1464733" y="1811867"/>
            <a:ext cx="1684867" cy="381000"/>
          </a:xfrm>
          <a:prstGeom prst="straightConnector1">
            <a:avLst/>
          </a:prstGeom>
          <a:ln w="2857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57CA7609-1FC7-4830-AB1F-C5BEA0A9884C}"/>
              </a:ext>
            </a:extLst>
          </p:cNvPr>
          <p:cNvCxnSpPr>
            <a:cxnSpLocks/>
          </p:cNvCxnSpPr>
          <p:nvPr/>
        </p:nvCxnSpPr>
        <p:spPr>
          <a:xfrm>
            <a:off x="1244600" y="3098800"/>
            <a:ext cx="643467" cy="1"/>
          </a:xfrm>
          <a:prstGeom prst="straightConnector1">
            <a:avLst/>
          </a:prstGeom>
          <a:ln w="2857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308374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fade">
                                      <p:cBhvr>
                                        <p:cTn id="7" dur="500"/>
                                        <p:tgtEl>
                                          <p:spTgt spid="1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fade">
                                      <p:cBhvr>
                                        <p:cTn id="12" dur="500"/>
                                        <p:tgtEl>
                                          <p:spTgt spid="10"/>
                                        </p:tgtEl>
                                      </p:cBhvr>
                                    </p:animEffect>
                                  </p:childTnLst>
                                </p:cTn>
                              </p:par>
                            </p:childTnLst>
                          </p:cTn>
                        </p:par>
                      </p:childTnLst>
                    </p:cTn>
                  </p:par>
                  <p:par>
                    <p:cTn id="13" fill="hold">
                      <p:stCondLst>
                        <p:cond delay="indefinite"/>
                      </p:stCondLst>
                      <p:childTnLst>
                        <p:par>
                          <p:cTn id="14" fill="hold">
                            <p:stCondLst>
                              <p:cond delay="0"/>
                            </p:stCondLst>
                            <p:childTnLst>
                              <p:par>
                                <p:cTn id="15" presetID="42" presetClass="path" presetSubtype="0" accel="50000" decel="50000" fill="hold" grpId="0" nodeType="clickEffect">
                                  <p:stCondLst>
                                    <p:cond delay="0"/>
                                  </p:stCondLst>
                                  <p:childTnLst>
                                    <p:animMotion origin="layout" path="M 0 0 L 0 0.25 E" pathEditMode="relative" ptsTypes="">
                                      <p:cBhvr>
                                        <p:cTn id="16" dur="2000" fill="hold"/>
                                        <p:tgtEl>
                                          <p:spTgt spid="11"/>
                                        </p:tgtEl>
                                        <p:attrNameLst>
                                          <p:attrName>ppt_x</p:attrName>
                                          <p:attrName>ppt_y</p:attrName>
                                        </p:attrNameLst>
                                      </p:cBhvr>
                                    </p:animMotion>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500"/>
                                        <p:tgtEl>
                                          <p:spTgt spid="3">
                                            <p:txEl>
                                              <p:pRg st="2" end="2"/>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nodeType="clickEffect">
                                  <p:stCondLst>
                                    <p:cond delay="0"/>
                                  </p:stCondLst>
                                  <p:childTnLst>
                                    <p:set>
                                      <p:cBhvr>
                                        <p:cTn id="25" dur="1" fill="hold">
                                          <p:stCondLst>
                                            <p:cond delay="0"/>
                                          </p:stCondLst>
                                        </p:cTn>
                                        <p:tgtEl>
                                          <p:spTgt spid="25"/>
                                        </p:tgtEl>
                                        <p:attrNameLst>
                                          <p:attrName>style.visibility</p:attrName>
                                        </p:attrNameLst>
                                      </p:cBhvr>
                                      <p:to>
                                        <p:strVal val="visible"/>
                                      </p:to>
                                    </p:set>
                                    <p:animEffect transition="in" filter="fade">
                                      <p:cBhvr>
                                        <p:cTn id="26" dur="500"/>
                                        <p:tgtEl>
                                          <p:spTgt spid="25"/>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nodeType="clickEffect">
                                  <p:stCondLst>
                                    <p:cond delay="0"/>
                                  </p:stCondLst>
                                  <p:childTnLst>
                                    <p:set>
                                      <p:cBhvr>
                                        <p:cTn id="30" dur="1" fill="hold">
                                          <p:stCondLst>
                                            <p:cond delay="0"/>
                                          </p:stCondLst>
                                        </p:cTn>
                                        <p:tgtEl>
                                          <p:spTgt spid="3">
                                            <p:txEl>
                                              <p:pRg st="3" end="3"/>
                                            </p:txEl>
                                          </p:spTgt>
                                        </p:tgtEl>
                                        <p:attrNameLst>
                                          <p:attrName>style.visibility</p:attrName>
                                        </p:attrNameLst>
                                      </p:cBhvr>
                                      <p:to>
                                        <p:strVal val="visible"/>
                                      </p:to>
                                    </p:set>
                                    <p:animEffect transition="in" filter="fade">
                                      <p:cBhvr>
                                        <p:cTn id="31" dur="500"/>
                                        <p:tgtEl>
                                          <p:spTgt spid="3">
                                            <p:txEl>
                                              <p:pRg st="3" end="3"/>
                                            </p:txEl>
                                          </p:spTgt>
                                        </p:tgtEl>
                                      </p:cBhvr>
                                    </p:animEffect>
                                  </p:childTnLst>
                                </p:cTn>
                              </p:par>
                              <p:par>
                                <p:cTn id="32" presetID="10" presetClass="entr" presetSubtype="0" fill="hold" nodeType="withEffect">
                                  <p:stCondLst>
                                    <p:cond delay="0"/>
                                  </p:stCondLst>
                                  <p:childTnLst>
                                    <p:set>
                                      <p:cBhvr>
                                        <p:cTn id="33" dur="1" fill="hold">
                                          <p:stCondLst>
                                            <p:cond delay="0"/>
                                          </p:stCondLst>
                                        </p:cTn>
                                        <p:tgtEl>
                                          <p:spTgt spid="3">
                                            <p:txEl>
                                              <p:pRg st="4" end="4"/>
                                            </p:txEl>
                                          </p:spTgt>
                                        </p:tgtEl>
                                        <p:attrNameLst>
                                          <p:attrName>style.visibility</p:attrName>
                                        </p:attrNameLst>
                                      </p:cBhvr>
                                      <p:to>
                                        <p:strVal val="visible"/>
                                      </p:to>
                                    </p:set>
                                    <p:animEffect transition="in" filter="fade">
                                      <p:cBhvr>
                                        <p:cTn id="34" dur="500"/>
                                        <p:tgtEl>
                                          <p:spTgt spid="3">
                                            <p:txEl>
                                              <p:pRg st="4" end="4"/>
                                            </p:txEl>
                                          </p:spTgt>
                                        </p:tgtEl>
                                      </p:cBhvr>
                                    </p:animEffect>
                                  </p:childTnLst>
                                </p:cTn>
                              </p:par>
                              <p:par>
                                <p:cTn id="35" presetID="10" presetClass="entr" presetSubtype="0" fill="hold" nodeType="withEffect">
                                  <p:stCondLst>
                                    <p:cond delay="0"/>
                                  </p:stCondLst>
                                  <p:childTnLst>
                                    <p:set>
                                      <p:cBhvr>
                                        <p:cTn id="36" dur="1" fill="hold">
                                          <p:stCondLst>
                                            <p:cond delay="0"/>
                                          </p:stCondLst>
                                        </p:cTn>
                                        <p:tgtEl>
                                          <p:spTgt spid="3">
                                            <p:txEl>
                                              <p:pRg st="5" end="5"/>
                                            </p:txEl>
                                          </p:spTgt>
                                        </p:tgtEl>
                                        <p:attrNameLst>
                                          <p:attrName>style.visibility</p:attrName>
                                        </p:attrNameLst>
                                      </p:cBhvr>
                                      <p:to>
                                        <p:strVal val="visible"/>
                                      </p:to>
                                    </p:set>
                                    <p:animEffect transition="in" filter="fade">
                                      <p:cBhvr>
                                        <p:cTn id="37" dur="500"/>
                                        <p:tgtEl>
                                          <p:spTgt spid="3">
                                            <p:txEl>
                                              <p:pRg st="5" end="5"/>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3">
                                            <p:txEl>
                                              <p:pRg st="6" end="6"/>
                                            </p:txEl>
                                          </p:spTgt>
                                        </p:tgtEl>
                                        <p:attrNameLst>
                                          <p:attrName>style.visibility</p:attrName>
                                        </p:attrNameLst>
                                      </p:cBhvr>
                                      <p:to>
                                        <p:strVal val="visible"/>
                                      </p:to>
                                    </p:set>
                                    <p:animEffect transition="in" filter="fade">
                                      <p:cBhvr>
                                        <p:cTn id="42" dur="500"/>
                                        <p:tgtEl>
                                          <p:spTgt spid="3">
                                            <p:txEl>
                                              <p:pRg st="6" end="6"/>
                                            </p:txEl>
                                          </p:spTgt>
                                        </p:tgtEl>
                                      </p:cBhvr>
                                    </p:animEffect>
                                  </p:childTnLst>
                                </p:cTn>
                              </p:par>
                              <p:par>
                                <p:cTn id="43" presetID="10" presetClass="entr" presetSubtype="0" fill="hold" nodeType="withEffect">
                                  <p:stCondLst>
                                    <p:cond delay="0"/>
                                  </p:stCondLst>
                                  <p:childTnLst>
                                    <p:set>
                                      <p:cBhvr>
                                        <p:cTn id="44" dur="1" fill="hold">
                                          <p:stCondLst>
                                            <p:cond delay="0"/>
                                          </p:stCondLst>
                                        </p:cTn>
                                        <p:tgtEl>
                                          <p:spTgt spid="3">
                                            <p:txEl>
                                              <p:pRg st="7" end="7"/>
                                            </p:txEl>
                                          </p:spTgt>
                                        </p:tgtEl>
                                        <p:attrNameLst>
                                          <p:attrName>style.visibility</p:attrName>
                                        </p:attrNameLst>
                                      </p:cBhvr>
                                      <p:to>
                                        <p:strVal val="visible"/>
                                      </p:to>
                                    </p:set>
                                    <p:animEffect transition="in" filter="fade">
                                      <p:cBhvr>
                                        <p:cTn id="45" dur="5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3AE527-4DB3-4DB8-AACD-AF73084597A7}"/>
              </a:ext>
            </a:extLst>
          </p:cNvPr>
          <p:cNvSpPr>
            <a:spLocks noGrp="1"/>
          </p:cNvSpPr>
          <p:nvPr>
            <p:ph type="title"/>
          </p:nvPr>
        </p:nvSpPr>
        <p:spPr/>
        <p:txBody>
          <a:bodyPr/>
          <a:lstStyle/>
          <a:p>
            <a:r>
              <a:rPr lang="en-US" dirty="0"/>
              <a:t>Hypothesis #3</a:t>
            </a:r>
          </a:p>
        </p:txBody>
      </p:sp>
      <p:sp>
        <p:nvSpPr>
          <p:cNvPr id="3" name="Content Placeholder 2">
            <a:extLst>
              <a:ext uri="{FF2B5EF4-FFF2-40B4-BE49-F238E27FC236}">
                <a16:creationId xmlns:a16="http://schemas.microsoft.com/office/drawing/2014/main" id="{4430FB86-67F8-40A4-BCED-45CFE6AB4308}"/>
              </a:ext>
            </a:extLst>
          </p:cNvPr>
          <p:cNvSpPr>
            <a:spLocks noGrp="1"/>
          </p:cNvSpPr>
          <p:nvPr>
            <p:ph idx="1"/>
          </p:nvPr>
        </p:nvSpPr>
        <p:spPr>
          <a:xfrm>
            <a:off x="685800" y="1430863"/>
            <a:ext cx="7772400" cy="4724404"/>
          </a:xfrm>
        </p:spPr>
        <p:txBody>
          <a:bodyPr/>
          <a:lstStyle/>
          <a:p>
            <a:r>
              <a:rPr lang="en-US" sz="2000" dirty="0"/>
              <a:t>Morphogenesis is a multi-step process</a:t>
            </a:r>
          </a:p>
          <a:p>
            <a:r>
              <a:rPr lang="en-US" sz="2000" dirty="0"/>
              <a:t>Step 1: DNA specifies a target shape that is then (at least in deer) stored elsewhere</a:t>
            </a:r>
          </a:p>
          <a:p>
            <a:r>
              <a:rPr lang="en-US" sz="2000" dirty="0"/>
              <a:t>Step 2: regeneration aims for the stored shape</a:t>
            </a:r>
          </a:p>
          <a:p>
            <a:pPr lvl="1">
              <a:spcBef>
                <a:spcPts val="0"/>
              </a:spcBef>
            </a:pPr>
            <a:r>
              <a:rPr lang="en-US" sz="1800" dirty="0"/>
              <a:t>but what is that format?</a:t>
            </a:r>
          </a:p>
          <a:p>
            <a:pPr lvl="1">
              <a:spcBef>
                <a:spcPts val="0"/>
              </a:spcBef>
            </a:pPr>
            <a:r>
              <a:rPr lang="en-US" sz="1800" i="1" dirty="0"/>
              <a:t>Suggestion: a pattern of </a:t>
            </a:r>
            <a:r>
              <a:rPr lang="en-US" sz="1800" i="1" dirty="0" err="1"/>
              <a:t>V</a:t>
            </a:r>
            <a:r>
              <a:rPr lang="en-US" sz="1800" baseline="-25000" dirty="0" err="1"/>
              <a:t>mem</a:t>
            </a:r>
            <a:endParaRPr lang="en-US" sz="1800" dirty="0"/>
          </a:p>
          <a:p>
            <a:r>
              <a:rPr lang="en-US" sz="2000" dirty="0"/>
              <a:t>Step 4: occasionally the stored shape gets refreshed from DNA in deer</a:t>
            </a:r>
          </a:p>
          <a:p>
            <a:r>
              <a:rPr lang="en-US" sz="2000" dirty="0"/>
              <a:t>For the technically minded, </a:t>
            </a:r>
            <a:r>
              <a:rPr lang="en-US" sz="2200" dirty="0"/>
              <a:t>step #3 is called an </a:t>
            </a:r>
            <a:r>
              <a:rPr lang="en-US" sz="2200" i="1" dirty="0"/>
              <a:t>inverse problem</a:t>
            </a:r>
            <a:endParaRPr lang="en-US" sz="2200" dirty="0"/>
          </a:p>
          <a:p>
            <a:pPr lvl="1">
              <a:spcBef>
                <a:spcPts val="0"/>
              </a:spcBef>
            </a:pPr>
            <a:r>
              <a:rPr lang="en-US" sz="1800" dirty="0"/>
              <a:t>inverse problems are hard</a:t>
            </a:r>
          </a:p>
          <a:p>
            <a:pPr lvl="1">
              <a:spcBef>
                <a:spcPts val="0"/>
              </a:spcBef>
            </a:pPr>
            <a:r>
              <a:rPr lang="en-US" sz="1800" dirty="0"/>
              <a:t>unless the function is simple (i.e., easy to invert)</a:t>
            </a:r>
          </a:p>
          <a:p>
            <a:endParaRPr lang="en-US" sz="2400" dirty="0"/>
          </a:p>
        </p:txBody>
      </p:sp>
      <p:sp>
        <p:nvSpPr>
          <p:cNvPr id="4" name="Footer Placeholder 3">
            <a:extLst>
              <a:ext uri="{FF2B5EF4-FFF2-40B4-BE49-F238E27FC236}">
                <a16:creationId xmlns:a16="http://schemas.microsoft.com/office/drawing/2014/main" id="{6859D90B-F90B-4960-B153-B4417FCD96C0}"/>
              </a:ext>
            </a:extLst>
          </p:cNvPr>
          <p:cNvSpPr>
            <a:spLocks noGrp="1"/>
          </p:cNvSpPr>
          <p:nvPr>
            <p:ph type="ftr" sz="quarter" idx="11"/>
          </p:nvPr>
        </p:nvSpPr>
        <p:spPr/>
        <p:txBody>
          <a:bodyPr/>
          <a:lstStyle/>
          <a:p>
            <a:pPr>
              <a:defRPr/>
            </a:pPr>
            <a:r>
              <a:rPr lang="en-US" dirty="0"/>
              <a:t>Bioelectricity Joel Grodstein</a:t>
            </a:r>
          </a:p>
        </p:txBody>
      </p:sp>
    </p:spTree>
    <p:extLst>
      <p:ext uri="{BB962C8B-B14F-4D97-AF65-F5344CB8AC3E}">
        <p14:creationId xmlns:p14="http://schemas.microsoft.com/office/powerpoint/2010/main" val="5835475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animEffect transition="in" filter="fade">
                                      <p:cBhvr>
                                        <p:cTn id="7" dur="500"/>
                                        <p:tgtEl>
                                          <p:spTgt spid="3">
                                            <p:txEl>
                                              <p:pRg st="4" end="4"/>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5" end="5"/>
                                            </p:txEl>
                                          </p:spTgt>
                                        </p:tgtEl>
                                        <p:attrNameLst>
                                          <p:attrName>style.visibility</p:attrName>
                                        </p:attrNameLst>
                                      </p:cBhvr>
                                      <p:to>
                                        <p:strVal val="visible"/>
                                      </p:to>
                                    </p:set>
                                    <p:animEffect transition="in" filter="fade">
                                      <p:cBhvr>
                                        <p:cTn id="12" dur="500"/>
                                        <p:tgtEl>
                                          <p:spTgt spid="3">
                                            <p:txEl>
                                              <p:pRg st="5" end="5"/>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6" end="6"/>
                                            </p:txEl>
                                          </p:spTgt>
                                        </p:tgtEl>
                                        <p:attrNameLst>
                                          <p:attrName>style.visibility</p:attrName>
                                        </p:attrNameLst>
                                      </p:cBhvr>
                                      <p:to>
                                        <p:strVal val="visible"/>
                                      </p:to>
                                    </p:set>
                                    <p:animEffect transition="in" filter="fade">
                                      <p:cBhvr>
                                        <p:cTn id="17" dur="500"/>
                                        <p:tgtEl>
                                          <p:spTgt spid="3">
                                            <p:txEl>
                                              <p:pRg st="6" end="6"/>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7" end="7"/>
                                            </p:txEl>
                                          </p:spTgt>
                                        </p:tgtEl>
                                        <p:attrNameLst>
                                          <p:attrName>style.visibility</p:attrName>
                                        </p:attrNameLst>
                                      </p:cBhvr>
                                      <p:to>
                                        <p:strVal val="visible"/>
                                      </p:to>
                                    </p:set>
                                    <p:animEffect transition="in" filter="fade">
                                      <p:cBhvr>
                                        <p:cTn id="22" dur="500"/>
                                        <p:tgtEl>
                                          <p:spTgt spid="3">
                                            <p:txEl>
                                              <p:pRg st="7" end="7"/>
                                            </p:txEl>
                                          </p:spTgt>
                                        </p:tgtEl>
                                      </p:cBhvr>
                                    </p:animEffect>
                                  </p:childTnLst>
                                </p:cTn>
                              </p:par>
                              <p:par>
                                <p:cTn id="23" presetID="10" presetClass="entr" presetSubtype="0" fill="hold" nodeType="withEffect">
                                  <p:stCondLst>
                                    <p:cond delay="0"/>
                                  </p:stCondLst>
                                  <p:childTnLst>
                                    <p:set>
                                      <p:cBhvr>
                                        <p:cTn id="24" dur="1" fill="hold">
                                          <p:stCondLst>
                                            <p:cond delay="0"/>
                                          </p:stCondLst>
                                        </p:cTn>
                                        <p:tgtEl>
                                          <p:spTgt spid="3">
                                            <p:txEl>
                                              <p:pRg st="8" end="8"/>
                                            </p:txEl>
                                          </p:spTgt>
                                        </p:tgtEl>
                                        <p:attrNameLst>
                                          <p:attrName>style.visibility</p:attrName>
                                        </p:attrNameLst>
                                      </p:cBhvr>
                                      <p:to>
                                        <p:strVal val="visible"/>
                                      </p:to>
                                    </p:set>
                                    <p:animEffect transition="in" filter="fade">
                                      <p:cBhvr>
                                        <p:cTn id="25" dur="500"/>
                                        <p:tgtEl>
                                          <p:spTgt spid="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25D726-7ECF-4AA8-B31B-1AA1A5648476}"/>
              </a:ext>
            </a:extLst>
          </p:cNvPr>
          <p:cNvSpPr>
            <a:spLocks noGrp="1"/>
          </p:cNvSpPr>
          <p:nvPr>
            <p:ph type="title"/>
          </p:nvPr>
        </p:nvSpPr>
        <p:spPr/>
        <p:txBody>
          <a:bodyPr/>
          <a:lstStyle/>
          <a:p>
            <a:r>
              <a:rPr lang="en-US" dirty="0"/>
              <a:t>A hypothesis</a:t>
            </a:r>
          </a:p>
        </p:txBody>
      </p:sp>
      <p:sp>
        <p:nvSpPr>
          <p:cNvPr id="3" name="Content Placeholder 2">
            <a:extLst>
              <a:ext uri="{FF2B5EF4-FFF2-40B4-BE49-F238E27FC236}">
                <a16:creationId xmlns:a16="http://schemas.microsoft.com/office/drawing/2014/main" id="{69351C69-D508-4BB8-83D7-8025528196E5}"/>
              </a:ext>
            </a:extLst>
          </p:cNvPr>
          <p:cNvSpPr>
            <a:spLocks noGrp="1"/>
          </p:cNvSpPr>
          <p:nvPr>
            <p:ph idx="1"/>
          </p:nvPr>
        </p:nvSpPr>
        <p:spPr/>
        <p:txBody>
          <a:bodyPr/>
          <a:lstStyle/>
          <a:p>
            <a:r>
              <a:rPr lang="en-US" dirty="0"/>
              <a:t>The </a:t>
            </a:r>
            <a:r>
              <a:rPr lang="en-US" dirty="0" err="1"/>
              <a:t>planaria</a:t>
            </a:r>
            <a:r>
              <a:rPr lang="en-US" dirty="0"/>
              <a:t> is a remarkable animal</a:t>
            </a:r>
          </a:p>
          <a:p>
            <a:r>
              <a:rPr lang="en-US" dirty="0"/>
              <a:t>It is well studied</a:t>
            </a:r>
          </a:p>
          <a:p>
            <a:pPr lvl="1"/>
            <a:r>
              <a:rPr lang="en-US" dirty="0"/>
              <a:t>We have a lots of data</a:t>
            </a:r>
          </a:p>
          <a:p>
            <a:pPr lvl="1"/>
            <a:r>
              <a:rPr lang="en-US" dirty="0"/>
              <a:t>But we don’t have any proven theory for how it works!</a:t>
            </a:r>
          </a:p>
          <a:p>
            <a:r>
              <a:rPr lang="en-US" dirty="0"/>
              <a:t>Are we ready to put together some ideas?</a:t>
            </a:r>
          </a:p>
          <a:p>
            <a:endParaRPr lang="en-US" dirty="0"/>
          </a:p>
        </p:txBody>
      </p:sp>
      <p:sp>
        <p:nvSpPr>
          <p:cNvPr id="4" name="Footer Placeholder 3">
            <a:extLst>
              <a:ext uri="{FF2B5EF4-FFF2-40B4-BE49-F238E27FC236}">
                <a16:creationId xmlns:a16="http://schemas.microsoft.com/office/drawing/2014/main" id="{5BA23C0B-5C48-471C-894B-E98F33646A7C}"/>
              </a:ext>
            </a:extLst>
          </p:cNvPr>
          <p:cNvSpPr>
            <a:spLocks noGrp="1"/>
          </p:cNvSpPr>
          <p:nvPr>
            <p:ph type="ftr" sz="quarter" idx="11"/>
          </p:nvPr>
        </p:nvSpPr>
        <p:spPr/>
        <p:txBody>
          <a:bodyPr/>
          <a:lstStyle/>
          <a:p>
            <a:pPr>
              <a:defRPr/>
            </a:pPr>
            <a:r>
              <a:rPr lang="en-US" dirty="0"/>
              <a:t>Bioelectricity Joel Grodstein</a:t>
            </a:r>
          </a:p>
        </p:txBody>
      </p:sp>
      <p:sp>
        <p:nvSpPr>
          <p:cNvPr id="5" name="TextBox 4">
            <a:extLst>
              <a:ext uri="{FF2B5EF4-FFF2-40B4-BE49-F238E27FC236}">
                <a16:creationId xmlns:a16="http://schemas.microsoft.com/office/drawing/2014/main" id="{D6B21F74-E972-40D6-B0EC-077521F5205D}"/>
              </a:ext>
            </a:extLst>
          </p:cNvPr>
          <p:cNvSpPr txBox="1"/>
          <p:nvPr/>
        </p:nvSpPr>
        <p:spPr>
          <a:xfrm>
            <a:off x="6798734" y="4097867"/>
            <a:ext cx="1828800" cy="523220"/>
          </a:xfrm>
          <a:prstGeom prst="rect">
            <a:avLst/>
          </a:prstGeom>
          <a:solidFill>
            <a:schemeClr val="bg1"/>
          </a:solidFill>
        </p:spPr>
        <p:txBody>
          <a:bodyPr wrap="square" rtlCol="0">
            <a:spAutoFit/>
          </a:bodyPr>
          <a:lstStyle/>
          <a:p>
            <a:r>
              <a:rPr lang="en-US" sz="2800" dirty="0"/>
              <a:t>hopes?</a:t>
            </a:r>
          </a:p>
        </p:txBody>
      </p:sp>
      <p:sp>
        <p:nvSpPr>
          <p:cNvPr id="6" name="TextBox 5">
            <a:extLst>
              <a:ext uri="{FF2B5EF4-FFF2-40B4-BE49-F238E27FC236}">
                <a16:creationId xmlns:a16="http://schemas.microsoft.com/office/drawing/2014/main" id="{A3B371A8-B9C7-4D1A-8299-0992BEBE500A}"/>
              </a:ext>
            </a:extLst>
          </p:cNvPr>
          <p:cNvSpPr txBox="1"/>
          <p:nvPr/>
        </p:nvSpPr>
        <p:spPr>
          <a:xfrm>
            <a:off x="6527801" y="4588934"/>
            <a:ext cx="2074332" cy="523220"/>
          </a:xfrm>
          <a:prstGeom prst="rect">
            <a:avLst/>
          </a:prstGeom>
          <a:solidFill>
            <a:schemeClr val="bg1"/>
          </a:solidFill>
        </p:spPr>
        <p:txBody>
          <a:bodyPr wrap="square" rtlCol="0">
            <a:spAutoFit/>
          </a:bodyPr>
          <a:lstStyle/>
          <a:p>
            <a:r>
              <a:rPr lang="en-US" sz="2800" dirty="0"/>
              <a:t>hypotheses?</a:t>
            </a:r>
          </a:p>
        </p:txBody>
      </p:sp>
      <p:grpSp>
        <p:nvGrpSpPr>
          <p:cNvPr id="10" name="Group 9">
            <a:extLst>
              <a:ext uri="{FF2B5EF4-FFF2-40B4-BE49-F238E27FC236}">
                <a16:creationId xmlns:a16="http://schemas.microsoft.com/office/drawing/2014/main" id="{64B5D337-24E1-417A-9352-9FDA01ECF672}"/>
              </a:ext>
            </a:extLst>
          </p:cNvPr>
          <p:cNvGrpSpPr/>
          <p:nvPr/>
        </p:nvGrpSpPr>
        <p:grpSpPr>
          <a:xfrm>
            <a:off x="6087531" y="3750732"/>
            <a:ext cx="1357499" cy="220135"/>
            <a:chOff x="6223000" y="3793067"/>
            <a:chExt cx="1566333" cy="254000"/>
          </a:xfrm>
        </p:grpSpPr>
        <p:cxnSp>
          <p:nvCxnSpPr>
            <p:cNvPr id="8" name="Straight Connector 7">
              <a:extLst>
                <a:ext uri="{FF2B5EF4-FFF2-40B4-BE49-F238E27FC236}">
                  <a16:creationId xmlns:a16="http://schemas.microsoft.com/office/drawing/2014/main" id="{EEFC3493-278C-4FC2-A0B6-12603F8F55A9}"/>
                </a:ext>
              </a:extLst>
            </p:cNvPr>
            <p:cNvCxnSpPr/>
            <p:nvPr/>
          </p:nvCxnSpPr>
          <p:spPr>
            <a:xfrm>
              <a:off x="6223000" y="3793067"/>
              <a:ext cx="1566333" cy="254000"/>
            </a:xfrm>
            <a:prstGeom prst="line">
              <a:avLst/>
            </a:prstGeom>
            <a:ln w="28575">
              <a:solidFill>
                <a:srgbClr val="FF0000"/>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0449B063-0D1D-4438-80C2-DA59492DA0D8}"/>
                </a:ext>
              </a:extLst>
            </p:cNvPr>
            <p:cNvCxnSpPr>
              <a:cxnSpLocks/>
            </p:cNvCxnSpPr>
            <p:nvPr/>
          </p:nvCxnSpPr>
          <p:spPr>
            <a:xfrm flipH="1">
              <a:off x="6223000" y="3793067"/>
              <a:ext cx="1566333" cy="254000"/>
            </a:xfrm>
            <a:prstGeom prst="line">
              <a:avLst/>
            </a:prstGeom>
            <a:ln w="28575">
              <a:solidFill>
                <a:srgbClr val="FF0000"/>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grpSp>
        <p:nvGrpSpPr>
          <p:cNvPr id="11" name="Group 10">
            <a:extLst>
              <a:ext uri="{FF2B5EF4-FFF2-40B4-BE49-F238E27FC236}">
                <a16:creationId xmlns:a16="http://schemas.microsoft.com/office/drawing/2014/main" id="{EA5586C0-125D-4015-AD0B-B270A6E521A5}"/>
              </a:ext>
            </a:extLst>
          </p:cNvPr>
          <p:cNvGrpSpPr/>
          <p:nvPr/>
        </p:nvGrpSpPr>
        <p:grpSpPr>
          <a:xfrm>
            <a:off x="6680201" y="4301067"/>
            <a:ext cx="1566333" cy="254000"/>
            <a:chOff x="6223000" y="3793067"/>
            <a:chExt cx="1566333" cy="254000"/>
          </a:xfrm>
        </p:grpSpPr>
        <p:cxnSp>
          <p:nvCxnSpPr>
            <p:cNvPr id="12" name="Straight Connector 11">
              <a:extLst>
                <a:ext uri="{FF2B5EF4-FFF2-40B4-BE49-F238E27FC236}">
                  <a16:creationId xmlns:a16="http://schemas.microsoft.com/office/drawing/2014/main" id="{91EF1109-428F-4EE3-BB07-3E493C585DEA}"/>
                </a:ext>
              </a:extLst>
            </p:cNvPr>
            <p:cNvCxnSpPr/>
            <p:nvPr/>
          </p:nvCxnSpPr>
          <p:spPr>
            <a:xfrm>
              <a:off x="6223000" y="3793067"/>
              <a:ext cx="1566333" cy="254000"/>
            </a:xfrm>
            <a:prstGeom prst="line">
              <a:avLst/>
            </a:prstGeom>
            <a:ln w="28575">
              <a:solidFill>
                <a:srgbClr val="FF0000"/>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294C2D97-CD56-4BB1-B299-CD2BAC93D632}"/>
                </a:ext>
              </a:extLst>
            </p:cNvPr>
            <p:cNvCxnSpPr>
              <a:cxnSpLocks/>
            </p:cNvCxnSpPr>
            <p:nvPr/>
          </p:nvCxnSpPr>
          <p:spPr>
            <a:xfrm flipH="1">
              <a:off x="6223000" y="3793067"/>
              <a:ext cx="1566333" cy="254000"/>
            </a:xfrm>
            <a:prstGeom prst="line">
              <a:avLst/>
            </a:prstGeom>
            <a:ln w="28575">
              <a:solidFill>
                <a:srgbClr val="FF0000"/>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6911743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par>
                                <p:cTn id="8" presetID="10" presetClass="entr" presetSubtype="0" fill="hold"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5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fade">
                                      <p:cBhvr>
                                        <p:cTn id="15" dur="500"/>
                                        <p:tgtEl>
                                          <p:spTgt spid="6"/>
                                        </p:tgtEl>
                                      </p:cBhvr>
                                    </p:animEffect>
                                  </p:childTnLst>
                                </p:cTn>
                              </p:par>
                              <p:par>
                                <p:cTn id="16" presetID="10" presetClass="entr" presetSubtype="0" fill="hold" nodeType="withEffect">
                                  <p:stCondLst>
                                    <p:cond delay="0"/>
                                  </p:stCondLst>
                                  <p:childTnLst>
                                    <p:set>
                                      <p:cBhvr>
                                        <p:cTn id="17" dur="1" fill="hold">
                                          <p:stCondLst>
                                            <p:cond delay="0"/>
                                          </p:stCondLst>
                                        </p:cTn>
                                        <p:tgtEl>
                                          <p:spTgt spid="11"/>
                                        </p:tgtEl>
                                        <p:attrNameLst>
                                          <p:attrName>style.visibility</p:attrName>
                                        </p:attrNameLst>
                                      </p:cBhvr>
                                      <p:to>
                                        <p:strVal val="visible"/>
                                      </p:to>
                                    </p:set>
                                    <p:animEffect transition="in" filter="fade">
                                      <p:cBhvr>
                                        <p:cTn id="18"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914D08-03B3-4BF5-BF6B-FDE307C30900}"/>
              </a:ext>
            </a:extLst>
          </p:cNvPr>
          <p:cNvSpPr>
            <a:spLocks noGrp="1"/>
          </p:cNvSpPr>
          <p:nvPr>
            <p:ph type="title"/>
          </p:nvPr>
        </p:nvSpPr>
        <p:spPr/>
        <p:txBody>
          <a:bodyPr/>
          <a:lstStyle/>
          <a:p>
            <a:r>
              <a:rPr lang="en-US" dirty="0"/>
              <a:t>Image processing</a:t>
            </a:r>
          </a:p>
        </p:txBody>
      </p:sp>
      <p:sp>
        <p:nvSpPr>
          <p:cNvPr id="3" name="Content Placeholder 2">
            <a:extLst>
              <a:ext uri="{FF2B5EF4-FFF2-40B4-BE49-F238E27FC236}">
                <a16:creationId xmlns:a16="http://schemas.microsoft.com/office/drawing/2014/main" id="{F24D305D-681E-48CE-B685-988388E7CFED}"/>
              </a:ext>
            </a:extLst>
          </p:cNvPr>
          <p:cNvSpPr>
            <a:spLocks noGrp="1"/>
          </p:cNvSpPr>
          <p:nvPr>
            <p:ph idx="1"/>
          </p:nvPr>
        </p:nvSpPr>
        <p:spPr>
          <a:xfrm>
            <a:off x="719666" y="1405466"/>
            <a:ext cx="7721601" cy="1405468"/>
          </a:xfrm>
        </p:spPr>
        <p:txBody>
          <a:bodyPr/>
          <a:lstStyle/>
          <a:p>
            <a:r>
              <a:rPr lang="en-US" dirty="0"/>
              <a:t>Deep artificial neural networks (ANN) usually process images in layers</a:t>
            </a:r>
          </a:p>
          <a:p>
            <a:pPr lvl="1"/>
            <a:r>
              <a:rPr lang="en-US" dirty="0"/>
              <a:t>Each layer works at a slightly higher level</a:t>
            </a:r>
          </a:p>
        </p:txBody>
      </p:sp>
      <p:sp>
        <p:nvSpPr>
          <p:cNvPr id="4" name="Footer Placeholder 3">
            <a:extLst>
              <a:ext uri="{FF2B5EF4-FFF2-40B4-BE49-F238E27FC236}">
                <a16:creationId xmlns:a16="http://schemas.microsoft.com/office/drawing/2014/main" id="{21A27297-138C-40CA-B8B2-31537FA0569B}"/>
              </a:ext>
            </a:extLst>
          </p:cNvPr>
          <p:cNvSpPr>
            <a:spLocks noGrp="1"/>
          </p:cNvSpPr>
          <p:nvPr>
            <p:ph type="ftr" sz="quarter" idx="11"/>
          </p:nvPr>
        </p:nvSpPr>
        <p:spPr>
          <a:xfrm>
            <a:off x="5147736" y="6474647"/>
            <a:ext cx="2937933" cy="215444"/>
          </a:xfrm>
        </p:spPr>
        <p:txBody>
          <a:bodyPr/>
          <a:lstStyle/>
          <a:p>
            <a:pPr>
              <a:defRPr/>
            </a:pPr>
            <a:r>
              <a:rPr lang="en-US" dirty="0"/>
              <a:t>Bioelectricity Joel Grodstein</a:t>
            </a:r>
          </a:p>
        </p:txBody>
      </p:sp>
      <p:pic>
        <p:nvPicPr>
          <p:cNvPr id="6" name="Picture 5">
            <a:extLst>
              <a:ext uri="{FF2B5EF4-FFF2-40B4-BE49-F238E27FC236}">
                <a16:creationId xmlns:a16="http://schemas.microsoft.com/office/drawing/2014/main" id="{6C23BA5E-AC68-4109-AFDD-8398C249FC7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52538" y="3012015"/>
            <a:ext cx="4953653" cy="3024717"/>
          </a:xfrm>
          <a:prstGeom prst="rect">
            <a:avLst/>
          </a:prstGeom>
        </p:spPr>
      </p:pic>
      <p:sp>
        <p:nvSpPr>
          <p:cNvPr id="10" name="TextBox 9">
            <a:extLst>
              <a:ext uri="{FF2B5EF4-FFF2-40B4-BE49-F238E27FC236}">
                <a16:creationId xmlns:a16="http://schemas.microsoft.com/office/drawing/2014/main" id="{919D7CA4-D6E0-42D5-BFBD-E0EBDF188C45}"/>
              </a:ext>
            </a:extLst>
          </p:cNvPr>
          <p:cNvSpPr txBox="1"/>
          <p:nvPr/>
        </p:nvSpPr>
        <p:spPr>
          <a:xfrm>
            <a:off x="203200" y="6372018"/>
            <a:ext cx="4326467" cy="369332"/>
          </a:xfrm>
          <a:prstGeom prst="rect">
            <a:avLst/>
          </a:prstGeom>
          <a:noFill/>
        </p:spPr>
        <p:txBody>
          <a:bodyPr wrap="square" rtlCol="0">
            <a:spAutoFit/>
          </a:bodyPr>
          <a:lstStyle/>
          <a:p>
            <a:r>
              <a:rPr lang="en-US" sz="1800" dirty="0"/>
              <a:t>Credit: </a:t>
            </a:r>
            <a:r>
              <a:rPr lang="en-US" sz="1800" i="1" dirty="0"/>
              <a:t>The bioelectric code… </a:t>
            </a:r>
            <a:r>
              <a:rPr lang="en-US" sz="1800" dirty="0"/>
              <a:t>(Justin </a:t>
            </a:r>
            <a:r>
              <a:rPr lang="en-US" sz="1800" dirty="0" err="1"/>
              <a:t>Guay</a:t>
            </a:r>
            <a:r>
              <a:rPr lang="en-US" sz="1800" dirty="0"/>
              <a:t>)</a:t>
            </a:r>
          </a:p>
        </p:txBody>
      </p:sp>
      <p:sp>
        <p:nvSpPr>
          <p:cNvPr id="5" name="TextBox 4">
            <a:extLst>
              <a:ext uri="{FF2B5EF4-FFF2-40B4-BE49-F238E27FC236}">
                <a16:creationId xmlns:a16="http://schemas.microsoft.com/office/drawing/2014/main" id="{BD0DDFC9-14BC-46C7-9722-7D6C4556E587}"/>
              </a:ext>
            </a:extLst>
          </p:cNvPr>
          <p:cNvSpPr txBox="1"/>
          <p:nvPr/>
        </p:nvSpPr>
        <p:spPr>
          <a:xfrm>
            <a:off x="387927" y="443345"/>
            <a:ext cx="2022764" cy="461665"/>
          </a:xfrm>
          <a:prstGeom prst="rect">
            <a:avLst/>
          </a:prstGeom>
          <a:noFill/>
          <a:ln w="28575">
            <a:solidFill>
              <a:srgbClr val="FF0000"/>
            </a:solidFill>
          </a:ln>
        </p:spPr>
        <p:txBody>
          <a:bodyPr wrap="square" rtlCol="0">
            <a:spAutoFit/>
          </a:bodyPr>
          <a:lstStyle/>
          <a:p>
            <a:r>
              <a:rPr lang="en-US" b="1" dirty="0">
                <a:solidFill>
                  <a:srgbClr val="FF0000"/>
                </a:solidFill>
              </a:rPr>
              <a:t>BACKUP</a:t>
            </a:r>
          </a:p>
        </p:txBody>
      </p:sp>
    </p:spTree>
    <p:extLst>
      <p:ext uri="{BB962C8B-B14F-4D97-AF65-F5344CB8AC3E}">
        <p14:creationId xmlns:p14="http://schemas.microsoft.com/office/powerpoint/2010/main" val="2385550206"/>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70F007-6685-4DB4-BCB0-9D8514A8D5A0}"/>
              </a:ext>
            </a:extLst>
          </p:cNvPr>
          <p:cNvSpPr>
            <a:spLocks noGrp="1"/>
          </p:cNvSpPr>
          <p:nvPr>
            <p:ph type="title"/>
          </p:nvPr>
        </p:nvSpPr>
        <p:spPr/>
        <p:txBody>
          <a:bodyPr/>
          <a:lstStyle/>
          <a:p>
            <a:r>
              <a:rPr lang="en-US" dirty="0"/>
              <a:t>ANN inside animals?</a:t>
            </a:r>
          </a:p>
        </p:txBody>
      </p:sp>
      <p:sp>
        <p:nvSpPr>
          <p:cNvPr id="3" name="Content Placeholder 2">
            <a:extLst>
              <a:ext uri="{FF2B5EF4-FFF2-40B4-BE49-F238E27FC236}">
                <a16:creationId xmlns:a16="http://schemas.microsoft.com/office/drawing/2014/main" id="{C878125A-5F67-4846-B390-BA02892D8EA9}"/>
              </a:ext>
            </a:extLst>
          </p:cNvPr>
          <p:cNvSpPr>
            <a:spLocks noGrp="1"/>
          </p:cNvSpPr>
          <p:nvPr>
            <p:ph idx="1"/>
          </p:nvPr>
        </p:nvSpPr>
        <p:spPr>
          <a:xfrm>
            <a:off x="614778" y="1969363"/>
            <a:ext cx="4876800" cy="3623570"/>
          </a:xfrm>
        </p:spPr>
        <p:txBody>
          <a:bodyPr/>
          <a:lstStyle/>
          <a:p>
            <a:r>
              <a:rPr lang="en-US" sz="2400" dirty="0"/>
              <a:t>Hypothesis: ANNs can simplify &amp; abstract the shape images</a:t>
            </a:r>
          </a:p>
          <a:p>
            <a:r>
              <a:rPr lang="en-US" sz="2400" dirty="0"/>
              <a:t>Any evidence for this?</a:t>
            </a:r>
          </a:p>
          <a:p>
            <a:r>
              <a:rPr lang="en-US" sz="2400" dirty="0"/>
              <a:t>Not really </a:t>
            </a:r>
            <a:r>
              <a:rPr lang="en-US" sz="2400" dirty="0">
                <a:sym typeface="Wingdings" panose="05000000000000000000" pitchFamily="2" charset="2"/>
              </a:rPr>
              <a:t>. But…</a:t>
            </a:r>
            <a:endParaRPr lang="en-US" sz="2400" dirty="0"/>
          </a:p>
          <a:p>
            <a:pPr lvl="1"/>
            <a:r>
              <a:rPr lang="en-US" sz="2000" dirty="0"/>
              <a:t>less data for the deer for keep?</a:t>
            </a:r>
          </a:p>
          <a:p>
            <a:pPr lvl="1"/>
            <a:r>
              <a:rPr lang="en-US" sz="2000" dirty="0"/>
              <a:t>comparison is easier at a high level?</a:t>
            </a:r>
          </a:p>
          <a:p>
            <a:r>
              <a:rPr lang="en-US" sz="2400" dirty="0"/>
              <a:t>And one more piece of data…</a:t>
            </a:r>
          </a:p>
          <a:p>
            <a:endParaRPr lang="en-US" sz="2400" dirty="0"/>
          </a:p>
          <a:p>
            <a:pPr lvl="1"/>
            <a:endParaRPr lang="en-US" sz="2000" dirty="0"/>
          </a:p>
          <a:p>
            <a:endParaRPr lang="en-US" sz="2400" dirty="0"/>
          </a:p>
          <a:p>
            <a:endParaRPr lang="en-US" sz="1800" dirty="0"/>
          </a:p>
          <a:p>
            <a:pPr marL="0" indent="0">
              <a:buNone/>
            </a:pPr>
            <a:endParaRPr lang="en-US" dirty="0"/>
          </a:p>
        </p:txBody>
      </p:sp>
      <p:sp>
        <p:nvSpPr>
          <p:cNvPr id="4" name="Footer Placeholder 3">
            <a:extLst>
              <a:ext uri="{FF2B5EF4-FFF2-40B4-BE49-F238E27FC236}">
                <a16:creationId xmlns:a16="http://schemas.microsoft.com/office/drawing/2014/main" id="{E8AD74FA-D849-4265-8D58-493EB7A3DCF7}"/>
              </a:ext>
            </a:extLst>
          </p:cNvPr>
          <p:cNvSpPr>
            <a:spLocks noGrp="1"/>
          </p:cNvSpPr>
          <p:nvPr>
            <p:ph type="ftr" sz="quarter" idx="11"/>
          </p:nvPr>
        </p:nvSpPr>
        <p:spPr/>
        <p:txBody>
          <a:bodyPr/>
          <a:lstStyle/>
          <a:p>
            <a:pPr>
              <a:defRPr/>
            </a:pPr>
            <a:r>
              <a:rPr lang="en-US" dirty="0"/>
              <a:t>Bioelectricity Joel Grodstein</a:t>
            </a:r>
          </a:p>
        </p:txBody>
      </p:sp>
      <p:cxnSp>
        <p:nvCxnSpPr>
          <p:cNvPr id="13" name="Straight Connector 12">
            <a:extLst>
              <a:ext uri="{FF2B5EF4-FFF2-40B4-BE49-F238E27FC236}">
                <a16:creationId xmlns:a16="http://schemas.microsoft.com/office/drawing/2014/main" id="{5A85AD53-3E22-4C72-A034-627520D2C9A8}"/>
              </a:ext>
            </a:extLst>
          </p:cNvPr>
          <p:cNvCxnSpPr/>
          <p:nvPr/>
        </p:nvCxnSpPr>
        <p:spPr>
          <a:xfrm>
            <a:off x="6273800" y="3826933"/>
            <a:ext cx="2413000" cy="0"/>
          </a:xfrm>
          <a:prstGeom prst="line">
            <a:avLst/>
          </a:prstGeom>
          <a:ln w="28575">
            <a:solidFill>
              <a:schemeClr val="accent2"/>
            </a:solidFill>
            <a:prstDash val="dash"/>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37B89BD1-6B90-408F-947C-F8AF7AB778F6}"/>
              </a:ext>
            </a:extLst>
          </p:cNvPr>
          <p:cNvSpPr txBox="1"/>
          <p:nvPr/>
        </p:nvSpPr>
        <p:spPr>
          <a:xfrm>
            <a:off x="8195733" y="3437467"/>
            <a:ext cx="719667" cy="461665"/>
          </a:xfrm>
          <a:prstGeom prst="rect">
            <a:avLst/>
          </a:prstGeom>
          <a:noFill/>
        </p:spPr>
        <p:txBody>
          <a:bodyPr wrap="square" rtlCol="0">
            <a:spAutoFit/>
          </a:bodyPr>
          <a:lstStyle/>
          <a:p>
            <a:r>
              <a:rPr lang="en-US" dirty="0"/>
              <a:t>API</a:t>
            </a:r>
          </a:p>
        </p:txBody>
      </p:sp>
      <p:sp>
        <p:nvSpPr>
          <p:cNvPr id="16" name="Arrow: Down 15">
            <a:extLst>
              <a:ext uri="{FF2B5EF4-FFF2-40B4-BE49-F238E27FC236}">
                <a16:creationId xmlns:a16="http://schemas.microsoft.com/office/drawing/2014/main" id="{250F2FA4-5DC7-493A-801B-F0FB24242336}"/>
              </a:ext>
            </a:extLst>
          </p:cNvPr>
          <p:cNvSpPr/>
          <p:nvPr/>
        </p:nvSpPr>
        <p:spPr>
          <a:xfrm>
            <a:off x="8036247" y="3573532"/>
            <a:ext cx="262466" cy="795867"/>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Arrow: Down 19">
            <a:extLst>
              <a:ext uri="{FF2B5EF4-FFF2-40B4-BE49-F238E27FC236}">
                <a16:creationId xmlns:a16="http://schemas.microsoft.com/office/drawing/2014/main" id="{BFA61DA1-FED9-4D52-A9C8-1ABF4AC74B96}"/>
              </a:ext>
            </a:extLst>
          </p:cNvPr>
          <p:cNvSpPr/>
          <p:nvPr/>
        </p:nvSpPr>
        <p:spPr>
          <a:xfrm>
            <a:off x="6498070" y="4136065"/>
            <a:ext cx="242971" cy="290035"/>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extBox 16">
            <a:extLst>
              <a:ext uri="{FF2B5EF4-FFF2-40B4-BE49-F238E27FC236}">
                <a16:creationId xmlns:a16="http://schemas.microsoft.com/office/drawing/2014/main" id="{AE5C8556-D1CE-4646-BADB-5F4CAFF954D5}"/>
              </a:ext>
            </a:extLst>
          </p:cNvPr>
          <p:cNvSpPr txBox="1"/>
          <p:nvPr/>
        </p:nvSpPr>
        <p:spPr>
          <a:xfrm>
            <a:off x="7746999" y="4275670"/>
            <a:ext cx="897468" cy="400110"/>
          </a:xfrm>
          <a:prstGeom prst="rect">
            <a:avLst/>
          </a:prstGeom>
          <a:noFill/>
        </p:spPr>
        <p:txBody>
          <a:bodyPr wrap="square" rtlCol="0">
            <a:spAutoFit/>
          </a:bodyPr>
          <a:lstStyle/>
          <a:p>
            <a:r>
              <a:rPr lang="en-US" sz="2000" dirty="0"/>
              <a:t>target</a:t>
            </a:r>
          </a:p>
        </p:txBody>
      </p:sp>
      <p:sp>
        <p:nvSpPr>
          <p:cNvPr id="18" name="TextBox 17">
            <a:extLst>
              <a:ext uri="{FF2B5EF4-FFF2-40B4-BE49-F238E27FC236}">
                <a16:creationId xmlns:a16="http://schemas.microsoft.com/office/drawing/2014/main" id="{EE3BC477-9105-4CC2-907F-6E2B9B37C75C}"/>
              </a:ext>
            </a:extLst>
          </p:cNvPr>
          <p:cNvSpPr txBox="1"/>
          <p:nvPr/>
        </p:nvSpPr>
        <p:spPr>
          <a:xfrm>
            <a:off x="6180665" y="4343403"/>
            <a:ext cx="939801" cy="400110"/>
          </a:xfrm>
          <a:prstGeom prst="rect">
            <a:avLst/>
          </a:prstGeom>
          <a:noFill/>
        </p:spPr>
        <p:txBody>
          <a:bodyPr wrap="square" rtlCol="0">
            <a:spAutoFit/>
          </a:bodyPr>
          <a:lstStyle/>
          <a:p>
            <a:r>
              <a:rPr lang="en-US" sz="2000" dirty="0"/>
              <a:t>current</a:t>
            </a:r>
          </a:p>
        </p:txBody>
      </p:sp>
      <p:grpSp>
        <p:nvGrpSpPr>
          <p:cNvPr id="8" name="Group 7">
            <a:extLst>
              <a:ext uri="{FF2B5EF4-FFF2-40B4-BE49-F238E27FC236}">
                <a16:creationId xmlns:a16="http://schemas.microsoft.com/office/drawing/2014/main" id="{5A43DE30-2D83-484E-8DF8-73C1EC182F9B}"/>
              </a:ext>
            </a:extLst>
          </p:cNvPr>
          <p:cNvGrpSpPr/>
          <p:nvPr/>
        </p:nvGrpSpPr>
        <p:grpSpPr>
          <a:xfrm>
            <a:off x="6266565" y="4403078"/>
            <a:ext cx="2523067" cy="2057484"/>
            <a:chOff x="6239932" y="4394200"/>
            <a:chExt cx="2523067" cy="2057484"/>
          </a:xfrm>
        </p:grpSpPr>
        <p:sp>
          <p:nvSpPr>
            <p:cNvPr id="15" name="TextBox 14">
              <a:extLst>
                <a:ext uri="{FF2B5EF4-FFF2-40B4-BE49-F238E27FC236}">
                  <a16:creationId xmlns:a16="http://schemas.microsoft.com/office/drawing/2014/main" id="{BCA7AFAD-28BE-46F0-8FDA-7CD8CAE480B5}"/>
                </a:ext>
              </a:extLst>
            </p:cNvPr>
            <p:cNvSpPr txBox="1"/>
            <p:nvPr/>
          </p:nvSpPr>
          <p:spPr>
            <a:xfrm>
              <a:off x="6239932" y="4394200"/>
              <a:ext cx="2523067" cy="1100667"/>
            </a:xfrm>
            <a:prstGeom prst="rect">
              <a:avLst/>
            </a:prstGeom>
            <a:noFill/>
            <a:ln w="12700">
              <a:noFill/>
            </a:ln>
          </p:spPr>
          <p:txBody>
            <a:bodyPr wrap="square" rtlCol="0" anchor="ctr" anchorCtr="0">
              <a:noAutofit/>
            </a:bodyPr>
            <a:lstStyle/>
            <a:p>
              <a:pPr algn="ctr"/>
              <a:r>
                <a:rPr lang="en-US" dirty="0"/>
                <a:t>compare</a:t>
              </a:r>
            </a:p>
          </p:txBody>
        </p:sp>
        <p:sp>
          <p:nvSpPr>
            <p:cNvPr id="19" name="TextBox 18">
              <a:extLst>
                <a:ext uri="{FF2B5EF4-FFF2-40B4-BE49-F238E27FC236}">
                  <a16:creationId xmlns:a16="http://schemas.microsoft.com/office/drawing/2014/main" id="{A60217E7-E666-4240-B818-5C684C4C2747}"/>
                </a:ext>
              </a:extLst>
            </p:cNvPr>
            <p:cNvSpPr txBox="1"/>
            <p:nvPr/>
          </p:nvSpPr>
          <p:spPr>
            <a:xfrm>
              <a:off x="6742614" y="5620687"/>
              <a:ext cx="1455086" cy="830997"/>
            </a:xfrm>
            <a:prstGeom prst="rect">
              <a:avLst/>
            </a:prstGeom>
            <a:noFill/>
          </p:spPr>
          <p:txBody>
            <a:bodyPr wrap="square" rtlCol="0">
              <a:spAutoFit/>
            </a:bodyPr>
            <a:lstStyle/>
            <a:p>
              <a:pPr algn="ctr"/>
              <a:r>
                <a:rPr lang="en-US" dirty="0"/>
                <a:t>growth directions</a:t>
              </a:r>
            </a:p>
          </p:txBody>
        </p:sp>
        <p:sp>
          <p:nvSpPr>
            <p:cNvPr id="21" name="Arrow: Down 20">
              <a:extLst>
                <a:ext uri="{FF2B5EF4-FFF2-40B4-BE49-F238E27FC236}">
                  <a16:creationId xmlns:a16="http://schemas.microsoft.com/office/drawing/2014/main" id="{E92B2EE0-8AF6-44A9-99D1-E154FBF54ECF}"/>
                </a:ext>
              </a:extLst>
            </p:cNvPr>
            <p:cNvSpPr/>
            <p:nvPr/>
          </p:nvSpPr>
          <p:spPr>
            <a:xfrm>
              <a:off x="7373484" y="5231220"/>
              <a:ext cx="218164" cy="612554"/>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3" name="TextBox 22">
            <a:extLst>
              <a:ext uri="{FF2B5EF4-FFF2-40B4-BE49-F238E27FC236}">
                <a16:creationId xmlns:a16="http://schemas.microsoft.com/office/drawing/2014/main" id="{87C33C5D-AEF6-4B39-B1CC-AD542F740606}"/>
              </a:ext>
            </a:extLst>
          </p:cNvPr>
          <p:cNvSpPr txBox="1"/>
          <p:nvPr/>
        </p:nvSpPr>
        <p:spPr>
          <a:xfrm>
            <a:off x="7733929" y="4715520"/>
            <a:ext cx="852257" cy="461665"/>
          </a:xfrm>
          <a:prstGeom prst="rect">
            <a:avLst/>
          </a:prstGeom>
          <a:noFill/>
          <a:ln>
            <a:solidFill>
              <a:schemeClr val="accent2"/>
            </a:solidFill>
          </a:ln>
        </p:spPr>
        <p:txBody>
          <a:bodyPr wrap="square" rtlCol="0">
            <a:spAutoFit/>
          </a:bodyPr>
          <a:lstStyle/>
          <a:p>
            <a:r>
              <a:rPr lang="en-US" dirty="0"/>
              <a:t>ANN</a:t>
            </a:r>
          </a:p>
        </p:txBody>
      </p:sp>
      <p:sp>
        <p:nvSpPr>
          <p:cNvPr id="24" name="TextBox 23">
            <a:extLst>
              <a:ext uri="{FF2B5EF4-FFF2-40B4-BE49-F238E27FC236}">
                <a16:creationId xmlns:a16="http://schemas.microsoft.com/office/drawing/2014/main" id="{DCD835B2-827E-497C-88E1-22531B82F908}"/>
              </a:ext>
            </a:extLst>
          </p:cNvPr>
          <p:cNvSpPr txBox="1"/>
          <p:nvPr/>
        </p:nvSpPr>
        <p:spPr>
          <a:xfrm>
            <a:off x="6265584" y="2483037"/>
            <a:ext cx="2230349" cy="830997"/>
          </a:xfrm>
          <a:prstGeom prst="rect">
            <a:avLst/>
          </a:prstGeom>
          <a:noFill/>
          <a:ln w="12700">
            <a:solidFill>
              <a:schemeClr val="accent2"/>
            </a:solidFill>
          </a:ln>
        </p:spPr>
        <p:txBody>
          <a:bodyPr wrap="square" rtlCol="0">
            <a:spAutoFit/>
          </a:bodyPr>
          <a:lstStyle/>
          <a:p>
            <a:pPr algn="ctr"/>
            <a:r>
              <a:rPr lang="en-US" dirty="0"/>
              <a:t>Create </a:t>
            </a:r>
            <a:r>
              <a:rPr lang="en-US" i="1" dirty="0" err="1"/>
              <a:t>V</a:t>
            </a:r>
            <a:r>
              <a:rPr lang="en-US" baseline="-25000" dirty="0" err="1"/>
              <a:t>mem</a:t>
            </a:r>
            <a:r>
              <a:rPr lang="en-US" dirty="0"/>
              <a:t> pattern with GJs</a:t>
            </a:r>
          </a:p>
        </p:txBody>
      </p:sp>
      <p:sp>
        <p:nvSpPr>
          <p:cNvPr id="25" name="TextBox 24">
            <a:extLst>
              <a:ext uri="{FF2B5EF4-FFF2-40B4-BE49-F238E27FC236}">
                <a16:creationId xmlns:a16="http://schemas.microsoft.com/office/drawing/2014/main" id="{A8B7529E-AC22-41B1-95AA-80FD87DCA7BD}"/>
              </a:ext>
            </a:extLst>
          </p:cNvPr>
          <p:cNvSpPr txBox="1"/>
          <p:nvPr/>
        </p:nvSpPr>
        <p:spPr>
          <a:xfrm>
            <a:off x="6306103" y="4708124"/>
            <a:ext cx="852257" cy="461665"/>
          </a:xfrm>
          <a:prstGeom prst="rect">
            <a:avLst/>
          </a:prstGeom>
          <a:noFill/>
          <a:ln>
            <a:solidFill>
              <a:schemeClr val="accent2"/>
            </a:solidFill>
          </a:ln>
        </p:spPr>
        <p:txBody>
          <a:bodyPr wrap="square" rtlCol="0">
            <a:spAutoFit/>
          </a:bodyPr>
          <a:lstStyle/>
          <a:p>
            <a:r>
              <a:rPr lang="en-US" dirty="0"/>
              <a:t>ANN</a:t>
            </a:r>
          </a:p>
        </p:txBody>
      </p:sp>
      <p:sp>
        <p:nvSpPr>
          <p:cNvPr id="22" name="TextBox 21">
            <a:extLst>
              <a:ext uri="{FF2B5EF4-FFF2-40B4-BE49-F238E27FC236}">
                <a16:creationId xmlns:a16="http://schemas.microsoft.com/office/drawing/2014/main" id="{2307D902-3F6E-4954-A459-F3C3B79500F0}"/>
              </a:ext>
            </a:extLst>
          </p:cNvPr>
          <p:cNvSpPr txBox="1"/>
          <p:nvPr/>
        </p:nvSpPr>
        <p:spPr>
          <a:xfrm>
            <a:off x="387927" y="443345"/>
            <a:ext cx="1514764" cy="461665"/>
          </a:xfrm>
          <a:prstGeom prst="rect">
            <a:avLst/>
          </a:prstGeom>
          <a:noFill/>
          <a:ln w="28575">
            <a:solidFill>
              <a:srgbClr val="FF0000"/>
            </a:solidFill>
          </a:ln>
        </p:spPr>
        <p:txBody>
          <a:bodyPr wrap="square" rtlCol="0">
            <a:spAutoFit/>
          </a:bodyPr>
          <a:lstStyle/>
          <a:p>
            <a:r>
              <a:rPr lang="en-US" b="1" dirty="0">
                <a:solidFill>
                  <a:srgbClr val="FF0000"/>
                </a:solidFill>
              </a:rPr>
              <a:t>BACKUP</a:t>
            </a:r>
          </a:p>
        </p:txBody>
      </p:sp>
    </p:spTree>
    <p:extLst>
      <p:ext uri="{BB962C8B-B14F-4D97-AF65-F5344CB8AC3E}">
        <p14:creationId xmlns:p14="http://schemas.microsoft.com/office/powerpoint/2010/main" val="32326758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3"/>
                                        </p:tgtEl>
                                        <p:attrNameLst>
                                          <p:attrName>style.visibility</p:attrName>
                                        </p:attrNameLst>
                                      </p:cBhvr>
                                      <p:to>
                                        <p:strVal val="visible"/>
                                      </p:to>
                                    </p:set>
                                    <p:animEffect transition="in" filter="fade">
                                      <p:cBhvr>
                                        <p:cTn id="7" dur="500"/>
                                        <p:tgtEl>
                                          <p:spTgt spid="23"/>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5"/>
                                        </p:tgtEl>
                                        <p:attrNameLst>
                                          <p:attrName>style.visibility</p:attrName>
                                        </p:attrNameLst>
                                      </p:cBhvr>
                                      <p:to>
                                        <p:strVal val="visible"/>
                                      </p:to>
                                    </p:set>
                                    <p:animEffect transition="in" filter="fade">
                                      <p:cBhvr>
                                        <p:cTn id="10" dur="500"/>
                                        <p:tgtEl>
                                          <p:spTgt spid="25"/>
                                        </p:tgtEl>
                                      </p:cBhvr>
                                    </p:animEffect>
                                  </p:childTnLst>
                                </p:cTn>
                              </p:par>
                              <p:par>
                                <p:cTn id="11" presetID="42" presetClass="path" presetSubtype="0" accel="50000" decel="50000" fill="hold" nodeType="withEffect">
                                  <p:stCondLst>
                                    <p:cond delay="0"/>
                                  </p:stCondLst>
                                  <p:childTnLst>
                                    <p:animMotion origin="layout" path="M -3.88889E-6 3.7037E-7 L -3.88889E-6 0.05208 " pathEditMode="relative" rAng="0" ptsTypes="AA">
                                      <p:cBhvr>
                                        <p:cTn id="12" dur="2000" fill="hold"/>
                                        <p:tgtEl>
                                          <p:spTgt spid="8"/>
                                        </p:tgtEl>
                                        <p:attrNameLst>
                                          <p:attrName>ppt_x</p:attrName>
                                          <p:attrName>ppt_y</p:attrName>
                                        </p:attrNameLst>
                                      </p:cBhvr>
                                      <p:rCtr x="0" y="2593"/>
                                    </p:animMotion>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1" end="1"/>
                                            </p:txEl>
                                          </p:spTgt>
                                        </p:tgtEl>
                                        <p:attrNameLst>
                                          <p:attrName>style.visibility</p:attrName>
                                        </p:attrNameLst>
                                      </p:cBhvr>
                                      <p:to>
                                        <p:strVal val="visible"/>
                                      </p:to>
                                    </p:set>
                                    <p:animEffect transition="in" filter="fade">
                                      <p:cBhvr>
                                        <p:cTn id="17" dur="500"/>
                                        <p:tgtEl>
                                          <p:spTgt spid="3">
                                            <p:txEl>
                                              <p:pRg st="1" end="1"/>
                                            </p:txEl>
                                          </p:spTgt>
                                        </p:tgtEl>
                                      </p:cBhvr>
                                    </p:animEffect>
                                  </p:childTnLst>
                                </p:cTn>
                              </p:par>
                              <p:par>
                                <p:cTn id="18" presetID="10" presetClass="entr" presetSubtype="0" fill="hold" nodeType="withEffect">
                                  <p:stCondLst>
                                    <p:cond delay="0"/>
                                  </p:stCondLst>
                                  <p:childTnLst>
                                    <p:set>
                                      <p:cBhvr>
                                        <p:cTn id="19" dur="1" fill="hold">
                                          <p:stCondLst>
                                            <p:cond delay="0"/>
                                          </p:stCondLst>
                                        </p:cTn>
                                        <p:tgtEl>
                                          <p:spTgt spid="3">
                                            <p:txEl>
                                              <p:pRg st="2" end="2"/>
                                            </p:txEl>
                                          </p:spTgt>
                                        </p:tgtEl>
                                        <p:attrNameLst>
                                          <p:attrName>style.visibility</p:attrName>
                                        </p:attrNameLst>
                                      </p:cBhvr>
                                      <p:to>
                                        <p:strVal val="visible"/>
                                      </p:to>
                                    </p:set>
                                    <p:animEffect transition="in" filter="fade">
                                      <p:cBhvr>
                                        <p:cTn id="20" dur="500"/>
                                        <p:tgtEl>
                                          <p:spTgt spid="3">
                                            <p:txEl>
                                              <p:pRg st="2" end="2"/>
                                            </p:txEl>
                                          </p:spTgt>
                                        </p:tgtEl>
                                      </p:cBhvr>
                                    </p:animEffect>
                                  </p:childTnLst>
                                </p:cTn>
                              </p:par>
                              <p:par>
                                <p:cTn id="21" presetID="10" presetClass="entr" presetSubtype="0" fill="hold" nodeType="withEffect">
                                  <p:stCondLst>
                                    <p:cond delay="0"/>
                                  </p:stCondLst>
                                  <p:childTnLst>
                                    <p:set>
                                      <p:cBhvr>
                                        <p:cTn id="22" dur="1" fill="hold">
                                          <p:stCondLst>
                                            <p:cond delay="0"/>
                                          </p:stCondLst>
                                        </p:cTn>
                                        <p:tgtEl>
                                          <p:spTgt spid="3">
                                            <p:txEl>
                                              <p:pRg st="3" end="3"/>
                                            </p:txEl>
                                          </p:spTgt>
                                        </p:tgtEl>
                                        <p:attrNameLst>
                                          <p:attrName>style.visibility</p:attrName>
                                        </p:attrNameLst>
                                      </p:cBhvr>
                                      <p:to>
                                        <p:strVal val="visible"/>
                                      </p:to>
                                    </p:set>
                                    <p:animEffect transition="in" filter="fade">
                                      <p:cBhvr>
                                        <p:cTn id="23" dur="500"/>
                                        <p:tgtEl>
                                          <p:spTgt spid="3">
                                            <p:txEl>
                                              <p:pRg st="3" end="3"/>
                                            </p:txEl>
                                          </p:spTgt>
                                        </p:tgtEl>
                                      </p:cBhvr>
                                    </p:animEffect>
                                  </p:childTnLst>
                                </p:cTn>
                              </p:par>
                              <p:par>
                                <p:cTn id="24" presetID="10" presetClass="entr" presetSubtype="0" fill="hold" nodeType="withEffect">
                                  <p:stCondLst>
                                    <p:cond delay="0"/>
                                  </p:stCondLst>
                                  <p:childTnLst>
                                    <p:set>
                                      <p:cBhvr>
                                        <p:cTn id="25" dur="1" fill="hold">
                                          <p:stCondLst>
                                            <p:cond delay="0"/>
                                          </p:stCondLst>
                                        </p:cTn>
                                        <p:tgtEl>
                                          <p:spTgt spid="3">
                                            <p:txEl>
                                              <p:pRg st="4" end="4"/>
                                            </p:txEl>
                                          </p:spTgt>
                                        </p:tgtEl>
                                        <p:attrNameLst>
                                          <p:attrName>style.visibility</p:attrName>
                                        </p:attrNameLst>
                                      </p:cBhvr>
                                      <p:to>
                                        <p:strVal val="visible"/>
                                      </p:to>
                                    </p:set>
                                    <p:animEffect transition="in" filter="fade">
                                      <p:cBhvr>
                                        <p:cTn id="26" dur="500"/>
                                        <p:tgtEl>
                                          <p:spTgt spid="3">
                                            <p:txEl>
                                              <p:pRg st="4" end="4"/>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nodeType="clickEffect">
                                  <p:stCondLst>
                                    <p:cond delay="0"/>
                                  </p:stCondLst>
                                  <p:childTnLst>
                                    <p:set>
                                      <p:cBhvr>
                                        <p:cTn id="30" dur="1" fill="hold">
                                          <p:stCondLst>
                                            <p:cond delay="0"/>
                                          </p:stCondLst>
                                        </p:cTn>
                                        <p:tgtEl>
                                          <p:spTgt spid="3">
                                            <p:txEl>
                                              <p:pRg st="5" end="5"/>
                                            </p:txEl>
                                          </p:spTgt>
                                        </p:tgtEl>
                                        <p:attrNameLst>
                                          <p:attrName>style.visibility</p:attrName>
                                        </p:attrNameLst>
                                      </p:cBhvr>
                                      <p:to>
                                        <p:strVal val="visible"/>
                                      </p:to>
                                    </p:set>
                                    <p:animEffect transition="in" filter="fade">
                                      <p:cBhvr>
                                        <p:cTn id="31"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animBg="1"/>
      <p:bldP spid="25" grpId="0" animBg="1"/>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87926AC-9AE0-4A60-8777-964836539A0E}"/>
              </a:ext>
            </a:extLst>
          </p:cNvPr>
          <p:cNvSpPr>
            <a:spLocks noGrp="1"/>
          </p:cNvSpPr>
          <p:nvPr>
            <p:ph idx="1"/>
          </p:nvPr>
        </p:nvSpPr>
        <p:spPr>
          <a:xfrm>
            <a:off x="973666" y="4428068"/>
            <a:ext cx="7484533" cy="1413932"/>
          </a:xfrm>
        </p:spPr>
        <p:txBody>
          <a:bodyPr/>
          <a:lstStyle/>
          <a:p>
            <a:r>
              <a:rPr lang="en-US" sz="2000" dirty="0"/>
              <a:t>A simple character-recognition neural network also picks the most likely character for any input image</a:t>
            </a:r>
          </a:p>
          <a:p>
            <a:r>
              <a:rPr lang="en-US" sz="2000" dirty="0"/>
              <a:t>Many stabilization processes are modeled as a free-energy landscape</a:t>
            </a:r>
          </a:p>
        </p:txBody>
      </p:sp>
      <p:sp>
        <p:nvSpPr>
          <p:cNvPr id="4" name="Footer Placeholder 3">
            <a:extLst>
              <a:ext uri="{FF2B5EF4-FFF2-40B4-BE49-F238E27FC236}">
                <a16:creationId xmlns:a16="http://schemas.microsoft.com/office/drawing/2014/main" id="{7B416448-2F75-4B01-9DEA-374F31C0A4BD}"/>
              </a:ext>
            </a:extLst>
          </p:cNvPr>
          <p:cNvSpPr>
            <a:spLocks noGrp="1"/>
          </p:cNvSpPr>
          <p:nvPr>
            <p:ph type="ftr" sz="quarter" idx="11"/>
          </p:nvPr>
        </p:nvSpPr>
        <p:spPr>
          <a:xfrm>
            <a:off x="6053674" y="6477006"/>
            <a:ext cx="2895600" cy="215444"/>
          </a:xfrm>
        </p:spPr>
        <p:txBody>
          <a:bodyPr>
            <a:spAutoFit/>
          </a:bodyPr>
          <a:lstStyle/>
          <a:p>
            <a:pPr>
              <a:defRPr/>
            </a:pPr>
            <a:r>
              <a:rPr lang="en-US" dirty="0"/>
              <a:t>Bioelectricity Joel Grodstein</a:t>
            </a:r>
          </a:p>
        </p:txBody>
      </p:sp>
      <p:pic>
        <p:nvPicPr>
          <p:cNvPr id="12" name="Picture 11">
            <a:extLst>
              <a:ext uri="{FF2B5EF4-FFF2-40B4-BE49-F238E27FC236}">
                <a16:creationId xmlns:a16="http://schemas.microsoft.com/office/drawing/2014/main" id="{CB0448D8-366C-46EB-9890-6CE906353EE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75371"/>
            <a:ext cx="6493933" cy="4117154"/>
          </a:xfrm>
          <a:prstGeom prst="rect">
            <a:avLst/>
          </a:prstGeom>
        </p:spPr>
      </p:pic>
      <p:sp>
        <p:nvSpPr>
          <p:cNvPr id="7" name="TextBox 6">
            <a:extLst>
              <a:ext uri="{FF2B5EF4-FFF2-40B4-BE49-F238E27FC236}">
                <a16:creationId xmlns:a16="http://schemas.microsoft.com/office/drawing/2014/main" id="{09D3268C-1B8D-43DC-9E68-39699D0F2F9D}"/>
              </a:ext>
            </a:extLst>
          </p:cNvPr>
          <p:cNvSpPr txBox="1"/>
          <p:nvPr/>
        </p:nvSpPr>
        <p:spPr>
          <a:xfrm>
            <a:off x="203200" y="6160350"/>
            <a:ext cx="8322733" cy="646331"/>
          </a:xfrm>
          <a:prstGeom prst="rect">
            <a:avLst/>
          </a:prstGeom>
          <a:noFill/>
        </p:spPr>
        <p:txBody>
          <a:bodyPr wrap="square" rtlCol="0">
            <a:spAutoFit/>
          </a:bodyPr>
          <a:lstStyle/>
          <a:p>
            <a:r>
              <a:rPr lang="en-US" sz="1800" dirty="0"/>
              <a:t>Credit: </a:t>
            </a:r>
            <a:r>
              <a:rPr lang="en-US" sz="1800" i="1" dirty="0"/>
              <a:t>The bioelectric code: an ancient computational medium for dynamic control of growth and form</a:t>
            </a:r>
            <a:r>
              <a:rPr lang="en-US" sz="1800" b="1" i="1" dirty="0"/>
              <a:t>,</a:t>
            </a:r>
            <a:r>
              <a:rPr lang="en-US" sz="1800" dirty="0"/>
              <a:t> 2018</a:t>
            </a:r>
          </a:p>
        </p:txBody>
      </p:sp>
      <p:sp>
        <p:nvSpPr>
          <p:cNvPr id="6" name="TextBox 5">
            <a:extLst>
              <a:ext uri="{FF2B5EF4-FFF2-40B4-BE49-F238E27FC236}">
                <a16:creationId xmlns:a16="http://schemas.microsoft.com/office/drawing/2014/main" id="{EC2D79A0-6048-4697-8E83-1DA9E332B16E}"/>
              </a:ext>
            </a:extLst>
          </p:cNvPr>
          <p:cNvSpPr txBox="1"/>
          <p:nvPr/>
        </p:nvSpPr>
        <p:spPr>
          <a:xfrm>
            <a:off x="6696378" y="443345"/>
            <a:ext cx="2022764" cy="461665"/>
          </a:xfrm>
          <a:prstGeom prst="rect">
            <a:avLst/>
          </a:prstGeom>
          <a:noFill/>
          <a:ln w="28575">
            <a:solidFill>
              <a:srgbClr val="FF0000"/>
            </a:solidFill>
          </a:ln>
        </p:spPr>
        <p:txBody>
          <a:bodyPr wrap="square" rtlCol="0">
            <a:spAutoFit/>
          </a:bodyPr>
          <a:lstStyle/>
          <a:p>
            <a:r>
              <a:rPr lang="en-US" b="1" dirty="0">
                <a:solidFill>
                  <a:srgbClr val="FF0000"/>
                </a:solidFill>
              </a:rPr>
              <a:t>BACKUP</a:t>
            </a:r>
          </a:p>
        </p:txBody>
      </p:sp>
    </p:spTree>
    <p:extLst>
      <p:ext uri="{BB962C8B-B14F-4D97-AF65-F5344CB8AC3E}">
        <p14:creationId xmlns:p14="http://schemas.microsoft.com/office/powerpoint/2010/main" val="1618264750"/>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539E98-F661-4A89-AF1D-69DF0AAADBD1}"/>
              </a:ext>
            </a:extLst>
          </p:cNvPr>
          <p:cNvSpPr>
            <a:spLocks noGrp="1"/>
          </p:cNvSpPr>
          <p:nvPr>
            <p:ph type="title"/>
          </p:nvPr>
        </p:nvSpPr>
        <p:spPr/>
        <p:txBody>
          <a:bodyPr/>
          <a:lstStyle/>
          <a:p>
            <a:r>
              <a:rPr lang="en-US" dirty="0"/>
              <a:t>Theories?</a:t>
            </a:r>
          </a:p>
        </p:txBody>
      </p:sp>
      <p:sp>
        <p:nvSpPr>
          <p:cNvPr id="3" name="Content Placeholder 2">
            <a:extLst>
              <a:ext uri="{FF2B5EF4-FFF2-40B4-BE49-F238E27FC236}">
                <a16:creationId xmlns:a16="http://schemas.microsoft.com/office/drawing/2014/main" id="{49DC3A05-94CB-4496-BFEC-72D1BDDFC0E0}"/>
              </a:ext>
            </a:extLst>
          </p:cNvPr>
          <p:cNvSpPr>
            <a:spLocks noGrp="1"/>
          </p:cNvSpPr>
          <p:nvPr>
            <p:ph idx="1"/>
          </p:nvPr>
        </p:nvSpPr>
        <p:spPr>
          <a:xfrm>
            <a:off x="685800" y="1185323"/>
            <a:ext cx="8144934" cy="5122344"/>
          </a:xfrm>
        </p:spPr>
        <p:txBody>
          <a:bodyPr/>
          <a:lstStyle/>
          <a:p>
            <a:r>
              <a:rPr lang="en-US" sz="2400" dirty="0"/>
              <a:t>For an organism that can regrow itself from chopped-up pieces, choosing a target is almost mandatory</a:t>
            </a:r>
          </a:p>
          <a:p>
            <a:pPr lvl="1">
              <a:spcBef>
                <a:spcPts val="0"/>
              </a:spcBef>
            </a:pPr>
            <a:r>
              <a:rPr lang="en-US" sz="2000" dirty="0"/>
              <a:t>Seems like one worm is storing multiple targets?!</a:t>
            </a:r>
          </a:p>
          <a:p>
            <a:r>
              <a:rPr lang="en-US" sz="2400" dirty="0"/>
              <a:t>Hopfield networks</a:t>
            </a:r>
          </a:p>
          <a:p>
            <a:pPr lvl="1">
              <a:spcBef>
                <a:spcPts val="0"/>
              </a:spcBef>
            </a:pPr>
            <a:r>
              <a:rPr lang="en-US" sz="2000" dirty="0"/>
              <a:t>Neural-network variant with similar capabilities</a:t>
            </a:r>
          </a:p>
          <a:p>
            <a:pPr lvl="1">
              <a:spcBef>
                <a:spcPts val="0"/>
              </a:spcBef>
            </a:pPr>
            <a:r>
              <a:rPr lang="en-US" sz="2000" dirty="0"/>
              <a:t>Stores several stable states; finds the nearest one to a given input</a:t>
            </a:r>
          </a:p>
          <a:p>
            <a:pPr lvl="1">
              <a:spcBef>
                <a:spcPts val="0"/>
              </a:spcBef>
            </a:pPr>
            <a:r>
              <a:rPr lang="en-US" sz="2000" dirty="0"/>
              <a:t>Perhaps the Hopfield network gives us the target that a linear mechanism implements?</a:t>
            </a:r>
          </a:p>
          <a:p>
            <a:pPr lvl="1">
              <a:spcBef>
                <a:spcPts val="0"/>
              </a:spcBef>
            </a:pPr>
            <a:r>
              <a:rPr lang="en-US" sz="2000" dirty="0"/>
              <a:t>Perhaps some weights are stored as GJ conductivity, and the octanol thus changes them</a:t>
            </a:r>
          </a:p>
          <a:p>
            <a:pPr lvl="1">
              <a:spcBef>
                <a:spcPts val="0"/>
              </a:spcBef>
            </a:pPr>
            <a:r>
              <a:rPr lang="en-US" sz="2000" dirty="0"/>
              <a:t>But why would a </a:t>
            </a:r>
            <a:r>
              <a:rPr lang="en-US" sz="2000" dirty="0" err="1"/>
              <a:t>planaria</a:t>
            </a:r>
            <a:r>
              <a:rPr lang="en-US" sz="2000" dirty="0"/>
              <a:t> store </a:t>
            </a:r>
            <a:r>
              <a:rPr lang="en-US" sz="2000" i="1" dirty="0"/>
              <a:t>multiple</a:t>
            </a:r>
            <a:r>
              <a:rPr lang="en-US" sz="2000" dirty="0"/>
              <a:t> states?</a:t>
            </a:r>
          </a:p>
          <a:p>
            <a:r>
              <a:rPr lang="en-US" sz="2400" dirty="0"/>
              <a:t>Did their “G. </a:t>
            </a:r>
            <a:r>
              <a:rPr lang="en-US" sz="2400" dirty="0" err="1"/>
              <a:t>dorotocephala</a:t>
            </a:r>
            <a:r>
              <a:rPr lang="en-US" sz="2400" dirty="0"/>
              <a:t>” have cells from other worms? Would that matter?</a:t>
            </a:r>
          </a:p>
          <a:p>
            <a:r>
              <a:rPr lang="en-US" sz="2400" dirty="0"/>
              <a:t>Reversion to initial shape is similar to deer</a:t>
            </a:r>
          </a:p>
        </p:txBody>
      </p:sp>
      <p:sp>
        <p:nvSpPr>
          <p:cNvPr id="4" name="Footer Placeholder 3">
            <a:extLst>
              <a:ext uri="{FF2B5EF4-FFF2-40B4-BE49-F238E27FC236}">
                <a16:creationId xmlns:a16="http://schemas.microsoft.com/office/drawing/2014/main" id="{5B9BEB7B-BF92-4C97-988B-6B30150295AD}"/>
              </a:ext>
            </a:extLst>
          </p:cNvPr>
          <p:cNvSpPr>
            <a:spLocks noGrp="1"/>
          </p:cNvSpPr>
          <p:nvPr>
            <p:ph type="ftr" sz="quarter" idx="11"/>
          </p:nvPr>
        </p:nvSpPr>
        <p:spPr/>
        <p:txBody>
          <a:bodyPr/>
          <a:lstStyle/>
          <a:p>
            <a:pPr>
              <a:defRPr/>
            </a:pPr>
            <a:r>
              <a:rPr lang="en-US" dirty="0"/>
              <a:t>Bioelectricity Joel Grodstein</a:t>
            </a:r>
          </a:p>
        </p:txBody>
      </p:sp>
      <p:sp>
        <p:nvSpPr>
          <p:cNvPr id="6" name="TextBox 5">
            <a:extLst>
              <a:ext uri="{FF2B5EF4-FFF2-40B4-BE49-F238E27FC236}">
                <a16:creationId xmlns:a16="http://schemas.microsoft.com/office/drawing/2014/main" id="{76F43E26-705E-4E01-B63C-BBD8BC6098FF}"/>
              </a:ext>
            </a:extLst>
          </p:cNvPr>
          <p:cNvSpPr txBox="1"/>
          <p:nvPr/>
        </p:nvSpPr>
        <p:spPr>
          <a:xfrm>
            <a:off x="6696378" y="443345"/>
            <a:ext cx="2022764" cy="461665"/>
          </a:xfrm>
          <a:prstGeom prst="rect">
            <a:avLst/>
          </a:prstGeom>
          <a:noFill/>
          <a:ln w="28575">
            <a:solidFill>
              <a:srgbClr val="FF0000"/>
            </a:solidFill>
          </a:ln>
        </p:spPr>
        <p:txBody>
          <a:bodyPr wrap="square" rtlCol="0">
            <a:spAutoFit/>
          </a:bodyPr>
          <a:lstStyle/>
          <a:p>
            <a:r>
              <a:rPr lang="en-US" b="1" dirty="0">
                <a:solidFill>
                  <a:srgbClr val="FF0000"/>
                </a:solidFill>
              </a:rPr>
              <a:t>BACKUP</a:t>
            </a:r>
          </a:p>
        </p:txBody>
      </p:sp>
    </p:spTree>
    <p:extLst>
      <p:ext uri="{BB962C8B-B14F-4D97-AF65-F5344CB8AC3E}">
        <p14:creationId xmlns:p14="http://schemas.microsoft.com/office/powerpoint/2010/main" val="3453811468"/>
      </p:ext>
    </p:extLst>
  </p:cSld>
  <p:clrMapOvr>
    <a:masterClrMapping/>
  </p:clrMapOvr>
</p:sld>
</file>

<file path=ppt/theme/theme1.xml><?xml version="1.0" encoding="utf-8"?>
<a:theme xmlns:a="http://schemas.openxmlformats.org/drawingml/2006/main" name="Default Design">
  <a:themeElements>
    <a:clrScheme name="Custom 4">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3333CC"/>
      </a:hlink>
      <a:folHlink>
        <a:srgbClr val="7030A0"/>
      </a:folHlink>
    </a:clrScheme>
    <a:fontScheme name="Default Design">
      <a:majorFont>
        <a:latin typeface="Times New Roman"/>
        <a:ea typeface=""/>
        <a:cs typeface=""/>
      </a:majorFont>
      <a:minorFont>
        <a:latin typeface="Times New Roman"/>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lnDef>
      <a:spPr>
        <a:ln w="28575">
          <a:solidFill>
            <a:schemeClr val="accent2"/>
          </a:solidFill>
          <a:tailEnd type="triangle"/>
        </a:ln>
      </a:spPr>
      <a:bodyPr/>
      <a:lstStyle/>
      <a:style>
        <a:lnRef idx="1">
          <a:schemeClr val="accent1"/>
        </a:lnRef>
        <a:fillRef idx="0">
          <a:schemeClr val="accent1"/>
        </a:fillRef>
        <a:effectRef idx="0">
          <a:schemeClr val="accent1"/>
        </a:effectRef>
        <a:fontRef idx="minor">
          <a:schemeClr val="tx1"/>
        </a:fontRef>
      </a:style>
    </a:lnDef>
  </a:objectDefaults>
  <a:extraClrSchemeLst>
    <a:extraClrScheme>
      <a:clrScheme name="Default Design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Default Design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Default Design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47437</TotalTime>
  <Words>4953</Words>
  <Application>Microsoft Office PowerPoint</Application>
  <PresentationFormat>On-screen Show (4:3)</PresentationFormat>
  <Paragraphs>625</Paragraphs>
  <Slides>53</Slides>
  <Notes>24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53</vt:i4>
      </vt:variant>
    </vt:vector>
  </HeadingPairs>
  <TitlesOfParts>
    <vt:vector size="56" baseType="lpstr">
      <vt:lpstr>Arial</vt:lpstr>
      <vt:lpstr>Times New Roman</vt:lpstr>
      <vt:lpstr>Default Design</vt:lpstr>
      <vt:lpstr>EE 123 Bioelectricity</vt:lpstr>
      <vt:lpstr>Big picture of the course</vt:lpstr>
      <vt:lpstr>PowerPoint Presentation</vt:lpstr>
      <vt:lpstr>Regenerative medicine</vt:lpstr>
      <vt:lpstr>Regenerative medicine</vt:lpstr>
      <vt:lpstr>The Big Picture</vt:lpstr>
      <vt:lpstr>Why is morphogenesis hard?</vt:lpstr>
      <vt:lpstr>Hypothesis #1</vt:lpstr>
      <vt:lpstr>Picasso tadpoles</vt:lpstr>
      <vt:lpstr>Hypothesis #2</vt:lpstr>
      <vt:lpstr>Electric tadpoles</vt:lpstr>
      <vt:lpstr>Yes, it’s the voltage</vt:lpstr>
      <vt:lpstr>Layers</vt:lpstr>
      <vt:lpstr>The amazing planaria</vt:lpstr>
      <vt:lpstr>PowerPoint Presentation</vt:lpstr>
      <vt:lpstr>PowerPoint Presentation</vt:lpstr>
      <vt:lpstr>Electricity is involved again</vt:lpstr>
      <vt:lpstr>Building the outer layer</vt:lpstr>
      <vt:lpstr>Weirdness alert</vt:lpstr>
      <vt:lpstr>Primitive cognition</vt:lpstr>
      <vt:lpstr>Gap junctions and neurons</vt:lpstr>
      <vt:lpstr>PowerPoint Presentation</vt:lpstr>
      <vt:lpstr>PowerPoint Presentation</vt:lpstr>
      <vt:lpstr>PowerPoint Presentation</vt:lpstr>
      <vt:lpstr>The amazing planaria: head shape </vt:lpstr>
      <vt:lpstr>Theories?</vt:lpstr>
      <vt:lpstr>The miracle of Bambi</vt:lpstr>
      <vt:lpstr>PowerPoint Presentation</vt:lpstr>
      <vt:lpstr>Where is the deer hiding its memory?</vt:lpstr>
      <vt:lpstr>More weird stories: crabs</vt:lpstr>
      <vt:lpstr>More amazing planaria feats</vt:lpstr>
      <vt:lpstr>Theories?</vt:lpstr>
      <vt:lpstr>Layered systems are awesome</vt:lpstr>
      <vt:lpstr>Background material</vt:lpstr>
      <vt:lpstr>More progress</vt:lpstr>
      <vt:lpstr>Where do we go from here?</vt:lpstr>
      <vt:lpstr>Debate</vt:lpstr>
      <vt:lpstr>BACKUP</vt:lpstr>
      <vt:lpstr>More amazing planaria feats</vt:lpstr>
      <vt:lpstr>Layers</vt:lpstr>
      <vt:lpstr>Layers</vt:lpstr>
      <vt:lpstr>What does this explain?</vt:lpstr>
      <vt:lpstr>What does this not explain?</vt:lpstr>
      <vt:lpstr>Hypothesis #1, again</vt:lpstr>
      <vt:lpstr>Why are good theories hard to find?</vt:lpstr>
      <vt:lpstr>Divide and conquer</vt:lpstr>
      <vt:lpstr>PowerPoint Presentation</vt:lpstr>
      <vt:lpstr>Hypothesis #3</vt:lpstr>
      <vt:lpstr>A hypothesis</vt:lpstr>
      <vt:lpstr>Image processing</vt:lpstr>
      <vt:lpstr>ANN inside animals?</vt:lpstr>
      <vt:lpstr>PowerPoint Presentation</vt:lpstr>
      <vt:lpstr>Theories?</vt:lpstr>
    </vt:vector>
  </TitlesOfParts>
  <Company>Drexel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Computing with biological parts</dc:title>
  <dc:creator>joelg</dc:creator>
  <cp:lastModifiedBy>joelg@hlgn.eecs.tufts.edu</cp:lastModifiedBy>
  <cp:revision>1529</cp:revision>
  <cp:lastPrinted>2019-01-28T14:26:35Z</cp:lastPrinted>
  <dcterms:created xsi:type="dcterms:W3CDTF">2002-09-07T18:50:54Z</dcterms:created>
  <dcterms:modified xsi:type="dcterms:W3CDTF">2025-12-01T19:22:33Z</dcterms:modified>
</cp:coreProperties>
</file>