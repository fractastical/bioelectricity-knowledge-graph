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handoutMasterIdLst>
    <p:handoutMasterId r:id="rId85"/>
  </p:handoutMasterIdLst>
  <p:sldIdLst>
    <p:sldId id="328" r:id="rId2"/>
    <p:sldId id="832" r:id="rId3"/>
    <p:sldId id="833" r:id="rId4"/>
    <p:sldId id="790" r:id="rId5"/>
    <p:sldId id="330" r:id="rId6"/>
    <p:sldId id="344" r:id="rId7"/>
    <p:sldId id="341" r:id="rId8"/>
    <p:sldId id="846" r:id="rId9"/>
    <p:sldId id="791" r:id="rId10"/>
    <p:sldId id="346" r:id="rId11"/>
    <p:sldId id="389" r:id="rId12"/>
    <p:sldId id="347" r:id="rId13"/>
    <p:sldId id="847" r:id="rId14"/>
    <p:sldId id="848" r:id="rId15"/>
    <p:sldId id="857" r:id="rId16"/>
    <p:sldId id="390" r:id="rId17"/>
    <p:sldId id="748" r:id="rId18"/>
    <p:sldId id="784" r:id="rId19"/>
    <p:sldId id="873" r:id="rId20"/>
    <p:sldId id="386" r:id="rId21"/>
    <p:sldId id="380" r:id="rId22"/>
    <p:sldId id="834" r:id="rId23"/>
    <p:sldId id="792" r:id="rId24"/>
    <p:sldId id="783" r:id="rId25"/>
    <p:sldId id="868" r:id="rId26"/>
    <p:sldId id="852" r:id="rId27"/>
    <p:sldId id="854" r:id="rId28"/>
    <p:sldId id="869" r:id="rId29"/>
    <p:sldId id="871" r:id="rId30"/>
    <p:sldId id="870" r:id="rId31"/>
    <p:sldId id="855" r:id="rId32"/>
    <p:sldId id="856" r:id="rId33"/>
    <p:sldId id="858" r:id="rId34"/>
    <p:sldId id="863" r:id="rId35"/>
    <p:sldId id="841" r:id="rId36"/>
    <p:sldId id="859" r:id="rId37"/>
    <p:sldId id="860" r:id="rId38"/>
    <p:sldId id="861" r:id="rId39"/>
    <p:sldId id="862" r:id="rId40"/>
    <p:sldId id="387" r:id="rId41"/>
    <p:sldId id="865" r:id="rId42"/>
    <p:sldId id="866" r:id="rId43"/>
    <p:sldId id="793" r:id="rId44"/>
    <p:sldId id="336" r:id="rId45"/>
    <p:sldId id="872" r:id="rId46"/>
    <p:sldId id="788" r:id="rId47"/>
    <p:sldId id="779" r:id="rId48"/>
    <p:sldId id="851" r:id="rId49"/>
    <p:sldId id="351" r:id="rId50"/>
    <p:sldId id="352" r:id="rId51"/>
    <p:sldId id="353" r:id="rId52"/>
    <p:sldId id="838" r:id="rId53"/>
    <p:sldId id="839" r:id="rId54"/>
    <p:sldId id="840" r:id="rId55"/>
    <p:sldId id="867" r:id="rId56"/>
    <p:sldId id="864" r:id="rId57"/>
    <p:sldId id="842" r:id="rId58"/>
    <p:sldId id="357" r:id="rId59"/>
    <p:sldId id="358" r:id="rId60"/>
    <p:sldId id="359" r:id="rId61"/>
    <p:sldId id="360" r:id="rId62"/>
    <p:sldId id="361" r:id="rId63"/>
    <p:sldId id="843" r:id="rId64"/>
    <p:sldId id="367" r:id="rId65"/>
    <p:sldId id="374" r:id="rId66"/>
    <p:sldId id="368" r:id="rId67"/>
    <p:sldId id="370" r:id="rId68"/>
    <p:sldId id="371" r:id="rId69"/>
    <p:sldId id="363" r:id="rId70"/>
    <p:sldId id="372" r:id="rId71"/>
    <p:sldId id="845" r:id="rId72"/>
    <p:sldId id="338" r:id="rId73"/>
    <p:sldId id="375" r:id="rId74"/>
    <p:sldId id="377" r:id="rId75"/>
    <p:sldId id="378" r:id="rId76"/>
    <p:sldId id="874" r:id="rId77"/>
    <p:sldId id="875" r:id="rId78"/>
    <p:sldId id="876" r:id="rId79"/>
    <p:sldId id="345" r:id="rId80"/>
    <p:sldId id="340" r:id="rId81"/>
    <p:sldId id="837" r:id="rId82"/>
    <p:sldId id="365" r:id="rId83"/>
  </p:sldIdLst>
  <p:sldSz cx="9144000" cy="6858000" type="screen4x3"/>
  <p:notesSz cx="9601200" cy="7315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80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45" autoAdjust="0"/>
    <p:restoredTop sz="77804" autoAdjust="0"/>
  </p:normalViewPr>
  <p:slideViewPr>
    <p:cSldViewPr>
      <p:cViewPr varScale="1">
        <p:scale>
          <a:sx n="71" d="100"/>
          <a:sy n="71" d="100"/>
        </p:scale>
        <p:origin x="1171"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2894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4160937" cy="364067"/>
          </a:xfrm>
          <a:prstGeom prst="rect">
            <a:avLst/>
          </a:prstGeom>
          <a:noFill/>
          <a:ln w="9525">
            <a:noFill/>
            <a:miter lim="800000"/>
            <a:headEnd/>
            <a:tailEnd/>
          </a:ln>
          <a:effectLst/>
        </p:spPr>
        <p:txBody>
          <a:bodyPr vert="horz" wrap="square" lIns="96604" tIns="48305" rIns="96604" bIns="48305" numCol="1" anchor="t" anchorCtr="0" compatLnSpc="1">
            <a:prstTxWarp prst="textNoShape">
              <a:avLst/>
            </a:prstTxWarp>
          </a:bodyPr>
          <a:lstStyle>
            <a:lvl1pPr defTabSz="966842" eaLnBrk="1" hangingPunct="1">
              <a:defRPr sz="1400">
                <a:cs typeface="+mn-cs"/>
              </a:defRPr>
            </a:lvl1pPr>
          </a:lstStyle>
          <a:p>
            <a:pPr>
              <a:defRPr/>
            </a:pPr>
            <a:endParaRPr lang="en-US"/>
          </a:p>
        </p:txBody>
      </p:sp>
      <p:sp>
        <p:nvSpPr>
          <p:cNvPr id="69635" name="Rectangle 3"/>
          <p:cNvSpPr>
            <a:spLocks noGrp="1" noChangeArrowheads="1"/>
          </p:cNvSpPr>
          <p:nvPr>
            <p:ph type="dt" sz="quarter" idx="1"/>
          </p:nvPr>
        </p:nvSpPr>
        <p:spPr bwMode="auto">
          <a:xfrm>
            <a:off x="5440265" y="0"/>
            <a:ext cx="4160936" cy="364067"/>
          </a:xfrm>
          <a:prstGeom prst="rect">
            <a:avLst/>
          </a:prstGeom>
          <a:noFill/>
          <a:ln w="9525">
            <a:noFill/>
            <a:miter lim="800000"/>
            <a:headEnd/>
            <a:tailEnd/>
          </a:ln>
          <a:effectLst/>
        </p:spPr>
        <p:txBody>
          <a:bodyPr vert="horz" wrap="square" lIns="96604" tIns="48305" rIns="96604" bIns="48305" numCol="1" anchor="t" anchorCtr="0" compatLnSpc="1">
            <a:prstTxWarp prst="textNoShape">
              <a:avLst/>
            </a:prstTxWarp>
          </a:bodyPr>
          <a:lstStyle>
            <a:lvl1pPr algn="r" defTabSz="966842" eaLnBrk="1" hangingPunct="1">
              <a:defRPr sz="1400">
                <a:cs typeface="+mn-cs"/>
              </a:defRPr>
            </a:lvl1pPr>
          </a:lstStyle>
          <a:p>
            <a:pPr>
              <a:defRPr/>
            </a:pPr>
            <a:endParaRPr lang="en-US"/>
          </a:p>
        </p:txBody>
      </p:sp>
      <p:sp>
        <p:nvSpPr>
          <p:cNvPr id="69636" name="Rectangle 4"/>
          <p:cNvSpPr>
            <a:spLocks noGrp="1" noChangeArrowheads="1"/>
          </p:cNvSpPr>
          <p:nvPr>
            <p:ph type="ftr" sz="quarter" idx="2"/>
          </p:nvPr>
        </p:nvSpPr>
        <p:spPr bwMode="auto">
          <a:xfrm>
            <a:off x="0" y="6951134"/>
            <a:ext cx="4160937" cy="364066"/>
          </a:xfrm>
          <a:prstGeom prst="rect">
            <a:avLst/>
          </a:prstGeom>
          <a:noFill/>
          <a:ln w="9525">
            <a:noFill/>
            <a:miter lim="800000"/>
            <a:headEnd/>
            <a:tailEnd/>
          </a:ln>
          <a:effectLst/>
        </p:spPr>
        <p:txBody>
          <a:bodyPr vert="horz" wrap="square" lIns="96604" tIns="48305" rIns="96604" bIns="48305" numCol="1" anchor="b" anchorCtr="0" compatLnSpc="1">
            <a:prstTxWarp prst="textNoShape">
              <a:avLst/>
            </a:prstTxWarp>
          </a:bodyPr>
          <a:lstStyle>
            <a:lvl1pPr defTabSz="966842" eaLnBrk="1" hangingPunct="1">
              <a:defRPr sz="1400">
                <a:cs typeface="+mn-cs"/>
              </a:defRPr>
            </a:lvl1pPr>
          </a:lstStyle>
          <a:p>
            <a:pPr>
              <a:defRPr/>
            </a:pPr>
            <a:endParaRPr lang="en-US"/>
          </a:p>
        </p:txBody>
      </p:sp>
      <p:sp>
        <p:nvSpPr>
          <p:cNvPr id="69637" name="Rectangle 5"/>
          <p:cNvSpPr>
            <a:spLocks noGrp="1" noChangeArrowheads="1"/>
          </p:cNvSpPr>
          <p:nvPr>
            <p:ph type="sldNum" sz="quarter" idx="3"/>
          </p:nvPr>
        </p:nvSpPr>
        <p:spPr bwMode="auto">
          <a:xfrm>
            <a:off x="5440265" y="6951134"/>
            <a:ext cx="4160936" cy="364066"/>
          </a:xfrm>
          <a:prstGeom prst="rect">
            <a:avLst/>
          </a:prstGeom>
          <a:noFill/>
          <a:ln w="9525">
            <a:noFill/>
            <a:miter lim="800000"/>
            <a:headEnd/>
            <a:tailEnd/>
          </a:ln>
          <a:effectLst/>
        </p:spPr>
        <p:txBody>
          <a:bodyPr vert="horz" wrap="square" lIns="96604" tIns="48305" rIns="96604" bIns="48305" numCol="1" anchor="b" anchorCtr="0" compatLnSpc="1">
            <a:prstTxWarp prst="textNoShape">
              <a:avLst/>
            </a:prstTxWarp>
          </a:bodyPr>
          <a:lstStyle>
            <a:lvl1pPr algn="r" defTabSz="966788" eaLnBrk="1" hangingPunct="1">
              <a:defRPr sz="1400"/>
            </a:lvl1pPr>
          </a:lstStyle>
          <a:p>
            <a:pPr>
              <a:defRPr/>
            </a:pPr>
            <a:fld id="{549A7FA7-E1B8-4CDD-8F7C-1E113DA1F1E0}" type="slidenum">
              <a:rPr lang="en-US" altLang="en-US"/>
              <a:pPr>
                <a:defRPr/>
              </a:pPr>
              <a:t>‹#›</a:t>
            </a:fld>
            <a:endParaRPr lang="en-US" altLang="en-US"/>
          </a:p>
        </p:txBody>
      </p:sp>
    </p:spTree>
    <p:extLst>
      <p:ext uri="{BB962C8B-B14F-4D97-AF65-F5344CB8AC3E}">
        <p14:creationId xmlns:p14="http://schemas.microsoft.com/office/powerpoint/2010/main" val="11694395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4160937" cy="364067"/>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lvl1pPr defTabSz="956890" eaLnBrk="1" hangingPunct="1">
              <a:defRPr sz="1400">
                <a:cs typeface="+mn-cs"/>
              </a:defRPr>
            </a:lvl1pPr>
          </a:lstStyle>
          <a:p>
            <a:pPr>
              <a:defRPr/>
            </a:pPr>
            <a:endParaRPr lang="en-US"/>
          </a:p>
        </p:txBody>
      </p:sp>
      <p:sp>
        <p:nvSpPr>
          <p:cNvPr id="124931" name="Rectangle 3"/>
          <p:cNvSpPr>
            <a:spLocks noGrp="1" noChangeArrowheads="1"/>
          </p:cNvSpPr>
          <p:nvPr>
            <p:ph type="dt" idx="1"/>
          </p:nvPr>
        </p:nvSpPr>
        <p:spPr bwMode="auto">
          <a:xfrm>
            <a:off x="5438180" y="0"/>
            <a:ext cx="4160937" cy="364067"/>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lvl1pPr algn="r" defTabSz="956890" eaLnBrk="1" hangingPunct="1">
              <a:defRPr sz="1400">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2971800" y="549275"/>
            <a:ext cx="3659188" cy="27447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3" name="Rectangle 5"/>
          <p:cNvSpPr>
            <a:spLocks noGrp="1" noChangeArrowheads="1"/>
          </p:cNvSpPr>
          <p:nvPr>
            <p:ph type="body" sz="quarter" idx="3"/>
          </p:nvPr>
        </p:nvSpPr>
        <p:spPr bwMode="auto">
          <a:xfrm>
            <a:off x="960538" y="3474963"/>
            <a:ext cx="7680127" cy="3291114"/>
          </a:xfrm>
          <a:prstGeom prst="rect">
            <a:avLst/>
          </a:prstGeom>
          <a:noFill/>
          <a:ln w="9525">
            <a:noFill/>
            <a:miter lim="800000"/>
            <a:headEnd/>
            <a:tailEnd/>
          </a:ln>
          <a:effectLst/>
        </p:spPr>
        <p:txBody>
          <a:bodyPr vert="horz" wrap="square" lIns="95624" tIns="47813" rIns="95624" bIns="478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4934" name="Rectangle 6"/>
          <p:cNvSpPr>
            <a:spLocks noGrp="1" noChangeArrowheads="1"/>
          </p:cNvSpPr>
          <p:nvPr>
            <p:ph type="ftr" sz="quarter" idx="4"/>
          </p:nvPr>
        </p:nvSpPr>
        <p:spPr bwMode="auto">
          <a:xfrm>
            <a:off x="0" y="6947505"/>
            <a:ext cx="4160937" cy="366486"/>
          </a:xfrm>
          <a:prstGeom prst="rect">
            <a:avLst/>
          </a:prstGeom>
          <a:noFill/>
          <a:ln w="9525">
            <a:noFill/>
            <a:miter lim="800000"/>
            <a:headEnd/>
            <a:tailEnd/>
          </a:ln>
          <a:effectLst/>
        </p:spPr>
        <p:txBody>
          <a:bodyPr vert="horz" wrap="square" lIns="95624" tIns="47813" rIns="95624" bIns="47813" numCol="1" anchor="b" anchorCtr="0" compatLnSpc="1">
            <a:prstTxWarp prst="textNoShape">
              <a:avLst/>
            </a:prstTxWarp>
          </a:bodyPr>
          <a:lstStyle>
            <a:lvl1pPr defTabSz="956890" eaLnBrk="1" hangingPunct="1">
              <a:defRPr sz="1400">
                <a:cs typeface="+mn-cs"/>
              </a:defRPr>
            </a:lvl1pPr>
          </a:lstStyle>
          <a:p>
            <a:pPr>
              <a:defRPr/>
            </a:pPr>
            <a:endParaRPr lang="en-US"/>
          </a:p>
        </p:txBody>
      </p:sp>
      <p:sp>
        <p:nvSpPr>
          <p:cNvPr id="124935" name="Rectangle 7"/>
          <p:cNvSpPr>
            <a:spLocks noGrp="1" noChangeArrowheads="1"/>
          </p:cNvSpPr>
          <p:nvPr>
            <p:ph type="sldNum" sz="quarter" idx="5"/>
          </p:nvPr>
        </p:nvSpPr>
        <p:spPr bwMode="auto">
          <a:xfrm>
            <a:off x="5438180" y="6947505"/>
            <a:ext cx="4160937" cy="366486"/>
          </a:xfrm>
          <a:prstGeom prst="rect">
            <a:avLst/>
          </a:prstGeom>
          <a:noFill/>
          <a:ln w="9525">
            <a:noFill/>
            <a:miter lim="800000"/>
            <a:headEnd/>
            <a:tailEnd/>
          </a:ln>
          <a:effectLst/>
        </p:spPr>
        <p:txBody>
          <a:bodyPr vert="horz" wrap="square" lIns="95624" tIns="47813" rIns="95624" bIns="47813" numCol="1" anchor="b" anchorCtr="0" compatLnSpc="1">
            <a:prstTxWarp prst="textNoShape">
              <a:avLst/>
            </a:prstTxWarp>
          </a:bodyPr>
          <a:lstStyle>
            <a:lvl1pPr algn="r" defTabSz="955675" eaLnBrk="1" hangingPunct="1">
              <a:defRPr sz="1400"/>
            </a:lvl1pPr>
          </a:lstStyle>
          <a:p>
            <a:pPr>
              <a:defRPr/>
            </a:pPr>
            <a:fld id="{5B598F11-C2C5-40D4-B32B-C1AF9DA155A1}" type="slidenum">
              <a:rPr lang="en-US" altLang="en-US"/>
              <a:pPr>
                <a:defRPr/>
              </a:pPr>
              <a:t>‹#›</a:t>
            </a:fld>
            <a:endParaRPr lang="en-US" altLang="en-US"/>
          </a:p>
        </p:txBody>
      </p:sp>
    </p:spTree>
    <p:extLst>
      <p:ext uri="{BB962C8B-B14F-4D97-AF65-F5344CB8AC3E}">
        <p14:creationId xmlns:p14="http://schemas.microsoft.com/office/powerpoint/2010/main" val="19907104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IEEE Spectrum article is about detecting reduced injection fraction from a one-lead ECG from an Apple watch (large-scale trial ending June 2023).</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a:t>
            </a:fld>
            <a:endParaRPr lang="en-US" altLang="en-US"/>
          </a:p>
        </p:txBody>
      </p:sp>
    </p:spTree>
    <p:extLst>
      <p:ext uri="{BB962C8B-B14F-4D97-AF65-F5344CB8AC3E}">
        <p14:creationId xmlns:p14="http://schemas.microsoft.com/office/powerpoint/2010/main" val="1138745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 disease” actually includes all cardiovascular diseases.</a:t>
            </a:r>
          </a:p>
          <a:p>
            <a:r>
              <a:rPr lang="en-US" dirty="0"/>
              <a:t>But “stroke” is counted as a cerebrovascular disease, so it’s separate from heart disease!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a:t>
            </a:fld>
            <a:endParaRPr lang="en-US" altLang="en-US"/>
          </a:p>
        </p:txBody>
      </p:sp>
    </p:spTree>
    <p:extLst>
      <p:ext uri="{BB962C8B-B14F-4D97-AF65-F5344CB8AC3E}">
        <p14:creationId xmlns:p14="http://schemas.microsoft.com/office/powerpoint/2010/main" val="2107143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a heart attack cause cardiac arrest? The simplest way is that some of the cardiac tissue that dies may be in the electrical distribution system. A slightly trickier way is that semi-dead tissue can cause a one-way path, which causes </a:t>
            </a:r>
            <a:r>
              <a:rPr lang="en-US" dirty="0" err="1"/>
              <a:t>afib</a:t>
            </a:r>
            <a:r>
              <a:rPr lang="en-US" dirty="0"/>
              <a:t> or </a:t>
            </a:r>
            <a:r>
              <a:rPr lang="en-US" dirty="0" err="1"/>
              <a:t>vfib</a:t>
            </a:r>
            <a:r>
              <a:rPr lang="en-US" dirty="0"/>
              <a: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a:t>
            </a:fld>
            <a:endParaRPr lang="en-US" altLang="en-US"/>
          </a:p>
        </p:txBody>
      </p:sp>
    </p:spTree>
    <p:extLst>
      <p:ext uri="{BB962C8B-B14F-4D97-AF65-F5344CB8AC3E}">
        <p14:creationId xmlns:p14="http://schemas.microsoft.com/office/powerpoint/2010/main" val="308105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Galen’s experiment, we conclude that the brain is not the source of the heartbeat – if it were, the heart would stop beating as soon as we removed it from the body</a:t>
            </a:r>
          </a:p>
          <a:p>
            <a:r>
              <a:rPr lang="en-US" dirty="0"/>
              <a:t>Keith and Flack first found the SA node on a mole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8</a:t>
            </a:fld>
            <a:endParaRPr lang="en-US" altLang="en-US"/>
          </a:p>
        </p:txBody>
      </p:sp>
    </p:spTree>
    <p:extLst>
      <p:ext uri="{BB962C8B-B14F-4D97-AF65-F5344CB8AC3E}">
        <p14:creationId xmlns:p14="http://schemas.microsoft.com/office/powerpoint/2010/main" val="4087376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course, in this case the electrical signals are coming from an oscillator rather than from the brain</a:t>
            </a:r>
          </a:p>
          <a:p>
            <a:r>
              <a:rPr lang="en-US" dirty="0"/>
              <a:t>Note the timing – both atria contract at once, and both ventricles contract at once.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11</a:t>
            </a:fld>
            <a:endParaRPr lang="en-US" altLang="en-US"/>
          </a:p>
        </p:txBody>
      </p:sp>
    </p:spTree>
    <p:extLst>
      <p:ext uri="{BB962C8B-B14F-4D97-AF65-F5344CB8AC3E}">
        <p14:creationId xmlns:p14="http://schemas.microsoft.com/office/powerpoint/2010/main" val="1394565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atrial conduction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13</a:t>
            </a:fld>
            <a:endParaRPr lang="en-US" altLang="en-US"/>
          </a:p>
        </p:txBody>
      </p:sp>
    </p:spTree>
    <p:extLst>
      <p:ext uri="{BB962C8B-B14F-4D97-AF65-F5344CB8AC3E}">
        <p14:creationId xmlns:p14="http://schemas.microsoft.com/office/powerpoint/2010/main" val="784957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bundle branch is thin and has only one fascicle; the left is much thicker and has 2-3 fascicles (2 shown here).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14</a:t>
            </a:fld>
            <a:endParaRPr lang="en-US" altLang="en-US"/>
          </a:p>
        </p:txBody>
      </p:sp>
    </p:spTree>
    <p:extLst>
      <p:ext uri="{BB962C8B-B14F-4D97-AF65-F5344CB8AC3E}">
        <p14:creationId xmlns:p14="http://schemas.microsoft.com/office/powerpoint/2010/main" val="1683302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A5452-1A84-798D-0582-0E028AB49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75649-BC83-2134-E430-93E2E55F14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0BC3A9-0E44-9112-D8B5-952B1407EE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C03B67-F106-5188-E53A-8450106210EF}"/>
              </a:ext>
            </a:extLst>
          </p:cNvPr>
          <p:cNvSpPr>
            <a:spLocks noGrp="1"/>
          </p:cNvSpPr>
          <p:nvPr>
            <p:ph type="sldNum" sz="quarter" idx="5"/>
          </p:nvPr>
        </p:nvSpPr>
        <p:spPr/>
        <p:txBody>
          <a:bodyPr/>
          <a:lstStyle/>
          <a:p>
            <a:pPr>
              <a:defRPr/>
            </a:pPr>
            <a:fld id="{5B598F11-C2C5-40D4-B32B-C1AF9DA155A1}" type="slidenum">
              <a:rPr lang="en-US" altLang="en-US" smtClean="0"/>
              <a:pPr>
                <a:defRPr/>
              </a:pPr>
              <a:t>15</a:t>
            </a:fld>
            <a:endParaRPr lang="en-US" altLang="en-US"/>
          </a:p>
        </p:txBody>
      </p:sp>
    </p:spTree>
    <p:extLst>
      <p:ext uri="{BB962C8B-B14F-4D97-AF65-F5344CB8AC3E}">
        <p14:creationId xmlns:p14="http://schemas.microsoft.com/office/powerpoint/2010/main" val="2500978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are they called “funny” channels? They were the first known channels to turn on as a result of </a:t>
            </a:r>
            <a:r>
              <a:rPr lang="en-US" i="1" dirty="0"/>
              <a:t>hyper</a:t>
            </a:r>
            <a:r>
              <a:rPr lang="en-US" i="0" dirty="0"/>
              <a:t>polarization rather than depolarization.</a:t>
            </a:r>
          </a:p>
          <a:p>
            <a:r>
              <a:rPr lang="en-US" i="0" dirty="0"/>
              <a:t>And they’re gated by both </a:t>
            </a:r>
            <a:r>
              <a:rPr lang="en-US" i="0" dirty="0" err="1"/>
              <a:t>Vmem</a:t>
            </a:r>
            <a:r>
              <a:rPr lang="en-US" i="0" dirty="0"/>
              <a:t> and also by ligands.</a:t>
            </a:r>
          </a:p>
          <a:p>
            <a:r>
              <a:rPr lang="en-US" i="0" dirty="0"/>
              <a:t>And finally, they conduct both Na and K.</a:t>
            </a:r>
          </a:p>
          <a:p>
            <a:r>
              <a:rPr lang="en-US" dirty="0"/>
              <a:t>They weren’t discovered until 1979.</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16</a:t>
            </a:fld>
            <a:endParaRPr lang="en-US" altLang="en-US"/>
          </a:p>
        </p:txBody>
      </p:sp>
    </p:spTree>
    <p:extLst>
      <p:ext uri="{BB962C8B-B14F-4D97-AF65-F5344CB8AC3E}">
        <p14:creationId xmlns:p14="http://schemas.microsoft.com/office/powerpoint/2010/main" val="14504990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GJs are drawn as six little tubes forming a big tube because, in fact, that’s more or less their anatomic structure.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17</a:t>
            </a:fld>
            <a:endParaRPr lang="en-US" altLang="en-US"/>
          </a:p>
        </p:txBody>
      </p:sp>
    </p:spTree>
    <p:extLst>
      <p:ext uri="{BB962C8B-B14F-4D97-AF65-F5344CB8AC3E}">
        <p14:creationId xmlns:p14="http://schemas.microsoft.com/office/powerpoint/2010/main" val="3915550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 node is different because it retriggers. The long slow phase-4 slope gives us lots of ability to control the heart rate.</a:t>
            </a:r>
          </a:p>
          <a:p>
            <a:r>
              <a:rPr lang="en-US" dirty="0"/>
              <a:t>The ventricular AP has the long flat top because that gives the myocardium a long active contraction time</a:t>
            </a:r>
          </a:p>
          <a:p>
            <a:r>
              <a:rPr lang="en-US" dirty="0"/>
              <a:t>The atrial AP looks a lot like the ventricular, but has a shorter flat top (since the atria don’t take as long to pump).</a:t>
            </a:r>
          </a:p>
          <a:p>
            <a:r>
              <a:rPr lang="en-US" dirty="0"/>
              <a:t>Interesting note – the long flat top is what makes the heart APs stand out on an ECG (the ECG voltage is proportional to the area under the AP curve).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21</a:t>
            </a:fld>
            <a:endParaRPr lang="en-US" altLang="en-US"/>
          </a:p>
        </p:txBody>
      </p:sp>
    </p:spTree>
    <p:extLst>
      <p:ext uri="{BB962C8B-B14F-4D97-AF65-F5344CB8AC3E}">
        <p14:creationId xmlns:p14="http://schemas.microsoft.com/office/powerpoint/2010/main" val="26743366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of the reason Eindhoven was suspected was due to the surgical precision of the killings. But I think most people discount this theory nowadays.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24</a:t>
            </a:fld>
            <a:endParaRPr lang="en-US" altLang="en-US"/>
          </a:p>
        </p:txBody>
      </p:sp>
    </p:spTree>
    <p:extLst>
      <p:ext uri="{BB962C8B-B14F-4D97-AF65-F5344CB8AC3E}">
        <p14:creationId xmlns:p14="http://schemas.microsoft.com/office/powerpoint/2010/main" val="16834472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 sum and average are both vectors.</a:t>
            </a:r>
          </a:p>
          <a:p>
            <a:r>
              <a:rPr lang="en-US" dirty="0"/>
              <a:t>The dot product is a scalar.</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25</a:t>
            </a:fld>
            <a:endParaRPr lang="en-US" altLang="en-US"/>
          </a:p>
        </p:txBody>
      </p:sp>
    </p:spTree>
    <p:extLst>
      <p:ext uri="{BB962C8B-B14F-4D97-AF65-F5344CB8AC3E}">
        <p14:creationId xmlns:p14="http://schemas.microsoft.com/office/powerpoint/2010/main" val="1174553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A6B62-8E39-27DE-2B8B-05D1B91EE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0B24C-3AC4-E6EB-4166-967A6AB6E3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DCF20-3E1A-355B-03B5-101450D7E2A3}"/>
              </a:ext>
            </a:extLst>
          </p:cNvPr>
          <p:cNvSpPr>
            <a:spLocks noGrp="1"/>
          </p:cNvSpPr>
          <p:nvPr>
            <p:ph type="body" idx="1"/>
          </p:nvPr>
        </p:nvSpPr>
        <p:spPr/>
        <p:txBody>
          <a:bodyPr/>
          <a:lstStyle/>
          <a:p>
            <a:r>
              <a:rPr lang="en-US" dirty="0"/>
              <a:t>Average vector direction = down and to the right. All the arrows point back to the center of the circle at the SA node.</a:t>
            </a:r>
          </a:p>
        </p:txBody>
      </p:sp>
      <p:sp>
        <p:nvSpPr>
          <p:cNvPr id="4" name="Slide Number Placeholder 3">
            <a:extLst>
              <a:ext uri="{FF2B5EF4-FFF2-40B4-BE49-F238E27FC236}">
                <a16:creationId xmlns:a16="http://schemas.microsoft.com/office/drawing/2014/main" id="{35E11D34-31E2-D294-FB99-0C4ABD9CF034}"/>
              </a:ext>
            </a:extLst>
          </p:cNvPr>
          <p:cNvSpPr>
            <a:spLocks noGrp="1"/>
          </p:cNvSpPr>
          <p:nvPr>
            <p:ph type="sldNum" sz="quarter" idx="5"/>
          </p:nvPr>
        </p:nvSpPr>
        <p:spPr/>
        <p:txBody>
          <a:bodyPr/>
          <a:lstStyle/>
          <a:p>
            <a:pPr>
              <a:defRPr/>
            </a:pPr>
            <a:fld id="{5B598F11-C2C5-40D4-B32B-C1AF9DA155A1}" type="slidenum">
              <a:rPr lang="en-US" altLang="en-US" smtClean="0"/>
              <a:pPr>
                <a:defRPr/>
              </a:pPr>
              <a:t>26</a:t>
            </a:fld>
            <a:endParaRPr lang="en-US" altLang="en-US"/>
          </a:p>
        </p:txBody>
      </p:sp>
    </p:spTree>
    <p:extLst>
      <p:ext uri="{BB962C8B-B14F-4D97-AF65-F5344CB8AC3E}">
        <p14:creationId xmlns:p14="http://schemas.microsoft.com/office/powerpoint/2010/main" val="28126874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A14C6-99A4-BCAE-A37A-E1567C48B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A9E31C-8C92-956E-9900-B9EFD67CE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750FC0-700D-B3D7-059C-571E19A8C879}"/>
              </a:ext>
            </a:extLst>
          </p:cNvPr>
          <p:cNvSpPr>
            <a:spLocks noGrp="1"/>
          </p:cNvSpPr>
          <p:nvPr>
            <p:ph type="body" idx="1"/>
          </p:nvPr>
        </p:nvSpPr>
        <p:spPr/>
        <p:txBody>
          <a:bodyPr/>
          <a:lstStyle/>
          <a:p>
            <a:r>
              <a:rPr lang="en-US" dirty="0"/>
              <a:t>Remember that “right” on the picture is the anatomical left!</a:t>
            </a:r>
          </a:p>
        </p:txBody>
      </p:sp>
      <p:sp>
        <p:nvSpPr>
          <p:cNvPr id="4" name="Slide Number Placeholder 3">
            <a:extLst>
              <a:ext uri="{FF2B5EF4-FFF2-40B4-BE49-F238E27FC236}">
                <a16:creationId xmlns:a16="http://schemas.microsoft.com/office/drawing/2014/main" id="{8E8B17D0-3861-F6A6-FE6D-6064943867C1}"/>
              </a:ext>
            </a:extLst>
          </p:cNvPr>
          <p:cNvSpPr>
            <a:spLocks noGrp="1"/>
          </p:cNvSpPr>
          <p:nvPr>
            <p:ph type="sldNum" sz="quarter" idx="5"/>
          </p:nvPr>
        </p:nvSpPr>
        <p:spPr/>
        <p:txBody>
          <a:bodyPr/>
          <a:lstStyle/>
          <a:p>
            <a:pPr>
              <a:defRPr/>
            </a:pPr>
            <a:fld id="{5B598F11-C2C5-40D4-B32B-C1AF9DA155A1}" type="slidenum">
              <a:rPr lang="en-US" altLang="en-US" smtClean="0"/>
              <a:pPr>
                <a:defRPr/>
              </a:pPr>
              <a:t>27</a:t>
            </a:fld>
            <a:endParaRPr lang="en-US" altLang="en-US"/>
          </a:p>
        </p:txBody>
      </p:sp>
    </p:spTree>
    <p:extLst>
      <p:ext uri="{BB962C8B-B14F-4D97-AF65-F5344CB8AC3E}">
        <p14:creationId xmlns:p14="http://schemas.microsoft.com/office/powerpoint/2010/main" val="13024605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AD5D9-4473-5D74-B715-931AD425B3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1FC999-647B-D0EB-0206-F01A303D5D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27CDCE-0896-E97A-8DA8-256F0A150D41}"/>
              </a:ext>
            </a:extLst>
          </p:cNvPr>
          <p:cNvSpPr>
            <a:spLocks noGrp="1"/>
          </p:cNvSpPr>
          <p:nvPr>
            <p:ph type="body" idx="1"/>
          </p:nvPr>
        </p:nvSpPr>
        <p:spPr/>
        <p:txBody>
          <a:bodyPr/>
          <a:lstStyle/>
          <a:p>
            <a:r>
              <a:rPr lang="en-US" dirty="0"/>
              <a:t>At the beginning, the wavefront is a growing circular arc. So the net vector sum stays pointing in the same direction (down and to the anatomical left) with increasing magnitude. </a:t>
            </a:r>
          </a:p>
        </p:txBody>
      </p:sp>
      <p:sp>
        <p:nvSpPr>
          <p:cNvPr id="4" name="Slide Number Placeholder 3">
            <a:extLst>
              <a:ext uri="{FF2B5EF4-FFF2-40B4-BE49-F238E27FC236}">
                <a16:creationId xmlns:a16="http://schemas.microsoft.com/office/drawing/2014/main" id="{1A38267D-8CDF-B46D-A7A0-483FF1F8F3FB}"/>
              </a:ext>
            </a:extLst>
          </p:cNvPr>
          <p:cNvSpPr>
            <a:spLocks noGrp="1"/>
          </p:cNvSpPr>
          <p:nvPr>
            <p:ph type="sldNum" sz="quarter" idx="5"/>
          </p:nvPr>
        </p:nvSpPr>
        <p:spPr/>
        <p:txBody>
          <a:bodyPr/>
          <a:lstStyle/>
          <a:p>
            <a:pPr>
              <a:defRPr/>
            </a:pPr>
            <a:fld id="{5B598F11-C2C5-40D4-B32B-C1AF9DA155A1}" type="slidenum">
              <a:rPr lang="en-US" altLang="en-US" smtClean="0"/>
              <a:pPr>
                <a:defRPr/>
              </a:pPr>
              <a:t>28</a:t>
            </a:fld>
            <a:endParaRPr lang="en-US" altLang="en-US"/>
          </a:p>
        </p:txBody>
      </p:sp>
    </p:spTree>
    <p:extLst>
      <p:ext uri="{BB962C8B-B14F-4D97-AF65-F5344CB8AC3E}">
        <p14:creationId xmlns:p14="http://schemas.microsoft.com/office/powerpoint/2010/main" val="32335851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B6A95-1E6B-DCC3-D51C-39674659F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80ED4-A75B-9543-6864-128E5E786D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20E77B-AB91-40A4-FC44-26D169216550}"/>
              </a:ext>
            </a:extLst>
          </p:cNvPr>
          <p:cNvSpPr>
            <a:spLocks noGrp="1"/>
          </p:cNvSpPr>
          <p:nvPr>
            <p:ph type="body" idx="1"/>
          </p:nvPr>
        </p:nvSpPr>
        <p:spPr/>
        <p:txBody>
          <a:bodyPr/>
          <a:lstStyle/>
          <a:p>
            <a:r>
              <a:rPr lang="en-US" dirty="0"/>
              <a:t>In general, it gets larger and then shrinks away. That explains why the P wave gets larger and then shrinks.</a:t>
            </a:r>
          </a:p>
          <a:p>
            <a:r>
              <a:rPr lang="en-US" dirty="0"/>
              <a:t>While the circle is expanding uniformly, the direction stays always down and to the anatomical left. When parts of the wave start running into the atrioventricular septum, the vector direction changes a bit.</a:t>
            </a:r>
          </a:p>
          <a:p>
            <a:endParaRPr lang="en-US" dirty="0"/>
          </a:p>
        </p:txBody>
      </p:sp>
      <p:sp>
        <p:nvSpPr>
          <p:cNvPr id="4" name="Slide Number Placeholder 3">
            <a:extLst>
              <a:ext uri="{FF2B5EF4-FFF2-40B4-BE49-F238E27FC236}">
                <a16:creationId xmlns:a16="http://schemas.microsoft.com/office/drawing/2014/main" id="{77502DB1-CCA1-F2DD-3A36-D7ED4938E135}"/>
              </a:ext>
            </a:extLst>
          </p:cNvPr>
          <p:cNvSpPr>
            <a:spLocks noGrp="1"/>
          </p:cNvSpPr>
          <p:nvPr>
            <p:ph type="sldNum" sz="quarter" idx="5"/>
          </p:nvPr>
        </p:nvSpPr>
        <p:spPr/>
        <p:txBody>
          <a:bodyPr/>
          <a:lstStyle/>
          <a:p>
            <a:pPr>
              <a:defRPr/>
            </a:pPr>
            <a:fld id="{5B598F11-C2C5-40D4-B32B-C1AF9DA155A1}" type="slidenum">
              <a:rPr lang="en-US" altLang="en-US" smtClean="0"/>
              <a:pPr>
                <a:defRPr/>
              </a:pPr>
              <a:t>29</a:t>
            </a:fld>
            <a:endParaRPr lang="en-US" altLang="en-US"/>
          </a:p>
        </p:txBody>
      </p:sp>
    </p:spTree>
    <p:extLst>
      <p:ext uri="{BB962C8B-B14F-4D97-AF65-F5344CB8AC3E}">
        <p14:creationId xmlns:p14="http://schemas.microsoft.com/office/powerpoint/2010/main" val="29363810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3B25D-48ED-8AAA-D866-1F02C331A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1FD0E-515B-0983-BAEF-0B8090226F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750AA-E8A5-1C0E-E905-677862538649}"/>
              </a:ext>
            </a:extLst>
          </p:cNvPr>
          <p:cNvSpPr>
            <a:spLocks noGrp="1"/>
          </p:cNvSpPr>
          <p:nvPr>
            <p:ph type="body" idx="1"/>
          </p:nvPr>
        </p:nvSpPr>
        <p:spPr/>
        <p:txBody>
          <a:bodyPr/>
          <a:lstStyle/>
          <a:p>
            <a:r>
              <a:rPr lang="en-US" dirty="0"/>
              <a:t>We already said the magnitude of the summed vector gets larger and then smaller.</a:t>
            </a:r>
          </a:p>
          <a:p>
            <a:r>
              <a:rPr lang="en-US" dirty="0"/>
              <a:t>But we also said it changes direction as it shrinks, which reduces the dot product still further.</a:t>
            </a:r>
          </a:p>
        </p:txBody>
      </p:sp>
      <p:sp>
        <p:nvSpPr>
          <p:cNvPr id="4" name="Slide Number Placeholder 3">
            <a:extLst>
              <a:ext uri="{FF2B5EF4-FFF2-40B4-BE49-F238E27FC236}">
                <a16:creationId xmlns:a16="http://schemas.microsoft.com/office/drawing/2014/main" id="{28EBA636-9555-61FF-EAC7-AD9AAA8033B7}"/>
              </a:ext>
            </a:extLst>
          </p:cNvPr>
          <p:cNvSpPr>
            <a:spLocks noGrp="1"/>
          </p:cNvSpPr>
          <p:nvPr>
            <p:ph type="sldNum" sz="quarter" idx="5"/>
          </p:nvPr>
        </p:nvSpPr>
        <p:spPr/>
        <p:txBody>
          <a:bodyPr/>
          <a:lstStyle/>
          <a:p>
            <a:pPr>
              <a:defRPr/>
            </a:pPr>
            <a:fld id="{5B598F11-C2C5-40D4-B32B-C1AF9DA155A1}" type="slidenum">
              <a:rPr lang="en-US" altLang="en-US" smtClean="0"/>
              <a:pPr>
                <a:defRPr/>
              </a:pPr>
              <a:t>30</a:t>
            </a:fld>
            <a:endParaRPr lang="en-US" altLang="en-US"/>
          </a:p>
        </p:txBody>
      </p:sp>
    </p:spTree>
    <p:extLst>
      <p:ext uri="{BB962C8B-B14F-4D97-AF65-F5344CB8AC3E}">
        <p14:creationId xmlns:p14="http://schemas.microsoft.com/office/powerpoint/2010/main" val="16824868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65D87-54F6-ADE7-42BB-25716CC735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D3B69-7936-C865-F159-0F49261269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8C81C-21EC-4EC7-BFEF-4113E35D9066}"/>
              </a:ext>
            </a:extLst>
          </p:cNvPr>
          <p:cNvSpPr>
            <a:spLocks noGrp="1"/>
          </p:cNvSpPr>
          <p:nvPr>
            <p:ph type="body" idx="1"/>
          </p:nvPr>
        </p:nvSpPr>
        <p:spPr/>
        <p:txBody>
          <a:bodyPr/>
          <a:lstStyle/>
          <a:p>
            <a:r>
              <a:rPr lang="en-US" dirty="0"/>
              <a:t>The heart vector still points down/left. But now the lead vector points up/right.</a:t>
            </a:r>
          </a:p>
        </p:txBody>
      </p:sp>
      <p:sp>
        <p:nvSpPr>
          <p:cNvPr id="4" name="Slide Number Placeholder 3">
            <a:extLst>
              <a:ext uri="{FF2B5EF4-FFF2-40B4-BE49-F238E27FC236}">
                <a16:creationId xmlns:a16="http://schemas.microsoft.com/office/drawing/2014/main" id="{FE64718A-E93D-929B-B9F1-370413D3E1A0}"/>
              </a:ext>
            </a:extLst>
          </p:cNvPr>
          <p:cNvSpPr>
            <a:spLocks noGrp="1"/>
          </p:cNvSpPr>
          <p:nvPr>
            <p:ph type="sldNum" sz="quarter" idx="5"/>
          </p:nvPr>
        </p:nvSpPr>
        <p:spPr/>
        <p:txBody>
          <a:bodyPr/>
          <a:lstStyle/>
          <a:p>
            <a:pPr>
              <a:defRPr/>
            </a:pPr>
            <a:fld id="{5B598F11-C2C5-40D4-B32B-C1AF9DA155A1}" type="slidenum">
              <a:rPr lang="en-US" altLang="en-US" smtClean="0"/>
              <a:pPr>
                <a:defRPr/>
              </a:pPr>
              <a:t>31</a:t>
            </a:fld>
            <a:endParaRPr lang="en-US" altLang="en-US"/>
          </a:p>
        </p:txBody>
      </p:sp>
    </p:spTree>
    <p:extLst>
      <p:ext uri="{BB962C8B-B14F-4D97-AF65-F5344CB8AC3E}">
        <p14:creationId xmlns:p14="http://schemas.microsoft.com/office/powerpoint/2010/main" val="27098970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2693E-BE50-5D11-3BFA-8EC87FBD4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F3C591-273C-83F4-14A9-1250172AB1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2270FF-72F7-C60D-4EDA-F635E6FA4EC0}"/>
              </a:ext>
            </a:extLst>
          </p:cNvPr>
          <p:cNvSpPr>
            <a:spLocks noGrp="1"/>
          </p:cNvSpPr>
          <p:nvPr>
            <p:ph type="body" idx="1"/>
          </p:nvPr>
        </p:nvSpPr>
        <p:spPr/>
        <p:txBody>
          <a:bodyPr/>
          <a:lstStyle/>
          <a:p>
            <a:r>
              <a:rPr lang="en-US" dirty="0"/>
              <a:t>Average vector direction = down and to the right. All the arrows point back to the center of the circle at the SA node.</a:t>
            </a:r>
          </a:p>
        </p:txBody>
      </p:sp>
      <p:sp>
        <p:nvSpPr>
          <p:cNvPr id="4" name="Slide Number Placeholder 3">
            <a:extLst>
              <a:ext uri="{FF2B5EF4-FFF2-40B4-BE49-F238E27FC236}">
                <a16:creationId xmlns:a16="http://schemas.microsoft.com/office/drawing/2014/main" id="{70591B5D-4705-C868-266B-E64E50A87915}"/>
              </a:ext>
            </a:extLst>
          </p:cNvPr>
          <p:cNvSpPr>
            <a:spLocks noGrp="1"/>
          </p:cNvSpPr>
          <p:nvPr>
            <p:ph type="sldNum" sz="quarter" idx="5"/>
          </p:nvPr>
        </p:nvSpPr>
        <p:spPr/>
        <p:txBody>
          <a:bodyPr/>
          <a:lstStyle/>
          <a:p>
            <a:pPr>
              <a:defRPr/>
            </a:pPr>
            <a:fld id="{5B598F11-C2C5-40D4-B32B-C1AF9DA155A1}" type="slidenum">
              <a:rPr lang="en-US" altLang="en-US" smtClean="0"/>
              <a:pPr>
                <a:defRPr/>
              </a:pPr>
              <a:t>32</a:t>
            </a:fld>
            <a:endParaRPr lang="en-US" altLang="en-US"/>
          </a:p>
        </p:txBody>
      </p:sp>
    </p:spTree>
    <p:extLst>
      <p:ext uri="{BB962C8B-B14F-4D97-AF65-F5344CB8AC3E}">
        <p14:creationId xmlns:p14="http://schemas.microsoft.com/office/powerpoint/2010/main" val="16381603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8B829-0F40-FEC1-F95F-1F01692D4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C75E7-DA30-71DF-DA07-B92FC7ED16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06B61-6331-1BB2-71FC-AD5C44DCC498}"/>
              </a:ext>
            </a:extLst>
          </p:cNvPr>
          <p:cNvSpPr>
            <a:spLocks noGrp="1"/>
          </p:cNvSpPr>
          <p:nvPr>
            <p:ph type="body" idx="1"/>
          </p:nvPr>
        </p:nvSpPr>
        <p:spPr/>
        <p:txBody>
          <a:bodyPr/>
          <a:lstStyle/>
          <a:p>
            <a:r>
              <a:rPr lang="en-US" dirty="0"/>
              <a:t>The animation is set up to show first the bundle of His, then the bundle branches, and finally the Purkinje fibers.</a:t>
            </a:r>
          </a:p>
          <a:p>
            <a:r>
              <a:rPr lang="en-US" dirty="0"/>
              <a:t>The tall &amp; skinny contraction is because you have such a strong, well-synchronized set of APs throughout the entire (huge and strong) ventricles.</a:t>
            </a:r>
          </a:p>
          <a:p>
            <a:r>
              <a:rPr lang="en-US" dirty="0"/>
              <a:t>The reason for the synchronization is because the Purkinje fibers work so well.</a:t>
            </a:r>
          </a:p>
          <a:p>
            <a:endParaRPr lang="en-US" dirty="0"/>
          </a:p>
        </p:txBody>
      </p:sp>
      <p:sp>
        <p:nvSpPr>
          <p:cNvPr id="4" name="Slide Number Placeholder 3">
            <a:extLst>
              <a:ext uri="{FF2B5EF4-FFF2-40B4-BE49-F238E27FC236}">
                <a16:creationId xmlns:a16="http://schemas.microsoft.com/office/drawing/2014/main" id="{A4302909-437B-4125-0C7A-B8740DEC5792}"/>
              </a:ext>
            </a:extLst>
          </p:cNvPr>
          <p:cNvSpPr>
            <a:spLocks noGrp="1"/>
          </p:cNvSpPr>
          <p:nvPr>
            <p:ph type="sldNum" sz="quarter" idx="5"/>
          </p:nvPr>
        </p:nvSpPr>
        <p:spPr/>
        <p:txBody>
          <a:bodyPr/>
          <a:lstStyle/>
          <a:p>
            <a:pPr>
              <a:defRPr/>
            </a:pPr>
            <a:fld id="{5B598F11-C2C5-40D4-B32B-C1AF9DA155A1}" type="slidenum">
              <a:rPr lang="en-US" altLang="en-US" smtClean="0"/>
              <a:pPr>
                <a:defRPr/>
              </a:pPr>
              <a:t>33</a:t>
            </a:fld>
            <a:endParaRPr lang="en-US" altLang="en-US"/>
          </a:p>
        </p:txBody>
      </p:sp>
    </p:spTree>
    <p:extLst>
      <p:ext uri="{BB962C8B-B14F-4D97-AF65-F5344CB8AC3E}">
        <p14:creationId xmlns:p14="http://schemas.microsoft.com/office/powerpoint/2010/main" val="5441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vector 1, the left side of the septum depolarizes first because the LBB is shorter and faster than the RBB.</a:t>
            </a:r>
          </a:p>
          <a:p>
            <a:r>
              <a:rPr lang="en-US" dirty="0"/>
              <a:t>The LV is larger and more muscular than the RV, and so it produces substantially more depolarization current.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34</a:t>
            </a:fld>
            <a:endParaRPr lang="en-US" altLang="en-US"/>
          </a:p>
        </p:txBody>
      </p:sp>
    </p:spTree>
    <p:extLst>
      <p:ext uri="{BB962C8B-B14F-4D97-AF65-F5344CB8AC3E}">
        <p14:creationId xmlns:p14="http://schemas.microsoft.com/office/powerpoint/2010/main" val="40445879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35</a:t>
            </a:fld>
            <a:endParaRPr lang="en-US" altLang="en-US"/>
          </a:p>
        </p:txBody>
      </p:sp>
    </p:spTree>
    <p:extLst>
      <p:ext uri="{BB962C8B-B14F-4D97-AF65-F5344CB8AC3E}">
        <p14:creationId xmlns:p14="http://schemas.microsoft.com/office/powerpoint/2010/main" val="20670657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easy to compute lead III = II – I = (LL-RA) – (LA-RA) = LL-LA.</a:t>
            </a:r>
          </a:p>
          <a:p>
            <a:r>
              <a:rPr lang="en-US" dirty="0"/>
              <a:t>Right leg is for </a:t>
            </a:r>
            <a:r>
              <a:rPr lang="en-US" i="1" dirty="0"/>
              <a:t>right-leg</a:t>
            </a:r>
            <a:r>
              <a:rPr lang="en-US" i="0" dirty="0"/>
              <a:t> </a:t>
            </a:r>
            <a:r>
              <a:rPr lang="en-US" i="1" dirty="0"/>
              <a:t>drive</a:t>
            </a:r>
            <a:r>
              <a:rPr lang="en-US" i="0" dirty="0"/>
              <a:t>. It’s sort of a ground; its goal is to sense any common-mode voltage between electrodes and drive current into the body to slowly remove that common-mode voltage.</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36</a:t>
            </a:fld>
            <a:endParaRPr lang="en-US" altLang="en-US"/>
          </a:p>
        </p:txBody>
      </p:sp>
    </p:spTree>
    <p:extLst>
      <p:ext uri="{BB962C8B-B14F-4D97-AF65-F5344CB8AC3E}">
        <p14:creationId xmlns:p14="http://schemas.microsoft.com/office/powerpoint/2010/main" val="30716584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Careful: this is a trick question! Arguably 6, not 3.</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37</a:t>
            </a:fld>
            <a:endParaRPr lang="en-US" altLang="en-US"/>
          </a:p>
        </p:txBody>
      </p:sp>
    </p:spTree>
    <p:extLst>
      <p:ext uri="{BB962C8B-B14F-4D97-AF65-F5344CB8AC3E}">
        <p14:creationId xmlns:p14="http://schemas.microsoft.com/office/powerpoint/2010/main" val="39355705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A7CCD-B673-EBD3-1DEB-6C219EBC6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C4445-1FE8-42A6-F8D3-CD5564C963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D7160F-54E8-0C27-7CF1-7B0F32EE9D28}"/>
              </a:ext>
            </a:extLst>
          </p:cNvPr>
          <p:cNvSpPr>
            <a:spLocks noGrp="1"/>
          </p:cNvSpPr>
          <p:nvPr>
            <p:ph type="body" idx="1"/>
          </p:nvPr>
        </p:nvSpPr>
        <p:spPr/>
        <p:txBody>
          <a:bodyPr/>
          <a:lstStyle/>
          <a:p>
            <a:r>
              <a:rPr lang="en-US" dirty="0"/>
              <a:t>How can we do this trick? Our 4 electrodes are really 3 signals plus a noise-reducing RLD that’s not really a ground. So the 3 signal electrodes give us two voltages (i.e., we could arbitrarily pick LL=ground). We can then characterize any 2D vector by its coordinates relative to any two basis vectors; and once we do that, then we can get its dot product with any arbitrary 2D vectors. So really, if we wanted to be sneaky enough we could get as many views as we want. Of course, trying to get lots of data from just a few measurements can get really noisy.</a:t>
            </a:r>
          </a:p>
          <a:p>
            <a:r>
              <a:rPr lang="en-US" dirty="0"/>
              <a:t>Also note that this is all 2D rather than 3D; while the electrodes are pretty much all in the chest plane, the heart vector isn’t. So this is just giving us a 2D projection, and very little information about the 3</a:t>
            </a:r>
            <a:r>
              <a:rPr lang="en-US" baseline="30000" dirty="0"/>
              <a:t>rd</a:t>
            </a:r>
            <a:r>
              <a:rPr lang="en-US" dirty="0"/>
              <a:t> axis.</a:t>
            </a:r>
          </a:p>
          <a:p>
            <a:endParaRPr lang="en-US" dirty="0"/>
          </a:p>
        </p:txBody>
      </p:sp>
      <p:sp>
        <p:nvSpPr>
          <p:cNvPr id="4" name="Slide Number Placeholder 3">
            <a:extLst>
              <a:ext uri="{FF2B5EF4-FFF2-40B4-BE49-F238E27FC236}">
                <a16:creationId xmlns:a16="http://schemas.microsoft.com/office/drawing/2014/main" id="{BA6081B7-3F11-31B6-B63F-5248AA9D2202}"/>
              </a:ext>
            </a:extLst>
          </p:cNvPr>
          <p:cNvSpPr>
            <a:spLocks noGrp="1"/>
          </p:cNvSpPr>
          <p:nvPr>
            <p:ph type="sldNum" sz="quarter" idx="5"/>
          </p:nvPr>
        </p:nvSpPr>
        <p:spPr/>
        <p:txBody>
          <a:bodyPr/>
          <a:lstStyle/>
          <a:p>
            <a:pPr>
              <a:defRPr/>
            </a:pPr>
            <a:fld id="{5B598F11-C2C5-40D4-B32B-C1AF9DA155A1}" type="slidenum">
              <a:rPr lang="en-US" altLang="en-US" smtClean="0"/>
              <a:pPr>
                <a:defRPr/>
              </a:pPr>
              <a:t>38</a:t>
            </a:fld>
            <a:endParaRPr lang="en-US" altLang="en-US"/>
          </a:p>
        </p:txBody>
      </p:sp>
    </p:spTree>
    <p:extLst>
      <p:ext uri="{BB962C8B-B14F-4D97-AF65-F5344CB8AC3E}">
        <p14:creationId xmlns:p14="http://schemas.microsoft.com/office/powerpoint/2010/main" val="3424985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 node firing is the beginning of P.</a:t>
            </a:r>
          </a:p>
          <a:p>
            <a:r>
              <a:rPr lang="en-US" dirty="0"/>
              <a:t>Atrial repolarization is hidden by QRS.</a:t>
            </a:r>
          </a:p>
          <a:p>
            <a:r>
              <a:rPr lang="en-US" dirty="0"/>
              <a:t>Time to traverse the atria + AV node = PR interval = start of P to start of QRS</a:t>
            </a:r>
          </a:p>
          <a:p>
            <a:r>
              <a:rPr lang="en-US" dirty="0"/>
              <a:t>Delay through the AV node = PR segment = end of P to start of QRS.</a:t>
            </a:r>
          </a:p>
          <a:p>
            <a:r>
              <a:rPr lang="en-US" dirty="0"/>
              <a:t>QRS width is defined as from the start of Q (when the ECG deviates from flat) to the end of S (when it reaches flat again).</a:t>
            </a:r>
          </a:p>
          <a:p>
            <a:r>
              <a:rPr lang="en-US" dirty="0"/>
              <a:t>Note the PR interval and segment are perhaps badly named; they end at Q, not at R.</a:t>
            </a:r>
          </a:p>
          <a:p>
            <a:r>
              <a:rPr lang="en-US" dirty="0"/>
              <a:t>The lab asks for the HR, PR interval and PR segment.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40</a:t>
            </a:fld>
            <a:endParaRPr lang="en-US" altLang="en-US"/>
          </a:p>
        </p:txBody>
      </p:sp>
    </p:spTree>
    <p:extLst>
      <p:ext uri="{BB962C8B-B14F-4D97-AF65-F5344CB8AC3E}">
        <p14:creationId xmlns:p14="http://schemas.microsoft.com/office/powerpoint/2010/main" val="8952233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for this slide.</a:t>
            </a:r>
          </a:p>
          <a:p>
            <a:r>
              <a:rPr lang="en-US" dirty="0"/>
              <a:t>Now we all know how a particular vector will create different ECG views.</a:t>
            </a:r>
          </a:p>
          <a:p>
            <a:r>
              <a:rPr lang="en-US" dirty="0"/>
              <a:t>But the clinically useful part is the opposite: how can we look at different ECG views and deduce the vector angle? That’s what we’ll do now.</a:t>
            </a:r>
          </a:p>
          <a:p>
            <a:r>
              <a:rPr lang="en-US" dirty="0"/>
              <a:t>We’ll do it for the R axis, which is the biggest and most noticeable part of the ECG. R axis can be altered by various things – most notably a heart attack.</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41</a:t>
            </a:fld>
            <a:endParaRPr lang="en-US" altLang="en-US"/>
          </a:p>
        </p:txBody>
      </p:sp>
    </p:spTree>
    <p:extLst>
      <p:ext uri="{BB962C8B-B14F-4D97-AF65-F5344CB8AC3E}">
        <p14:creationId xmlns:p14="http://schemas.microsoft.com/office/powerpoint/2010/main" val="37823166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If we’re max at 60</a:t>
            </a:r>
            <a:r>
              <a:rPr lang="en-US" dirty="0">
                <a:latin typeface="Times New Roman" panose="02020603050405020304" pitchFamily="18" charset="0"/>
                <a:cs typeface="Times New Roman" panose="02020603050405020304" pitchFamily="18" charset="0"/>
              </a:rPr>
              <a:t>º, then we’re min 180º away, or -</a:t>
            </a:r>
            <a:r>
              <a:rPr lang="en-US" dirty="0"/>
              <a:t>120</a:t>
            </a:r>
            <a:r>
              <a:rPr lang="en-US" dirty="0">
                <a:latin typeface="Times New Roman" panose="02020603050405020304" pitchFamily="18" charset="0"/>
                <a:cs typeface="Times New Roman" panose="02020603050405020304" pitchFamily="18" charset="0"/>
              </a:rPr>
              <a:t>º. </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42</a:t>
            </a:fld>
            <a:endParaRPr lang="en-US" altLang="en-US"/>
          </a:p>
        </p:txBody>
      </p:sp>
    </p:spTree>
    <p:extLst>
      <p:ext uri="{BB962C8B-B14F-4D97-AF65-F5344CB8AC3E}">
        <p14:creationId xmlns:p14="http://schemas.microsoft.com/office/powerpoint/2010/main" val="21003627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Specifically, the SA node has fewer NaV1.5 channels, which are the fast-acting positive feedback. Thus, the phase-0 upstroke is slower in the SA node.</a:t>
            </a:r>
          </a:p>
          <a:p>
            <a:r>
              <a:rPr lang="en-US" dirty="0"/>
              <a:t>Yes, phase 0 still looks pretty fast on this picture. But it’s a lot slower than the normal atrial and ventricular cells.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44</a:t>
            </a:fld>
            <a:endParaRPr lang="en-US" altLang="en-US"/>
          </a:p>
        </p:txBody>
      </p:sp>
    </p:spTree>
    <p:extLst>
      <p:ext uri="{BB962C8B-B14F-4D97-AF65-F5344CB8AC3E}">
        <p14:creationId xmlns:p14="http://schemas.microsoft.com/office/powerpoint/2010/main" val="36587636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heart entering paroxysmal AV block on a treadmill. They think the noise is when I jumped off of the treadmill and hit the ground.</a:t>
            </a:r>
          </a:p>
          <a:p>
            <a:r>
              <a:rPr lang="en-US" dirty="0"/>
              <a:t>Note the P waves every 2.5 squares before the block; they continue roughly every 2.5 squares after as well.</a:t>
            </a:r>
          </a:p>
          <a:p>
            <a:r>
              <a:rPr lang="en-US" dirty="0"/>
              <a:t>My HR was about 135; so about .44 sec/beat.</a:t>
            </a:r>
          </a:p>
          <a:p>
            <a:r>
              <a:rPr lang="en-US" dirty="0"/>
              <a:t>Each square is .2 sec, so .44sec = 2.2 squares.</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45</a:t>
            </a:fld>
            <a:endParaRPr lang="en-US" altLang="en-US"/>
          </a:p>
        </p:txBody>
      </p:sp>
    </p:spTree>
    <p:extLst>
      <p:ext uri="{BB962C8B-B14F-4D97-AF65-F5344CB8AC3E}">
        <p14:creationId xmlns:p14="http://schemas.microsoft.com/office/powerpoint/2010/main" val="2032889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atrial conduction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46</a:t>
            </a:fld>
            <a:endParaRPr lang="en-US" altLang="en-US"/>
          </a:p>
        </p:txBody>
      </p:sp>
    </p:spTree>
    <p:extLst>
      <p:ext uri="{BB962C8B-B14F-4D97-AF65-F5344CB8AC3E}">
        <p14:creationId xmlns:p14="http://schemas.microsoft.com/office/powerpoint/2010/main" val="13340528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 node doesn’t literally fire the </a:t>
            </a:r>
            <a:r>
              <a:rPr lang="en-US" i="1" dirty="0"/>
              <a:t>instant</a:t>
            </a:r>
            <a:r>
              <a:rPr lang="en-US" dirty="0"/>
              <a:t> it’s not refractory; but with atrial APs at 300 BPM it’s close enough.</a:t>
            </a:r>
          </a:p>
          <a:p>
            <a:r>
              <a:rPr lang="en-US" dirty="0"/>
              <a:t>In practice, about every other atrial AP makes it through to the ventricles.</a:t>
            </a:r>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47</a:t>
            </a:fld>
            <a:endParaRPr lang="en-US" altLang="en-US"/>
          </a:p>
        </p:txBody>
      </p:sp>
    </p:spTree>
    <p:extLst>
      <p:ext uri="{BB962C8B-B14F-4D97-AF65-F5344CB8AC3E}">
        <p14:creationId xmlns:p14="http://schemas.microsoft.com/office/powerpoint/2010/main" val="65634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stroke risk is because blood now pools in the atria, increasing the risk of clotting there. The clot is unlikely to lodge in the heart unless it’s large enough to block a valve, but can easily travel elsewhere and cause a stroke or heart attack.</a:t>
            </a:r>
          </a:p>
          <a:p>
            <a:r>
              <a:rPr lang="en-US" dirty="0" err="1"/>
              <a:t>Afib</a:t>
            </a:r>
            <a:r>
              <a:rPr lang="en-US" dirty="0"/>
              <a:t> can also lead to heart failure, simply because it causes the heart to pump inefficiently, and reduced cardiac output is the definition of heart failure.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48</a:t>
            </a:fld>
            <a:endParaRPr lang="en-US" altLang="en-US"/>
          </a:p>
        </p:txBody>
      </p:sp>
    </p:spTree>
    <p:extLst>
      <p:ext uri="{BB962C8B-B14F-4D97-AF65-F5344CB8AC3E}">
        <p14:creationId xmlns:p14="http://schemas.microsoft.com/office/powerpoint/2010/main" val="41518031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HR is irregular partly because the loop is irregular, and partly because it’s unpredictable which signals get through the AV node.</a:t>
            </a:r>
          </a:p>
          <a:p>
            <a:r>
              <a:rPr lang="en-US" dirty="0"/>
              <a:t>The P wave is missing because atrial conduction is so haphazard. The QRS wave is still present because whatever signal passes through the AV node can still cause a </a:t>
            </a:r>
            <a:r>
              <a:rPr lang="en-US"/>
              <a:t>normal ventricular HB.</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49</a:t>
            </a:fld>
            <a:endParaRPr lang="en-US" altLang="en-US"/>
          </a:p>
        </p:txBody>
      </p:sp>
    </p:spTree>
    <p:extLst>
      <p:ext uri="{BB962C8B-B14F-4D97-AF65-F5344CB8AC3E}">
        <p14:creationId xmlns:p14="http://schemas.microsoft.com/office/powerpoint/2010/main" val="31875680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of *why* it requires a one-way path will be on the quiz</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50</a:t>
            </a:fld>
            <a:endParaRPr lang="en-US" altLang="en-US"/>
          </a:p>
        </p:txBody>
      </p:sp>
    </p:spTree>
    <p:extLst>
      <p:ext uri="{BB962C8B-B14F-4D97-AF65-F5344CB8AC3E}">
        <p14:creationId xmlns:p14="http://schemas.microsoft.com/office/powerpoint/2010/main" val="28542215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Surgical is by putting lots of little holes around the pulmonary vein.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52</a:t>
            </a:fld>
            <a:endParaRPr lang="en-US" altLang="en-US"/>
          </a:p>
        </p:txBody>
      </p:sp>
    </p:spTree>
    <p:extLst>
      <p:ext uri="{BB962C8B-B14F-4D97-AF65-F5344CB8AC3E}">
        <p14:creationId xmlns:p14="http://schemas.microsoft.com/office/powerpoint/2010/main" val="30404879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electroporation? It turns out that cardiomyocytes have a lower energy threshold for electroporation damage than nearby cells do. So this procedure lowers the risk of damaging nearby tissue (e.g., the esophagus). Of course, the equipment is more expensive, another bonus </a:t>
            </a:r>
            <a:r>
              <a:rPr lang="en-US" dirty="0">
                <a:sym typeface="Wingdings" panose="05000000000000000000" pitchFamily="2" charset="2"/>
              </a:rPr>
              <a:t></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53</a:t>
            </a:fld>
            <a:endParaRPr lang="en-US" altLang="en-US"/>
          </a:p>
        </p:txBody>
      </p:sp>
    </p:spTree>
    <p:extLst>
      <p:ext uri="{BB962C8B-B14F-4D97-AF65-F5344CB8AC3E}">
        <p14:creationId xmlns:p14="http://schemas.microsoft.com/office/powerpoint/2010/main" val="4155409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54</a:t>
            </a:fld>
            <a:endParaRPr lang="en-US" altLang="en-US"/>
          </a:p>
        </p:txBody>
      </p:sp>
    </p:spTree>
    <p:extLst>
      <p:ext uri="{BB962C8B-B14F-4D97-AF65-F5344CB8AC3E}">
        <p14:creationId xmlns:p14="http://schemas.microsoft.com/office/powerpoint/2010/main" val="36910976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61</a:t>
            </a:fld>
            <a:endParaRPr lang="en-US" altLang="en-US"/>
          </a:p>
        </p:txBody>
      </p:sp>
    </p:spTree>
    <p:extLst>
      <p:ext uri="{BB962C8B-B14F-4D97-AF65-F5344CB8AC3E}">
        <p14:creationId xmlns:p14="http://schemas.microsoft.com/office/powerpoint/2010/main" val="29855219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Funny channels haven’t reached the trigger threshold yet, when the upstream AP comes in through GJs and </a:t>
            </a:r>
            <a:r>
              <a:rPr lang="en-US" i="1" dirty="0"/>
              <a:t>does</a:t>
            </a:r>
            <a:r>
              <a:rPr lang="en-US" i="0" dirty="0"/>
              <a:t> hit the threshold.</a:t>
            </a:r>
          </a:p>
          <a:p>
            <a:r>
              <a:rPr lang="en-US" i="0" dirty="0"/>
              <a:t>So the funny channels are nearly irrelevant.</a:t>
            </a:r>
          </a:p>
          <a:p>
            <a:r>
              <a:rPr lang="en-US" i="0" dirty="0"/>
              <a:t>Note the drawing shows upward slope of phase 0 in the AV-node cells being less than that in the SA-node cells,  since they have fewer funny ion channels.</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64</a:t>
            </a:fld>
            <a:endParaRPr lang="en-US" altLang="en-US"/>
          </a:p>
        </p:txBody>
      </p:sp>
    </p:spTree>
    <p:extLst>
      <p:ext uri="{BB962C8B-B14F-4D97-AF65-F5344CB8AC3E}">
        <p14:creationId xmlns:p14="http://schemas.microsoft.com/office/powerpoint/2010/main" val="26773412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66</a:t>
            </a:fld>
            <a:endParaRPr lang="en-US" altLang="en-US"/>
          </a:p>
        </p:txBody>
      </p:sp>
    </p:spTree>
    <p:extLst>
      <p:ext uri="{BB962C8B-B14F-4D97-AF65-F5344CB8AC3E}">
        <p14:creationId xmlns:p14="http://schemas.microsoft.com/office/powerpoint/2010/main" val="41587460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doesn’t the second SA pulse cause the ventricles to fire? Perhaps because they’re still refractory to their own second pulse (which has just fired). And if they’re refractory then they don’t fire on the SA depolarization – and if the SA repolarizes (and pulls the AV down) before the refractory period ends then the SA spike gets completely ignored.</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narration: AV pulse #2 does occur (running on the AV 40Hz clock), since the SA is running so slowly.</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Then SA #2 doesn’t cause a new AV pulse (since AV is refractory as noted above).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But SA #3 probably does get through.</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that this sequence has ventricular firing that looks almost exactly like a PVC (which is what we’ll look at next), though slow SA firing is typically </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68</a:t>
            </a:fld>
            <a:endParaRPr lang="en-US" altLang="en-US"/>
          </a:p>
        </p:txBody>
      </p:sp>
    </p:spTree>
    <p:extLst>
      <p:ext uri="{BB962C8B-B14F-4D97-AF65-F5344CB8AC3E}">
        <p14:creationId xmlns:p14="http://schemas.microsoft.com/office/powerpoint/2010/main" val="34401528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40 creeps up much higher, an athlete with 45bpm resting pulse will be in trouble.</a:t>
            </a:r>
          </a:p>
          <a:p>
            <a:r>
              <a:rPr lang="en-US" dirty="0"/>
              <a:t>If the 20 bpm goes much lower, it’s not enough to keep you alive.</a:t>
            </a:r>
          </a:p>
          <a:p>
            <a:r>
              <a:rPr lang="en-US" dirty="0"/>
              <a:t>My tertiary pacemaker is estimated at 12 BPM; I blacked out.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69</a:t>
            </a:fld>
            <a:endParaRPr lang="en-US" altLang="en-US"/>
          </a:p>
        </p:txBody>
      </p:sp>
    </p:spTree>
    <p:extLst>
      <p:ext uri="{BB962C8B-B14F-4D97-AF65-F5344CB8AC3E}">
        <p14:creationId xmlns:p14="http://schemas.microsoft.com/office/powerpoint/2010/main" val="31548011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(mistakenly) assuming zero delay from SA to ventricles to make the drawing simpler. In reality, the ventricular AP should be shifted to the right a bit.</a:t>
            </a:r>
          </a:p>
          <a:p>
            <a:r>
              <a:rPr lang="en-US" dirty="0"/>
              <a:t>And as usual, my artwork isn’t great – a real ventricular AP has a flatter top than what I’ve drawn.</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70</a:t>
            </a:fld>
            <a:endParaRPr lang="en-US" altLang="en-US"/>
          </a:p>
        </p:txBody>
      </p:sp>
    </p:spTree>
    <p:extLst>
      <p:ext uri="{BB962C8B-B14F-4D97-AF65-F5344CB8AC3E}">
        <p14:creationId xmlns:p14="http://schemas.microsoft.com/office/powerpoint/2010/main" val="13257443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zone is where an ectopic focus could cause a PVC. Really, the important thing is the ventricles and not the SA oscillator, but I drew it this way because it’s the SA oscillator that’s controlling the rhythm and thus setting the HR in the ventricles.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71</a:t>
            </a:fld>
            <a:endParaRPr lang="en-US" altLang="en-US"/>
          </a:p>
        </p:txBody>
      </p:sp>
    </p:spTree>
    <p:extLst>
      <p:ext uri="{BB962C8B-B14F-4D97-AF65-F5344CB8AC3E}">
        <p14:creationId xmlns:p14="http://schemas.microsoft.com/office/powerpoint/2010/main" val="14967528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should be an easy question to answer; we just answered it about 4 slides ago!</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74</a:t>
            </a:fld>
            <a:endParaRPr lang="en-US" altLang="en-US"/>
          </a:p>
        </p:txBody>
      </p:sp>
    </p:spTree>
    <p:extLst>
      <p:ext uri="{BB962C8B-B14F-4D97-AF65-F5344CB8AC3E}">
        <p14:creationId xmlns:p14="http://schemas.microsoft.com/office/powerpoint/2010/main" val="1535625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i="0" dirty="0"/>
              <a:t>Bigeminy is a run of having a PVC every other beat; trigeminy is a PVC every third beat.</a:t>
            </a:r>
            <a:endParaRPr lang="en-US" dirty="0"/>
          </a:p>
          <a:p>
            <a:r>
              <a:rPr lang="en-US" dirty="0"/>
              <a:t>And yes, the most PVCs (206) came at 4am, when the HR was lowest (44). </a:t>
            </a:r>
          </a:p>
          <a:p>
            <a:r>
              <a:rPr lang="en-US" dirty="0"/>
              <a:t>The bigeminy and trigeminy, interestingly, were </a:t>
            </a:r>
            <a:r>
              <a:rPr lang="en-US" i="1" dirty="0"/>
              <a:t>not</a:t>
            </a:r>
            <a:r>
              <a:rPr lang="en-US" i="0" dirty="0"/>
              <a:t> in that period; I’m not sure why. But they </a:t>
            </a:r>
            <a:r>
              <a:rPr lang="en-US" i="1" dirty="0"/>
              <a:t>were</a:t>
            </a:r>
            <a:r>
              <a:rPr lang="en-US" i="0" dirty="0"/>
              <a:t> in how-HR periods.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75</a:t>
            </a:fld>
            <a:endParaRPr lang="en-US" altLang="en-US"/>
          </a:p>
        </p:txBody>
      </p:sp>
    </p:spTree>
    <p:extLst>
      <p:ext uri="{BB962C8B-B14F-4D97-AF65-F5344CB8AC3E}">
        <p14:creationId xmlns:p14="http://schemas.microsoft.com/office/powerpoint/2010/main" val="25767763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“How well do you think it would work when you exercise?” is trying to get at whether it can speed up the HR when exercising.</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Then talk about synchrony: i.e., that it mimics a LBBB rather than </a:t>
            </a:r>
            <a:r>
              <a:rPr lang="en-US"/>
              <a:t>normal highway-conduction QRS.</a:t>
            </a:r>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78</a:t>
            </a:fld>
            <a:endParaRPr lang="en-US" altLang="en-US"/>
          </a:p>
        </p:txBody>
      </p:sp>
    </p:spTree>
    <p:extLst>
      <p:ext uri="{BB962C8B-B14F-4D97-AF65-F5344CB8AC3E}">
        <p14:creationId xmlns:p14="http://schemas.microsoft.com/office/powerpoint/2010/main" val="485786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2053761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6400800"/>
            <a:ext cx="2895600" cy="304800"/>
          </a:xfrm>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3466691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193104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2150550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658962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1521762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1053858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876898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1421476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241151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48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 Bioelectricity</a:t>
            </a:r>
          </a:p>
        </p:txBody>
      </p:sp>
    </p:spTree>
    <p:extLst>
      <p:ext uri="{BB962C8B-B14F-4D97-AF65-F5344CB8AC3E}">
        <p14:creationId xmlns:p14="http://schemas.microsoft.com/office/powerpoint/2010/main" val="1876934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cs typeface="+mn-cs"/>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smtClean="0">
                <a:cs typeface="+mn-cs"/>
              </a:defRPr>
            </a:lvl1pPr>
          </a:lstStyle>
          <a:p>
            <a:pPr>
              <a:defRPr/>
            </a:pPr>
            <a:r>
              <a:rPr lang="en-US" dirty="0"/>
              <a:t>EE 123 -- Bioelectricity</a:t>
            </a:r>
          </a:p>
        </p:txBody>
      </p:sp>
      <p:sp>
        <p:nvSpPr>
          <p:cNvPr id="1033" name="Rectangle 9"/>
          <p:cNvSpPr>
            <a:spLocks noChangeArrowheads="1"/>
          </p:cNvSpPr>
          <p:nvPr/>
        </p:nvSpPr>
        <p:spPr bwMode="auto">
          <a:xfrm>
            <a:off x="5715000" y="6248400"/>
            <a:ext cx="2895600" cy="457200"/>
          </a:xfrm>
          <a:prstGeom prst="rect">
            <a:avLst/>
          </a:prstGeom>
          <a:noFill/>
          <a:ln w="9525">
            <a:noFill/>
            <a:miter lim="800000"/>
            <a:headEnd/>
            <a:tailEnd/>
          </a:ln>
          <a:effec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r" eaLnBrk="1" hangingPunct="1">
              <a:defRPr/>
            </a:pPr>
            <a:fld id="{2ECDC20A-2A00-44F3-B6D9-A07784439C41}" type="slidenum">
              <a:rPr lang="en-US" altLang="en-US" sz="1400" smtClean="0"/>
              <a:pPr algn="r" eaLnBrk="1" hangingPunct="1">
                <a:defRPr/>
              </a:pPr>
              <a:t>‹#›</a:t>
            </a:fld>
            <a:endParaRPr lang="en-US" altLang="en-US" sz="1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Times New Roman" pitchFamily="18" charset="0"/>
        </a:defRPr>
      </a:lvl2pPr>
      <a:lvl3pPr algn="ctr" rtl="0" eaLnBrk="0" fontAlgn="base" hangingPunct="0">
        <a:spcBef>
          <a:spcPct val="0"/>
        </a:spcBef>
        <a:spcAft>
          <a:spcPct val="0"/>
        </a:spcAft>
        <a:defRPr sz="4400">
          <a:solidFill>
            <a:schemeClr val="accent2"/>
          </a:solidFill>
          <a:latin typeface="Times New Roman" pitchFamily="18" charset="0"/>
        </a:defRPr>
      </a:lvl3pPr>
      <a:lvl4pPr algn="ctr" rtl="0" eaLnBrk="0" fontAlgn="base" hangingPunct="0">
        <a:spcBef>
          <a:spcPct val="0"/>
        </a:spcBef>
        <a:spcAft>
          <a:spcPct val="0"/>
        </a:spcAft>
        <a:defRPr sz="4400">
          <a:solidFill>
            <a:schemeClr val="accent2"/>
          </a:solidFill>
          <a:latin typeface="Times New Roman" pitchFamily="18" charset="0"/>
        </a:defRPr>
      </a:lvl4pPr>
      <a:lvl5pPr algn="ctr" rtl="0" eaLnBrk="0" fontAlgn="base" hangingPunct="0">
        <a:spcBef>
          <a:spcPct val="0"/>
        </a:spcBef>
        <a:spcAft>
          <a:spcPct val="0"/>
        </a:spcAft>
        <a:defRPr sz="4400">
          <a:solidFill>
            <a:schemeClr val="accent2"/>
          </a:solidFill>
          <a:latin typeface="Times New Roman" pitchFamily="18" charset="0"/>
        </a:defRPr>
      </a:lvl5pPr>
      <a:lvl6pPr marL="457200" algn="ctr" rtl="0" fontAlgn="base">
        <a:spcBef>
          <a:spcPct val="0"/>
        </a:spcBef>
        <a:spcAft>
          <a:spcPct val="0"/>
        </a:spcAft>
        <a:defRPr sz="4400">
          <a:solidFill>
            <a:schemeClr val="accent2"/>
          </a:solidFill>
          <a:latin typeface="Times New Roman" pitchFamily="18" charset="0"/>
        </a:defRPr>
      </a:lvl6pPr>
      <a:lvl7pPr marL="914400" algn="ctr" rtl="0" fontAlgn="base">
        <a:spcBef>
          <a:spcPct val="0"/>
        </a:spcBef>
        <a:spcAft>
          <a:spcPct val="0"/>
        </a:spcAft>
        <a:defRPr sz="4400">
          <a:solidFill>
            <a:schemeClr val="accent2"/>
          </a:solidFill>
          <a:latin typeface="Times New Roman" pitchFamily="18" charset="0"/>
        </a:defRPr>
      </a:lvl7pPr>
      <a:lvl8pPr marL="1371600" algn="ctr" rtl="0" fontAlgn="base">
        <a:spcBef>
          <a:spcPct val="0"/>
        </a:spcBef>
        <a:spcAft>
          <a:spcPct val="0"/>
        </a:spcAft>
        <a:defRPr sz="4400">
          <a:solidFill>
            <a:schemeClr val="accent2"/>
          </a:solidFill>
          <a:latin typeface="Times New Roman" pitchFamily="18" charset="0"/>
        </a:defRPr>
      </a:lvl8pPr>
      <a:lvl9pPr marL="1828800" algn="ctr" rtl="0" fontAlgn="base">
        <a:spcBef>
          <a:spcPct val="0"/>
        </a:spcBef>
        <a:spcAft>
          <a:spcPct val="0"/>
        </a:spcAft>
        <a:defRPr sz="4400">
          <a:solidFill>
            <a:schemeClr val="accent2"/>
          </a:solidFill>
          <a:latin typeface="Times New Roman" pitchFamily="18"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oel.grodstein@tufts.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edium.com/s/story/im-a-heart-doctor-heres-why-im-wary-of-the-new-apple-watch-2b1999f2d942"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spectrum.ieee.org/wearable-medical-devices" TargetMode="External"/><Relationship Id="rId4" Type="http://schemas.openxmlformats.org/officeDocument/2006/relationships/hyperlink" Target="https://www.nytimes.com/2021/05/20/well/live/smartwatch-heart-rate-monitor.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s5iCoCaofc" TargetMode="External"/><Relationship Id="rId2" Type="http://schemas.openxmlformats.org/officeDocument/2006/relationships/hyperlink" Target="https://www.youtube.com/watch?v=CWFyxn0qDEU"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hyperlink" Target="https://www.heart.org/en/health-topics/atrial-fibrillation/why-atrial-fibrillation-af-or-afib-matters"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hyperlink" Target="https://watchlearnlive.heart.org/index.php?moduleSelect=atrfib"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hyperlink" Target="https://www.medscape.com/viewarticle/af-ablation-works-positive-sham-pvi-trial-2024a1000gzl" TargetMode="External"/><Relationship Id="rId4" Type="http://schemas.openxmlformats.org/officeDocument/2006/relationships/hyperlink" Target="https://www.drjohnm.org/2011/03/the-best-tool-for-treating-atrial-fibrillation"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www.drjohnm.org/2015/08/on-pvcs-think-anew-but-think-slowly/" TargetMode="External"/><Relationship Id="rId2" Type="http://schemas.openxmlformats.org/officeDocument/2006/relationships/hyperlink" Target="https://www.drjohnm.org/2013/06/benign-pvcs-a-heart-rhythm-doctors-approach/"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http://www.barostimtherapy.com/en-gb/node/86"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09600" y="381000"/>
            <a:ext cx="7772400" cy="1143000"/>
          </a:xfrm>
        </p:spPr>
        <p:txBody>
          <a:bodyPr/>
          <a:lstStyle/>
          <a:p>
            <a:pPr eaLnBrk="1" hangingPunct="1"/>
            <a:r>
              <a:rPr lang="en-US" altLang="en-US" dirty="0"/>
              <a:t>EE 123</a:t>
            </a:r>
            <a:br>
              <a:rPr lang="en-US" altLang="en-US" dirty="0"/>
            </a:br>
            <a:r>
              <a:rPr lang="en-US" altLang="en-US" dirty="0"/>
              <a:t>Bioelectricity</a:t>
            </a:r>
          </a:p>
        </p:txBody>
      </p:sp>
      <p:sp>
        <p:nvSpPr>
          <p:cNvPr id="4099" name="Rectangle 3"/>
          <p:cNvSpPr>
            <a:spLocks noGrp="1" noChangeArrowheads="1"/>
          </p:cNvSpPr>
          <p:nvPr>
            <p:ph type="subTitle" idx="1"/>
          </p:nvPr>
        </p:nvSpPr>
        <p:spPr>
          <a:xfrm>
            <a:off x="381000" y="2133600"/>
            <a:ext cx="8382000" cy="3733800"/>
          </a:xfrm>
        </p:spPr>
        <p:txBody>
          <a:bodyPr/>
          <a:lstStyle/>
          <a:p>
            <a:pPr eaLnBrk="1" hangingPunct="1"/>
            <a:r>
              <a:rPr lang="en-US" altLang="en-US" dirty="0"/>
              <a:t>Tufts University</a:t>
            </a:r>
          </a:p>
          <a:p>
            <a:pPr eaLnBrk="1" hangingPunct="1"/>
            <a:endParaRPr lang="en-US" altLang="en-US" dirty="0"/>
          </a:p>
          <a:p>
            <a:pPr eaLnBrk="1" hangingPunct="1"/>
            <a:r>
              <a:rPr lang="en-US" altLang="en-US" dirty="0"/>
              <a:t>Instructor: Joel </a:t>
            </a:r>
            <a:r>
              <a:rPr lang="en-US" altLang="en-US" dirty="0" err="1"/>
              <a:t>Grodstein</a:t>
            </a:r>
            <a:endParaRPr lang="en-US" altLang="en-US" dirty="0"/>
          </a:p>
          <a:p>
            <a:pPr eaLnBrk="1" hangingPunct="1"/>
            <a:r>
              <a:rPr lang="en-US" altLang="en-US" dirty="0">
                <a:solidFill>
                  <a:schemeClr val="accent2"/>
                </a:solidFill>
                <a:hlinkClick r:id="rId2"/>
              </a:rPr>
              <a:t>joel.grodstein@tufts.edu</a:t>
            </a:r>
            <a:endParaRPr lang="en-US" altLang="en-US" dirty="0">
              <a:solidFill>
                <a:schemeClr val="accent2"/>
              </a:solidFill>
            </a:endParaRPr>
          </a:p>
          <a:p>
            <a:pPr eaLnBrk="1" hangingPunct="1"/>
            <a:endParaRPr lang="en-US" altLang="en-US" dirty="0"/>
          </a:p>
          <a:p>
            <a:pPr eaLnBrk="1" hangingPunct="1"/>
            <a:r>
              <a:rPr lang="it-IT" altLang="en-US" dirty="0"/>
              <a:t>3. The human heart</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41EA2-E5A1-440A-BBF7-FB047BEE8DC4}"/>
              </a:ext>
            </a:extLst>
          </p:cNvPr>
          <p:cNvSpPr>
            <a:spLocks noGrp="1"/>
          </p:cNvSpPr>
          <p:nvPr>
            <p:ph type="title"/>
          </p:nvPr>
        </p:nvSpPr>
        <p:spPr/>
        <p:txBody>
          <a:bodyPr/>
          <a:lstStyle/>
          <a:p>
            <a:r>
              <a:rPr lang="en-US" dirty="0"/>
              <a:t>Big picture of the course</a:t>
            </a:r>
          </a:p>
        </p:txBody>
      </p:sp>
      <p:sp>
        <p:nvSpPr>
          <p:cNvPr id="3" name="Content Placeholder 2">
            <a:extLst>
              <a:ext uri="{FF2B5EF4-FFF2-40B4-BE49-F238E27FC236}">
                <a16:creationId xmlns:a16="http://schemas.microsoft.com/office/drawing/2014/main" id="{EBFCE431-A316-4FC0-8AF3-D404C161E888}"/>
              </a:ext>
            </a:extLst>
          </p:cNvPr>
          <p:cNvSpPr>
            <a:spLocks noGrp="1"/>
          </p:cNvSpPr>
          <p:nvPr>
            <p:ph idx="1"/>
          </p:nvPr>
        </p:nvSpPr>
        <p:spPr/>
        <p:txBody>
          <a:bodyPr/>
          <a:lstStyle/>
          <a:p>
            <a:r>
              <a:rPr lang="en-US" dirty="0"/>
              <a:t>Where does bioelectricity come from?</a:t>
            </a:r>
          </a:p>
          <a:p>
            <a:r>
              <a:rPr lang="en-US" dirty="0"/>
              <a:t>Neurons and working with the nervous system</a:t>
            </a:r>
          </a:p>
          <a:p>
            <a:r>
              <a:rPr lang="en-US" dirty="0"/>
              <a:t>Cardiac bioelectricity</a:t>
            </a:r>
          </a:p>
          <a:p>
            <a:r>
              <a:rPr lang="en-US" dirty="0"/>
              <a:t>Worms</a:t>
            </a:r>
          </a:p>
        </p:txBody>
      </p:sp>
      <p:sp>
        <p:nvSpPr>
          <p:cNvPr id="4" name="Footer Placeholder 3">
            <a:extLst>
              <a:ext uri="{FF2B5EF4-FFF2-40B4-BE49-F238E27FC236}">
                <a16:creationId xmlns:a16="http://schemas.microsoft.com/office/drawing/2014/main" id="{14E3BD7B-8458-45C8-871C-FBDAA3E4015E}"/>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041E2B69-E4B6-4750-B290-80ED5391C427}"/>
              </a:ext>
            </a:extLst>
          </p:cNvPr>
          <p:cNvSpPr/>
          <p:nvPr/>
        </p:nvSpPr>
        <p:spPr>
          <a:xfrm>
            <a:off x="566928" y="2693583"/>
            <a:ext cx="3928872" cy="554736"/>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836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57E9-6834-4293-BDA3-C30ED2CEBD22}"/>
              </a:ext>
            </a:extLst>
          </p:cNvPr>
          <p:cNvSpPr>
            <a:spLocks noGrp="1"/>
          </p:cNvSpPr>
          <p:nvPr>
            <p:ph type="title"/>
          </p:nvPr>
        </p:nvSpPr>
        <p:spPr/>
        <p:txBody>
          <a:bodyPr/>
          <a:lstStyle/>
          <a:p>
            <a:r>
              <a:rPr lang="en-US" dirty="0"/>
              <a:t>The heart in the news</a:t>
            </a:r>
          </a:p>
        </p:txBody>
      </p:sp>
      <p:sp>
        <p:nvSpPr>
          <p:cNvPr id="3" name="Content Placeholder 2">
            <a:extLst>
              <a:ext uri="{FF2B5EF4-FFF2-40B4-BE49-F238E27FC236}">
                <a16:creationId xmlns:a16="http://schemas.microsoft.com/office/drawing/2014/main" id="{5FC2010D-C2AE-4EFA-BB02-4374880E85DD}"/>
              </a:ext>
            </a:extLst>
          </p:cNvPr>
          <p:cNvSpPr>
            <a:spLocks noGrp="1"/>
          </p:cNvSpPr>
          <p:nvPr>
            <p:ph idx="1"/>
          </p:nvPr>
        </p:nvSpPr>
        <p:spPr>
          <a:xfrm>
            <a:off x="685800" y="1219200"/>
            <a:ext cx="8229600" cy="4953000"/>
          </a:xfrm>
        </p:spPr>
        <p:txBody>
          <a:bodyPr/>
          <a:lstStyle/>
          <a:p>
            <a:r>
              <a:rPr lang="en-US" dirty="0"/>
              <a:t>Detecting atrial fib with the Apple watch… and more</a:t>
            </a:r>
          </a:p>
          <a:p>
            <a:pPr lvl="1">
              <a:spcBef>
                <a:spcPts val="0"/>
              </a:spcBef>
            </a:pPr>
            <a:r>
              <a:rPr lang="en-US" dirty="0">
                <a:hlinkClick r:id="rId3"/>
              </a:rPr>
              <a:t>https://medium.com/s/story/im-a-heart-doctor-heres-why-im-wary-of-the-new-apple-watch-2b1999f2d942</a:t>
            </a:r>
            <a:endParaRPr lang="en-US" dirty="0"/>
          </a:p>
          <a:p>
            <a:pPr lvl="1">
              <a:spcBef>
                <a:spcPts val="0"/>
              </a:spcBef>
            </a:pPr>
            <a:r>
              <a:rPr lang="en-US" b="0" i="0" u="sng" strike="noStrike" dirty="0">
                <a:solidFill>
                  <a:srgbClr val="1155CC"/>
                </a:solidFill>
                <a:effectLst/>
                <a:hlinkClick r:id="rId4"/>
              </a:rPr>
              <a:t>https://www.nytimes.com/2021/05/20/well/live/smartwatch-heart-rate-monitor.html</a:t>
            </a:r>
            <a:endParaRPr lang="en-US" dirty="0">
              <a:solidFill>
                <a:srgbClr val="000000"/>
              </a:solidFill>
            </a:endParaRPr>
          </a:p>
          <a:p>
            <a:pPr lvl="1">
              <a:spcBef>
                <a:spcPts val="0"/>
              </a:spcBef>
            </a:pPr>
            <a:r>
              <a:rPr lang="en-US" dirty="0">
                <a:hlinkClick r:id="rId5"/>
              </a:rPr>
              <a:t>https://spectrum.ieee.org/wearable-medical-devices</a:t>
            </a:r>
            <a:r>
              <a:rPr lang="en-US" dirty="0">
                <a:solidFill>
                  <a:srgbClr val="000000"/>
                </a:solidFill>
              </a:rPr>
              <a:t> </a:t>
            </a:r>
            <a:endParaRPr lang="en-US" dirty="0"/>
          </a:p>
          <a:p>
            <a:pPr lvl="1"/>
            <a:endParaRPr lang="en-US" dirty="0"/>
          </a:p>
          <a:p>
            <a:pPr lvl="1"/>
            <a:endParaRPr lang="en-US" dirty="0"/>
          </a:p>
          <a:p>
            <a:endParaRPr lang="en-US" dirty="0"/>
          </a:p>
        </p:txBody>
      </p:sp>
      <p:sp>
        <p:nvSpPr>
          <p:cNvPr id="4" name="Footer Placeholder 3">
            <a:extLst>
              <a:ext uri="{FF2B5EF4-FFF2-40B4-BE49-F238E27FC236}">
                <a16:creationId xmlns:a16="http://schemas.microsoft.com/office/drawing/2014/main" id="{F4D2E014-A618-4A06-BA6D-44F1C4289A71}"/>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253609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14A92-0AE1-418F-98C6-8738AD0D48CE}"/>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0E944ED5-3D23-45D1-ACC3-736ECD603F53}"/>
              </a:ext>
            </a:extLst>
          </p:cNvPr>
          <p:cNvSpPr>
            <a:spLocks noGrp="1"/>
          </p:cNvSpPr>
          <p:nvPr>
            <p:ph idx="1"/>
          </p:nvPr>
        </p:nvSpPr>
        <p:spPr/>
        <p:txBody>
          <a:bodyPr/>
          <a:lstStyle/>
          <a:p>
            <a:r>
              <a:rPr lang="en-US" dirty="0">
                <a:highlight>
                  <a:srgbClr val="FFFF00"/>
                </a:highlight>
              </a:rPr>
              <a:t>Cool cardiac facts &amp; why we care</a:t>
            </a:r>
          </a:p>
          <a:p>
            <a:r>
              <a:rPr lang="en-US" dirty="0"/>
              <a:t>Cardiac basic operation</a:t>
            </a:r>
          </a:p>
          <a:p>
            <a:r>
              <a:rPr lang="en-US" dirty="0"/>
              <a:t>Electrocardiograms</a:t>
            </a:r>
          </a:p>
          <a:p>
            <a:r>
              <a:rPr lang="en-US" dirty="0"/>
              <a:t>Arrhythmias</a:t>
            </a:r>
          </a:p>
          <a:p>
            <a:r>
              <a:rPr lang="en-US" dirty="0"/>
              <a:t>Backup-system engineering</a:t>
            </a:r>
          </a:p>
          <a:p>
            <a:pPr lvl="1">
              <a:spcBef>
                <a:spcPts val="0"/>
              </a:spcBef>
            </a:pPr>
            <a:r>
              <a:rPr lang="en-US" dirty="0"/>
              <a:t>2 to 3 </a:t>
            </a:r>
            <a:r>
              <a:rPr lang="en-US" i="1" dirty="0"/>
              <a:t>billion </a:t>
            </a:r>
            <a:r>
              <a:rPr lang="en-US" dirty="0"/>
              <a:t>cells; they break and die all the time</a:t>
            </a:r>
          </a:p>
          <a:p>
            <a:endParaRPr lang="en-US" dirty="0"/>
          </a:p>
        </p:txBody>
      </p:sp>
      <p:sp>
        <p:nvSpPr>
          <p:cNvPr id="4" name="Footer Placeholder 3">
            <a:extLst>
              <a:ext uri="{FF2B5EF4-FFF2-40B4-BE49-F238E27FC236}">
                <a16:creationId xmlns:a16="http://schemas.microsoft.com/office/drawing/2014/main" id="{E374EE35-380B-4ECA-A2BB-ED4C3312E805}"/>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141667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C6F47-4758-44E3-B351-535B164F19EE}"/>
              </a:ext>
            </a:extLst>
          </p:cNvPr>
          <p:cNvSpPr>
            <a:spLocks noGrp="1"/>
          </p:cNvSpPr>
          <p:nvPr>
            <p:ph type="title"/>
          </p:nvPr>
        </p:nvSpPr>
        <p:spPr/>
        <p:txBody>
          <a:bodyPr/>
          <a:lstStyle/>
          <a:p>
            <a:r>
              <a:rPr lang="en-US" dirty="0"/>
              <a:t>Deaths/year in U.S.</a:t>
            </a:r>
          </a:p>
        </p:txBody>
      </p:sp>
      <p:sp>
        <p:nvSpPr>
          <p:cNvPr id="3" name="Content Placeholder 2">
            <a:extLst>
              <a:ext uri="{FF2B5EF4-FFF2-40B4-BE49-F238E27FC236}">
                <a16:creationId xmlns:a16="http://schemas.microsoft.com/office/drawing/2014/main" id="{7D9E3DAA-271B-438B-8286-57DEF344ADDD}"/>
              </a:ext>
            </a:extLst>
          </p:cNvPr>
          <p:cNvSpPr>
            <a:spLocks noGrp="1"/>
          </p:cNvSpPr>
          <p:nvPr>
            <p:ph idx="1"/>
          </p:nvPr>
        </p:nvSpPr>
        <p:spPr>
          <a:xfrm>
            <a:off x="685800" y="1524000"/>
            <a:ext cx="7772400" cy="4419600"/>
          </a:xfrm>
        </p:spPr>
        <p:txBody>
          <a:bodyPr/>
          <a:lstStyle/>
          <a:p>
            <a:r>
              <a:rPr lang="en-US" sz="3200" dirty="0"/>
              <a:t>2.8M deaths/year total (.9 / 100 people)</a:t>
            </a:r>
          </a:p>
          <a:p>
            <a:pPr lvl="1">
              <a:spcBef>
                <a:spcPts val="0"/>
              </a:spcBef>
            </a:pPr>
            <a:r>
              <a:rPr lang="en-US" dirty="0"/>
              <a:t>Heart disease = 650K</a:t>
            </a:r>
          </a:p>
          <a:p>
            <a:pPr lvl="1">
              <a:spcBef>
                <a:spcPts val="0"/>
              </a:spcBef>
            </a:pPr>
            <a:r>
              <a:rPr lang="en-US" dirty="0"/>
              <a:t>Cancer = 600K</a:t>
            </a:r>
          </a:p>
          <a:p>
            <a:pPr lvl="1">
              <a:spcBef>
                <a:spcPts val="0"/>
              </a:spcBef>
            </a:pPr>
            <a:r>
              <a:rPr lang="en-US" dirty="0"/>
              <a:t>Accidents = 170K</a:t>
            </a:r>
          </a:p>
          <a:p>
            <a:pPr lvl="1">
              <a:spcBef>
                <a:spcPts val="0"/>
              </a:spcBef>
            </a:pPr>
            <a:r>
              <a:rPr lang="en-US" dirty="0"/>
              <a:t>Chronic lower respiratory diseases: 160K</a:t>
            </a:r>
          </a:p>
          <a:p>
            <a:pPr lvl="1">
              <a:spcBef>
                <a:spcPts val="0"/>
              </a:spcBef>
            </a:pPr>
            <a:r>
              <a:rPr lang="en-US" dirty="0"/>
              <a:t>Stroke = 150K</a:t>
            </a:r>
          </a:p>
          <a:p>
            <a:pPr lvl="1">
              <a:spcBef>
                <a:spcPts val="0"/>
              </a:spcBef>
            </a:pPr>
            <a:r>
              <a:rPr lang="en-US" dirty="0"/>
              <a:t>Alzheimer’s = 120K</a:t>
            </a:r>
          </a:p>
          <a:p>
            <a:pPr lvl="1">
              <a:spcBef>
                <a:spcPts val="0"/>
              </a:spcBef>
            </a:pPr>
            <a:r>
              <a:rPr lang="en-US" dirty="0"/>
              <a:t>Diabetes = 80K</a:t>
            </a:r>
          </a:p>
          <a:p>
            <a:pPr lvl="1">
              <a:spcBef>
                <a:spcPts val="0"/>
              </a:spcBef>
            </a:pPr>
            <a:endParaRPr lang="en-US" sz="4000" dirty="0"/>
          </a:p>
        </p:txBody>
      </p:sp>
      <p:sp>
        <p:nvSpPr>
          <p:cNvPr id="4" name="Footer Placeholder 3">
            <a:extLst>
              <a:ext uri="{FF2B5EF4-FFF2-40B4-BE49-F238E27FC236}">
                <a16:creationId xmlns:a16="http://schemas.microsoft.com/office/drawing/2014/main" id="{992E666A-A935-4C87-A597-A3DDFADD674F}"/>
              </a:ext>
            </a:extLst>
          </p:cNvPr>
          <p:cNvSpPr>
            <a:spLocks noGrp="1"/>
          </p:cNvSpPr>
          <p:nvPr>
            <p:ph type="ftr" sz="quarter" idx="11"/>
          </p:nvPr>
        </p:nvSpPr>
        <p:spPr/>
        <p:txBody>
          <a:bodyPr/>
          <a:lstStyle/>
          <a:p>
            <a:pPr>
              <a:defRPr/>
            </a:pPr>
            <a:r>
              <a:rPr lang="en-US" dirty="0"/>
              <a:t>EE 123 -- Bioelectricity</a:t>
            </a:r>
          </a:p>
        </p:txBody>
      </p:sp>
      <p:sp>
        <p:nvSpPr>
          <p:cNvPr id="8" name="TextBox 7">
            <a:extLst>
              <a:ext uri="{FF2B5EF4-FFF2-40B4-BE49-F238E27FC236}">
                <a16:creationId xmlns:a16="http://schemas.microsoft.com/office/drawing/2014/main" id="{ABA34D41-0A78-4294-96AC-F9EFD8531C33}"/>
              </a:ext>
            </a:extLst>
          </p:cNvPr>
          <p:cNvSpPr txBox="1"/>
          <p:nvPr/>
        </p:nvSpPr>
        <p:spPr>
          <a:xfrm>
            <a:off x="6096000" y="2286000"/>
            <a:ext cx="2743200" cy="461665"/>
          </a:xfrm>
          <a:prstGeom prst="rect">
            <a:avLst/>
          </a:prstGeom>
          <a:noFill/>
        </p:spPr>
        <p:txBody>
          <a:bodyPr wrap="square" rtlCol="0">
            <a:spAutoFit/>
          </a:bodyPr>
          <a:lstStyle/>
          <a:p>
            <a:r>
              <a:rPr lang="en-US" dirty="0"/>
              <a:t>Mostly heart attacks</a:t>
            </a:r>
          </a:p>
        </p:txBody>
      </p:sp>
      <p:cxnSp>
        <p:nvCxnSpPr>
          <p:cNvPr id="10" name="Straight Arrow Connector 9">
            <a:extLst>
              <a:ext uri="{FF2B5EF4-FFF2-40B4-BE49-F238E27FC236}">
                <a16:creationId xmlns:a16="http://schemas.microsoft.com/office/drawing/2014/main" id="{0FB2D69D-31B4-4058-A697-42900EBEB190}"/>
              </a:ext>
            </a:extLst>
          </p:cNvPr>
          <p:cNvCxnSpPr/>
          <p:nvPr/>
        </p:nvCxnSpPr>
        <p:spPr>
          <a:xfrm flipH="1" flipV="1">
            <a:off x="4267200" y="2286000"/>
            <a:ext cx="1828800" cy="2286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8D9A938-802B-4B32-BF3B-5026EFEAE0A6}"/>
              </a:ext>
            </a:extLst>
          </p:cNvPr>
          <p:cNvSpPr txBox="1"/>
          <p:nvPr/>
        </p:nvSpPr>
        <p:spPr>
          <a:xfrm>
            <a:off x="304800" y="6096000"/>
            <a:ext cx="6096000" cy="369332"/>
          </a:xfrm>
          <a:prstGeom prst="rect">
            <a:avLst/>
          </a:prstGeom>
          <a:noFill/>
        </p:spPr>
        <p:txBody>
          <a:bodyPr wrap="square" rtlCol="0">
            <a:spAutoFit/>
          </a:bodyPr>
          <a:lstStyle/>
          <a:p>
            <a:r>
              <a:rPr lang="en-US" sz="1800" dirty="0"/>
              <a:t>(from https://www.cdc.gov/nchs/products/databriefs/db328.htm)</a:t>
            </a:r>
          </a:p>
        </p:txBody>
      </p:sp>
    </p:spTree>
    <p:extLst>
      <p:ext uri="{BB962C8B-B14F-4D97-AF65-F5344CB8AC3E}">
        <p14:creationId xmlns:p14="http://schemas.microsoft.com/office/powerpoint/2010/main" val="63577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564D-078D-4A4F-9A3A-6977B53EAFF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E6E4B6A-AC41-4B4A-9F3A-09BD1E4F8449}"/>
              </a:ext>
            </a:extLst>
          </p:cNvPr>
          <p:cNvSpPr>
            <a:spLocks noGrp="1"/>
          </p:cNvSpPr>
          <p:nvPr>
            <p:ph idx="1"/>
          </p:nvPr>
        </p:nvSpPr>
        <p:spPr/>
        <p:txBody>
          <a:bodyPr/>
          <a:lstStyle/>
          <a:p>
            <a:r>
              <a:rPr lang="en-US" dirty="0"/>
              <a:t>Heart attack = blocked artery starves heart muscle</a:t>
            </a:r>
          </a:p>
          <a:p>
            <a:pPr lvl="1"/>
            <a:r>
              <a:rPr lang="en-US" dirty="0"/>
              <a:t>Plumbing problem</a:t>
            </a:r>
          </a:p>
          <a:p>
            <a:pPr lvl="1"/>
            <a:r>
              <a:rPr lang="en-US" dirty="0"/>
              <a:t>Heart dies over hours to weeks</a:t>
            </a:r>
          </a:p>
          <a:p>
            <a:r>
              <a:rPr lang="en-US" dirty="0"/>
              <a:t>Cardiac arrest = heart stops beating</a:t>
            </a:r>
          </a:p>
          <a:p>
            <a:pPr lvl="1"/>
            <a:r>
              <a:rPr lang="en-US" dirty="0"/>
              <a:t>Electrical problem</a:t>
            </a:r>
          </a:p>
          <a:p>
            <a:pPr lvl="1"/>
            <a:r>
              <a:rPr lang="en-US" dirty="0"/>
              <a:t>Lose consciousness in seconds; die in minutes</a:t>
            </a:r>
          </a:p>
          <a:p>
            <a:pPr lvl="1"/>
            <a:r>
              <a:rPr lang="en-US" dirty="0"/>
              <a:t>530K cases/year; 8% survival rate</a:t>
            </a:r>
          </a:p>
          <a:p>
            <a:pPr lvl="1"/>
            <a:r>
              <a:rPr lang="en-US" dirty="0"/>
              <a:t>CPR, AED save lives</a:t>
            </a:r>
          </a:p>
          <a:p>
            <a:pPr lvl="1"/>
            <a:r>
              <a:rPr lang="en-US" dirty="0"/>
              <a:t>PSA – learn how to use one!</a:t>
            </a:r>
          </a:p>
          <a:p>
            <a:pPr lvl="1"/>
            <a:endParaRPr lang="en-US" dirty="0"/>
          </a:p>
        </p:txBody>
      </p:sp>
      <p:sp>
        <p:nvSpPr>
          <p:cNvPr id="4" name="Footer Placeholder 3">
            <a:extLst>
              <a:ext uri="{FF2B5EF4-FFF2-40B4-BE49-F238E27FC236}">
                <a16:creationId xmlns:a16="http://schemas.microsoft.com/office/drawing/2014/main" id="{997950AF-D2F0-4439-BB04-F581E6084952}"/>
              </a:ext>
            </a:extLst>
          </p:cNvPr>
          <p:cNvSpPr>
            <a:spLocks noGrp="1"/>
          </p:cNvSpPr>
          <p:nvPr>
            <p:ph type="ftr" sz="quarter" idx="11"/>
          </p:nvPr>
        </p:nvSpPr>
        <p:spPr/>
        <p:txBody>
          <a:bodyPr/>
          <a:lstStyle/>
          <a:p>
            <a:pPr>
              <a:defRPr/>
            </a:pPr>
            <a:r>
              <a:rPr lang="en-US" dirty="0"/>
              <a:t>EE 123 -- Bioelectricity</a:t>
            </a:r>
          </a:p>
        </p:txBody>
      </p:sp>
      <p:sp>
        <p:nvSpPr>
          <p:cNvPr id="5" name="Arrow: Down 4">
            <a:extLst>
              <a:ext uri="{FF2B5EF4-FFF2-40B4-BE49-F238E27FC236}">
                <a16:creationId xmlns:a16="http://schemas.microsoft.com/office/drawing/2014/main" id="{0C1D302D-6F93-4A22-AE40-0D2400158BE7}"/>
              </a:ext>
            </a:extLst>
          </p:cNvPr>
          <p:cNvSpPr/>
          <p:nvPr/>
        </p:nvSpPr>
        <p:spPr>
          <a:xfrm>
            <a:off x="5715000" y="2209800"/>
            <a:ext cx="762000" cy="990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5774840-E087-434E-B779-D0091B3B9FBD}"/>
              </a:ext>
            </a:extLst>
          </p:cNvPr>
          <p:cNvSpPr txBox="1"/>
          <p:nvPr/>
        </p:nvSpPr>
        <p:spPr>
          <a:xfrm>
            <a:off x="6248400" y="2286000"/>
            <a:ext cx="1600200" cy="461665"/>
          </a:xfrm>
          <a:prstGeom prst="rect">
            <a:avLst/>
          </a:prstGeom>
          <a:noFill/>
        </p:spPr>
        <p:txBody>
          <a:bodyPr wrap="square" rtlCol="0">
            <a:spAutoFit/>
          </a:bodyPr>
          <a:lstStyle/>
          <a:p>
            <a:r>
              <a:rPr lang="en-US" dirty="0"/>
              <a:t>one cause</a:t>
            </a:r>
          </a:p>
        </p:txBody>
      </p:sp>
    </p:spTree>
    <p:extLst>
      <p:ext uri="{BB962C8B-B14F-4D97-AF65-F5344CB8AC3E}">
        <p14:creationId xmlns:p14="http://schemas.microsoft.com/office/powerpoint/2010/main" val="175911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C6F47-4758-44E3-B351-535B164F19EE}"/>
              </a:ext>
            </a:extLst>
          </p:cNvPr>
          <p:cNvSpPr>
            <a:spLocks noGrp="1"/>
          </p:cNvSpPr>
          <p:nvPr>
            <p:ph type="title"/>
          </p:nvPr>
        </p:nvSpPr>
        <p:spPr/>
        <p:txBody>
          <a:bodyPr/>
          <a:lstStyle/>
          <a:p>
            <a:r>
              <a:rPr lang="en-US" dirty="0"/>
              <a:t>A miracle of engineering</a:t>
            </a:r>
          </a:p>
        </p:txBody>
      </p:sp>
      <p:sp>
        <p:nvSpPr>
          <p:cNvPr id="3" name="Content Placeholder 2">
            <a:extLst>
              <a:ext uri="{FF2B5EF4-FFF2-40B4-BE49-F238E27FC236}">
                <a16:creationId xmlns:a16="http://schemas.microsoft.com/office/drawing/2014/main" id="{7D9E3DAA-271B-438B-8286-57DEF344ADDD}"/>
              </a:ext>
            </a:extLst>
          </p:cNvPr>
          <p:cNvSpPr>
            <a:spLocks noGrp="1"/>
          </p:cNvSpPr>
          <p:nvPr>
            <p:ph idx="1"/>
          </p:nvPr>
        </p:nvSpPr>
        <p:spPr>
          <a:xfrm>
            <a:off x="685800" y="1524000"/>
            <a:ext cx="7772400" cy="4419600"/>
          </a:xfrm>
        </p:spPr>
        <p:txBody>
          <a:bodyPr/>
          <a:lstStyle/>
          <a:p>
            <a:r>
              <a:rPr lang="en-US" dirty="0"/>
              <a:t>The heart contains 2-3 billion independent cells</a:t>
            </a:r>
          </a:p>
          <a:p>
            <a:pPr lvl="1"/>
            <a:r>
              <a:rPr lang="en-US" sz="2000" dirty="0"/>
              <a:t>Cells have high variability</a:t>
            </a:r>
          </a:p>
          <a:p>
            <a:pPr lvl="1"/>
            <a:r>
              <a:rPr lang="en-US" sz="2000" dirty="0"/>
              <a:t>Cells are quite failure prone</a:t>
            </a:r>
          </a:p>
          <a:p>
            <a:r>
              <a:rPr lang="en-US" dirty="0"/>
              <a:t>They somehow link together</a:t>
            </a:r>
          </a:p>
          <a:p>
            <a:pPr lvl="1"/>
            <a:r>
              <a:rPr lang="en-US" sz="2000" dirty="0"/>
              <a:t>to produce a coordinated, durable, and adaptable whole!</a:t>
            </a:r>
          </a:p>
          <a:p>
            <a:pPr lvl="1"/>
            <a:r>
              <a:rPr lang="en-US" sz="2000" dirty="0"/>
              <a:t>The heart is really </a:t>
            </a:r>
            <a:r>
              <a:rPr lang="en-US" sz="2000" dirty="0" err="1"/>
              <a:t>really</a:t>
            </a:r>
            <a:r>
              <a:rPr lang="en-US" sz="2000" dirty="0"/>
              <a:t> </a:t>
            </a:r>
            <a:r>
              <a:rPr lang="en-US" sz="2000" dirty="0" err="1"/>
              <a:t>really</a:t>
            </a:r>
            <a:r>
              <a:rPr lang="en-US" sz="2000" dirty="0"/>
              <a:t> robust – a miracle of fail-safe engineering</a:t>
            </a:r>
          </a:p>
          <a:p>
            <a:pPr lvl="1"/>
            <a:r>
              <a:rPr lang="en-US" sz="2000" dirty="0"/>
              <a:t>Multiple backup subsystems</a:t>
            </a:r>
          </a:p>
          <a:p>
            <a:pPr lvl="1"/>
            <a:r>
              <a:rPr lang="en-US" sz="2000" dirty="0"/>
              <a:t>It’s really robust! Keeps beating and never stops</a:t>
            </a:r>
          </a:p>
          <a:p>
            <a:r>
              <a:rPr lang="en-US" dirty="0"/>
              <a:t>Except for the 99 varieties of heart disease…</a:t>
            </a:r>
          </a:p>
          <a:p>
            <a:pPr marL="0" indent="0">
              <a:buNone/>
            </a:pPr>
            <a:endParaRPr lang="en-US" dirty="0"/>
          </a:p>
        </p:txBody>
      </p:sp>
      <p:sp>
        <p:nvSpPr>
          <p:cNvPr id="4" name="Footer Placeholder 3">
            <a:extLst>
              <a:ext uri="{FF2B5EF4-FFF2-40B4-BE49-F238E27FC236}">
                <a16:creationId xmlns:a16="http://schemas.microsoft.com/office/drawing/2014/main" id="{992E666A-A935-4C87-A597-A3DDFADD674F}"/>
              </a:ext>
            </a:extLst>
          </p:cNvPr>
          <p:cNvSpPr>
            <a:spLocks noGrp="1"/>
          </p:cNvSpPr>
          <p:nvPr>
            <p:ph type="ftr" sz="quarter" idx="11"/>
          </p:nvPr>
        </p:nvSpPr>
        <p:spPr/>
        <p:txBody>
          <a:bodyPr/>
          <a:lstStyle/>
          <a:p>
            <a:pPr>
              <a:defRPr/>
            </a:pPr>
            <a:r>
              <a:rPr lang="en-US" dirty="0"/>
              <a:t>EE 123 -- Bioelectricity</a:t>
            </a:r>
          </a:p>
        </p:txBody>
      </p:sp>
    </p:spTree>
    <p:extLst>
      <p:ext uri="{BB962C8B-B14F-4D97-AF65-F5344CB8AC3E}">
        <p14:creationId xmlns:p14="http://schemas.microsoft.com/office/powerpoint/2010/main" val="122228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01331-AEB8-4B7C-AD00-EC8ED042EB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6759104-3D0A-4C5A-A568-5974C9C249CD}"/>
              </a:ext>
            </a:extLst>
          </p:cNvPr>
          <p:cNvSpPr>
            <a:spLocks noGrp="1"/>
          </p:cNvSpPr>
          <p:nvPr>
            <p:ph idx="1"/>
          </p:nvPr>
        </p:nvSpPr>
        <p:spPr>
          <a:xfrm>
            <a:off x="685800" y="1676400"/>
            <a:ext cx="7772400" cy="969264"/>
          </a:xfrm>
        </p:spPr>
        <p:txBody>
          <a:bodyPr/>
          <a:lstStyle/>
          <a:p>
            <a:r>
              <a:rPr lang="en-US" dirty="0"/>
              <a:t>Question: does your heartbeat originate in the brain and get sent to the heart via neurons?</a:t>
            </a:r>
          </a:p>
          <a:p>
            <a:endParaRPr lang="en-US" dirty="0"/>
          </a:p>
        </p:txBody>
      </p:sp>
      <p:sp>
        <p:nvSpPr>
          <p:cNvPr id="4" name="Footer Placeholder 3">
            <a:extLst>
              <a:ext uri="{FF2B5EF4-FFF2-40B4-BE49-F238E27FC236}">
                <a16:creationId xmlns:a16="http://schemas.microsoft.com/office/drawing/2014/main" id="{0F037F50-9F91-4BBA-A5FC-D1A20550C8E3}"/>
              </a:ext>
            </a:extLst>
          </p:cNvPr>
          <p:cNvSpPr>
            <a:spLocks noGrp="1"/>
          </p:cNvSpPr>
          <p:nvPr>
            <p:ph type="ftr" sz="quarter" idx="11"/>
          </p:nvPr>
        </p:nvSpPr>
        <p:spPr/>
        <p:txBody>
          <a:bodyPr/>
          <a:lstStyle/>
          <a:p>
            <a:pPr>
              <a:defRPr/>
            </a:pPr>
            <a:r>
              <a:rPr lang="en-US" dirty="0"/>
              <a:t>EN1 EIY-- Bioelectricity</a:t>
            </a:r>
          </a:p>
        </p:txBody>
      </p:sp>
      <p:pic>
        <p:nvPicPr>
          <p:cNvPr id="2050" name="Picture 2">
            <a:extLst>
              <a:ext uri="{FF2B5EF4-FFF2-40B4-BE49-F238E27FC236}">
                <a16:creationId xmlns:a16="http://schemas.microsoft.com/office/drawing/2014/main" id="{4DFFEAC1-CFC1-417D-94A0-DF27D4C90C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2802636"/>
            <a:ext cx="1905000" cy="240030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4BE3F5C4-CEDC-4692-9055-23122AFE68EF}"/>
              </a:ext>
            </a:extLst>
          </p:cNvPr>
          <p:cNvSpPr txBox="1">
            <a:spLocks/>
          </p:cNvSpPr>
          <p:nvPr/>
        </p:nvSpPr>
        <p:spPr bwMode="auto">
          <a:xfrm>
            <a:off x="694944" y="2667000"/>
            <a:ext cx="5020056"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dirty="0"/>
              <a:t>Galen of Pergamum, 130-200AD</a:t>
            </a:r>
          </a:p>
          <a:p>
            <a:pPr lvl="1">
              <a:spcBef>
                <a:spcPts val="0"/>
              </a:spcBef>
            </a:pPr>
            <a:r>
              <a:rPr lang="en-US" dirty="0"/>
              <a:t>extracted heart keeps beating for a long period</a:t>
            </a:r>
          </a:p>
          <a:p>
            <a:pPr lvl="1">
              <a:spcBef>
                <a:spcPts val="0"/>
              </a:spcBef>
            </a:pPr>
            <a:r>
              <a:rPr lang="en-US" dirty="0"/>
              <a:t>nobody knew why</a:t>
            </a:r>
          </a:p>
          <a:p>
            <a:pPr>
              <a:spcBef>
                <a:spcPts val="0"/>
              </a:spcBef>
            </a:pPr>
            <a:r>
              <a:rPr lang="en-US" kern="0" dirty="0"/>
              <a:t>Keith and Flack (1907)</a:t>
            </a:r>
          </a:p>
          <a:p>
            <a:pPr lvl="1">
              <a:spcBef>
                <a:spcPts val="0"/>
              </a:spcBef>
            </a:pPr>
            <a:r>
              <a:rPr lang="en-US" kern="0" dirty="0"/>
              <a:t>sinoatrial node initiates the heartbeat</a:t>
            </a:r>
          </a:p>
          <a:p>
            <a:endParaRPr lang="en-US" kern="0" dirty="0"/>
          </a:p>
        </p:txBody>
      </p:sp>
    </p:spTree>
    <p:extLst>
      <p:ext uri="{BB962C8B-B14F-4D97-AF65-F5344CB8AC3E}">
        <p14:creationId xmlns:p14="http://schemas.microsoft.com/office/powerpoint/2010/main" val="861362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animEffect transition="in" filter="fade">
                                      <p:cBhvr>
                                        <p:cTn id="15" dur="500"/>
                                        <p:tgtEl>
                                          <p:spTgt spid="205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500"/>
                                        <p:tgtEl>
                                          <p:spTgt spid="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fade">
                                      <p:cBhvr>
                                        <p:cTn id="25" dur="500"/>
                                        <p:tgtEl>
                                          <p:spTgt spid="6">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6">
                                            <p:txEl>
                                              <p:pRg st="4" end="4"/>
                                            </p:txEl>
                                          </p:spTgt>
                                        </p:tgtEl>
                                        <p:attrNameLst>
                                          <p:attrName>style.visibility</p:attrName>
                                        </p:attrNameLst>
                                      </p:cBhvr>
                                      <p:to>
                                        <p:strVal val="visible"/>
                                      </p:to>
                                    </p:set>
                                    <p:animEffect transition="in" filter="fade">
                                      <p:cBhvr>
                                        <p:cTn id="28"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14A92-0AE1-418F-98C6-8738AD0D48CE}"/>
              </a:ext>
            </a:extLst>
          </p:cNvPr>
          <p:cNvSpPr>
            <a:spLocks noGrp="1"/>
          </p:cNvSpPr>
          <p:nvPr>
            <p:ph type="title"/>
          </p:nvPr>
        </p:nvSpPr>
        <p:spPr/>
        <p:txBody>
          <a:bodyPr/>
          <a:lstStyle/>
          <a:p>
            <a:r>
              <a:rPr lang="en-US" dirty="0"/>
              <a:t>Table of contents – this unit</a:t>
            </a:r>
          </a:p>
        </p:txBody>
      </p:sp>
      <p:sp>
        <p:nvSpPr>
          <p:cNvPr id="3" name="Content Placeholder 2">
            <a:extLst>
              <a:ext uri="{FF2B5EF4-FFF2-40B4-BE49-F238E27FC236}">
                <a16:creationId xmlns:a16="http://schemas.microsoft.com/office/drawing/2014/main" id="{0E944ED5-3D23-45D1-ACC3-736ECD603F53}"/>
              </a:ext>
            </a:extLst>
          </p:cNvPr>
          <p:cNvSpPr>
            <a:spLocks noGrp="1"/>
          </p:cNvSpPr>
          <p:nvPr>
            <p:ph idx="1"/>
          </p:nvPr>
        </p:nvSpPr>
        <p:spPr/>
        <p:txBody>
          <a:bodyPr/>
          <a:lstStyle/>
          <a:p>
            <a:r>
              <a:rPr lang="en-US" dirty="0"/>
              <a:t>Cool cardiac facts &amp; why we care</a:t>
            </a:r>
          </a:p>
          <a:p>
            <a:r>
              <a:rPr lang="en-US" dirty="0">
                <a:highlight>
                  <a:srgbClr val="FFFF00"/>
                </a:highlight>
              </a:rPr>
              <a:t>Cardiac basic operation</a:t>
            </a:r>
          </a:p>
          <a:p>
            <a:r>
              <a:rPr lang="en-US" dirty="0"/>
              <a:t>Electrocardiograms</a:t>
            </a:r>
          </a:p>
          <a:p>
            <a:r>
              <a:rPr lang="en-US" dirty="0"/>
              <a:t>Arrhythmias</a:t>
            </a:r>
          </a:p>
          <a:p>
            <a:r>
              <a:rPr lang="en-US" dirty="0"/>
              <a:t>Backup-system engineering</a:t>
            </a:r>
          </a:p>
        </p:txBody>
      </p:sp>
      <p:sp>
        <p:nvSpPr>
          <p:cNvPr id="4" name="Footer Placeholder 3">
            <a:extLst>
              <a:ext uri="{FF2B5EF4-FFF2-40B4-BE49-F238E27FC236}">
                <a16:creationId xmlns:a16="http://schemas.microsoft.com/office/drawing/2014/main" id="{E374EE35-380B-4ECA-A2BB-ED4C3312E805}"/>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428361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A805C-B571-4A87-B6D5-37F8E958432D}"/>
              </a:ext>
            </a:extLst>
          </p:cNvPr>
          <p:cNvSpPr>
            <a:spLocks noGrp="1"/>
          </p:cNvSpPr>
          <p:nvPr>
            <p:ph type="title"/>
          </p:nvPr>
        </p:nvSpPr>
        <p:spPr/>
        <p:txBody>
          <a:bodyPr/>
          <a:lstStyle/>
          <a:p>
            <a:r>
              <a:rPr lang="en-US" dirty="0"/>
              <a:t>Plumbing – the big picture</a:t>
            </a:r>
          </a:p>
        </p:txBody>
      </p:sp>
      <p:sp>
        <p:nvSpPr>
          <p:cNvPr id="3" name="Content Placeholder 2">
            <a:extLst>
              <a:ext uri="{FF2B5EF4-FFF2-40B4-BE49-F238E27FC236}">
                <a16:creationId xmlns:a16="http://schemas.microsoft.com/office/drawing/2014/main" id="{E754E44A-88BE-4023-9BC0-15DB24B746B8}"/>
              </a:ext>
            </a:extLst>
          </p:cNvPr>
          <p:cNvSpPr>
            <a:spLocks noGrp="1"/>
          </p:cNvSpPr>
          <p:nvPr>
            <p:ph idx="1"/>
          </p:nvPr>
        </p:nvSpPr>
        <p:spPr>
          <a:xfrm>
            <a:off x="5791200" y="2209801"/>
            <a:ext cx="3124200" cy="3505200"/>
          </a:xfrm>
        </p:spPr>
        <p:txBody>
          <a:bodyPr/>
          <a:lstStyle/>
          <a:p>
            <a:r>
              <a:rPr lang="en-US" dirty="0"/>
              <a:t>Two separate two-chambered pumps</a:t>
            </a:r>
          </a:p>
          <a:p>
            <a:r>
              <a:rPr lang="en-US" dirty="0"/>
              <a:t>Red = oxygenated</a:t>
            </a:r>
          </a:p>
          <a:p>
            <a:r>
              <a:rPr lang="en-US" dirty="0"/>
              <a:t>Blue = not</a:t>
            </a:r>
          </a:p>
          <a:p>
            <a:r>
              <a:rPr lang="en-US" dirty="0"/>
              <a:t>Two chambers = more efficient</a:t>
            </a:r>
          </a:p>
        </p:txBody>
      </p:sp>
      <p:sp>
        <p:nvSpPr>
          <p:cNvPr id="4" name="Footer Placeholder 3">
            <a:extLst>
              <a:ext uri="{FF2B5EF4-FFF2-40B4-BE49-F238E27FC236}">
                <a16:creationId xmlns:a16="http://schemas.microsoft.com/office/drawing/2014/main" id="{CC239627-8DCA-4827-B871-CE50E8431000}"/>
              </a:ext>
            </a:extLst>
          </p:cNvPr>
          <p:cNvSpPr>
            <a:spLocks noGrp="1"/>
          </p:cNvSpPr>
          <p:nvPr>
            <p:ph type="ftr" sz="quarter" idx="11"/>
          </p:nvPr>
        </p:nvSpPr>
        <p:spPr/>
        <p:txBody>
          <a:bodyPr/>
          <a:lstStyle/>
          <a:p>
            <a:pPr>
              <a:defRPr/>
            </a:pPr>
            <a:r>
              <a:rPr lang="en-US" dirty="0"/>
              <a:t>EE 123 – Bioelectricity</a:t>
            </a:r>
          </a:p>
        </p:txBody>
      </p:sp>
      <p:pic>
        <p:nvPicPr>
          <p:cNvPr id="3074" name="Picture 2">
            <a:extLst>
              <a:ext uri="{FF2B5EF4-FFF2-40B4-BE49-F238E27FC236}">
                <a16:creationId xmlns:a16="http://schemas.microsoft.com/office/drawing/2014/main" id="{5F5ACD5F-B31B-493D-9D35-4A1B22342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795463"/>
            <a:ext cx="5775506" cy="3843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376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A805C-B571-4A87-B6D5-37F8E958432D}"/>
              </a:ext>
            </a:extLst>
          </p:cNvPr>
          <p:cNvSpPr>
            <a:spLocks noGrp="1"/>
          </p:cNvSpPr>
          <p:nvPr>
            <p:ph type="title"/>
          </p:nvPr>
        </p:nvSpPr>
        <p:spPr/>
        <p:txBody>
          <a:bodyPr/>
          <a:lstStyle/>
          <a:p>
            <a:r>
              <a:rPr lang="en-US" dirty="0"/>
              <a:t>What does electricity do?</a:t>
            </a:r>
          </a:p>
        </p:txBody>
      </p:sp>
      <p:sp>
        <p:nvSpPr>
          <p:cNvPr id="3" name="Content Placeholder 2">
            <a:extLst>
              <a:ext uri="{FF2B5EF4-FFF2-40B4-BE49-F238E27FC236}">
                <a16:creationId xmlns:a16="http://schemas.microsoft.com/office/drawing/2014/main" id="{E754E44A-88BE-4023-9BC0-15DB24B746B8}"/>
              </a:ext>
            </a:extLst>
          </p:cNvPr>
          <p:cNvSpPr>
            <a:spLocks noGrp="1"/>
          </p:cNvSpPr>
          <p:nvPr>
            <p:ph idx="1"/>
          </p:nvPr>
        </p:nvSpPr>
        <p:spPr>
          <a:xfrm>
            <a:off x="5791200" y="2514600"/>
            <a:ext cx="3124200" cy="3657600"/>
          </a:xfrm>
        </p:spPr>
        <p:txBody>
          <a:bodyPr/>
          <a:lstStyle/>
          <a:p>
            <a:r>
              <a:rPr lang="en-US" dirty="0"/>
              <a:t>Electricity drives the muscles</a:t>
            </a:r>
          </a:p>
          <a:p>
            <a:r>
              <a:rPr lang="en-US" dirty="0"/>
              <a:t>Muscles drive the plumbing</a:t>
            </a:r>
          </a:p>
          <a:p>
            <a:r>
              <a:rPr lang="en-US" dirty="0"/>
              <a:t>Similar to the rest of your body</a:t>
            </a:r>
          </a:p>
        </p:txBody>
      </p:sp>
      <p:sp>
        <p:nvSpPr>
          <p:cNvPr id="4" name="Footer Placeholder 3">
            <a:extLst>
              <a:ext uri="{FF2B5EF4-FFF2-40B4-BE49-F238E27FC236}">
                <a16:creationId xmlns:a16="http://schemas.microsoft.com/office/drawing/2014/main" id="{CC239627-8DCA-4827-B871-CE50E8431000}"/>
              </a:ext>
            </a:extLst>
          </p:cNvPr>
          <p:cNvSpPr>
            <a:spLocks noGrp="1"/>
          </p:cNvSpPr>
          <p:nvPr>
            <p:ph type="ftr" sz="quarter" idx="11"/>
          </p:nvPr>
        </p:nvSpPr>
        <p:spPr/>
        <p:txBody>
          <a:bodyPr/>
          <a:lstStyle/>
          <a:p>
            <a:pPr>
              <a:defRPr/>
            </a:pPr>
            <a:r>
              <a:rPr lang="en-US" dirty="0"/>
              <a:t>EE 123 – Bioelectricity</a:t>
            </a:r>
          </a:p>
        </p:txBody>
      </p:sp>
      <p:pic>
        <p:nvPicPr>
          <p:cNvPr id="3074" name="Picture 2">
            <a:extLst>
              <a:ext uri="{FF2B5EF4-FFF2-40B4-BE49-F238E27FC236}">
                <a16:creationId xmlns:a16="http://schemas.microsoft.com/office/drawing/2014/main" id="{5F5ACD5F-B31B-493D-9D35-4A1B22342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795463"/>
            <a:ext cx="5775506" cy="3843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0549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A53DB-87A1-49D2-93F7-679F170D1BC9}"/>
              </a:ext>
            </a:extLst>
          </p:cNvPr>
          <p:cNvSpPr>
            <a:spLocks noGrp="1"/>
          </p:cNvSpPr>
          <p:nvPr>
            <p:ph type="title"/>
          </p:nvPr>
        </p:nvSpPr>
        <p:spPr/>
        <p:txBody>
          <a:bodyPr/>
          <a:lstStyle/>
          <a:p>
            <a:r>
              <a:rPr lang="en-US" dirty="0"/>
              <a:t>The pumps in operation</a:t>
            </a:r>
          </a:p>
        </p:txBody>
      </p:sp>
      <p:sp>
        <p:nvSpPr>
          <p:cNvPr id="3" name="Content Placeholder 2">
            <a:extLst>
              <a:ext uri="{FF2B5EF4-FFF2-40B4-BE49-F238E27FC236}">
                <a16:creationId xmlns:a16="http://schemas.microsoft.com/office/drawing/2014/main" id="{5E89A70D-1951-4CFC-9B1D-EC57C4CD91A3}"/>
              </a:ext>
            </a:extLst>
          </p:cNvPr>
          <p:cNvSpPr>
            <a:spLocks noGrp="1"/>
          </p:cNvSpPr>
          <p:nvPr>
            <p:ph idx="1"/>
          </p:nvPr>
        </p:nvSpPr>
        <p:spPr/>
        <p:txBody>
          <a:bodyPr/>
          <a:lstStyle/>
          <a:p>
            <a:r>
              <a:rPr lang="en-US" dirty="0">
                <a:hlinkClick r:id="rId2"/>
              </a:rPr>
              <a:t>https://www.youtube.com/watch?v=CWFyxn0qDEU</a:t>
            </a:r>
            <a:r>
              <a:rPr lang="en-US" dirty="0"/>
              <a:t> </a:t>
            </a:r>
          </a:p>
          <a:p>
            <a:pPr lvl="1"/>
            <a:r>
              <a:rPr lang="en-US" dirty="0"/>
              <a:t>Mayo Clinic</a:t>
            </a:r>
          </a:p>
          <a:p>
            <a:r>
              <a:rPr lang="en-US" dirty="0">
                <a:hlinkClick r:id="rId3"/>
              </a:rPr>
              <a:t>https://www.youtube.com/watch?v=-s5iCoCaofc</a:t>
            </a:r>
            <a:endParaRPr lang="en-US" dirty="0"/>
          </a:p>
          <a:p>
            <a:pPr lvl="1"/>
            <a:r>
              <a:rPr lang="en-US" dirty="0"/>
              <a:t>Suitable for younger than college age </a:t>
            </a:r>
            <a:r>
              <a:rPr lang="en-US" dirty="0">
                <a:sym typeface="Wingdings" panose="05000000000000000000" pitchFamily="2" charset="2"/>
              </a:rPr>
              <a:t></a:t>
            </a:r>
            <a:endParaRPr lang="en-US" dirty="0"/>
          </a:p>
        </p:txBody>
      </p:sp>
      <p:sp>
        <p:nvSpPr>
          <p:cNvPr id="4" name="Footer Placeholder 3">
            <a:extLst>
              <a:ext uri="{FF2B5EF4-FFF2-40B4-BE49-F238E27FC236}">
                <a16:creationId xmlns:a16="http://schemas.microsoft.com/office/drawing/2014/main" id="{3C48ADA4-1AA3-4242-8255-4A1A16D8BD96}"/>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78595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heart&#10;&#10;AI-generated content may be incorrect.">
            <a:extLst>
              <a:ext uri="{FF2B5EF4-FFF2-40B4-BE49-F238E27FC236}">
                <a16:creationId xmlns:a16="http://schemas.microsoft.com/office/drawing/2014/main" id="{769E68C6-622C-A56C-05A5-046BB14848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Atrial conduction</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36675" y="1219200"/>
            <a:ext cx="4811650" cy="2057400"/>
          </a:xfrm>
        </p:spPr>
        <p:txBody>
          <a:bodyPr/>
          <a:lstStyle/>
          <a:p>
            <a:r>
              <a:rPr lang="en-US" sz="2400" dirty="0"/>
              <a:t>Sinoatrial (SA) node is the oscillator</a:t>
            </a:r>
          </a:p>
          <a:p>
            <a:r>
              <a:rPr lang="en-US" sz="2400" dirty="0"/>
              <a:t>Signal spreads over the atria at 1 m/s (100ms total)</a:t>
            </a:r>
          </a:p>
          <a:p>
            <a:pPr lvl="1">
              <a:spcBef>
                <a:spcPts val="0"/>
              </a:spcBef>
            </a:pPr>
            <a:r>
              <a:rPr lang="en-US" sz="2000" dirty="0"/>
              <a:t>Atrial muscles contract</a:t>
            </a:r>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cxnSp>
        <p:nvCxnSpPr>
          <p:cNvPr id="15" name="Straight Arrow Connector 14">
            <a:extLst>
              <a:ext uri="{FF2B5EF4-FFF2-40B4-BE49-F238E27FC236}">
                <a16:creationId xmlns:a16="http://schemas.microsoft.com/office/drawing/2014/main" id="{6F6B7238-6C9D-4B5C-8179-E59CC3828588}"/>
              </a:ext>
            </a:extLst>
          </p:cNvPr>
          <p:cNvCxnSpPr>
            <a:cxnSpLocks/>
            <a:stCxn id="14" idx="6"/>
          </p:cNvCxnSpPr>
          <p:nvPr/>
        </p:nvCxnSpPr>
        <p:spPr>
          <a:xfrm flipV="1">
            <a:off x="1219200" y="3073399"/>
            <a:ext cx="7620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AEC175F-A66F-4AE7-A729-0404CBE0EEEC}"/>
              </a:ext>
            </a:extLst>
          </p:cNvPr>
          <p:cNvCxnSpPr>
            <a:cxnSpLocks/>
          </p:cNvCxnSpPr>
          <p:nvPr/>
        </p:nvCxnSpPr>
        <p:spPr>
          <a:xfrm>
            <a:off x="2082798"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6C2190E-9B61-4EDD-A390-784E67B02F6D}"/>
              </a:ext>
            </a:extLst>
          </p:cNvPr>
          <p:cNvCxnSpPr>
            <a:cxnSpLocks/>
            <a:stCxn id="14" idx="6"/>
          </p:cNvCxnSpPr>
          <p:nvPr/>
        </p:nvCxnSpPr>
        <p:spPr>
          <a:xfrm flipH="1">
            <a:off x="533400" y="3263899"/>
            <a:ext cx="685800" cy="6223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DBE62C6-DB88-4B74-A590-012251EC7164}"/>
              </a:ext>
            </a:extLst>
          </p:cNvPr>
          <p:cNvCxnSpPr>
            <a:cxnSpLocks/>
          </p:cNvCxnSpPr>
          <p:nvPr/>
        </p:nvCxnSpPr>
        <p:spPr>
          <a:xfrm flipV="1">
            <a:off x="1219200" y="3352800"/>
            <a:ext cx="762000" cy="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5EB2F5D-164A-43A9-95BF-257270CC3736}"/>
              </a:ext>
            </a:extLst>
          </p:cNvPr>
          <p:cNvCxnSpPr>
            <a:cxnSpLocks/>
          </p:cNvCxnSpPr>
          <p:nvPr/>
        </p:nvCxnSpPr>
        <p:spPr>
          <a:xfrm flipH="1">
            <a:off x="685800" y="3454399"/>
            <a:ext cx="459697" cy="5842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388F061-7419-4F42-94E4-A3CA17846261}"/>
              </a:ext>
            </a:extLst>
          </p:cNvPr>
          <p:cNvCxnSpPr>
            <a:cxnSpLocks/>
          </p:cNvCxnSpPr>
          <p:nvPr/>
        </p:nvCxnSpPr>
        <p:spPr>
          <a:xfrm flipV="1">
            <a:off x="2110666" y="3200400"/>
            <a:ext cx="503770" cy="1015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B3CB1D5-E6D3-401E-A2C6-9EFE55669FFA}"/>
              </a:ext>
            </a:extLst>
          </p:cNvPr>
          <p:cNvCxnSpPr>
            <a:cxnSpLocks/>
          </p:cNvCxnSpPr>
          <p:nvPr/>
        </p:nvCxnSpPr>
        <p:spPr>
          <a:xfrm>
            <a:off x="1219200" y="3441702"/>
            <a:ext cx="538394" cy="11929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D2C7338-58B5-4F82-84C2-520E9063A4E8}"/>
              </a:ext>
            </a:extLst>
          </p:cNvPr>
          <p:cNvCxnSpPr>
            <a:cxnSpLocks/>
          </p:cNvCxnSpPr>
          <p:nvPr/>
        </p:nvCxnSpPr>
        <p:spPr>
          <a:xfrm>
            <a:off x="2667000"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862F42F-1045-4DD1-9992-7A2792451EE6}"/>
              </a:ext>
            </a:extLst>
          </p:cNvPr>
          <p:cNvCxnSpPr>
            <a:cxnSpLocks/>
          </p:cNvCxnSpPr>
          <p:nvPr/>
        </p:nvCxnSpPr>
        <p:spPr>
          <a:xfrm>
            <a:off x="2668762" y="32766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52493AC6-867C-A9F1-C8EA-3F49EAF85BA7}"/>
              </a:ext>
            </a:extLst>
          </p:cNvPr>
          <p:cNvSpPr txBox="1">
            <a:spLocks/>
          </p:cNvSpPr>
          <p:nvPr/>
        </p:nvSpPr>
        <p:spPr bwMode="auto">
          <a:xfrm>
            <a:off x="4289075" y="3505200"/>
            <a:ext cx="44739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Note that left/right are flipped</a:t>
            </a:r>
          </a:p>
          <a:p>
            <a:pPr lvl="1">
              <a:spcBef>
                <a:spcPts val="0"/>
              </a:spcBef>
            </a:pPr>
            <a:r>
              <a:rPr lang="en-US" sz="2000" kern="0" dirty="0"/>
              <a:t>A/P view, very common</a:t>
            </a:r>
          </a:p>
          <a:p>
            <a:endParaRPr lang="en-US" kern="0" dirty="0"/>
          </a:p>
        </p:txBody>
      </p:sp>
    </p:spTree>
    <p:extLst>
      <p:ext uri="{BB962C8B-B14F-4D97-AF65-F5344CB8AC3E}">
        <p14:creationId xmlns:p14="http://schemas.microsoft.com/office/powerpoint/2010/main" val="2091386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par>
                                <p:cTn id="24" presetID="10" presetClass="entr" presetSubtype="0"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par>
                                <p:cTn id="30" presetID="10" presetClass="entr" presetSubtype="0" fill="hold"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childTnLst>
                          </p:cTn>
                        </p:par>
                        <p:par>
                          <p:cTn id="33" fill="hold">
                            <p:stCondLst>
                              <p:cond delay="500"/>
                            </p:stCondLst>
                            <p:childTnLst>
                              <p:par>
                                <p:cTn id="34" presetID="10" presetClass="entr" presetSubtype="0" fill="hold"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500"/>
                                        <p:tgtEl>
                                          <p:spTgt spid="26"/>
                                        </p:tgtEl>
                                      </p:cBhvr>
                                    </p:animEffect>
                                  </p:childTnLst>
                                </p:cTn>
                              </p:par>
                              <p:par>
                                <p:cTn id="37" presetID="10" presetClass="entr" presetSubtype="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childTnLst>
                          </p:cTn>
                        </p:par>
                        <p:par>
                          <p:cTn id="40" fill="hold">
                            <p:stCondLst>
                              <p:cond delay="1000"/>
                            </p:stCondLst>
                            <p:childTnLst>
                              <p:par>
                                <p:cTn id="41" presetID="10" presetClass="entr" presetSubtype="0" fill="hold" nodeType="after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500"/>
                                        <p:tgtEl>
                                          <p:spTgt spid="41"/>
                                        </p:tgtEl>
                                      </p:cBhvr>
                                    </p:animEffect>
                                  </p:childTnLst>
                                </p:cTn>
                              </p:par>
                              <p:par>
                                <p:cTn id="44" presetID="10" presetClass="entr" presetSubtype="0" fill="hold"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fade">
                                      <p:cBhvr>
                                        <p:cTn id="46" dur="500"/>
                                        <p:tgtEl>
                                          <p:spTgt spid="42"/>
                                        </p:tgtEl>
                                      </p:cBhvr>
                                    </p:animEffect>
                                  </p:childTnLst>
                                </p:cTn>
                              </p:par>
                              <p:par>
                                <p:cTn id="47" presetID="10" presetClass="entr" presetSubtype="0" fill="hold" nodeType="withEffect">
                                  <p:stCondLst>
                                    <p:cond delay="0"/>
                                  </p:stCondLst>
                                  <p:childTnLst>
                                    <p:set>
                                      <p:cBhvr>
                                        <p:cTn id="48" dur="1" fill="hold">
                                          <p:stCondLst>
                                            <p:cond delay="0"/>
                                          </p:stCondLst>
                                        </p:cTn>
                                        <p:tgtEl>
                                          <p:spTgt spid="5">
                                            <p:txEl>
                                              <p:pRg st="0" end="0"/>
                                            </p:txEl>
                                          </p:spTgt>
                                        </p:tgtEl>
                                        <p:attrNameLst>
                                          <p:attrName>style.visibility</p:attrName>
                                        </p:attrNameLst>
                                      </p:cBhvr>
                                      <p:to>
                                        <p:strVal val="visible"/>
                                      </p:to>
                                    </p:set>
                                    <p:animEffect transition="in" filter="fade">
                                      <p:cBhvr>
                                        <p:cTn id="49" dur="500"/>
                                        <p:tgtEl>
                                          <p:spTgt spid="5">
                                            <p:txEl>
                                              <p:pRg st="0" end="0"/>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5">
                                            <p:txEl>
                                              <p:pRg st="1" end="1"/>
                                            </p:txEl>
                                          </p:spTgt>
                                        </p:tgtEl>
                                        <p:attrNameLst>
                                          <p:attrName>style.visibility</p:attrName>
                                        </p:attrNameLst>
                                      </p:cBhvr>
                                      <p:to>
                                        <p:strVal val="visible"/>
                                      </p:to>
                                    </p:set>
                                    <p:animEffect transition="in" filter="fade">
                                      <p:cBhvr>
                                        <p:cTn id="5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heart&#10;&#10;AI-generated content may be incorrect.">
            <a:extLst>
              <a:ext uri="{FF2B5EF4-FFF2-40B4-BE49-F238E27FC236}">
                <a16:creationId xmlns:a16="http://schemas.microsoft.com/office/drawing/2014/main" id="{7E10EF35-685E-8046-3B78-15464D9EFB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Conduction on the highways</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66887" y="1752038"/>
            <a:ext cx="4811650" cy="3962961"/>
          </a:xfrm>
        </p:spPr>
        <p:txBody>
          <a:bodyPr/>
          <a:lstStyle/>
          <a:p>
            <a:r>
              <a:rPr lang="en-US" sz="2400" dirty="0"/>
              <a:t>Through the AV node (slowly)</a:t>
            </a:r>
          </a:p>
          <a:p>
            <a:r>
              <a:rPr lang="en-US" sz="2400" dirty="0"/>
              <a:t>Zoom through the bundle of HIS</a:t>
            </a:r>
          </a:p>
          <a:p>
            <a:r>
              <a:rPr lang="en-US" sz="2400" dirty="0"/>
              <a:t>Left/right bundle branches</a:t>
            </a:r>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dirty="0"/>
              <a:t>EN1 EIY-- Bioelectricity</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30" name="Straight Arrow Connector 29">
            <a:extLst>
              <a:ext uri="{FF2B5EF4-FFF2-40B4-BE49-F238E27FC236}">
                <a16:creationId xmlns:a16="http://schemas.microsoft.com/office/drawing/2014/main" id="{3DBE62C6-DB88-4B74-A590-012251EC7164}"/>
              </a:ext>
            </a:extLst>
          </p:cNvPr>
          <p:cNvCxnSpPr>
            <a:cxnSpLocks/>
            <a:stCxn id="17" idx="0"/>
          </p:cNvCxnSpPr>
          <p:nvPr/>
        </p:nvCxnSpPr>
        <p:spPr>
          <a:xfrm>
            <a:off x="1892298" y="3505200"/>
            <a:ext cx="0" cy="32289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5692F76-075B-4BA6-9104-0CD6B3C4C978}"/>
              </a:ext>
            </a:extLst>
          </p:cNvPr>
          <p:cNvCxnSpPr>
            <a:cxnSpLocks/>
          </p:cNvCxnSpPr>
          <p:nvPr/>
        </p:nvCxnSpPr>
        <p:spPr>
          <a:xfrm>
            <a:off x="1892298" y="3810000"/>
            <a:ext cx="211398" cy="5663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137894A-B24F-422E-92B1-36E7C8DE8C41}"/>
              </a:ext>
            </a:extLst>
          </p:cNvPr>
          <p:cNvCxnSpPr>
            <a:cxnSpLocks/>
          </p:cNvCxnSpPr>
          <p:nvPr/>
        </p:nvCxnSpPr>
        <p:spPr>
          <a:xfrm>
            <a:off x="1981200" y="4376311"/>
            <a:ext cx="685800" cy="1033889"/>
          </a:xfrm>
          <a:prstGeom prst="straightConnector1">
            <a:avLst/>
          </a:prstGeom>
          <a:ln w="12700">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3697DF0-E375-4AA7-8027-EBD18640A4EA}"/>
              </a:ext>
            </a:extLst>
          </p:cNvPr>
          <p:cNvCxnSpPr>
            <a:cxnSpLocks/>
          </p:cNvCxnSpPr>
          <p:nvPr/>
        </p:nvCxnSpPr>
        <p:spPr>
          <a:xfrm>
            <a:off x="2275170" y="4301473"/>
            <a:ext cx="1001430" cy="11087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3F3C01FA-EECD-42A4-9DE5-334BE39F1E6A}"/>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cxnSp>
        <p:nvCxnSpPr>
          <p:cNvPr id="18" name="Straight Arrow Connector 17">
            <a:extLst>
              <a:ext uri="{FF2B5EF4-FFF2-40B4-BE49-F238E27FC236}">
                <a16:creationId xmlns:a16="http://schemas.microsoft.com/office/drawing/2014/main" id="{56A2E9A1-D465-4ED1-99DC-D73CF06F19CC}"/>
              </a:ext>
            </a:extLst>
          </p:cNvPr>
          <p:cNvCxnSpPr>
            <a:cxnSpLocks/>
            <a:stCxn id="16" idx="6"/>
          </p:cNvCxnSpPr>
          <p:nvPr/>
        </p:nvCxnSpPr>
        <p:spPr>
          <a:xfrm flipV="1">
            <a:off x="1219200" y="3073399"/>
            <a:ext cx="7620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9408039-A1E1-437A-B371-AB80803E59EE}"/>
              </a:ext>
            </a:extLst>
          </p:cNvPr>
          <p:cNvCxnSpPr>
            <a:cxnSpLocks/>
          </p:cNvCxnSpPr>
          <p:nvPr/>
        </p:nvCxnSpPr>
        <p:spPr>
          <a:xfrm>
            <a:off x="2082798"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D861DB3-2524-449E-85F7-BD3494BA0EED}"/>
              </a:ext>
            </a:extLst>
          </p:cNvPr>
          <p:cNvCxnSpPr>
            <a:cxnSpLocks/>
            <a:stCxn id="16" idx="6"/>
          </p:cNvCxnSpPr>
          <p:nvPr/>
        </p:nvCxnSpPr>
        <p:spPr>
          <a:xfrm flipH="1">
            <a:off x="533400" y="3263899"/>
            <a:ext cx="685800" cy="6223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D51CBC6-3145-4FFC-A9EC-05335BE19541}"/>
              </a:ext>
            </a:extLst>
          </p:cNvPr>
          <p:cNvCxnSpPr>
            <a:cxnSpLocks/>
          </p:cNvCxnSpPr>
          <p:nvPr/>
        </p:nvCxnSpPr>
        <p:spPr>
          <a:xfrm flipV="1">
            <a:off x="1219200" y="3352800"/>
            <a:ext cx="762000" cy="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FC7F845-08C0-46AF-B208-2B64892C7A8A}"/>
              </a:ext>
            </a:extLst>
          </p:cNvPr>
          <p:cNvCxnSpPr>
            <a:cxnSpLocks/>
          </p:cNvCxnSpPr>
          <p:nvPr/>
        </p:nvCxnSpPr>
        <p:spPr>
          <a:xfrm flipH="1">
            <a:off x="685800" y="3454399"/>
            <a:ext cx="459697" cy="5842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5C1A96B-B14A-4B61-A8C7-688C55833EC4}"/>
              </a:ext>
            </a:extLst>
          </p:cNvPr>
          <p:cNvCxnSpPr>
            <a:cxnSpLocks/>
          </p:cNvCxnSpPr>
          <p:nvPr/>
        </p:nvCxnSpPr>
        <p:spPr>
          <a:xfrm flipV="1">
            <a:off x="2110666" y="3200400"/>
            <a:ext cx="503770" cy="1015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F094670-F4EF-4E64-A6CB-34E730E14B81}"/>
              </a:ext>
            </a:extLst>
          </p:cNvPr>
          <p:cNvCxnSpPr>
            <a:cxnSpLocks/>
          </p:cNvCxnSpPr>
          <p:nvPr/>
        </p:nvCxnSpPr>
        <p:spPr>
          <a:xfrm>
            <a:off x="1219200" y="3441702"/>
            <a:ext cx="538394" cy="11929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438ECCE-E90F-4456-84D8-94EB49FD47C5}"/>
              </a:ext>
            </a:extLst>
          </p:cNvPr>
          <p:cNvCxnSpPr>
            <a:cxnSpLocks/>
          </p:cNvCxnSpPr>
          <p:nvPr/>
        </p:nvCxnSpPr>
        <p:spPr>
          <a:xfrm>
            <a:off x="2667000"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B72E565-BCB7-45A5-9885-93BBD06F2C14}"/>
              </a:ext>
            </a:extLst>
          </p:cNvPr>
          <p:cNvCxnSpPr>
            <a:cxnSpLocks/>
          </p:cNvCxnSpPr>
          <p:nvPr/>
        </p:nvCxnSpPr>
        <p:spPr>
          <a:xfrm>
            <a:off x="2668762" y="32766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84DB0CF-0447-21B4-FE99-B1F701D98EB6}"/>
              </a:ext>
            </a:extLst>
          </p:cNvPr>
          <p:cNvCxnSpPr>
            <a:cxnSpLocks/>
          </p:cNvCxnSpPr>
          <p:nvPr/>
        </p:nvCxnSpPr>
        <p:spPr>
          <a:xfrm flipV="1">
            <a:off x="2614436" y="4301473"/>
            <a:ext cx="281164" cy="1943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53A93B6-8969-49CB-D7C4-39E860D9B884}"/>
              </a:ext>
            </a:extLst>
          </p:cNvPr>
          <p:cNvCxnSpPr>
            <a:cxnSpLocks/>
          </p:cNvCxnSpPr>
          <p:nvPr/>
        </p:nvCxnSpPr>
        <p:spPr>
          <a:xfrm flipH="1" flipV="1">
            <a:off x="1219200" y="5105400"/>
            <a:ext cx="1395236" cy="381000"/>
          </a:xfrm>
          <a:prstGeom prst="straightConnector1">
            <a:avLst/>
          </a:prstGeom>
          <a:ln w="12700">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1B3CE5B-2250-5561-6FDA-4EB3CD1C96E7}"/>
              </a:ext>
            </a:extLst>
          </p:cNvPr>
          <p:cNvCxnSpPr>
            <a:cxnSpLocks/>
          </p:cNvCxnSpPr>
          <p:nvPr/>
        </p:nvCxnSpPr>
        <p:spPr>
          <a:xfrm flipV="1">
            <a:off x="3429000" y="4038600"/>
            <a:ext cx="0" cy="12192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892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par>
                                <p:cTn id="28" presetID="10" presetClass="entr" presetSubtype="0" fill="hold"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500"/>
                                        <p:tgtEl>
                                          <p:spTgt spid="29"/>
                                        </p:tgtEl>
                                      </p:cBhvr>
                                    </p:animEffect>
                                  </p:childTnLst>
                                </p:cTn>
                              </p:par>
                              <p:par>
                                <p:cTn id="31" presetID="10"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3BBF0-BC8E-5567-5C6D-6C1A072D2F44}"/>
            </a:ext>
          </a:extLst>
        </p:cNvPr>
        <p:cNvGrpSpPr/>
        <p:nvPr/>
      </p:nvGrpSpPr>
      <p:grpSpPr>
        <a:xfrm>
          <a:off x="0" y="0"/>
          <a:ext cx="0" cy="0"/>
          <a:chOff x="0" y="0"/>
          <a:chExt cx="0" cy="0"/>
        </a:xfrm>
      </p:grpSpPr>
      <p:pic>
        <p:nvPicPr>
          <p:cNvPr id="5" name="Picture 4" descr="A diagram of a heart&#10;&#10;AI-generated content may be incorrect.">
            <a:extLst>
              <a:ext uri="{FF2B5EF4-FFF2-40B4-BE49-F238E27FC236}">
                <a16:creationId xmlns:a16="http://schemas.microsoft.com/office/drawing/2014/main" id="{52F15781-E1A4-EB22-1189-7B205A7BCB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EBE60E76-087D-4FAF-857F-11ADC365CADA}"/>
              </a:ext>
            </a:extLst>
          </p:cNvPr>
          <p:cNvSpPr>
            <a:spLocks noGrp="1"/>
          </p:cNvSpPr>
          <p:nvPr>
            <p:ph type="title"/>
          </p:nvPr>
        </p:nvSpPr>
        <p:spPr/>
        <p:txBody>
          <a:bodyPr/>
          <a:lstStyle/>
          <a:p>
            <a:r>
              <a:rPr lang="en-US" dirty="0"/>
              <a:t>Conduction on the highways</a:t>
            </a:r>
          </a:p>
        </p:txBody>
      </p:sp>
      <p:sp>
        <p:nvSpPr>
          <p:cNvPr id="3" name="Content Placeholder 2">
            <a:extLst>
              <a:ext uri="{FF2B5EF4-FFF2-40B4-BE49-F238E27FC236}">
                <a16:creationId xmlns:a16="http://schemas.microsoft.com/office/drawing/2014/main" id="{4A5BE785-CFFC-6F2D-CF37-9BDD1252253F}"/>
              </a:ext>
            </a:extLst>
          </p:cNvPr>
          <p:cNvSpPr>
            <a:spLocks noGrp="1"/>
          </p:cNvSpPr>
          <p:nvPr>
            <p:ph idx="1"/>
          </p:nvPr>
        </p:nvSpPr>
        <p:spPr>
          <a:xfrm>
            <a:off x="4166887" y="1752038"/>
            <a:ext cx="4811650" cy="3962961"/>
          </a:xfrm>
        </p:spPr>
        <p:txBody>
          <a:bodyPr/>
          <a:lstStyle/>
          <a:p>
            <a:r>
              <a:rPr lang="en-US" sz="2400" dirty="0"/>
              <a:t>Purkinje fibers are the final “mile”</a:t>
            </a:r>
            <a:endParaRPr lang="en-US" dirty="0"/>
          </a:p>
          <a:p>
            <a:r>
              <a:rPr lang="en-US" sz="2400" dirty="0"/>
              <a:t>Not shown; connect from the bundle branches to everywhere else in the ventricles</a:t>
            </a:r>
          </a:p>
          <a:p>
            <a:r>
              <a:rPr lang="en-US" sz="2400" dirty="0"/>
              <a:t>Purkinje fibers seed the AP on much of the ventricular surface</a:t>
            </a:r>
          </a:p>
          <a:p>
            <a:r>
              <a:rPr lang="en-US" sz="2400" dirty="0"/>
              <a:t>Now the AP squeezes the entire muscle all at once</a:t>
            </a:r>
          </a:p>
          <a:p>
            <a:endParaRPr lang="en-US" sz="2400" dirty="0"/>
          </a:p>
        </p:txBody>
      </p:sp>
      <p:sp>
        <p:nvSpPr>
          <p:cNvPr id="4" name="Footer Placeholder 3">
            <a:extLst>
              <a:ext uri="{FF2B5EF4-FFF2-40B4-BE49-F238E27FC236}">
                <a16:creationId xmlns:a16="http://schemas.microsoft.com/office/drawing/2014/main" id="{9940848F-0675-069A-C3DC-DA220ABB7D54}"/>
              </a:ext>
            </a:extLst>
          </p:cNvPr>
          <p:cNvSpPr>
            <a:spLocks noGrp="1"/>
          </p:cNvSpPr>
          <p:nvPr>
            <p:ph type="ftr" sz="quarter" idx="11"/>
          </p:nvPr>
        </p:nvSpPr>
        <p:spPr/>
        <p:txBody>
          <a:bodyPr/>
          <a:lstStyle/>
          <a:p>
            <a:pPr>
              <a:defRPr/>
            </a:pPr>
            <a:r>
              <a:rPr lang="en-US" dirty="0"/>
              <a:t>EN1 EIY-- Bioelectricity</a:t>
            </a:r>
          </a:p>
        </p:txBody>
      </p:sp>
      <p:sp>
        <p:nvSpPr>
          <p:cNvPr id="17" name="Oval 16">
            <a:extLst>
              <a:ext uri="{FF2B5EF4-FFF2-40B4-BE49-F238E27FC236}">
                <a16:creationId xmlns:a16="http://schemas.microsoft.com/office/drawing/2014/main" id="{DD40615A-36F6-B69A-93AB-307F13EECA1D}"/>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30" name="Straight Arrow Connector 29">
            <a:extLst>
              <a:ext uri="{FF2B5EF4-FFF2-40B4-BE49-F238E27FC236}">
                <a16:creationId xmlns:a16="http://schemas.microsoft.com/office/drawing/2014/main" id="{66FCFABC-A87C-3D50-8135-3FF97B5818B0}"/>
              </a:ext>
            </a:extLst>
          </p:cNvPr>
          <p:cNvCxnSpPr>
            <a:cxnSpLocks/>
            <a:stCxn id="17" idx="0"/>
          </p:cNvCxnSpPr>
          <p:nvPr/>
        </p:nvCxnSpPr>
        <p:spPr>
          <a:xfrm>
            <a:off x="1892298" y="3505200"/>
            <a:ext cx="0" cy="32289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31BCFE-284D-7F41-EB96-2E6818536381}"/>
              </a:ext>
            </a:extLst>
          </p:cNvPr>
          <p:cNvCxnSpPr>
            <a:cxnSpLocks/>
          </p:cNvCxnSpPr>
          <p:nvPr/>
        </p:nvCxnSpPr>
        <p:spPr>
          <a:xfrm>
            <a:off x="1892298" y="3810000"/>
            <a:ext cx="211398" cy="5663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435F0B5-23BF-8535-6557-09A534ECECC1}"/>
              </a:ext>
            </a:extLst>
          </p:cNvPr>
          <p:cNvCxnSpPr>
            <a:cxnSpLocks/>
          </p:cNvCxnSpPr>
          <p:nvPr/>
        </p:nvCxnSpPr>
        <p:spPr>
          <a:xfrm>
            <a:off x="1981200" y="4376311"/>
            <a:ext cx="685800" cy="1033889"/>
          </a:xfrm>
          <a:prstGeom prst="straightConnector1">
            <a:avLst/>
          </a:prstGeom>
          <a:ln w="12700">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D2B8AB7-BE15-895B-52B4-BA7414450AD7}"/>
              </a:ext>
            </a:extLst>
          </p:cNvPr>
          <p:cNvCxnSpPr>
            <a:cxnSpLocks/>
          </p:cNvCxnSpPr>
          <p:nvPr/>
        </p:nvCxnSpPr>
        <p:spPr>
          <a:xfrm>
            <a:off x="2275170" y="4301473"/>
            <a:ext cx="1001430" cy="11087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ACA01609-2D50-DA91-DDF1-E5C9C01AE0F8}"/>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cxnSp>
        <p:nvCxnSpPr>
          <p:cNvPr id="18" name="Straight Arrow Connector 17">
            <a:extLst>
              <a:ext uri="{FF2B5EF4-FFF2-40B4-BE49-F238E27FC236}">
                <a16:creationId xmlns:a16="http://schemas.microsoft.com/office/drawing/2014/main" id="{C4690D8B-6DBB-4E17-306E-9E9B19831517}"/>
              </a:ext>
            </a:extLst>
          </p:cNvPr>
          <p:cNvCxnSpPr>
            <a:cxnSpLocks/>
            <a:stCxn id="16" idx="6"/>
          </p:cNvCxnSpPr>
          <p:nvPr/>
        </p:nvCxnSpPr>
        <p:spPr>
          <a:xfrm flipV="1">
            <a:off x="1219200" y="3073399"/>
            <a:ext cx="7620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FD5C75C-2EFE-9EA0-B8AE-7BF7A148B10A}"/>
              </a:ext>
            </a:extLst>
          </p:cNvPr>
          <p:cNvCxnSpPr>
            <a:cxnSpLocks/>
          </p:cNvCxnSpPr>
          <p:nvPr/>
        </p:nvCxnSpPr>
        <p:spPr>
          <a:xfrm>
            <a:off x="2082798"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FC60E77-06A9-4CC0-25A4-EDE3BF44D69E}"/>
              </a:ext>
            </a:extLst>
          </p:cNvPr>
          <p:cNvCxnSpPr>
            <a:cxnSpLocks/>
            <a:stCxn id="16" idx="6"/>
          </p:cNvCxnSpPr>
          <p:nvPr/>
        </p:nvCxnSpPr>
        <p:spPr>
          <a:xfrm flipH="1">
            <a:off x="533400" y="3263899"/>
            <a:ext cx="685800" cy="6223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2E02908-B465-D416-9A78-AD781F2E1BD6}"/>
              </a:ext>
            </a:extLst>
          </p:cNvPr>
          <p:cNvCxnSpPr>
            <a:cxnSpLocks/>
          </p:cNvCxnSpPr>
          <p:nvPr/>
        </p:nvCxnSpPr>
        <p:spPr>
          <a:xfrm flipV="1">
            <a:off x="1219200" y="3352800"/>
            <a:ext cx="762000" cy="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0082ED4-C1A8-2997-A838-09B4B55266B7}"/>
              </a:ext>
            </a:extLst>
          </p:cNvPr>
          <p:cNvCxnSpPr>
            <a:cxnSpLocks/>
          </p:cNvCxnSpPr>
          <p:nvPr/>
        </p:nvCxnSpPr>
        <p:spPr>
          <a:xfrm flipH="1">
            <a:off x="685800" y="3454399"/>
            <a:ext cx="459697" cy="5842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8AFEABF-9652-4352-6398-D9947644091E}"/>
              </a:ext>
            </a:extLst>
          </p:cNvPr>
          <p:cNvCxnSpPr>
            <a:cxnSpLocks/>
          </p:cNvCxnSpPr>
          <p:nvPr/>
        </p:nvCxnSpPr>
        <p:spPr>
          <a:xfrm flipV="1">
            <a:off x="2110666" y="3200400"/>
            <a:ext cx="503770" cy="1015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CCE6ADF-D9DB-1DDC-6EFC-30A36EF25CE1}"/>
              </a:ext>
            </a:extLst>
          </p:cNvPr>
          <p:cNvCxnSpPr>
            <a:cxnSpLocks/>
          </p:cNvCxnSpPr>
          <p:nvPr/>
        </p:nvCxnSpPr>
        <p:spPr>
          <a:xfrm>
            <a:off x="1219200" y="3441702"/>
            <a:ext cx="538394" cy="11929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A6345D0-7A55-B917-81DF-2F94260412FC}"/>
              </a:ext>
            </a:extLst>
          </p:cNvPr>
          <p:cNvCxnSpPr>
            <a:cxnSpLocks/>
          </p:cNvCxnSpPr>
          <p:nvPr/>
        </p:nvCxnSpPr>
        <p:spPr>
          <a:xfrm>
            <a:off x="2667000"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D2E9979-4979-4CDB-B969-529486E354A2}"/>
              </a:ext>
            </a:extLst>
          </p:cNvPr>
          <p:cNvCxnSpPr>
            <a:cxnSpLocks/>
          </p:cNvCxnSpPr>
          <p:nvPr/>
        </p:nvCxnSpPr>
        <p:spPr>
          <a:xfrm>
            <a:off x="2668762" y="32766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F69E86B-CFB4-0934-03A5-DE2296587D3E}"/>
              </a:ext>
            </a:extLst>
          </p:cNvPr>
          <p:cNvCxnSpPr>
            <a:cxnSpLocks/>
          </p:cNvCxnSpPr>
          <p:nvPr/>
        </p:nvCxnSpPr>
        <p:spPr>
          <a:xfrm flipV="1">
            <a:off x="2614436" y="4301473"/>
            <a:ext cx="281164" cy="1943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E9E9E88-9C30-A264-3D9C-FE8AB7DBEDE1}"/>
              </a:ext>
            </a:extLst>
          </p:cNvPr>
          <p:cNvCxnSpPr>
            <a:cxnSpLocks/>
          </p:cNvCxnSpPr>
          <p:nvPr/>
        </p:nvCxnSpPr>
        <p:spPr>
          <a:xfrm flipH="1" flipV="1">
            <a:off x="1219200" y="5105400"/>
            <a:ext cx="1395236" cy="381000"/>
          </a:xfrm>
          <a:prstGeom prst="straightConnector1">
            <a:avLst/>
          </a:prstGeom>
          <a:ln w="12700">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2271163-28A0-791E-4FC9-AEC5EC36DF33}"/>
              </a:ext>
            </a:extLst>
          </p:cNvPr>
          <p:cNvCxnSpPr>
            <a:cxnSpLocks/>
          </p:cNvCxnSpPr>
          <p:nvPr/>
        </p:nvCxnSpPr>
        <p:spPr>
          <a:xfrm flipV="1">
            <a:off x="3429000" y="4038600"/>
            <a:ext cx="0" cy="12192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1463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5DC91-4981-415D-87FE-1A5510732333}"/>
              </a:ext>
            </a:extLst>
          </p:cNvPr>
          <p:cNvSpPr>
            <a:spLocks noGrp="1"/>
          </p:cNvSpPr>
          <p:nvPr>
            <p:ph type="title"/>
          </p:nvPr>
        </p:nvSpPr>
        <p:spPr/>
        <p:txBody>
          <a:bodyPr/>
          <a:lstStyle/>
          <a:p>
            <a:r>
              <a:rPr lang="en-US" dirty="0"/>
              <a:t>Building an oscillator</a:t>
            </a:r>
          </a:p>
        </p:txBody>
      </p:sp>
      <p:sp>
        <p:nvSpPr>
          <p:cNvPr id="3" name="Content Placeholder 2">
            <a:extLst>
              <a:ext uri="{FF2B5EF4-FFF2-40B4-BE49-F238E27FC236}">
                <a16:creationId xmlns:a16="http://schemas.microsoft.com/office/drawing/2014/main" id="{EB7C4BE9-E132-4F49-8452-785BE6656BA6}"/>
              </a:ext>
            </a:extLst>
          </p:cNvPr>
          <p:cNvSpPr>
            <a:spLocks noGrp="1"/>
          </p:cNvSpPr>
          <p:nvPr>
            <p:ph idx="1"/>
          </p:nvPr>
        </p:nvSpPr>
        <p:spPr>
          <a:xfrm>
            <a:off x="381000" y="4419600"/>
            <a:ext cx="8001000" cy="1447800"/>
          </a:xfrm>
        </p:spPr>
        <p:txBody>
          <a:bodyPr/>
          <a:lstStyle/>
          <a:p>
            <a:r>
              <a:rPr lang="en-US" sz="2400" kern="0" dirty="0"/>
              <a:t>Funny channels are the primary control of heart rate</a:t>
            </a:r>
          </a:p>
          <a:p>
            <a:pPr lvl="1">
              <a:spcBef>
                <a:spcPts val="0"/>
              </a:spcBef>
            </a:pPr>
            <a:r>
              <a:rPr lang="en-US" sz="2000" kern="0" dirty="0"/>
              <a:t>Turn them on more </a:t>
            </a:r>
            <a:r>
              <a:rPr lang="en-US" sz="2000" kern="0" dirty="0">
                <a:sym typeface="Symbol" panose="05050102010706020507" pitchFamily="18" charset="2"/>
              </a:rPr>
              <a:t></a:t>
            </a:r>
            <a:r>
              <a:rPr lang="en-US" sz="2000" kern="0" dirty="0"/>
              <a:t> heart rate rises</a:t>
            </a:r>
          </a:p>
          <a:p>
            <a:r>
              <a:rPr lang="en-US" sz="2400" dirty="0"/>
              <a:t>Sino-atrial cells (and  few others) have funny channels</a:t>
            </a:r>
          </a:p>
          <a:p>
            <a:pPr lvl="1">
              <a:spcBef>
                <a:spcPts val="0"/>
              </a:spcBef>
            </a:pPr>
            <a:r>
              <a:rPr lang="en-US" sz="2000" dirty="0"/>
              <a:t>Also called </a:t>
            </a:r>
            <a:r>
              <a:rPr lang="en-US" sz="2000" i="1" dirty="0"/>
              <a:t>pacemaker cells</a:t>
            </a:r>
          </a:p>
          <a:p>
            <a:endParaRPr lang="en-US" dirty="0"/>
          </a:p>
        </p:txBody>
      </p:sp>
      <p:sp>
        <p:nvSpPr>
          <p:cNvPr id="4" name="Footer Placeholder 3">
            <a:extLst>
              <a:ext uri="{FF2B5EF4-FFF2-40B4-BE49-F238E27FC236}">
                <a16:creationId xmlns:a16="http://schemas.microsoft.com/office/drawing/2014/main" id="{DB0F86BE-53CC-4CAD-95DD-EE849F8EA401}"/>
              </a:ext>
            </a:extLst>
          </p:cNvPr>
          <p:cNvSpPr>
            <a:spLocks noGrp="1"/>
          </p:cNvSpPr>
          <p:nvPr>
            <p:ph type="ftr" sz="quarter" idx="11"/>
          </p:nvPr>
        </p:nvSpPr>
        <p:spPr/>
        <p:txBody>
          <a:bodyPr/>
          <a:lstStyle/>
          <a:p>
            <a:pPr>
              <a:defRPr/>
            </a:pPr>
            <a:r>
              <a:rPr lang="en-US"/>
              <a:t>EE 123 -- Bioelectricity</a:t>
            </a:r>
            <a:endParaRPr lang="en-US" dirty="0"/>
          </a:p>
        </p:txBody>
      </p:sp>
      <p:pic>
        <p:nvPicPr>
          <p:cNvPr id="5" name="Picture 4">
            <a:extLst>
              <a:ext uri="{FF2B5EF4-FFF2-40B4-BE49-F238E27FC236}">
                <a16:creationId xmlns:a16="http://schemas.microsoft.com/office/drawing/2014/main" id="{1FEC7BAA-8E4C-4E71-AD09-E77029F2BFBE}"/>
              </a:ext>
            </a:extLst>
          </p:cNvPr>
          <p:cNvPicPr>
            <a:picLocks noChangeAspect="1"/>
          </p:cNvPicPr>
          <p:nvPr/>
        </p:nvPicPr>
        <p:blipFill>
          <a:blip r:embed="rId3"/>
          <a:stretch>
            <a:fillRect/>
          </a:stretch>
        </p:blipFill>
        <p:spPr>
          <a:xfrm>
            <a:off x="313567" y="1885660"/>
            <a:ext cx="3267531" cy="2076740"/>
          </a:xfrm>
          <a:prstGeom prst="rect">
            <a:avLst/>
          </a:prstGeom>
        </p:spPr>
      </p:pic>
      <p:sp>
        <p:nvSpPr>
          <p:cNvPr id="6" name="TextBox 5">
            <a:extLst>
              <a:ext uri="{FF2B5EF4-FFF2-40B4-BE49-F238E27FC236}">
                <a16:creationId xmlns:a16="http://schemas.microsoft.com/office/drawing/2014/main" id="{71B28DF5-8929-4A31-A0E5-DB34202D8B5F}"/>
              </a:ext>
            </a:extLst>
          </p:cNvPr>
          <p:cNvSpPr txBox="1"/>
          <p:nvPr/>
        </p:nvSpPr>
        <p:spPr>
          <a:xfrm>
            <a:off x="322034" y="1347795"/>
            <a:ext cx="2209800" cy="461665"/>
          </a:xfrm>
          <a:prstGeom prst="rect">
            <a:avLst/>
          </a:prstGeom>
          <a:noFill/>
        </p:spPr>
        <p:txBody>
          <a:bodyPr wrap="square" rtlCol="0">
            <a:spAutoFit/>
          </a:bodyPr>
          <a:lstStyle/>
          <a:p>
            <a:r>
              <a:rPr lang="en-US" dirty="0"/>
              <a:t>Sino-atrial AP</a:t>
            </a:r>
          </a:p>
        </p:txBody>
      </p:sp>
      <p:sp>
        <p:nvSpPr>
          <p:cNvPr id="7" name="Content Placeholder 2">
            <a:extLst>
              <a:ext uri="{FF2B5EF4-FFF2-40B4-BE49-F238E27FC236}">
                <a16:creationId xmlns:a16="http://schemas.microsoft.com/office/drawing/2014/main" id="{66822F91-06C1-41C8-A822-5F71BBCF4D9D}"/>
              </a:ext>
            </a:extLst>
          </p:cNvPr>
          <p:cNvSpPr txBox="1">
            <a:spLocks/>
          </p:cNvSpPr>
          <p:nvPr/>
        </p:nvSpPr>
        <p:spPr bwMode="auto">
          <a:xfrm>
            <a:off x="3810000" y="1597222"/>
            <a:ext cx="51816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Start with a “neuron”</a:t>
            </a:r>
          </a:p>
          <a:p>
            <a:pPr lvl="1">
              <a:spcBef>
                <a:spcPts val="0"/>
              </a:spcBef>
            </a:pPr>
            <a:r>
              <a:rPr lang="en-US" sz="2000" kern="0" dirty="0"/>
              <a:t>Stays at resting potential until synapses bring in enough + charge… then fires</a:t>
            </a:r>
          </a:p>
          <a:p>
            <a:r>
              <a:rPr lang="en-US" sz="2400" kern="0" dirty="0"/>
              <a:t>Hyperpolarization-gated Na (HCN) (a.k.a. “funny”) channels leak Na, K</a:t>
            </a:r>
          </a:p>
          <a:p>
            <a:pPr lvl="1">
              <a:spcBef>
                <a:spcPts val="0"/>
              </a:spcBef>
            </a:pPr>
            <a:r>
              <a:rPr lang="en-US" sz="2000" i="1" kern="0" dirty="0" err="1"/>
              <a:t>V</a:t>
            </a:r>
            <a:r>
              <a:rPr lang="en-US" sz="2000" kern="0" baseline="-25000" dirty="0" err="1"/>
              <a:t>mem</a:t>
            </a:r>
            <a:r>
              <a:rPr lang="en-US" sz="2000" kern="0" dirty="0"/>
              <a:t> slowly rises</a:t>
            </a:r>
          </a:p>
          <a:p>
            <a:pPr lvl="1">
              <a:spcBef>
                <a:spcPts val="0"/>
              </a:spcBef>
            </a:pPr>
            <a:r>
              <a:rPr lang="en-US" sz="2000" kern="0" dirty="0"/>
              <a:t>until it retriggers as usual</a:t>
            </a:r>
          </a:p>
          <a:p>
            <a:pPr lvl="1">
              <a:spcBef>
                <a:spcPts val="0"/>
              </a:spcBef>
            </a:pPr>
            <a:r>
              <a:rPr lang="en-US" sz="2000" kern="0" dirty="0"/>
              <a:t>the key to oscillation!</a:t>
            </a:r>
          </a:p>
        </p:txBody>
      </p:sp>
      <p:sp>
        <p:nvSpPr>
          <p:cNvPr id="10" name="TextBox 9">
            <a:extLst>
              <a:ext uri="{FF2B5EF4-FFF2-40B4-BE49-F238E27FC236}">
                <a16:creationId xmlns:a16="http://schemas.microsoft.com/office/drawing/2014/main" id="{3EBDC9D9-E759-4601-9BF9-FB22C071A992}"/>
              </a:ext>
            </a:extLst>
          </p:cNvPr>
          <p:cNvSpPr txBox="1"/>
          <p:nvPr/>
        </p:nvSpPr>
        <p:spPr>
          <a:xfrm>
            <a:off x="304800" y="3962401"/>
            <a:ext cx="2700867" cy="307777"/>
          </a:xfrm>
          <a:prstGeom prst="rect">
            <a:avLst/>
          </a:prstGeom>
          <a:noFill/>
        </p:spPr>
        <p:txBody>
          <a:bodyPr wrap="square" rtlCol="0">
            <a:spAutoFit/>
          </a:bodyPr>
          <a:lstStyle/>
          <a:p>
            <a:r>
              <a:rPr lang="en-US" sz="1400" dirty="0"/>
              <a:t>From Lippincott Fig 16.10, 16.11</a:t>
            </a:r>
          </a:p>
        </p:txBody>
      </p:sp>
    </p:spTree>
    <p:extLst>
      <p:ext uri="{BB962C8B-B14F-4D97-AF65-F5344CB8AC3E}">
        <p14:creationId xmlns:p14="http://schemas.microsoft.com/office/powerpoint/2010/main" val="34900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Effect transition="in" filter="fade">
                                      <p:cBhvr>
                                        <p:cTn id="13" dur="500"/>
                                        <p:tgtEl>
                                          <p:spTgt spid="7">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5" end="5"/>
                                            </p:txEl>
                                          </p:spTgt>
                                        </p:tgtEl>
                                        <p:attrNameLst>
                                          <p:attrName>style.visibility</p:attrName>
                                        </p:attrNameLst>
                                      </p:cBhvr>
                                      <p:to>
                                        <p:strVal val="visible"/>
                                      </p:to>
                                    </p:set>
                                    <p:animEffect transition="in" filter="fade">
                                      <p:cBhvr>
                                        <p:cTn id="16" dur="500"/>
                                        <p:tgtEl>
                                          <p:spTgt spid="7">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500"/>
                                        <p:tgtEl>
                                          <p:spTgt spid="3">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5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500"/>
                                        <p:tgtEl>
                                          <p:spTgt spid="3">
                                            <p:txEl>
                                              <p:pRg st="2" end="2"/>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F6458-5B8E-454E-A10C-59ECADDA5B27}"/>
              </a:ext>
            </a:extLst>
          </p:cNvPr>
          <p:cNvSpPr>
            <a:spLocks noGrp="1"/>
          </p:cNvSpPr>
          <p:nvPr>
            <p:ph type="title"/>
          </p:nvPr>
        </p:nvSpPr>
        <p:spPr/>
        <p:txBody>
          <a:bodyPr/>
          <a:lstStyle/>
          <a:p>
            <a:r>
              <a:rPr lang="en-US" dirty="0"/>
              <a:t>Gap junctions</a:t>
            </a:r>
          </a:p>
        </p:txBody>
      </p:sp>
      <p:sp>
        <p:nvSpPr>
          <p:cNvPr id="4" name="Footer Placeholder 3">
            <a:extLst>
              <a:ext uri="{FF2B5EF4-FFF2-40B4-BE49-F238E27FC236}">
                <a16:creationId xmlns:a16="http://schemas.microsoft.com/office/drawing/2014/main" id="{C2F45B84-BA02-4CDD-82E4-322C89F03D92}"/>
              </a:ext>
            </a:extLst>
          </p:cNvPr>
          <p:cNvSpPr>
            <a:spLocks noGrp="1"/>
          </p:cNvSpPr>
          <p:nvPr>
            <p:ph type="ftr" sz="quarter" idx="11"/>
          </p:nvPr>
        </p:nvSpPr>
        <p:spPr/>
        <p:txBody>
          <a:bodyPr/>
          <a:lstStyle/>
          <a:p>
            <a:pPr>
              <a:defRPr/>
            </a:pPr>
            <a:r>
              <a:rPr lang="en-US" dirty="0"/>
              <a:t>Bioelectricity Joel Grodstein</a:t>
            </a:r>
          </a:p>
        </p:txBody>
      </p:sp>
      <p:pic>
        <p:nvPicPr>
          <p:cNvPr id="8" name="Picture 7">
            <a:extLst>
              <a:ext uri="{FF2B5EF4-FFF2-40B4-BE49-F238E27FC236}">
                <a16:creationId xmlns:a16="http://schemas.microsoft.com/office/drawing/2014/main" id="{D1E49F48-3E02-4558-810E-7536998968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0391" y="3292855"/>
            <a:ext cx="3018875" cy="2614477"/>
          </a:xfrm>
          <a:prstGeom prst="rect">
            <a:avLst/>
          </a:prstGeom>
        </p:spPr>
      </p:pic>
      <p:sp>
        <p:nvSpPr>
          <p:cNvPr id="9" name="Content Placeholder 2">
            <a:extLst>
              <a:ext uri="{FF2B5EF4-FFF2-40B4-BE49-F238E27FC236}">
                <a16:creationId xmlns:a16="http://schemas.microsoft.com/office/drawing/2014/main" id="{BA9E267B-DE17-406D-91B8-0F571BC31503}"/>
              </a:ext>
            </a:extLst>
          </p:cNvPr>
          <p:cNvSpPr txBox="1">
            <a:spLocks/>
          </p:cNvSpPr>
          <p:nvPr/>
        </p:nvSpPr>
        <p:spPr bwMode="auto">
          <a:xfrm>
            <a:off x="431797" y="2743200"/>
            <a:ext cx="5342467" cy="2198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lvl="1">
              <a:spcBef>
                <a:spcPts val="0"/>
              </a:spcBef>
            </a:pPr>
            <a:r>
              <a:rPr lang="en-US" sz="2000" kern="0" dirty="0"/>
              <a:t>A resistor between two cells</a:t>
            </a:r>
          </a:p>
          <a:p>
            <a:pPr lvl="1">
              <a:spcBef>
                <a:spcPts val="0"/>
              </a:spcBef>
            </a:pPr>
            <a:r>
              <a:rPr lang="en-US" sz="2000" kern="0" dirty="0"/>
              <a:t>If a GJ connects two cells with different </a:t>
            </a:r>
            <a:r>
              <a:rPr lang="en-US" sz="2000" kern="0" dirty="0" err="1"/>
              <a:t>V</a:t>
            </a:r>
            <a:r>
              <a:rPr lang="en-US" sz="2000" kern="0" baseline="-25000" dirty="0" err="1"/>
              <a:t>mem</a:t>
            </a:r>
            <a:r>
              <a:rPr lang="en-US" sz="2000" kern="0" dirty="0"/>
              <a:t>, then negative ions move towards the + cell</a:t>
            </a:r>
          </a:p>
          <a:p>
            <a:pPr lvl="1">
              <a:spcBef>
                <a:spcPts val="0"/>
              </a:spcBef>
            </a:pPr>
            <a:r>
              <a:rPr lang="en-US" sz="2000" kern="0" dirty="0"/>
              <a:t>Just like ion channels did for ICF ↔ ECF</a:t>
            </a:r>
          </a:p>
          <a:p>
            <a:pPr lvl="1">
              <a:spcBef>
                <a:spcPts val="0"/>
              </a:spcBef>
            </a:pPr>
            <a:r>
              <a:rPr lang="en-US" sz="2000" kern="0" dirty="0"/>
              <a:t>Interesting tidbit –  it’s a voltage-controlled conductance</a:t>
            </a:r>
          </a:p>
          <a:p>
            <a:endParaRPr lang="en-US" kern="0" dirty="0"/>
          </a:p>
        </p:txBody>
      </p:sp>
      <p:sp>
        <p:nvSpPr>
          <p:cNvPr id="10" name="TextBox 9">
            <a:extLst>
              <a:ext uri="{FF2B5EF4-FFF2-40B4-BE49-F238E27FC236}">
                <a16:creationId xmlns:a16="http://schemas.microsoft.com/office/drawing/2014/main" id="{A19F7928-238E-4171-B0BA-44890CD6CB82}"/>
              </a:ext>
            </a:extLst>
          </p:cNvPr>
          <p:cNvSpPr txBox="1"/>
          <p:nvPr/>
        </p:nvSpPr>
        <p:spPr>
          <a:xfrm>
            <a:off x="5935133" y="3378198"/>
            <a:ext cx="948267" cy="369332"/>
          </a:xfrm>
          <a:prstGeom prst="rect">
            <a:avLst/>
          </a:prstGeom>
          <a:noFill/>
        </p:spPr>
        <p:txBody>
          <a:bodyPr wrap="square" rtlCol="0">
            <a:spAutoFit/>
          </a:bodyPr>
          <a:lstStyle/>
          <a:p>
            <a:r>
              <a:rPr lang="en-US" sz="1800" dirty="0"/>
              <a:t>+10mV</a:t>
            </a:r>
          </a:p>
        </p:txBody>
      </p:sp>
      <p:sp>
        <p:nvSpPr>
          <p:cNvPr id="11" name="TextBox 10">
            <a:extLst>
              <a:ext uri="{FF2B5EF4-FFF2-40B4-BE49-F238E27FC236}">
                <a16:creationId xmlns:a16="http://schemas.microsoft.com/office/drawing/2014/main" id="{2C991C07-3F0F-4915-9034-1ABBA8B0F3E5}"/>
              </a:ext>
            </a:extLst>
          </p:cNvPr>
          <p:cNvSpPr txBox="1"/>
          <p:nvPr/>
        </p:nvSpPr>
        <p:spPr>
          <a:xfrm>
            <a:off x="5909733" y="5367865"/>
            <a:ext cx="948267" cy="369332"/>
          </a:xfrm>
          <a:prstGeom prst="rect">
            <a:avLst/>
          </a:prstGeom>
          <a:noFill/>
        </p:spPr>
        <p:txBody>
          <a:bodyPr wrap="square" rtlCol="0">
            <a:spAutoFit/>
          </a:bodyPr>
          <a:lstStyle/>
          <a:p>
            <a:r>
              <a:rPr lang="en-US" sz="1800" dirty="0"/>
              <a:t>-20mV</a:t>
            </a:r>
          </a:p>
        </p:txBody>
      </p:sp>
      <p:sp>
        <p:nvSpPr>
          <p:cNvPr id="12" name="TextBox 11">
            <a:extLst>
              <a:ext uri="{FF2B5EF4-FFF2-40B4-BE49-F238E27FC236}">
                <a16:creationId xmlns:a16="http://schemas.microsoft.com/office/drawing/2014/main" id="{4A4B954B-17D1-4CF5-B230-4D58748E6180}"/>
              </a:ext>
            </a:extLst>
          </p:cNvPr>
          <p:cNvSpPr txBox="1"/>
          <p:nvPr/>
        </p:nvSpPr>
        <p:spPr>
          <a:xfrm>
            <a:off x="7950201" y="3547531"/>
            <a:ext cx="558800" cy="369332"/>
          </a:xfrm>
          <a:prstGeom prst="rect">
            <a:avLst/>
          </a:prstGeom>
          <a:noFill/>
        </p:spPr>
        <p:txBody>
          <a:bodyPr wrap="square" rtlCol="0">
            <a:spAutoFit/>
          </a:bodyPr>
          <a:lstStyle/>
          <a:p>
            <a:r>
              <a:rPr lang="en-US" sz="1800" dirty="0"/>
              <a:t>Cl</a:t>
            </a:r>
            <a:r>
              <a:rPr lang="en-US" sz="1800" baseline="30000" dirty="0"/>
              <a:t>-</a:t>
            </a:r>
          </a:p>
        </p:txBody>
      </p:sp>
      <p:sp>
        <p:nvSpPr>
          <p:cNvPr id="13" name="TextBox 12">
            <a:extLst>
              <a:ext uri="{FF2B5EF4-FFF2-40B4-BE49-F238E27FC236}">
                <a16:creationId xmlns:a16="http://schemas.microsoft.com/office/drawing/2014/main" id="{6121DC34-1202-4754-9FA4-A362C320F63A}"/>
              </a:ext>
            </a:extLst>
          </p:cNvPr>
          <p:cNvSpPr txBox="1"/>
          <p:nvPr/>
        </p:nvSpPr>
        <p:spPr>
          <a:xfrm>
            <a:off x="7162801" y="5359398"/>
            <a:ext cx="558800" cy="369332"/>
          </a:xfrm>
          <a:prstGeom prst="rect">
            <a:avLst/>
          </a:prstGeom>
          <a:noFill/>
        </p:spPr>
        <p:txBody>
          <a:bodyPr wrap="square" rtlCol="0">
            <a:spAutoFit/>
          </a:bodyPr>
          <a:lstStyle/>
          <a:p>
            <a:r>
              <a:rPr lang="en-US" sz="1800" dirty="0"/>
              <a:t>Na</a:t>
            </a:r>
            <a:r>
              <a:rPr lang="en-US" sz="1800" baseline="30000" dirty="0"/>
              <a:t>+</a:t>
            </a:r>
          </a:p>
        </p:txBody>
      </p:sp>
      <p:sp>
        <p:nvSpPr>
          <p:cNvPr id="14" name="TextBox 13">
            <a:extLst>
              <a:ext uri="{FF2B5EF4-FFF2-40B4-BE49-F238E27FC236}">
                <a16:creationId xmlns:a16="http://schemas.microsoft.com/office/drawing/2014/main" id="{0B21C906-2CF1-4D24-9385-B53CEC9DB15F}"/>
              </a:ext>
            </a:extLst>
          </p:cNvPr>
          <p:cNvSpPr txBox="1"/>
          <p:nvPr/>
        </p:nvSpPr>
        <p:spPr>
          <a:xfrm>
            <a:off x="7112001" y="3530599"/>
            <a:ext cx="558800" cy="369332"/>
          </a:xfrm>
          <a:prstGeom prst="rect">
            <a:avLst/>
          </a:prstGeom>
          <a:noFill/>
        </p:spPr>
        <p:txBody>
          <a:bodyPr wrap="square" rtlCol="0">
            <a:spAutoFit/>
          </a:bodyPr>
          <a:lstStyle/>
          <a:p>
            <a:r>
              <a:rPr lang="en-US" sz="1800" dirty="0"/>
              <a:t>Na</a:t>
            </a:r>
            <a:r>
              <a:rPr lang="en-US" sz="1800" baseline="30000" dirty="0"/>
              <a:t>+</a:t>
            </a:r>
          </a:p>
        </p:txBody>
      </p:sp>
      <p:sp>
        <p:nvSpPr>
          <p:cNvPr id="15" name="TextBox 14">
            <a:extLst>
              <a:ext uri="{FF2B5EF4-FFF2-40B4-BE49-F238E27FC236}">
                <a16:creationId xmlns:a16="http://schemas.microsoft.com/office/drawing/2014/main" id="{C64956FD-40B7-42B8-BEEF-D8C9295BBED1}"/>
              </a:ext>
            </a:extLst>
          </p:cNvPr>
          <p:cNvSpPr txBox="1"/>
          <p:nvPr/>
        </p:nvSpPr>
        <p:spPr>
          <a:xfrm>
            <a:off x="8102601" y="5367867"/>
            <a:ext cx="558800" cy="369332"/>
          </a:xfrm>
          <a:prstGeom prst="rect">
            <a:avLst/>
          </a:prstGeom>
          <a:noFill/>
        </p:spPr>
        <p:txBody>
          <a:bodyPr wrap="square" rtlCol="0">
            <a:spAutoFit/>
          </a:bodyPr>
          <a:lstStyle/>
          <a:p>
            <a:r>
              <a:rPr lang="en-US" sz="1800" dirty="0"/>
              <a:t>Cl</a:t>
            </a:r>
            <a:r>
              <a:rPr lang="en-US" sz="1800" baseline="30000" dirty="0"/>
              <a:t>-</a:t>
            </a:r>
          </a:p>
        </p:txBody>
      </p:sp>
      <p:sp>
        <p:nvSpPr>
          <p:cNvPr id="16" name="Content Placeholder 2">
            <a:extLst>
              <a:ext uri="{FF2B5EF4-FFF2-40B4-BE49-F238E27FC236}">
                <a16:creationId xmlns:a16="http://schemas.microsoft.com/office/drawing/2014/main" id="{B1644967-B194-4321-A4C0-22D503663532}"/>
              </a:ext>
            </a:extLst>
          </p:cNvPr>
          <p:cNvSpPr txBox="1">
            <a:spLocks/>
          </p:cNvSpPr>
          <p:nvPr/>
        </p:nvSpPr>
        <p:spPr bwMode="auto">
          <a:xfrm>
            <a:off x="436652" y="1616330"/>
            <a:ext cx="7772400" cy="129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A gap junction (GJ) is a little tube that connects two cells</a:t>
            </a:r>
          </a:p>
          <a:p>
            <a:pPr lvl="1">
              <a:spcBef>
                <a:spcPts val="0"/>
              </a:spcBef>
            </a:pPr>
            <a:r>
              <a:rPr lang="en-US" sz="2000" dirty="0"/>
              <a:t>GJs allow cells to talk to each other</a:t>
            </a:r>
          </a:p>
          <a:p>
            <a:r>
              <a:rPr lang="en-US" sz="2400" kern="0" dirty="0"/>
              <a:t>Molecules can travel between the two cells</a:t>
            </a:r>
          </a:p>
        </p:txBody>
      </p:sp>
    </p:spTree>
    <p:extLst>
      <p:ext uri="{BB962C8B-B14F-4D97-AF65-F5344CB8AC3E}">
        <p14:creationId xmlns:p14="http://schemas.microsoft.com/office/powerpoint/2010/main" val="52507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2" end="2"/>
                                            </p:txEl>
                                          </p:spTgt>
                                        </p:tgtEl>
                                        <p:attrNameLst>
                                          <p:attrName>style.visibility</p:attrName>
                                        </p:attrNameLst>
                                      </p:cBhvr>
                                      <p:to>
                                        <p:strVal val="visible"/>
                                      </p:to>
                                    </p:set>
                                    <p:animEffect transition="in" filter="fade">
                                      <p:cBhvr>
                                        <p:cTn id="7" dur="500"/>
                                        <p:tgtEl>
                                          <p:spTgt spid="1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500"/>
                                        <p:tgtEl>
                                          <p:spTgt spid="9">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
                                            <p:txEl>
                                              <p:pRg st="2" end="2"/>
                                            </p:txEl>
                                          </p:spTgt>
                                        </p:tgtEl>
                                        <p:attrNameLst>
                                          <p:attrName>style.visibility</p:attrName>
                                        </p:attrNameLst>
                                      </p:cBhvr>
                                      <p:to>
                                        <p:strVal val="visible"/>
                                      </p:to>
                                    </p:set>
                                    <p:animEffect transition="in" filter="fade">
                                      <p:cBhvr>
                                        <p:cTn id="16" dur="500"/>
                                        <p:tgtEl>
                                          <p:spTgt spid="9">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Effect transition="in" filter="fade">
                                      <p:cBhvr>
                                        <p:cTn id="19"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7341A-C4A9-46A0-B921-6C4CDD8FFE82}"/>
              </a:ext>
            </a:extLst>
          </p:cNvPr>
          <p:cNvSpPr txBox="1"/>
          <p:nvPr/>
        </p:nvSpPr>
        <p:spPr>
          <a:xfrm>
            <a:off x="4140927" y="1124679"/>
            <a:ext cx="685800" cy="276999"/>
          </a:xfrm>
          <a:prstGeom prst="rect">
            <a:avLst/>
          </a:prstGeom>
          <a:solidFill>
            <a:schemeClr val="accent6">
              <a:lumMod val="20000"/>
              <a:lumOff val="80000"/>
            </a:schemeClr>
          </a:solidFill>
          <a:ln w="19050">
            <a:solidFill>
              <a:schemeClr val="tx1"/>
            </a:solidFill>
          </a:ln>
        </p:spPr>
        <p:txBody>
          <a:bodyPr wrap="square" tIns="0" bIns="0" rtlCol="0">
            <a:noAutofit/>
          </a:bodyPr>
          <a:lstStyle/>
          <a:p>
            <a:pPr algn="ctr"/>
            <a:r>
              <a:rPr lang="en-US" sz="1800" dirty="0"/>
              <a:t>GJ</a:t>
            </a:r>
          </a:p>
        </p:txBody>
      </p:sp>
      <p:sp>
        <p:nvSpPr>
          <p:cNvPr id="3" name="Content Placeholder 2">
            <a:extLst>
              <a:ext uri="{FF2B5EF4-FFF2-40B4-BE49-F238E27FC236}">
                <a16:creationId xmlns:a16="http://schemas.microsoft.com/office/drawing/2014/main" id="{E5477891-D289-43CE-BFA7-E76D86176123}"/>
              </a:ext>
            </a:extLst>
          </p:cNvPr>
          <p:cNvSpPr>
            <a:spLocks noGrp="1"/>
          </p:cNvSpPr>
          <p:nvPr>
            <p:ph idx="1"/>
          </p:nvPr>
        </p:nvSpPr>
        <p:spPr>
          <a:xfrm>
            <a:off x="5334000" y="2668568"/>
            <a:ext cx="3505200" cy="3427432"/>
          </a:xfrm>
        </p:spPr>
        <p:txBody>
          <a:bodyPr/>
          <a:lstStyle/>
          <a:p>
            <a:r>
              <a:rPr lang="en-US" sz="2000" dirty="0"/>
              <a:t>#1 “pulls” #2 up with it</a:t>
            </a:r>
          </a:p>
          <a:p>
            <a:r>
              <a:rPr lang="en-US" sz="2000" dirty="0"/>
              <a:t>#1 shrinks a bit, #2 rises</a:t>
            </a:r>
          </a:p>
          <a:p>
            <a:r>
              <a:rPr lang="en-US" sz="2000" dirty="0"/>
              <a:t>#2 rises above the threshold and FIRES!</a:t>
            </a:r>
          </a:p>
          <a:p>
            <a:r>
              <a:rPr lang="en-US" sz="2000" dirty="0"/>
              <a:t>Result: our “wave” travels along the highway from one cardiomyocyte to the next</a:t>
            </a:r>
          </a:p>
          <a:p>
            <a:endParaRPr lang="en-US" sz="2000" dirty="0"/>
          </a:p>
        </p:txBody>
      </p:sp>
      <p:sp>
        <p:nvSpPr>
          <p:cNvPr id="4" name="Footer Placeholder 3">
            <a:extLst>
              <a:ext uri="{FF2B5EF4-FFF2-40B4-BE49-F238E27FC236}">
                <a16:creationId xmlns:a16="http://schemas.microsoft.com/office/drawing/2014/main" id="{4DDE0F75-4457-4064-A29E-F6100E67B8C3}"/>
              </a:ext>
            </a:extLst>
          </p:cNvPr>
          <p:cNvSpPr>
            <a:spLocks noGrp="1"/>
          </p:cNvSpPr>
          <p:nvPr>
            <p:ph type="ftr" sz="quarter" idx="11"/>
          </p:nvPr>
        </p:nvSpPr>
        <p:spPr/>
        <p:txBody>
          <a:bodyPr/>
          <a:lstStyle/>
          <a:p>
            <a:pPr>
              <a:defRPr/>
            </a:pPr>
            <a:r>
              <a:rPr lang="en-US"/>
              <a:t>EE 123 -- Bioelectricity</a:t>
            </a:r>
            <a:endParaRPr lang="en-US" dirty="0"/>
          </a:p>
        </p:txBody>
      </p:sp>
      <p:sp>
        <p:nvSpPr>
          <p:cNvPr id="9" name="Rectangle 8">
            <a:extLst>
              <a:ext uri="{FF2B5EF4-FFF2-40B4-BE49-F238E27FC236}">
                <a16:creationId xmlns:a16="http://schemas.microsoft.com/office/drawing/2014/main" id="{5131EE83-87BD-4C5C-92B2-DC100106754B}"/>
              </a:ext>
            </a:extLst>
          </p:cNvPr>
          <p:cNvSpPr/>
          <p:nvPr/>
        </p:nvSpPr>
        <p:spPr>
          <a:xfrm>
            <a:off x="1066800" y="1002356"/>
            <a:ext cx="3124200" cy="5216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AA0FB0F-6C22-4E46-8277-90F577C7018C}"/>
              </a:ext>
            </a:extLst>
          </p:cNvPr>
          <p:cNvSpPr txBox="1"/>
          <p:nvPr/>
        </p:nvSpPr>
        <p:spPr>
          <a:xfrm>
            <a:off x="1600200" y="1078512"/>
            <a:ext cx="1905000" cy="369332"/>
          </a:xfrm>
          <a:prstGeom prst="rect">
            <a:avLst/>
          </a:prstGeom>
          <a:noFill/>
        </p:spPr>
        <p:txBody>
          <a:bodyPr wrap="square" rtlCol="0">
            <a:spAutoFit/>
          </a:bodyPr>
          <a:lstStyle/>
          <a:p>
            <a:r>
              <a:rPr lang="en-US" sz="1800" dirty="0"/>
              <a:t>cardiomyocyte #1</a:t>
            </a:r>
          </a:p>
        </p:txBody>
      </p:sp>
      <p:sp>
        <p:nvSpPr>
          <p:cNvPr id="10" name="Rectangle 9">
            <a:extLst>
              <a:ext uri="{FF2B5EF4-FFF2-40B4-BE49-F238E27FC236}">
                <a16:creationId xmlns:a16="http://schemas.microsoft.com/office/drawing/2014/main" id="{55D0B509-7799-448E-A27D-9DA70AAA5F7A}"/>
              </a:ext>
            </a:extLst>
          </p:cNvPr>
          <p:cNvSpPr/>
          <p:nvPr/>
        </p:nvSpPr>
        <p:spPr>
          <a:xfrm>
            <a:off x="4800600" y="1002356"/>
            <a:ext cx="3124200" cy="5216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21DA3AE5-FEF8-460C-B2C4-854A04E1D914}"/>
              </a:ext>
            </a:extLst>
          </p:cNvPr>
          <p:cNvCxnSpPr/>
          <p:nvPr/>
        </p:nvCxnSpPr>
        <p:spPr>
          <a:xfrm>
            <a:off x="914400" y="2735455"/>
            <a:ext cx="0" cy="2286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C7F177D-256E-444D-B9DF-BAB07D34128D}"/>
              </a:ext>
            </a:extLst>
          </p:cNvPr>
          <p:cNvSpPr txBox="1"/>
          <p:nvPr/>
        </p:nvSpPr>
        <p:spPr>
          <a:xfrm>
            <a:off x="5334000" y="1078512"/>
            <a:ext cx="1905000" cy="369332"/>
          </a:xfrm>
          <a:prstGeom prst="rect">
            <a:avLst/>
          </a:prstGeom>
          <a:noFill/>
        </p:spPr>
        <p:txBody>
          <a:bodyPr wrap="square" rtlCol="0">
            <a:spAutoFit/>
          </a:bodyPr>
          <a:lstStyle/>
          <a:p>
            <a:r>
              <a:rPr lang="en-US" sz="1800" dirty="0"/>
              <a:t>cardiomyocyte #2</a:t>
            </a:r>
          </a:p>
        </p:txBody>
      </p:sp>
      <p:cxnSp>
        <p:nvCxnSpPr>
          <p:cNvPr id="28" name="Straight Connector 27">
            <a:extLst>
              <a:ext uri="{FF2B5EF4-FFF2-40B4-BE49-F238E27FC236}">
                <a16:creationId xmlns:a16="http://schemas.microsoft.com/office/drawing/2014/main" id="{FA7AD5E6-224D-4210-9E30-F14E52FADD52}"/>
              </a:ext>
            </a:extLst>
          </p:cNvPr>
          <p:cNvCxnSpPr>
            <a:cxnSpLocks/>
          </p:cNvCxnSpPr>
          <p:nvPr/>
        </p:nvCxnSpPr>
        <p:spPr>
          <a:xfrm>
            <a:off x="914400" y="5021455"/>
            <a:ext cx="426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C1144A4F-03A4-4A80-B152-D2E0B4641E04}"/>
              </a:ext>
            </a:extLst>
          </p:cNvPr>
          <p:cNvSpPr/>
          <p:nvPr/>
        </p:nvSpPr>
        <p:spPr>
          <a:xfrm>
            <a:off x="962297" y="2863906"/>
            <a:ext cx="418012" cy="818606"/>
          </a:xfrm>
          <a:custGeom>
            <a:avLst/>
            <a:gdLst>
              <a:gd name="connsiteX0" fmla="*/ 0 w 418012"/>
              <a:gd name="connsiteY0" fmla="*/ 818606 h 818606"/>
              <a:gd name="connsiteX1" fmla="*/ 418012 w 418012"/>
              <a:gd name="connsiteY1" fmla="*/ 818606 h 818606"/>
              <a:gd name="connsiteX2" fmla="*/ 418012 w 418012"/>
              <a:gd name="connsiteY2" fmla="*/ 0 h 818606"/>
            </a:gdLst>
            <a:ahLst/>
            <a:cxnLst>
              <a:cxn ang="0">
                <a:pos x="connsiteX0" y="connsiteY0"/>
              </a:cxn>
              <a:cxn ang="0">
                <a:pos x="connsiteX1" y="connsiteY1"/>
              </a:cxn>
              <a:cxn ang="0">
                <a:pos x="connsiteX2" y="connsiteY2"/>
              </a:cxn>
            </a:cxnLst>
            <a:rect l="l" t="t" r="r" b="b"/>
            <a:pathLst>
              <a:path w="418012" h="818606">
                <a:moveTo>
                  <a:pt x="0" y="818606"/>
                </a:moveTo>
                <a:lnTo>
                  <a:pt x="418012" y="818606"/>
                </a:lnTo>
                <a:lnTo>
                  <a:pt x="418012"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235423BF-33B1-42CD-A8C2-44A907F9F288}"/>
              </a:ext>
            </a:extLst>
          </p:cNvPr>
          <p:cNvSpPr/>
          <p:nvPr/>
        </p:nvSpPr>
        <p:spPr>
          <a:xfrm>
            <a:off x="1371600" y="2872615"/>
            <a:ext cx="2438400" cy="853440"/>
          </a:xfrm>
          <a:custGeom>
            <a:avLst/>
            <a:gdLst>
              <a:gd name="connsiteX0" fmla="*/ 0 w 2438400"/>
              <a:gd name="connsiteY0" fmla="*/ 0 h 853440"/>
              <a:gd name="connsiteX1" fmla="*/ 69669 w 2438400"/>
              <a:gd name="connsiteY1" fmla="*/ 226422 h 853440"/>
              <a:gd name="connsiteX2" fmla="*/ 200297 w 2438400"/>
              <a:gd name="connsiteY2" fmla="*/ 261257 h 853440"/>
              <a:gd name="connsiteX3" fmla="*/ 461554 w 2438400"/>
              <a:gd name="connsiteY3" fmla="*/ 322217 h 853440"/>
              <a:gd name="connsiteX4" fmla="*/ 566057 w 2438400"/>
              <a:gd name="connsiteY4" fmla="*/ 496388 h 853440"/>
              <a:gd name="connsiteX5" fmla="*/ 627017 w 2438400"/>
              <a:gd name="connsiteY5" fmla="*/ 766354 h 853440"/>
              <a:gd name="connsiteX6" fmla="*/ 696686 w 2438400"/>
              <a:gd name="connsiteY6" fmla="*/ 818605 h 853440"/>
              <a:gd name="connsiteX7" fmla="*/ 836023 w 2438400"/>
              <a:gd name="connsiteY7" fmla="*/ 818605 h 853440"/>
              <a:gd name="connsiteX8" fmla="*/ 2438400 w 2438400"/>
              <a:gd name="connsiteY8" fmla="*/ 85344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853440">
                <a:moveTo>
                  <a:pt x="0" y="0"/>
                </a:moveTo>
                <a:cubicBezTo>
                  <a:pt x="18143" y="91439"/>
                  <a:pt x="36286" y="182879"/>
                  <a:pt x="69669" y="226422"/>
                </a:cubicBezTo>
                <a:cubicBezTo>
                  <a:pt x="103052" y="269965"/>
                  <a:pt x="134983" y="245291"/>
                  <a:pt x="200297" y="261257"/>
                </a:cubicBezTo>
                <a:cubicBezTo>
                  <a:pt x="265611" y="277223"/>
                  <a:pt x="400594" y="283029"/>
                  <a:pt x="461554" y="322217"/>
                </a:cubicBezTo>
                <a:cubicBezTo>
                  <a:pt x="522514" y="361405"/>
                  <a:pt x="538480" y="422365"/>
                  <a:pt x="566057" y="496388"/>
                </a:cubicBezTo>
                <a:cubicBezTo>
                  <a:pt x="593634" y="570411"/>
                  <a:pt x="605246" y="712651"/>
                  <a:pt x="627017" y="766354"/>
                </a:cubicBezTo>
                <a:cubicBezTo>
                  <a:pt x="648789" y="820057"/>
                  <a:pt x="661852" y="809897"/>
                  <a:pt x="696686" y="818605"/>
                </a:cubicBezTo>
                <a:cubicBezTo>
                  <a:pt x="731520" y="827313"/>
                  <a:pt x="836023" y="818605"/>
                  <a:pt x="836023" y="818605"/>
                </a:cubicBezTo>
                <a:lnTo>
                  <a:pt x="2438400" y="85344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BF5C232-8818-40F3-BEA1-2A24F7C2E332}"/>
              </a:ext>
            </a:extLst>
          </p:cNvPr>
          <p:cNvSpPr txBox="1"/>
          <p:nvPr/>
        </p:nvSpPr>
        <p:spPr>
          <a:xfrm>
            <a:off x="152400" y="3192655"/>
            <a:ext cx="533400" cy="461665"/>
          </a:xfrm>
          <a:prstGeom prst="rect">
            <a:avLst/>
          </a:prstGeom>
          <a:noFill/>
        </p:spPr>
        <p:txBody>
          <a:bodyPr wrap="square" rtlCol="0">
            <a:spAutoFit/>
          </a:bodyPr>
          <a:lstStyle/>
          <a:p>
            <a:r>
              <a:rPr lang="en-US" dirty="0"/>
              <a:t>#1</a:t>
            </a:r>
          </a:p>
        </p:txBody>
      </p:sp>
      <p:sp>
        <p:nvSpPr>
          <p:cNvPr id="33" name="TextBox 32">
            <a:extLst>
              <a:ext uri="{FF2B5EF4-FFF2-40B4-BE49-F238E27FC236}">
                <a16:creationId xmlns:a16="http://schemas.microsoft.com/office/drawing/2014/main" id="{552B6946-CE5E-4005-9C73-9D6945648FBF}"/>
              </a:ext>
            </a:extLst>
          </p:cNvPr>
          <p:cNvSpPr txBox="1"/>
          <p:nvPr/>
        </p:nvSpPr>
        <p:spPr>
          <a:xfrm>
            <a:off x="152400" y="4026390"/>
            <a:ext cx="533400" cy="461665"/>
          </a:xfrm>
          <a:prstGeom prst="rect">
            <a:avLst/>
          </a:prstGeom>
          <a:noFill/>
        </p:spPr>
        <p:txBody>
          <a:bodyPr wrap="square" rtlCol="0">
            <a:spAutoFit/>
          </a:bodyPr>
          <a:lstStyle/>
          <a:p>
            <a:r>
              <a:rPr lang="en-US" dirty="0"/>
              <a:t>#2</a:t>
            </a:r>
          </a:p>
        </p:txBody>
      </p:sp>
      <p:sp>
        <p:nvSpPr>
          <p:cNvPr id="34" name="TextBox 33">
            <a:extLst>
              <a:ext uri="{FF2B5EF4-FFF2-40B4-BE49-F238E27FC236}">
                <a16:creationId xmlns:a16="http://schemas.microsoft.com/office/drawing/2014/main" id="{05713878-F7A9-48AA-AB59-2EDF8037F1A6}"/>
              </a:ext>
            </a:extLst>
          </p:cNvPr>
          <p:cNvSpPr txBox="1"/>
          <p:nvPr/>
        </p:nvSpPr>
        <p:spPr>
          <a:xfrm>
            <a:off x="3536772" y="2819400"/>
            <a:ext cx="1295401" cy="461665"/>
          </a:xfrm>
          <a:prstGeom prst="rect">
            <a:avLst/>
          </a:prstGeom>
          <a:noFill/>
          <a:ln w="19050">
            <a:solidFill>
              <a:schemeClr val="accent2"/>
            </a:solidFill>
          </a:ln>
        </p:spPr>
        <p:txBody>
          <a:bodyPr wrap="square" rtlCol="0">
            <a:spAutoFit/>
          </a:bodyPr>
          <a:lstStyle/>
          <a:p>
            <a:pPr algn="ctr"/>
            <a:r>
              <a:rPr lang="en-US" dirty="0">
                <a:solidFill>
                  <a:schemeClr val="accent2"/>
                </a:solidFill>
              </a:rPr>
              <a:t>#1 fires</a:t>
            </a:r>
          </a:p>
        </p:txBody>
      </p:sp>
      <p:sp>
        <p:nvSpPr>
          <p:cNvPr id="35" name="TextBox 34">
            <a:extLst>
              <a:ext uri="{FF2B5EF4-FFF2-40B4-BE49-F238E27FC236}">
                <a16:creationId xmlns:a16="http://schemas.microsoft.com/office/drawing/2014/main" id="{8A9AD666-3071-4013-B4F0-742A61C13D41}"/>
              </a:ext>
            </a:extLst>
          </p:cNvPr>
          <p:cNvSpPr txBox="1"/>
          <p:nvPr/>
        </p:nvSpPr>
        <p:spPr>
          <a:xfrm>
            <a:off x="4572000" y="4953000"/>
            <a:ext cx="990599" cy="461665"/>
          </a:xfrm>
          <a:prstGeom prst="rect">
            <a:avLst/>
          </a:prstGeom>
          <a:noFill/>
        </p:spPr>
        <p:txBody>
          <a:bodyPr wrap="square" rtlCol="0">
            <a:spAutoFit/>
          </a:bodyPr>
          <a:lstStyle/>
          <a:p>
            <a:r>
              <a:rPr lang="en-US" dirty="0"/>
              <a:t>time</a:t>
            </a:r>
          </a:p>
        </p:txBody>
      </p:sp>
      <p:cxnSp>
        <p:nvCxnSpPr>
          <p:cNvPr id="37" name="Straight Arrow Connector 36">
            <a:extLst>
              <a:ext uri="{FF2B5EF4-FFF2-40B4-BE49-F238E27FC236}">
                <a16:creationId xmlns:a16="http://schemas.microsoft.com/office/drawing/2014/main" id="{761E4DB0-0389-4CEB-BC70-EC3876ED4B44}"/>
              </a:ext>
            </a:extLst>
          </p:cNvPr>
          <p:cNvCxnSpPr>
            <a:cxnSpLocks/>
            <a:stCxn id="34" idx="1"/>
          </p:cNvCxnSpPr>
          <p:nvPr/>
        </p:nvCxnSpPr>
        <p:spPr>
          <a:xfrm flipH="1" flipV="1">
            <a:off x="1528355" y="3015257"/>
            <a:ext cx="2008417" cy="34976"/>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C9820EE-7B06-4833-9DD3-C14AE7651D5F}"/>
              </a:ext>
            </a:extLst>
          </p:cNvPr>
          <p:cNvCxnSpPr/>
          <p:nvPr/>
        </p:nvCxnSpPr>
        <p:spPr>
          <a:xfrm>
            <a:off x="914399" y="4416320"/>
            <a:ext cx="2895601"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6740DDF-916D-45D5-952B-DF739D97B9BD}"/>
              </a:ext>
            </a:extLst>
          </p:cNvPr>
          <p:cNvCxnSpPr/>
          <p:nvPr/>
        </p:nvCxnSpPr>
        <p:spPr>
          <a:xfrm>
            <a:off x="1143000" y="3726055"/>
            <a:ext cx="0" cy="690265"/>
          </a:xfrm>
          <a:prstGeom prst="straightConnector1">
            <a:avLst/>
          </a:prstGeom>
          <a:ln w="28575">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99FDBEF-8A8C-4E9E-A7CB-4ECA9518FADF}"/>
              </a:ext>
            </a:extLst>
          </p:cNvPr>
          <p:cNvSpPr txBox="1"/>
          <p:nvPr/>
        </p:nvSpPr>
        <p:spPr>
          <a:xfrm>
            <a:off x="205204" y="5417302"/>
            <a:ext cx="1526714" cy="923330"/>
          </a:xfrm>
          <a:prstGeom prst="rect">
            <a:avLst/>
          </a:prstGeom>
          <a:noFill/>
          <a:ln w="19050">
            <a:solidFill>
              <a:schemeClr val="accent2"/>
            </a:solidFill>
          </a:ln>
        </p:spPr>
        <p:txBody>
          <a:bodyPr wrap="square" rtlCol="0">
            <a:spAutoFit/>
          </a:bodyPr>
          <a:lstStyle/>
          <a:p>
            <a:r>
              <a:rPr lang="en-US" sz="1800" i="1" dirty="0"/>
              <a:t>V</a:t>
            </a:r>
            <a:r>
              <a:rPr lang="en-US" sz="1800" baseline="-25000" dirty="0"/>
              <a:t>mem,1</a:t>
            </a:r>
            <a:r>
              <a:rPr lang="en-US" sz="1800" dirty="0"/>
              <a:t>=</a:t>
            </a:r>
            <a:r>
              <a:rPr lang="en-US" sz="1800" i="1" dirty="0"/>
              <a:t> V</a:t>
            </a:r>
            <a:r>
              <a:rPr lang="en-US" sz="1800" baseline="-25000" dirty="0"/>
              <a:t>mem,2</a:t>
            </a:r>
            <a:r>
              <a:rPr lang="en-US" sz="1800" dirty="0"/>
              <a:t> </a:t>
            </a:r>
            <a:r>
              <a:rPr lang="en-US" sz="1800" dirty="0">
                <a:latin typeface="Times New Roman" panose="02020603050405020304" pitchFamily="18" charset="0"/>
                <a:cs typeface="Times New Roman" panose="02020603050405020304" pitchFamily="18" charset="0"/>
              </a:rPr>
              <a:t>→ no ion flow across GJ</a:t>
            </a:r>
            <a:endParaRPr lang="en-US" sz="1800" dirty="0"/>
          </a:p>
        </p:txBody>
      </p:sp>
      <p:cxnSp>
        <p:nvCxnSpPr>
          <p:cNvPr id="45" name="Straight Arrow Connector 44">
            <a:extLst>
              <a:ext uri="{FF2B5EF4-FFF2-40B4-BE49-F238E27FC236}">
                <a16:creationId xmlns:a16="http://schemas.microsoft.com/office/drawing/2014/main" id="{F142124F-0402-4573-A252-422A76702FCD}"/>
              </a:ext>
            </a:extLst>
          </p:cNvPr>
          <p:cNvCxnSpPr>
            <a:cxnSpLocks/>
          </p:cNvCxnSpPr>
          <p:nvPr/>
        </p:nvCxnSpPr>
        <p:spPr>
          <a:xfrm>
            <a:off x="1524000" y="3139440"/>
            <a:ext cx="0" cy="1280160"/>
          </a:xfrm>
          <a:prstGeom prst="straightConnector1">
            <a:avLst/>
          </a:prstGeom>
          <a:ln w="28575">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BBD446B9-383E-409D-9755-CFD24A706F09}"/>
              </a:ext>
            </a:extLst>
          </p:cNvPr>
          <p:cNvSpPr txBox="1"/>
          <p:nvPr/>
        </p:nvSpPr>
        <p:spPr>
          <a:xfrm>
            <a:off x="1978486" y="5410200"/>
            <a:ext cx="2136314" cy="830997"/>
          </a:xfrm>
          <a:prstGeom prst="rect">
            <a:avLst/>
          </a:prstGeom>
          <a:noFill/>
          <a:ln w="19050">
            <a:solidFill>
              <a:schemeClr val="accent2"/>
            </a:solidFill>
          </a:ln>
        </p:spPr>
        <p:txBody>
          <a:bodyPr wrap="square" lIns="0" tIns="0" rIns="0" bIns="0" rtlCol="0">
            <a:noAutofit/>
          </a:bodyPr>
          <a:lstStyle/>
          <a:p>
            <a:pPr algn="ctr"/>
            <a:r>
              <a:rPr lang="en-US" sz="1800" i="1" dirty="0"/>
              <a:t>V</a:t>
            </a:r>
            <a:r>
              <a:rPr lang="en-US" sz="1800" baseline="-25000" dirty="0"/>
              <a:t>mem,1</a:t>
            </a:r>
            <a:r>
              <a:rPr lang="en-US" sz="1800" i="1" dirty="0"/>
              <a:t> &gt; V</a:t>
            </a:r>
            <a:r>
              <a:rPr lang="en-US" sz="1800" baseline="-25000" dirty="0"/>
              <a:t>mem,2</a:t>
            </a:r>
            <a:r>
              <a:rPr lang="en-US" sz="1800" dirty="0"/>
              <a:t> </a:t>
            </a:r>
            <a:r>
              <a:rPr lang="en-US" sz="1800" dirty="0">
                <a:latin typeface="Times New Roman" panose="02020603050405020304" pitchFamily="18" charset="0"/>
                <a:cs typeface="Times New Roman" panose="02020603050405020304" pitchFamily="18" charset="0"/>
              </a:rPr>
              <a:t>→ #1 attracts neg. ions → </a:t>
            </a:r>
            <a:r>
              <a:rPr lang="en-US" sz="1800" i="1" dirty="0"/>
              <a:t>V</a:t>
            </a:r>
            <a:r>
              <a:rPr lang="en-US" sz="1800" baseline="-25000" dirty="0"/>
              <a:t>mem,1</a:t>
            </a:r>
            <a:r>
              <a:rPr lang="en-US" sz="1800" i="1" dirty="0"/>
              <a:t> </a:t>
            </a:r>
            <a:r>
              <a:rPr lang="en-US" sz="1800" i="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and</a:t>
            </a:r>
            <a:r>
              <a:rPr lang="en-US" sz="1800" i="1" dirty="0"/>
              <a:t> V</a:t>
            </a:r>
            <a:r>
              <a:rPr lang="en-US" sz="1800" baseline="-25000" dirty="0"/>
              <a:t>mem,2</a:t>
            </a:r>
            <a:r>
              <a:rPr lang="en-US" sz="1800"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rPr>
              <a:t>↑</a:t>
            </a:r>
            <a:endParaRPr lang="en-US" sz="1800" dirty="0"/>
          </a:p>
        </p:txBody>
      </p:sp>
      <p:sp>
        <p:nvSpPr>
          <p:cNvPr id="50" name="Freeform: Shape 49">
            <a:extLst>
              <a:ext uri="{FF2B5EF4-FFF2-40B4-BE49-F238E27FC236}">
                <a16:creationId xmlns:a16="http://schemas.microsoft.com/office/drawing/2014/main" id="{B7DFC668-CE8A-4AEE-BF93-1C3B7C9E3875}"/>
              </a:ext>
            </a:extLst>
          </p:cNvPr>
          <p:cNvSpPr/>
          <p:nvPr/>
        </p:nvSpPr>
        <p:spPr>
          <a:xfrm>
            <a:off x="1447800" y="3139440"/>
            <a:ext cx="2438400" cy="580084"/>
          </a:xfrm>
          <a:custGeom>
            <a:avLst/>
            <a:gdLst>
              <a:gd name="connsiteX0" fmla="*/ 0 w 2438400"/>
              <a:gd name="connsiteY0" fmla="*/ 0 h 853440"/>
              <a:gd name="connsiteX1" fmla="*/ 69669 w 2438400"/>
              <a:gd name="connsiteY1" fmla="*/ 226422 h 853440"/>
              <a:gd name="connsiteX2" fmla="*/ 200297 w 2438400"/>
              <a:gd name="connsiteY2" fmla="*/ 261257 h 853440"/>
              <a:gd name="connsiteX3" fmla="*/ 461554 w 2438400"/>
              <a:gd name="connsiteY3" fmla="*/ 322217 h 853440"/>
              <a:gd name="connsiteX4" fmla="*/ 566057 w 2438400"/>
              <a:gd name="connsiteY4" fmla="*/ 496388 h 853440"/>
              <a:gd name="connsiteX5" fmla="*/ 627017 w 2438400"/>
              <a:gd name="connsiteY5" fmla="*/ 766354 h 853440"/>
              <a:gd name="connsiteX6" fmla="*/ 696686 w 2438400"/>
              <a:gd name="connsiteY6" fmla="*/ 818605 h 853440"/>
              <a:gd name="connsiteX7" fmla="*/ 836023 w 2438400"/>
              <a:gd name="connsiteY7" fmla="*/ 818605 h 853440"/>
              <a:gd name="connsiteX8" fmla="*/ 2438400 w 2438400"/>
              <a:gd name="connsiteY8" fmla="*/ 85344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853440">
                <a:moveTo>
                  <a:pt x="0" y="0"/>
                </a:moveTo>
                <a:cubicBezTo>
                  <a:pt x="18143" y="91439"/>
                  <a:pt x="36286" y="182879"/>
                  <a:pt x="69669" y="226422"/>
                </a:cubicBezTo>
                <a:cubicBezTo>
                  <a:pt x="103052" y="269965"/>
                  <a:pt x="134983" y="245291"/>
                  <a:pt x="200297" y="261257"/>
                </a:cubicBezTo>
                <a:cubicBezTo>
                  <a:pt x="265611" y="277223"/>
                  <a:pt x="400594" y="283029"/>
                  <a:pt x="461554" y="322217"/>
                </a:cubicBezTo>
                <a:cubicBezTo>
                  <a:pt x="522514" y="361405"/>
                  <a:pt x="538480" y="422365"/>
                  <a:pt x="566057" y="496388"/>
                </a:cubicBezTo>
                <a:cubicBezTo>
                  <a:pt x="593634" y="570411"/>
                  <a:pt x="605246" y="712651"/>
                  <a:pt x="627017" y="766354"/>
                </a:cubicBezTo>
                <a:cubicBezTo>
                  <a:pt x="648789" y="820057"/>
                  <a:pt x="661852" y="809897"/>
                  <a:pt x="696686" y="818605"/>
                </a:cubicBezTo>
                <a:cubicBezTo>
                  <a:pt x="731520" y="827313"/>
                  <a:pt x="836023" y="818605"/>
                  <a:pt x="836023" y="818605"/>
                </a:cubicBezTo>
                <a:lnTo>
                  <a:pt x="2438400" y="853440"/>
                </a:lnTo>
              </a:path>
            </a:pathLst>
          </a:cu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4EA5547B-E71D-4116-ACD4-DFDB54496A01}"/>
              </a:ext>
            </a:extLst>
          </p:cNvPr>
          <p:cNvSpPr/>
          <p:nvPr/>
        </p:nvSpPr>
        <p:spPr>
          <a:xfrm>
            <a:off x="1524000" y="3839516"/>
            <a:ext cx="2438400" cy="580084"/>
          </a:xfrm>
          <a:custGeom>
            <a:avLst/>
            <a:gdLst>
              <a:gd name="connsiteX0" fmla="*/ 0 w 2438400"/>
              <a:gd name="connsiteY0" fmla="*/ 0 h 853440"/>
              <a:gd name="connsiteX1" fmla="*/ 69669 w 2438400"/>
              <a:gd name="connsiteY1" fmla="*/ 226422 h 853440"/>
              <a:gd name="connsiteX2" fmla="*/ 200297 w 2438400"/>
              <a:gd name="connsiteY2" fmla="*/ 261257 h 853440"/>
              <a:gd name="connsiteX3" fmla="*/ 461554 w 2438400"/>
              <a:gd name="connsiteY3" fmla="*/ 322217 h 853440"/>
              <a:gd name="connsiteX4" fmla="*/ 566057 w 2438400"/>
              <a:gd name="connsiteY4" fmla="*/ 496388 h 853440"/>
              <a:gd name="connsiteX5" fmla="*/ 627017 w 2438400"/>
              <a:gd name="connsiteY5" fmla="*/ 766354 h 853440"/>
              <a:gd name="connsiteX6" fmla="*/ 696686 w 2438400"/>
              <a:gd name="connsiteY6" fmla="*/ 818605 h 853440"/>
              <a:gd name="connsiteX7" fmla="*/ 836023 w 2438400"/>
              <a:gd name="connsiteY7" fmla="*/ 818605 h 853440"/>
              <a:gd name="connsiteX8" fmla="*/ 2438400 w 2438400"/>
              <a:gd name="connsiteY8" fmla="*/ 85344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0" h="853440">
                <a:moveTo>
                  <a:pt x="0" y="0"/>
                </a:moveTo>
                <a:cubicBezTo>
                  <a:pt x="18143" y="91439"/>
                  <a:pt x="36286" y="182879"/>
                  <a:pt x="69669" y="226422"/>
                </a:cubicBezTo>
                <a:cubicBezTo>
                  <a:pt x="103052" y="269965"/>
                  <a:pt x="134983" y="245291"/>
                  <a:pt x="200297" y="261257"/>
                </a:cubicBezTo>
                <a:cubicBezTo>
                  <a:pt x="265611" y="277223"/>
                  <a:pt x="400594" y="283029"/>
                  <a:pt x="461554" y="322217"/>
                </a:cubicBezTo>
                <a:cubicBezTo>
                  <a:pt x="522514" y="361405"/>
                  <a:pt x="538480" y="422365"/>
                  <a:pt x="566057" y="496388"/>
                </a:cubicBezTo>
                <a:cubicBezTo>
                  <a:pt x="593634" y="570411"/>
                  <a:pt x="605246" y="712651"/>
                  <a:pt x="627017" y="766354"/>
                </a:cubicBezTo>
                <a:cubicBezTo>
                  <a:pt x="648789" y="820057"/>
                  <a:pt x="661852" y="809897"/>
                  <a:pt x="696686" y="818605"/>
                </a:cubicBezTo>
                <a:cubicBezTo>
                  <a:pt x="731520" y="827313"/>
                  <a:pt x="836023" y="818605"/>
                  <a:pt x="836023" y="818605"/>
                </a:cubicBezTo>
                <a:lnTo>
                  <a:pt x="2438400" y="853440"/>
                </a:lnTo>
              </a:path>
            </a:pathLst>
          </a:custGeom>
          <a:noFill/>
          <a:ln>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itle 1">
            <a:extLst>
              <a:ext uri="{FF2B5EF4-FFF2-40B4-BE49-F238E27FC236}">
                <a16:creationId xmlns:a16="http://schemas.microsoft.com/office/drawing/2014/main" id="{7BB3DC0B-7FFF-4334-A048-680BE7D34919}"/>
              </a:ext>
            </a:extLst>
          </p:cNvPr>
          <p:cNvSpPr>
            <a:spLocks noGrp="1"/>
          </p:cNvSpPr>
          <p:nvPr>
            <p:ph type="title"/>
          </p:nvPr>
        </p:nvSpPr>
        <p:spPr>
          <a:xfrm>
            <a:off x="2324101" y="113997"/>
            <a:ext cx="4343400" cy="836720"/>
          </a:xfrm>
        </p:spPr>
        <p:txBody>
          <a:bodyPr/>
          <a:lstStyle/>
          <a:p>
            <a:r>
              <a:rPr lang="en-US" dirty="0"/>
              <a:t>AP propagation</a:t>
            </a:r>
          </a:p>
        </p:txBody>
      </p:sp>
    </p:spTree>
    <p:extLst>
      <p:ext uri="{BB962C8B-B14F-4D97-AF65-F5344CB8AC3E}">
        <p14:creationId xmlns:p14="http://schemas.microsoft.com/office/powerpoint/2010/main" val="62269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par>
                                <p:cTn id="16" presetID="10" presetClass="entr" presetSubtype="0" fill="hold" nodeType="with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8" dur="500"/>
                                        <p:tgtEl>
                                          <p:spTgt spid="3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44"/>
                                        </p:tgtEl>
                                      </p:cBhvr>
                                    </p:animEffect>
                                    <p:set>
                                      <p:cBhvr>
                                        <p:cTn id="23" dur="1" fill="hold">
                                          <p:stCondLst>
                                            <p:cond delay="499"/>
                                          </p:stCondLst>
                                        </p:cTn>
                                        <p:tgtEl>
                                          <p:spTgt spid="44"/>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43"/>
                                        </p:tgtEl>
                                      </p:cBhvr>
                                    </p:animEffect>
                                    <p:set>
                                      <p:cBhvr>
                                        <p:cTn id="26" dur="1" fill="hold">
                                          <p:stCondLst>
                                            <p:cond delay="499"/>
                                          </p:stCondLst>
                                        </p:cTn>
                                        <p:tgtEl>
                                          <p:spTgt spid="43"/>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fade">
                                      <p:cBhvr>
                                        <p:cTn id="29" dur="500"/>
                                        <p:tgtEl>
                                          <p:spTgt spid="49"/>
                                        </p:tgtEl>
                                      </p:cBhvr>
                                    </p:animEffect>
                                  </p:childTnLst>
                                </p:cTn>
                              </p:par>
                              <p:par>
                                <p:cTn id="30" presetID="10" presetClass="entr" presetSubtype="0" fill="hold" nodeType="with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animEffect transition="in" filter="fade">
                                      <p:cBhvr>
                                        <p:cTn id="37" dur="500"/>
                                        <p:tgtEl>
                                          <p:spTgt spid="3">
                                            <p:txEl>
                                              <p:pRg st="0" end="0"/>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1" end="1"/>
                                            </p:txEl>
                                          </p:spTgt>
                                        </p:tgtEl>
                                        <p:attrNameLst>
                                          <p:attrName>style.visibility</p:attrName>
                                        </p:attrNameLst>
                                      </p:cBhvr>
                                      <p:to>
                                        <p:strVal val="visible"/>
                                      </p:to>
                                    </p:set>
                                    <p:animEffect transition="in" filter="fade">
                                      <p:cBhvr>
                                        <p:cTn id="40" dur="500"/>
                                        <p:tgtEl>
                                          <p:spTgt spid="3">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fade">
                                      <p:cBhvr>
                                        <p:cTn id="45" dur="500"/>
                                        <p:tgtEl>
                                          <p:spTgt spid="5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1"/>
                                        </p:tgtEl>
                                        <p:attrNameLst>
                                          <p:attrName>style.visibility</p:attrName>
                                        </p:attrNameLst>
                                      </p:cBhvr>
                                      <p:to>
                                        <p:strVal val="visible"/>
                                      </p:to>
                                    </p:set>
                                    <p:animEffect transition="in" filter="fade">
                                      <p:cBhvr>
                                        <p:cTn id="48" dur="500"/>
                                        <p:tgtEl>
                                          <p:spTgt spid="5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2" end="2"/>
                                            </p:txEl>
                                          </p:spTgt>
                                        </p:tgtEl>
                                        <p:attrNameLst>
                                          <p:attrName>style.visibility</p:attrName>
                                        </p:attrNameLst>
                                      </p:cBhvr>
                                      <p:to>
                                        <p:strVal val="visible"/>
                                      </p:to>
                                    </p:set>
                                    <p:animEffect transition="in" filter="fade">
                                      <p:cBhvr>
                                        <p:cTn id="53" dur="500"/>
                                        <p:tgtEl>
                                          <p:spTgt spid="3">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
                                            <p:txEl>
                                              <p:pRg st="3" end="3"/>
                                            </p:txEl>
                                          </p:spTgt>
                                        </p:tgtEl>
                                        <p:attrNameLst>
                                          <p:attrName>style.visibility</p:attrName>
                                        </p:attrNameLst>
                                      </p:cBhvr>
                                      <p:to>
                                        <p:strVal val="visible"/>
                                      </p:to>
                                    </p:set>
                                    <p:animEffect transition="in" filter="fade">
                                      <p:cBhvr>
                                        <p:cTn id="5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44" grpId="0" animBg="1"/>
      <p:bldP spid="44" grpId="1" animBg="1"/>
      <p:bldP spid="49" grpId="0" animBg="1"/>
      <p:bldP spid="50" grpId="0" animBg="1"/>
      <p:bldP spid="5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C5F3-7F64-E980-CEB5-AE51E7FEC7CD}"/>
              </a:ext>
            </a:extLst>
          </p:cNvPr>
          <p:cNvSpPr>
            <a:spLocks noGrp="1"/>
          </p:cNvSpPr>
          <p:nvPr>
            <p:ph type="title"/>
          </p:nvPr>
        </p:nvSpPr>
        <p:spPr/>
        <p:txBody>
          <a:bodyPr/>
          <a:lstStyle/>
          <a:p>
            <a:r>
              <a:rPr lang="en-US" dirty="0"/>
              <a:t>How many cells in the SA node?</a:t>
            </a:r>
          </a:p>
        </p:txBody>
      </p:sp>
      <p:sp>
        <p:nvSpPr>
          <p:cNvPr id="3" name="Content Placeholder 2">
            <a:extLst>
              <a:ext uri="{FF2B5EF4-FFF2-40B4-BE49-F238E27FC236}">
                <a16:creationId xmlns:a16="http://schemas.microsoft.com/office/drawing/2014/main" id="{BD9264D3-1FD7-968B-4754-AC5FD5C9E2DF}"/>
              </a:ext>
            </a:extLst>
          </p:cNvPr>
          <p:cNvSpPr>
            <a:spLocks noGrp="1"/>
          </p:cNvSpPr>
          <p:nvPr>
            <p:ph idx="1"/>
          </p:nvPr>
        </p:nvSpPr>
        <p:spPr/>
        <p:txBody>
          <a:bodyPr/>
          <a:lstStyle/>
          <a:p>
            <a:r>
              <a:rPr lang="en-US" dirty="0"/>
              <a:t>How many cells should we have in our SA node?</a:t>
            </a:r>
          </a:p>
          <a:p>
            <a:r>
              <a:rPr lang="en-US" dirty="0"/>
              <a:t>Is “1” a reasonable answer?</a:t>
            </a:r>
          </a:p>
          <a:p>
            <a:pPr lvl="1">
              <a:spcBef>
                <a:spcPts val="0"/>
              </a:spcBef>
            </a:pPr>
            <a:r>
              <a:rPr lang="en-US" dirty="0"/>
              <a:t>It could randomly fail</a:t>
            </a:r>
          </a:p>
          <a:p>
            <a:pPr lvl="1">
              <a:spcBef>
                <a:spcPts val="0"/>
              </a:spcBef>
            </a:pPr>
            <a:r>
              <a:rPr lang="en-US" dirty="0"/>
              <a:t>We lose 90% of our SA-node cells by age 80</a:t>
            </a:r>
          </a:p>
          <a:p>
            <a:r>
              <a:rPr lang="en-US" dirty="0"/>
              <a:t>Is “500K” a reasonable answer?</a:t>
            </a:r>
          </a:p>
          <a:p>
            <a:endParaRPr lang="en-US" dirty="0"/>
          </a:p>
        </p:txBody>
      </p:sp>
      <p:sp>
        <p:nvSpPr>
          <p:cNvPr id="4" name="Footer Placeholder 3">
            <a:extLst>
              <a:ext uri="{FF2B5EF4-FFF2-40B4-BE49-F238E27FC236}">
                <a16:creationId xmlns:a16="http://schemas.microsoft.com/office/drawing/2014/main" id="{B7AE7C69-6E96-E3CA-7C86-930A024EBC2F}"/>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26805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F8CCC-CAC6-4703-A171-2FB76F5BBD0E}"/>
              </a:ext>
            </a:extLst>
          </p:cNvPr>
          <p:cNvSpPr>
            <a:spLocks noGrp="1"/>
          </p:cNvSpPr>
          <p:nvPr>
            <p:ph type="title"/>
          </p:nvPr>
        </p:nvSpPr>
        <p:spPr/>
        <p:txBody>
          <a:bodyPr/>
          <a:lstStyle/>
          <a:p>
            <a:r>
              <a:rPr lang="en-US" dirty="0"/>
              <a:t>Entrainment</a:t>
            </a:r>
          </a:p>
        </p:txBody>
      </p:sp>
      <p:sp>
        <p:nvSpPr>
          <p:cNvPr id="3" name="Content Placeholder 2">
            <a:extLst>
              <a:ext uri="{FF2B5EF4-FFF2-40B4-BE49-F238E27FC236}">
                <a16:creationId xmlns:a16="http://schemas.microsoft.com/office/drawing/2014/main" id="{0F15FA36-E670-4D48-B445-60D69B224377}"/>
              </a:ext>
            </a:extLst>
          </p:cNvPr>
          <p:cNvSpPr>
            <a:spLocks noGrp="1"/>
          </p:cNvSpPr>
          <p:nvPr>
            <p:ph idx="1"/>
          </p:nvPr>
        </p:nvSpPr>
        <p:spPr/>
        <p:txBody>
          <a:bodyPr/>
          <a:lstStyle/>
          <a:p>
            <a:r>
              <a:rPr lang="en-US" dirty="0"/>
              <a:t>Sinoatrial node has ≈ 500K cells</a:t>
            </a:r>
          </a:p>
          <a:p>
            <a:pPr lvl="1">
              <a:spcBef>
                <a:spcPts val="0"/>
              </a:spcBef>
            </a:pPr>
            <a:r>
              <a:rPr lang="en-US" dirty="0"/>
              <a:t>Each one oscillates </a:t>
            </a:r>
            <a:r>
              <a:rPr lang="en-US" i="1" dirty="0"/>
              <a:t>independently</a:t>
            </a:r>
          </a:p>
          <a:p>
            <a:pPr lvl="1">
              <a:spcBef>
                <a:spcPts val="0"/>
              </a:spcBef>
            </a:pPr>
            <a:r>
              <a:rPr lang="en-US" dirty="0"/>
              <a:t>Potentially a slightly different frequency, phase</a:t>
            </a:r>
          </a:p>
          <a:p>
            <a:pPr lvl="1">
              <a:spcBef>
                <a:spcPts val="0"/>
              </a:spcBef>
            </a:pPr>
            <a:r>
              <a:rPr lang="en-US" dirty="0"/>
              <a:t>How can your heart have a single unified beat?</a:t>
            </a:r>
          </a:p>
          <a:p>
            <a:r>
              <a:rPr lang="en-US" i="1" dirty="0"/>
              <a:t>Entrainment</a:t>
            </a:r>
            <a:r>
              <a:rPr lang="en-US" dirty="0"/>
              <a:t> is the process of all the oscillators talking to each other and agreeing on a frequency</a:t>
            </a:r>
          </a:p>
          <a:p>
            <a:pPr lvl="1">
              <a:spcBef>
                <a:spcPts val="0"/>
              </a:spcBef>
            </a:pPr>
            <a:r>
              <a:rPr lang="en-US" dirty="0"/>
              <a:t>Implemented via gap junctions (GJs)</a:t>
            </a:r>
          </a:p>
          <a:p>
            <a:pPr lvl="1">
              <a:spcBef>
                <a:spcPts val="0"/>
              </a:spcBef>
            </a:pPr>
            <a:r>
              <a:rPr lang="en-US" dirty="0"/>
              <a:t>Potential quiz question – how do the GJs synchronize all those oscillators?</a:t>
            </a:r>
          </a:p>
        </p:txBody>
      </p:sp>
      <p:sp>
        <p:nvSpPr>
          <p:cNvPr id="4" name="Footer Placeholder 3">
            <a:extLst>
              <a:ext uri="{FF2B5EF4-FFF2-40B4-BE49-F238E27FC236}">
                <a16:creationId xmlns:a16="http://schemas.microsoft.com/office/drawing/2014/main" id="{AA2EA7BA-9F0D-4BD8-BB30-F060681A5252}"/>
              </a:ext>
            </a:extLst>
          </p:cNvPr>
          <p:cNvSpPr>
            <a:spLocks noGrp="1"/>
          </p:cNvSpPr>
          <p:nvPr>
            <p:ph type="ftr" sz="quarter" idx="11"/>
          </p:nvPr>
        </p:nvSpPr>
        <p:spPr/>
        <p:txBody>
          <a:bodyPr/>
          <a:lstStyle/>
          <a:p>
            <a:pPr>
              <a:defRPr/>
            </a:pPr>
            <a:r>
              <a:rPr lang="en-US"/>
              <a:t>EE 123 -- Bioelectricity</a:t>
            </a:r>
            <a:endParaRPr lang="en-US" dirty="0"/>
          </a:p>
        </p:txBody>
      </p:sp>
      <p:grpSp>
        <p:nvGrpSpPr>
          <p:cNvPr id="85" name="Group 84">
            <a:extLst>
              <a:ext uri="{FF2B5EF4-FFF2-40B4-BE49-F238E27FC236}">
                <a16:creationId xmlns:a16="http://schemas.microsoft.com/office/drawing/2014/main" id="{92B87DAF-0EC0-6C26-8783-EEA16E68BB7B}"/>
              </a:ext>
            </a:extLst>
          </p:cNvPr>
          <p:cNvGrpSpPr/>
          <p:nvPr/>
        </p:nvGrpSpPr>
        <p:grpSpPr>
          <a:xfrm>
            <a:off x="6400800" y="1143000"/>
            <a:ext cx="2438400" cy="1219200"/>
            <a:chOff x="1524000" y="4800600"/>
            <a:chExt cx="2438400" cy="1219200"/>
          </a:xfrm>
        </p:grpSpPr>
        <p:sp>
          <p:nvSpPr>
            <p:cNvPr id="5" name="Oval 4">
              <a:extLst>
                <a:ext uri="{FF2B5EF4-FFF2-40B4-BE49-F238E27FC236}">
                  <a16:creationId xmlns:a16="http://schemas.microsoft.com/office/drawing/2014/main" id="{C320FC45-6E1A-6F58-8405-C20DCA590951}"/>
                </a:ext>
              </a:extLst>
            </p:cNvPr>
            <p:cNvSpPr/>
            <p:nvPr/>
          </p:nvSpPr>
          <p:spPr>
            <a:xfrm>
              <a:off x="21336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0486D6F-CEDD-9A3D-E36D-3438ADECA7C5}"/>
                </a:ext>
              </a:extLst>
            </p:cNvPr>
            <p:cNvSpPr/>
            <p:nvPr/>
          </p:nvSpPr>
          <p:spPr>
            <a:xfrm>
              <a:off x="21336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FE9FD7E-D82B-37C4-6DB8-23A6E29F8820}"/>
                </a:ext>
              </a:extLst>
            </p:cNvPr>
            <p:cNvSpPr/>
            <p:nvPr/>
          </p:nvSpPr>
          <p:spPr>
            <a:xfrm>
              <a:off x="21336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C5231ED-E308-8520-5BC9-24EC3D4F1780}"/>
                </a:ext>
              </a:extLst>
            </p:cNvPr>
            <p:cNvSpPr/>
            <p:nvPr/>
          </p:nvSpPr>
          <p:spPr>
            <a:xfrm>
              <a:off x="21336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449C639-345D-6D2C-EA04-E0203476C929}"/>
                </a:ext>
              </a:extLst>
            </p:cNvPr>
            <p:cNvSpPr/>
            <p:nvPr/>
          </p:nvSpPr>
          <p:spPr>
            <a:xfrm>
              <a:off x="21336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AC41182-5080-35AA-9AE6-F634C8E5AEAD}"/>
                </a:ext>
              </a:extLst>
            </p:cNvPr>
            <p:cNvSpPr/>
            <p:nvPr/>
          </p:nvSpPr>
          <p:spPr>
            <a:xfrm>
              <a:off x="21336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191AA8C-2E55-89AE-AB85-244D46674FBD}"/>
                </a:ext>
              </a:extLst>
            </p:cNvPr>
            <p:cNvSpPr/>
            <p:nvPr/>
          </p:nvSpPr>
          <p:spPr>
            <a:xfrm>
              <a:off x="21336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1A78E83-456C-C471-B17A-C47D61DA8F9E}"/>
                </a:ext>
              </a:extLst>
            </p:cNvPr>
            <p:cNvSpPr/>
            <p:nvPr/>
          </p:nvSpPr>
          <p:spPr>
            <a:xfrm>
              <a:off x="21336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5F8E4B8-B40E-25A3-5804-5FDAC8B2FEB7}"/>
                </a:ext>
              </a:extLst>
            </p:cNvPr>
            <p:cNvSpPr/>
            <p:nvPr/>
          </p:nvSpPr>
          <p:spPr>
            <a:xfrm>
              <a:off x="22860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D321329-0376-D343-E77B-26BD5596782B}"/>
                </a:ext>
              </a:extLst>
            </p:cNvPr>
            <p:cNvSpPr/>
            <p:nvPr/>
          </p:nvSpPr>
          <p:spPr>
            <a:xfrm>
              <a:off x="22860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3685F77-ADAB-F0A5-4BEA-C79213C5CDCB}"/>
                </a:ext>
              </a:extLst>
            </p:cNvPr>
            <p:cNvSpPr/>
            <p:nvPr/>
          </p:nvSpPr>
          <p:spPr>
            <a:xfrm>
              <a:off x="22860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C047A6E-57CC-E60A-89E2-CC119D5C8BBD}"/>
                </a:ext>
              </a:extLst>
            </p:cNvPr>
            <p:cNvSpPr/>
            <p:nvPr/>
          </p:nvSpPr>
          <p:spPr>
            <a:xfrm>
              <a:off x="22860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8533596-F7FF-C38B-9357-65F0867146C8}"/>
                </a:ext>
              </a:extLst>
            </p:cNvPr>
            <p:cNvSpPr/>
            <p:nvPr/>
          </p:nvSpPr>
          <p:spPr>
            <a:xfrm>
              <a:off x="22860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F0D1B9C-7607-C55D-F6E7-AFC94DFADA10}"/>
                </a:ext>
              </a:extLst>
            </p:cNvPr>
            <p:cNvSpPr/>
            <p:nvPr/>
          </p:nvSpPr>
          <p:spPr>
            <a:xfrm>
              <a:off x="22860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1B3387A-58C3-7FEB-8E31-14C505437890}"/>
                </a:ext>
              </a:extLst>
            </p:cNvPr>
            <p:cNvSpPr/>
            <p:nvPr/>
          </p:nvSpPr>
          <p:spPr>
            <a:xfrm>
              <a:off x="22860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7AF4E59-68E3-FFEA-39FC-B565632DB675}"/>
                </a:ext>
              </a:extLst>
            </p:cNvPr>
            <p:cNvSpPr/>
            <p:nvPr/>
          </p:nvSpPr>
          <p:spPr>
            <a:xfrm>
              <a:off x="22860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9603CDF-A641-9142-6B5F-CFE3E69C5BDE}"/>
                </a:ext>
              </a:extLst>
            </p:cNvPr>
            <p:cNvSpPr/>
            <p:nvPr/>
          </p:nvSpPr>
          <p:spPr>
            <a:xfrm>
              <a:off x="24384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6741E34-C7BD-758A-F2E2-E363E941D32F}"/>
                </a:ext>
              </a:extLst>
            </p:cNvPr>
            <p:cNvSpPr/>
            <p:nvPr/>
          </p:nvSpPr>
          <p:spPr>
            <a:xfrm>
              <a:off x="24384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6743E0E-805E-67B9-525F-6EAB7105D9BE}"/>
                </a:ext>
              </a:extLst>
            </p:cNvPr>
            <p:cNvSpPr/>
            <p:nvPr/>
          </p:nvSpPr>
          <p:spPr>
            <a:xfrm>
              <a:off x="24384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D4EF122-203C-A44E-D4E7-F16A98A80135}"/>
                </a:ext>
              </a:extLst>
            </p:cNvPr>
            <p:cNvSpPr/>
            <p:nvPr/>
          </p:nvSpPr>
          <p:spPr>
            <a:xfrm>
              <a:off x="24384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90FD254-52B5-DBE2-1D4A-1E5F15002E25}"/>
                </a:ext>
              </a:extLst>
            </p:cNvPr>
            <p:cNvSpPr/>
            <p:nvPr/>
          </p:nvSpPr>
          <p:spPr>
            <a:xfrm>
              <a:off x="24384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0455460-11E9-4CAC-30EF-4F6035FEC849}"/>
                </a:ext>
              </a:extLst>
            </p:cNvPr>
            <p:cNvSpPr/>
            <p:nvPr/>
          </p:nvSpPr>
          <p:spPr>
            <a:xfrm>
              <a:off x="24384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94DED5E-F77E-B6A3-9F1C-554F38665201}"/>
                </a:ext>
              </a:extLst>
            </p:cNvPr>
            <p:cNvSpPr/>
            <p:nvPr/>
          </p:nvSpPr>
          <p:spPr>
            <a:xfrm>
              <a:off x="24384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C95DDF7-E17A-DB17-E7FD-4D5DDEE0AF1F}"/>
                </a:ext>
              </a:extLst>
            </p:cNvPr>
            <p:cNvSpPr/>
            <p:nvPr/>
          </p:nvSpPr>
          <p:spPr>
            <a:xfrm>
              <a:off x="24384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035D4B1-5518-ED6D-6503-DF645F9EFAA3}"/>
                </a:ext>
              </a:extLst>
            </p:cNvPr>
            <p:cNvSpPr/>
            <p:nvPr/>
          </p:nvSpPr>
          <p:spPr>
            <a:xfrm>
              <a:off x="25908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90445F13-DF03-6161-8456-1A9BA8A60887}"/>
                </a:ext>
              </a:extLst>
            </p:cNvPr>
            <p:cNvSpPr/>
            <p:nvPr/>
          </p:nvSpPr>
          <p:spPr>
            <a:xfrm>
              <a:off x="25908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0BAFB48F-F157-56E5-2A49-3E69C1E2AF89}"/>
                </a:ext>
              </a:extLst>
            </p:cNvPr>
            <p:cNvSpPr/>
            <p:nvPr/>
          </p:nvSpPr>
          <p:spPr>
            <a:xfrm>
              <a:off x="25908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BCB1E1E-8796-80FE-D9E7-35B9C6ABF5C3}"/>
                </a:ext>
              </a:extLst>
            </p:cNvPr>
            <p:cNvSpPr/>
            <p:nvPr/>
          </p:nvSpPr>
          <p:spPr>
            <a:xfrm>
              <a:off x="25908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94920335-F872-68B1-BE7E-2FE230EEE9CE}"/>
                </a:ext>
              </a:extLst>
            </p:cNvPr>
            <p:cNvSpPr/>
            <p:nvPr/>
          </p:nvSpPr>
          <p:spPr>
            <a:xfrm>
              <a:off x="25908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13CF7950-00F7-3946-979F-D127A1DF05BD}"/>
                </a:ext>
              </a:extLst>
            </p:cNvPr>
            <p:cNvSpPr/>
            <p:nvPr/>
          </p:nvSpPr>
          <p:spPr>
            <a:xfrm>
              <a:off x="25908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C9864DF-6F83-20D3-B9B1-1B54089BC7FE}"/>
                </a:ext>
              </a:extLst>
            </p:cNvPr>
            <p:cNvSpPr/>
            <p:nvPr/>
          </p:nvSpPr>
          <p:spPr>
            <a:xfrm>
              <a:off x="25908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A504485-40C9-06EF-4D8C-ED9706314CBB}"/>
                </a:ext>
              </a:extLst>
            </p:cNvPr>
            <p:cNvSpPr/>
            <p:nvPr/>
          </p:nvSpPr>
          <p:spPr>
            <a:xfrm>
              <a:off x="25908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B7D70B7C-D063-0F6D-400A-BE8A86BA2789}"/>
                </a:ext>
              </a:extLst>
            </p:cNvPr>
            <p:cNvSpPr/>
            <p:nvPr/>
          </p:nvSpPr>
          <p:spPr>
            <a:xfrm>
              <a:off x="15240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DC9F615E-5486-E1DF-C1DA-4E195E8D3394}"/>
                </a:ext>
              </a:extLst>
            </p:cNvPr>
            <p:cNvSpPr/>
            <p:nvPr/>
          </p:nvSpPr>
          <p:spPr>
            <a:xfrm>
              <a:off x="15240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9FE39C46-8107-CEF3-F38F-51551F292AD9}"/>
                </a:ext>
              </a:extLst>
            </p:cNvPr>
            <p:cNvSpPr/>
            <p:nvPr/>
          </p:nvSpPr>
          <p:spPr>
            <a:xfrm>
              <a:off x="15240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B08572D-43CD-5E84-B047-113643028BF1}"/>
                </a:ext>
              </a:extLst>
            </p:cNvPr>
            <p:cNvSpPr/>
            <p:nvPr/>
          </p:nvSpPr>
          <p:spPr>
            <a:xfrm>
              <a:off x="15240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38D373F8-2277-0DD2-4AE7-04D242EE8E73}"/>
                </a:ext>
              </a:extLst>
            </p:cNvPr>
            <p:cNvSpPr/>
            <p:nvPr/>
          </p:nvSpPr>
          <p:spPr>
            <a:xfrm>
              <a:off x="15240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D54DE121-A1BA-C7C1-2DD9-199651322582}"/>
                </a:ext>
              </a:extLst>
            </p:cNvPr>
            <p:cNvSpPr/>
            <p:nvPr/>
          </p:nvSpPr>
          <p:spPr>
            <a:xfrm>
              <a:off x="15240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A70DEF5-C30A-3A2B-6469-C08BD2CEDF11}"/>
                </a:ext>
              </a:extLst>
            </p:cNvPr>
            <p:cNvSpPr/>
            <p:nvPr/>
          </p:nvSpPr>
          <p:spPr>
            <a:xfrm>
              <a:off x="15240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F806482C-3186-6685-75A8-AF61A2AAA04B}"/>
                </a:ext>
              </a:extLst>
            </p:cNvPr>
            <p:cNvSpPr/>
            <p:nvPr/>
          </p:nvSpPr>
          <p:spPr>
            <a:xfrm>
              <a:off x="15240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01933AE-938A-B434-A7EB-A59BFC7DDA34}"/>
                </a:ext>
              </a:extLst>
            </p:cNvPr>
            <p:cNvSpPr/>
            <p:nvPr/>
          </p:nvSpPr>
          <p:spPr>
            <a:xfrm>
              <a:off x="16764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6BAF1D4C-4294-51A1-7714-DA2504449726}"/>
                </a:ext>
              </a:extLst>
            </p:cNvPr>
            <p:cNvSpPr/>
            <p:nvPr/>
          </p:nvSpPr>
          <p:spPr>
            <a:xfrm>
              <a:off x="16764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1D8014F6-E8A9-C887-C0FE-244FD719E704}"/>
                </a:ext>
              </a:extLst>
            </p:cNvPr>
            <p:cNvSpPr/>
            <p:nvPr/>
          </p:nvSpPr>
          <p:spPr>
            <a:xfrm>
              <a:off x="16764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734E82D-5819-6FFC-E91E-14AB1E3FAEE5}"/>
                </a:ext>
              </a:extLst>
            </p:cNvPr>
            <p:cNvSpPr/>
            <p:nvPr/>
          </p:nvSpPr>
          <p:spPr>
            <a:xfrm>
              <a:off x="16764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2315985-BCD2-8F1C-BB8C-B85447228CBB}"/>
                </a:ext>
              </a:extLst>
            </p:cNvPr>
            <p:cNvSpPr/>
            <p:nvPr/>
          </p:nvSpPr>
          <p:spPr>
            <a:xfrm>
              <a:off x="16764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6C1F5BD2-8D55-BF2F-A25F-D1F92AA8F22C}"/>
                </a:ext>
              </a:extLst>
            </p:cNvPr>
            <p:cNvSpPr/>
            <p:nvPr/>
          </p:nvSpPr>
          <p:spPr>
            <a:xfrm>
              <a:off x="16764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6017A024-6EF7-220E-93E6-99B56EB8C8E6}"/>
                </a:ext>
              </a:extLst>
            </p:cNvPr>
            <p:cNvSpPr/>
            <p:nvPr/>
          </p:nvSpPr>
          <p:spPr>
            <a:xfrm>
              <a:off x="16764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D47F76FC-0198-04F1-E508-3AFA076D0660}"/>
                </a:ext>
              </a:extLst>
            </p:cNvPr>
            <p:cNvSpPr/>
            <p:nvPr/>
          </p:nvSpPr>
          <p:spPr>
            <a:xfrm>
              <a:off x="16764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B37FDA1C-966B-C6F8-8454-98667EBB32E5}"/>
                </a:ext>
              </a:extLst>
            </p:cNvPr>
            <p:cNvSpPr/>
            <p:nvPr/>
          </p:nvSpPr>
          <p:spPr>
            <a:xfrm>
              <a:off x="18288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21D63370-01E2-BB93-093D-3F718F63F958}"/>
                </a:ext>
              </a:extLst>
            </p:cNvPr>
            <p:cNvSpPr/>
            <p:nvPr/>
          </p:nvSpPr>
          <p:spPr>
            <a:xfrm>
              <a:off x="18288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615DFCDC-6C60-544F-80AC-A67D99CE10D9}"/>
                </a:ext>
              </a:extLst>
            </p:cNvPr>
            <p:cNvSpPr/>
            <p:nvPr/>
          </p:nvSpPr>
          <p:spPr>
            <a:xfrm>
              <a:off x="18288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A89D5B49-1F5E-44D4-D496-8C561B33471C}"/>
                </a:ext>
              </a:extLst>
            </p:cNvPr>
            <p:cNvSpPr/>
            <p:nvPr/>
          </p:nvSpPr>
          <p:spPr>
            <a:xfrm>
              <a:off x="18288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BD682718-9F94-E468-D5CE-AEB2194F465A}"/>
                </a:ext>
              </a:extLst>
            </p:cNvPr>
            <p:cNvSpPr/>
            <p:nvPr/>
          </p:nvSpPr>
          <p:spPr>
            <a:xfrm>
              <a:off x="18288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B1A884C1-4569-82AF-F394-E716E7220154}"/>
                </a:ext>
              </a:extLst>
            </p:cNvPr>
            <p:cNvSpPr/>
            <p:nvPr/>
          </p:nvSpPr>
          <p:spPr>
            <a:xfrm>
              <a:off x="18288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52B10A7-4323-DBE7-CDDE-A9D22FF900EB}"/>
                </a:ext>
              </a:extLst>
            </p:cNvPr>
            <p:cNvSpPr/>
            <p:nvPr/>
          </p:nvSpPr>
          <p:spPr>
            <a:xfrm>
              <a:off x="18288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6AFE5A3A-1C81-FF5E-9E8E-9C678876031B}"/>
                </a:ext>
              </a:extLst>
            </p:cNvPr>
            <p:cNvSpPr/>
            <p:nvPr/>
          </p:nvSpPr>
          <p:spPr>
            <a:xfrm>
              <a:off x="18288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E8BBED6A-D73A-73FE-DD89-CA39DCD0B847}"/>
                </a:ext>
              </a:extLst>
            </p:cNvPr>
            <p:cNvSpPr/>
            <p:nvPr/>
          </p:nvSpPr>
          <p:spPr>
            <a:xfrm>
              <a:off x="1981200" y="4800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59580028-78E1-5B24-D440-4226340E1DBC}"/>
                </a:ext>
              </a:extLst>
            </p:cNvPr>
            <p:cNvSpPr/>
            <p:nvPr/>
          </p:nvSpPr>
          <p:spPr>
            <a:xfrm>
              <a:off x="1981200" y="4953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539B8538-B64F-AE31-7856-E400355386E0}"/>
                </a:ext>
              </a:extLst>
            </p:cNvPr>
            <p:cNvSpPr/>
            <p:nvPr/>
          </p:nvSpPr>
          <p:spPr>
            <a:xfrm>
              <a:off x="1981200" y="5105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C3A0EFB7-8EA0-B613-91B4-98E03B1FE571}"/>
                </a:ext>
              </a:extLst>
            </p:cNvPr>
            <p:cNvSpPr/>
            <p:nvPr/>
          </p:nvSpPr>
          <p:spPr>
            <a:xfrm>
              <a:off x="19812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C45990B1-534D-1B76-EE2B-3E440880B438}"/>
                </a:ext>
              </a:extLst>
            </p:cNvPr>
            <p:cNvSpPr/>
            <p:nvPr/>
          </p:nvSpPr>
          <p:spPr>
            <a:xfrm>
              <a:off x="19812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5783C40F-EE7C-5131-5708-7719213DC3CE}"/>
                </a:ext>
              </a:extLst>
            </p:cNvPr>
            <p:cNvSpPr/>
            <p:nvPr/>
          </p:nvSpPr>
          <p:spPr>
            <a:xfrm>
              <a:off x="1981200" y="55626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3CF9D64-A6E5-33E4-2444-C596B4C24447}"/>
                </a:ext>
              </a:extLst>
            </p:cNvPr>
            <p:cNvSpPr/>
            <p:nvPr/>
          </p:nvSpPr>
          <p:spPr>
            <a:xfrm>
              <a:off x="1981200" y="57150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399EC41B-0DE7-17BF-50EC-DED7C64B4797}"/>
                </a:ext>
              </a:extLst>
            </p:cNvPr>
            <p:cNvSpPr/>
            <p:nvPr/>
          </p:nvSpPr>
          <p:spPr>
            <a:xfrm>
              <a:off x="1981200" y="58674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61E0781A-DBA7-1AD4-4FF1-AB865A6AC609}"/>
                </a:ext>
              </a:extLst>
            </p:cNvPr>
            <p:cNvSpPr/>
            <p:nvPr/>
          </p:nvSpPr>
          <p:spPr>
            <a:xfrm>
              <a:off x="33528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177D04B9-1B3C-D253-BF79-7AC9DF01F8E5}"/>
                </a:ext>
              </a:extLst>
            </p:cNvPr>
            <p:cNvSpPr/>
            <p:nvPr/>
          </p:nvSpPr>
          <p:spPr>
            <a:xfrm>
              <a:off x="33528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6A4CEDE6-C4FB-D112-930C-92D355F99DA9}"/>
                </a:ext>
              </a:extLst>
            </p:cNvPr>
            <p:cNvSpPr/>
            <p:nvPr/>
          </p:nvSpPr>
          <p:spPr>
            <a:xfrm>
              <a:off x="35052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C9C940B5-A5A7-BCB8-FD09-3C006704E325}"/>
                </a:ext>
              </a:extLst>
            </p:cNvPr>
            <p:cNvSpPr/>
            <p:nvPr/>
          </p:nvSpPr>
          <p:spPr>
            <a:xfrm>
              <a:off x="35052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572C603A-2E79-0557-B862-7EECA212233D}"/>
                </a:ext>
              </a:extLst>
            </p:cNvPr>
            <p:cNvSpPr/>
            <p:nvPr/>
          </p:nvSpPr>
          <p:spPr>
            <a:xfrm>
              <a:off x="36576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8BDCEC41-16D8-C60F-867E-39D1EA5AF719}"/>
                </a:ext>
              </a:extLst>
            </p:cNvPr>
            <p:cNvSpPr/>
            <p:nvPr/>
          </p:nvSpPr>
          <p:spPr>
            <a:xfrm>
              <a:off x="36576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9791440A-5A3E-2021-51A8-B7CD6D396380}"/>
                </a:ext>
              </a:extLst>
            </p:cNvPr>
            <p:cNvSpPr/>
            <p:nvPr/>
          </p:nvSpPr>
          <p:spPr>
            <a:xfrm>
              <a:off x="38100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5027E160-9654-BA6D-860D-4F1573F3881D}"/>
                </a:ext>
              </a:extLst>
            </p:cNvPr>
            <p:cNvSpPr/>
            <p:nvPr/>
          </p:nvSpPr>
          <p:spPr>
            <a:xfrm>
              <a:off x="38100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EECC7581-61F3-DDD5-E3DB-6820F64CE3EC}"/>
                </a:ext>
              </a:extLst>
            </p:cNvPr>
            <p:cNvSpPr/>
            <p:nvPr/>
          </p:nvSpPr>
          <p:spPr>
            <a:xfrm>
              <a:off x="27432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672B1761-4BE1-0019-9F19-AD93F103B943}"/>
                </a:ext>
              </a:extLst>
            </p:cNvPr>
            <p:cNvSpPr/>
            <p:nvPr/>
          </p:nvSpPr>
          <p:spPr>
            <a:xfrm>
              <a:off x="27432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C60E37E7-881D-B2B4-839D-5DC196419659}"/>
                </a:ext>
              </a:extLst>
            </p:cNvPr>
            <p:cNvSpPr/>
            <p:nvPr/>
          </p:nvSpPr>
          <p:spPr>
            <a:xfrm>
              <a:off x="28956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5C7BE8C2-9D94-9935-AA5B-E0823370EE68}"/>
                </a:ext>
              </a:extLst>
            </p:cNvPr>
            <p:cNvSpPr/>
            <p:nvPr/>
          </p:nvSpPr>
          <p:spPr>
            <a:xfrm>
              <a:off x="28956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EB264E66-B67D-B391-B5DF-9695A2034CB6}"/>
                </a:ext>
              </a:extLst>
            </p:cNvPr>
            <p:cNvSpPr/>
            <p:nvPr/>
          </p:nvSpPr>
          <p:spPr>
            <a:xfrm>
              <a:off x="30480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461CAF20-FCAE-3E4F-8EB9-BB95CD81C42A}"/>
                </a:ext>
              </a:extLst>
            </p:cNvPr>
            <p:cNvSpPr/>
            <p:nvPr/>
          </p:nvSpPr>
          <p:spPr>
            <a:xfrm>
              <a:off x="30480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8AC2A24E-A309-74FE-1381-DA25F4AF4D23}"/>
                </a:ext>
              </a:extLst>
            </p:cNvPr>
            <p:cNvSpPr/>
            <p:nvPr/>
          </p:nvSpPr>
          <p:spPr>
            <a:xfrm>
              <a:off x="3200400" y="52578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03C24358-7155-EF5B-15EA-44991CC06756}"/>
                </a:ext>
              </a:extLst>
            </p:cNvPr>
            <p:cNvSpPr/>
            <p:nvPr/>
          </p:nvSpPr>
          <p:spPr>
            <a:xfrm>
              <a:off x="3200400" y="5410200"/>
              <a:ext cx="152400" cy="152400"/>
            </a:xfrm>
            <a:prstGeom prst="ellipse">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40348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3AB23-E7B5-4CA2-B2BD-AD06E4AA1B21}"/>
              </a:ext>
            </a:extLst>
          </p:cNvPr>
          <p:cNvSpPr>
            <a:spLocks noGrp="1"/>
          </p:cNvSpPr>
          <p:nvPr>
            <p:ph type="title"/>
          </p:nvPr>
        </p:nvSpPr>
        <p:spPr>
          <a:xfrm>
            <a:off x="1828800" y="304800"/>
            <a:ext cx="6629400" cy="1143000"/>
          </a:xfrm>
        </p:spPr>
        <p:txBody>
          <a:bodyPr/>
          <a:lstStyle/>
          <a:p>
            <a:r>
              <a:rPr lang="en-US" dirty="0"/>
              <a:t>Different cardiac APs</a:t>
            </a:r>
          </a:p>
        </p:txBody>
      </p:sp>
      <p:sp>
        <p:nvSpPr>
          <p:cNvPr id="3" name="Content Placeholder 2">
            <a:extLst>
              <a:ext uri="{FF2B5EF4-FFF2-40B4-BE49-F238E27FC236}">
                <a16:creationId xmlns:a16="http://schemas.microsoft.com/office/drawing/2014/main" id="{15FC84AF-60FC-4AFA-9835-258261E0E11A}"/>
              </a:ext>
            </a:extLst>
          </p:cNvPr>
          <p:cNvSpPr>
            <a:spLocks noGrp="1"/>
          </p:cNvSpPr>
          <p:nvPr>
            <p:ph idx="1"/>
          </p:nvPr>
        </p:nvSpPr>
        <p:spPr>
          <a:xfrm>
            <a:off x="3200400" y="1676400"/>
            <a:ext cx="5791200" cy="4343400"/>
          </a:xfrm>
        </p:spPr>
        <p:txBody>
          <a:bodyPr/>
          <a:lstStyle/>
          <a:p>
            <a:r>
              <a:rPr lang="en-US" dirty="0"/>
              <a:t>One of these is the SA node; the other is ventricular</a:t>
            </a:r>
          </a:p>
          <a:p>
            <a:r>
              <a:rPr lang="en-US" dirty="0"/>
              <a:t>Which do you think is which? Why? (muscle contracts when depolarized)</a:t>
            </a:r>
          </a:p>
          <a:p>
            <a:r>
              <a:rPr lang="en-US" dirty="0"/>
              <a:t>What do you think an atrial AP looks like?</a:t>
            </a:r>
          </a:p>
          <a:p>
            <a:r>
              <a:rPr lang="en-US" dirty="0"/>
              <a:t>Random note: all cardiac cells are </a:t>
            </a:r>
            <a:r>
              <a:rPr lang="en-US" i="1" dirty="0"/>
              <a:t>cardiomyocytes</a:t>
            </a:r>
            <a:r>
              <a:rPr lang="en-US" dirty="0"/>
              <a:t> (cardiac muscle cells)</a:t>
            </a:r>
          </a:p>
        </p:txBody>
      </p:sp>
      <p:sp>
        <p:nvSpPr>
          <p:cNvPr id="4" name="Footer Placeholder 3">
            <a:extLst>
              <a:ext uri="{FF2B5EF4-FFF2-40B4-BE49-F238E27FC236}">
                <a16:creationId xmlns:a16="http://schemas.microsoft.com/office/drawing/2014/main" id="{2BB169CC-A676-4FB2-AF24-59BCED8F3082}"/>
              </a:ext>
            </a:extLst>
          </p:cNvPr>
          <p:cNvSpPr>
            <a:spLocks noGrp="1"/>
          </p:cNvSpPr>
          <p:nvPr>
            <p:ph type="ftr" sz="quarter" idx="11"/>
          </p:nvPr>
        </p:nvSpPr>
        <p:spPr/>
        <p:txBody>
          <a:bodyPr/>
          <a:lstStyle/>
          <a:p>
            <a:pPr>
              <a:defRPr/>
            </a:pPr>
            <a:r>
              <a:rPr lang="en-US"/>
              <a:t>EE 123 -- Bioelectricity</a:t>
            </a:r>
            <a:endParaRPr lang="en-US" dirty="0"/>
          </a:p>
        </p:txBody>
      </p:sp>
      <p:pic>
        <p:nvPicPr>
          <p:cNvPr id="6" name="Picture 5">
            <a:extLst>
              <a:ext uri="{FF2B5EF4-FFF2-40B4-BE49-F238E27FC236}">
                <a16:creationId xmlns:a16="http://schemas.microsoft.com/office/drawing/2014/main" id="{A78F0CC0-A092-4143-957D-85AD9A4966E7}"/>
              </a:ext>
            </a:extLst>
          </p:cNvPr>
          <p:cNvPicPr>
            <a:picLocks noChangeAspect="1"/>
          </p:cNvPicPr>
          <p:nvPr/>
        </p:nvPicPr>
        <p:blipFill>
          <a:blip r:embed="rId3"/>
          <a:stretch>
            <a:fillRect/>
          </a:stretch>
        </p:blipFill>
        <p:spPr>
          <a:xfrm>
            <a:off x="152400" y="945047"/>
            <a:ext cx="2417445" cy="1721953"/>
          </a:xfrm>
          <a:prstGeom prst="rect">
            <a:avLst/>
          </a:prstGeom>
        </p:spPr>
      </p:pic>
      <p:pic>
        <p:nvPicPr>
          <p:cNvPr id="7" name="Picture 6">
            <a:extLst>
              <a:ext uri="{FF2B5EF4-FFF2-40B4-BE49-F238E27FC236}">
                <a16:creationId xmlns:a16="http://schemas.microsoft.com/office/drawing/2014/main" id="{A1E4E654-4803-42ED-AAAF-6B4C5A39C1EC}"/>
              </a:ext>
            </a:extLst>
          </p:cNvPr>
          <p:cNvPicPr>
            <a:picLocks noChangeAspect="1"/>
          </p:cNvPicPr>
          <p:nvPr/>
        </p:nvPicPr>
        <p:blipFill>
          <a:blip r:embed="rId4"/>
          <a:stretch>
            <a:fillRect/>
          </a:stretch>
        </p:blipFill>
        <p:spPr>
          <a:xfrm>
            <a:off x="228600" y="4587436"/>
            <a:ext cx="2633601" cy="1660964"/>
          </a:xfrm>
          <a:prstGeom prst="rect">
            <a:avLst/>
          </a:prstGeom>
        </p:spPr>
      </p:pic>
      <p:pic>
        <p:nvPicPr>
          <p:cNvPr id="8" name="Picture 7">
            <a:extLst>
              <a:ext uri="{FF2B5EF4-FFF2-40B4-BE49-F238E27FC236}">
                <a16:creationId xmlns:a16="http://schemas.microsoft.com/office/drawing/2014/main" id="{F372DE89-94F9-49AB-A2FE-261B3A4726B8}"/>
              </a:ext>
            </a:extLst>
          </p:cNvPr>
          <p:cNvPicPr>
            <a:picLocks noChangeAspect="1"/>
          </p:cNvPicPr>
          <p:nvPr/>
        </p:nvPicPr>
        <p:blipFill>
          <a:blip r:embed="rId5"/>
          <a:stretch>
            <a:fillRect/>
          </a:stretch>
        </p:blipFill>
        <p:spPr>
          <a:xfrm>
            <a:off x="152400" y="2697647"/>
            <a:ext cx="2709311" cy="1721953"/>
          </a:xfrm>
          <a:prstGeom prst="rect">
            <a:avLst/>
          </a:prstGeom>
        </p:spPr>
      </p:pic>
      <p:sp>
        <p:nvSpPr>
          <p:cNvPr id="9" name="TextBox 8">
            <a:extLst>
              <a:ext uri="{FF2B5EF4-FFF2-40B4-BE49-F238E27FC236}">
                <a16:creationId xmlns:a16="http://schemas.microsoft.com/office/drawing/2014/main" id="{965CF630-EB10-4F13-BD03-E54DD80028A8}"/>
              </a:ext>
            </a:extLst>
          </p:cNvPr>
          <p:cNvSpPr txBox="1"/>
          <p:nvPr/>
        </p:nvSpPr>
        <p:spPr>
          <a:xfrm>
            <a:off x="1676400" y="4567535"/>
            <a:ext cx="1371600" cy="461665"/>
          </a:xfrm>
          <a:prstGeom prst="rect">
            <a:avLst/>
          </a:prstGeom>
          <a:noFill/>
        </p:spPr>
        <p:txBody>
          <a:bodyPr wrap="square" rtlCol="0">
            <a:spAutoFit/>
          </a:bodyPr>
          <a:lstStyle/>
          <a:p>
            <a:r>
              <a:rPr lang="en-US" dirty="0"/>
              <a:t>Ventricle</a:t>
            </a:r>
          </a:p>
        </p:txBody>
      </p:sp>
      <p:sp>
        <p:nvSpPr>
          <p:cNvPr id="11" name="TextBox 10">
            <a:extLst>
              <a:ext uri="{FF2B5EF4-FFF2-40B4-BE49-F238E27FC236}">
                <a16:creationId xmlns:a16="http://schemas.microsoft.com/office/drawing/2014/main" id="{F678B498-8106-40D7-97CF-8DCC14AADC02}"/>
              </a:ext>
            </a:extLst>
          </p:cNvPr>
          <p:cNvSpPr txBox="1"/>
          <p:nvPr/>
        </p:nvSpPr>
        <p:spPr>
          <a:xfrm>
            <a:off x="118533" y="6400800"/>
            <a:ext cx="3657600" cy="307777"/>
          </a:xfrm>
          <a:prstGeom prst="rect">
            <a:avLst/>
          </a:prstGeom>
          <a:noFill/>
        </p:spPr>
        <p:txBody>
          <a:bodyPr wrap="square" rtlCol="0">
            <a:spAutoFit/>
          </a:bodyPr>
          <a:lstStyle/>
          <a:p>
            <a:r>
              <a:rPr lang="en-US" sz="1400" dirty="0"/>
              <a:t>Cardiac APs from Lippincott Fig 16.10, 16.11</a:t>
            </a:r>
          </a:p>
        </p:txBody>
      </p:sp>
      <p:sp>
        <p:nvSpPr>
          <p:cNvPr id="12" name="TextBox 11">
            <a:extLst>
              <a:ext uri="{FF2B5EF4-FFF2-40B4-BE49-F238E27FC236}">
                <a16:creationId xmlns:a16="http://schemas.microsoft.com/office/drawing/2014/main" id="{DDC0EE30-24F8-4242-BB9C-1F5F00F9A1C5}"/>
              </a:ext>
            </a:extLst>
          </p:cNvPr>
          <p:cNvSpPr txBox="1"/>
          <p:nvPr/>
        </p:nvSpPr>
        <p:spPr>
          <a:xfrm>
            <a:off x="1600200" y="1143000"/>
            <a:ext cx="1371600" cy="830997"/>
          </a:xfrm>
          <a:prstGeom prst="rect">
            <a:avLst/>
          </a:prstGeom>
          <a:noFill/>
        </p:spPr>
        <p:txBody>
          <a:bodyPr wrap="square" rtlCol="0">
            <a:spAutoFit/>
          </a:bodyPr>
          <a:lstStyle/>
          <a:p>
            <a:r>
              <a:rPr lang="en-US" dirty="0"/>
              <a:t>Standard neuron</a:t>
            </a:r>
          </a:p>
        </p:txBody>
      </p:sp>
      <p:sp>
        <p:nvSpPr>
          <p:cNvPr id="14" name="TextBox 13">
            <a:extLst>
              <a:ext uri="{FF2B5EF4-FFF2-40B4-BE49-F238E27FC236}">
                <a16:creationId xmlns:a16="http://schemas.microsoft.com/office/drawing/2014/main" id="{2A5F3384-8FDD-4FD5-A433-D7E254E0F0ED}"/>
              </a:ext>
            </a:extLst>
          </p:cNvPr>
          <p:cNvSpPr txBox="1"/>
          <p:nvPr/>
        </p:nvSpPr>
        <p:spPr>
          <a:xfrm>
            <a:off x="685800" y="2667000"/>
            <a:ext cx="1371600" cy="461665"/>
          </a:xfrm>
          <a:prstGeom prst="rect">
            <a:avLst/>
          </a:prstGeom>
          <a:noFill/>
        </p:spPr>
        <p:txBody>
          <a:bodyPr wrap="square">
            <a:spAutoFit/>
          </a:bodyPr>
          <a:lstStyle/>
          <a:p>
            <a:r>
              <a:rPr lang="en-US" dirty="0"/>
              <a:t>SA node</a:t>
            </a:r>
          </a:p>
        </p:txBody>
      </p:sp>
      <p:pic>
        <p:nvPicPr>
          <p:cNvPr id="10" name="Picture 9">
            <a:extLst>
              <a:ext uri="{FF2B5EF4-FFF2-40B4-BE49-F238E27FC236}">
                <a16:creationId xmlns:a16="http://schemas.microsoft.com/office/drawing/2014/main" id="{66BBCE72-3430-E707-C31E-F21B41BD2728}"/>
              </a:ext>
            </a:extLst>
          </p:cNvPr>
          <p:cNvPicPr>
            <a:picLocks noChangeAspect="1"/>
          </p:cNvPicPr>
          <p:nvPr/>
        </p:nvPicPr>
        <p:blipFill>
          <a:blip r:embed="rId6"/>
          <a:stretch>
            <a:fillRect/>
          </a:stretch>
        </p:blipFill>
        <p:spPr>
          <a:xfrm>
            <a:off x="3079425" y="2743202"/>
            <a:ext cx="3105782" cy="1981199"/>
          </a:xfrm>
          <a:prstGeom prst="rect">
            <a:avLst/>
          </a:prstGeom>
        </p:spPr>
      </p:pic>
      <p:pic>
        <p:nvPicPr>
          <p:cNvPr id="15" name="Picture 14">
            <a:extLst>
              <a:ext uri="{FF2B5EF4-FFF2-40B4-BE49-F238E27FC236}">
                <a16:creationId xmlns:a16="http://schemas.microsoft.com/office/drawing/2014/main" id="{BBED2620-BEDC-E401-86E2-ACAE4358A609}"/>
              </a:ext>
            </a:extLst>
          </p:cNvPr>
          <p:cNvPicPr>
            <a:picLocks noChangeAspect="1"/>
          </p:cNvPicPr>
          <p:nvPr/>
        </p:nvPicPr>
        <p:blipFill>
          <a:blip r:embed="rId7"/>
          <a:stretch>
            <a:fillRect/>
          </a:stretch>
        </p:blipFill>
        <p:spPr>
          <a:xfrm>
            <a:off x="2967707" y="4831807"/>
            <a:ext cx="2684588" cy="1492793"/>
          </a:xfrm>
          <a:prstGeom prst="rect">
            <a:avLst/>
          </a:prstGeom>
        </p:spPr>
      </p:pic>
    </p:spTree>
    <p:extLst>
      <p:ext uri="{BB962C8B-B14F-4D97-AF65-F5344CB8AC3E}">
        <p14:creationId xmlns:p14="http://schemas.microsoft.com/office/powerpoint/2010/main" val="62056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E4ED6-EE61-46B0-BC0A-094B1B2A5E65}"/>
              </a:ext>
            </a:extLst>
          </p:cNvPr>
          <p:cNvSpPr>
            <a:spLocks noGrp="1"/>
          </p:cNvSpPr>
          <p:nvPr>
            <p:ph type="title"/>
          </p:nvPr>
        </p:nvSpPr>
        <p:spPr/>
        <p:txBody>
          <a:bodyPr/>
          <a:lstStyle/>
          <a:p>
            <a:r>
              <a:rPr lang="en-US" dirty="0"/>
              <a:t>Mini-quiz</a:t>
            </a:r>
          </a:p>
        </p:txBody>
      </p:sp>
      <p:sp>
        <p:nvSpPr>
          <p:cNvPr id="3" name="Content Placeholder 2">
            <a:extLst>
              <a:ext uri="{FF2B5EF4-FFF2-40B4-BE49-F238E27FC236}">
                <a16:creationId xmlns:a16="http://schemas.microsoft.com/office/drawing/2014/main" id="{88A123F4-C2BB-4762-B9D5-F14928CC4E36}"/>
              </a:ext>
            </a:extLst>
          </p:cNvPr>
          <p:cNvSpPr>
            <a:spLocks noGrp="1"/>
          </p:cNvSpPr>
          <p:nvPr>
            <p:ph idx="1"/>
          </p:nvPr>
        </p:nvSpPr>
        <p:spPr/>
        <p:txBody>
          <a:bodyPr/>
          <a:lstStyle/>
          <a:p>
            <a:pPr>
              <a:spcBef>
                <a:spcPts val="0"/>
              </a:spcBef>
              <a:spcAft>
                <a:spcPts val="0"/>
              </a:spcAft>
            </a:pPr>
            <a:endParaRPr lang="en-US" dirty="0">
              <a:effectLst/>
            </a:endParaRPr>
          </a:p>
          <a:p>
            <a:pPr marL="742950" lvl="1" indent="-285750" rtl="0" fontAlgn="base">
              <a:spcBef>
                <a:spcPts val="600"/>
              </a:spcBef>
              <a:spcAft>
                <a:spcPts val="0"/>
              </a:spcAft>
              <a:buFont typeface="Arial" panose="020B0604020202020204" pitchFamily="34" charset="0"/>
              <a:buChar char="•"/>
            </a:pPr>
            <a:r>
              <a:rPr lang="en-US" sz="3200" b="0" i="0" u="none" strike="noStrike" dirty="0">
                <a:solidFill>
                  <a:srgbClr val="000000"/>
                </a:solidFill>
                <a:effectLst/>
              </a:rPr>
              <a:t>What does plumbing vs electrical mean?</a:t>
            </a:r>
          </a:p>
          <a:p>
            <a:pPr marL="742950" lvl="1" indent="-285750" rtl="0" fontAlgn="base">
              <a:spcBef>
                <a:spcPts val="600"/>
              </a:spcBef>
              <a:spcAft>
                <a:spcPts val="0"/>
              </a:spcAft>
              <a:buFont typeface="Arial" panose="020B0604020202020204" pitchFamily="34" charset="0"/>
              <a:buChar char="•"/>
            </a:pPr>
            <a:r>
              <a:rPr lang="en-US" sz="3200" b="0" i="0" u="none" strike="noStrike" dirty="0">
                <a:solidFill>
                  <a:srgbClr val="000000"/>
                </a:solidFill>
                <a:effectLst/>
              </a:rPr>
              <a:t>How do pacemaker cells retrigger?</a:t>
            </a:r>
          </a:p>
          <a:p>
            <a:pPr marL="742950" lvl="1" indent="-285750" rtl="0" fontAlgn="base">
              <a:spcBef>
                <a:spcPts val="600"/>
              </a:spcBef>
              <a:spcAft>
                <a:spcPts val="0"/>
              </a:spcAft>
              <a:buFont typeface="Arial" panose="020B0604020202020204" pitchFamily="34" charset="0"/>
              <a:buChar char="•"/>
            </a:pPr>
            <a:r>
              <a:rPr lang="en-US" sz="3200" b="0" i="0" u="none" strike="noStrike" dirty="0">
                <a:solidFill>
                  <a:srgbClr val="000000"/>
                </a:solidFill>
                <a:effectLst/>
              </a:rPr>
              <a:t>What is a GJ?</a:t>
            </a:r>
          </a:p>
          <a:p>
            <a:endParaRPr lang="en-US" dirty="0"/>
          </a:p>
        </p:txBody>
      </p:sp>
      <p:sp>
        <p:nvSpPr>
          <p:cNvPr id="4" name="Footer Placeholder 3">
            <a:extLst>
              <a:ext uri="{FF2B5EF4-FFF2-40B4-BE49-F238E27FC236}">
                <a16:creationId xmlns:a16="http://schemas.microsoft.com/office/drawing/2014/main" id="{567AA04E-A314-484C-A4CF-5EF79B8A981E}"/>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280731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14A92-0AE1-418F-98C6-8738AD0D48CE}"/>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0E944ED5-3D23-45D1-ACC3-736ECD603F53}"/>
              </a:ext>
            </a:extLst>
          </p:cNvPr>
          <p:cNvSpPr>
            <a:spLocks noGrp="1"/>
          </p:cNvSpPr>
          <p:nvPr>
            <p:ph idx="1"/>
          </p:nvPr>
        </p:nvSpPr>
        <p:spPr/>
        <p:txBody>
          <a:bodyPr/>
          <a:lstStyle/>
          <a:p>
            <a:r>
              <a:rPr lang="en-US" dirty="0"/>
              <a:t>Cool cardiac facts &amp; why we care</a:t>
            </a:r>
          </a:p>
          <a:p>
            <a:r>
              <a:rPr lang="en-US" dirty="0"/>
              <a:t>Cardiac basic operation</a:t>
            </a:r>
          </a:p>
          <a:p>
            <a:r>
              <a:rPr lang="en-US" dirty="0">
                <a:highlight>
                  <a:srgbClr val="FFFF00"/>
                </a:highlight>
              </a:rPr>
              <a:t>Electrocardiograms</a:t>
            </a:r>
          </a:p>
          <a:p>
            <a:r>
              <a:rPr lang="en-US" dirty="0"/>
              <a:t>Arrhythmias</a:t>
            </a:r>
          </a:p>
          <a:p>
            <a:r>
              <a:rPr lang="en-US" dirty="0"/>
              <a:t>Backup-system engineering</a:t>
            </a:r>
          </a:p>
        </p:txBody>
      </p:sp>
      <p:sp>
        <p:nvSpPr>
          <p:cNvPr id="4" name="Footer Placeholder 3">
            <a:extLst>
              <a:ext uri="{FF2B5EF4-FFF2-40B4-BE49-F238E27FC236}">
                <a16:creationId xmlns:a16="http://schemas.microsoft.com/office/drawing/2014/main" id="{E374EE35-380B-4ECA-A2BB-ED4C3312E805}"/>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1212886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F2A7-19EA-4AEF-B22E-62A29AFC8A07}"/>
              </a:ext>
            </a:extLst>
          </p:cNvPr>
          <p:cNvSpPr>
            <a:spLocks noGrp="1"/>
          </p:cNvSpPr>
          <p:nvPr>
            <p:ph type="title"/>
          </p:nvPr>
        </p:nvSpPr>
        <p:spPr/>
        <p:txBody>
          <a:bodyPr/>
          <a:lstStyle/>
          <a:p>
            <a:r>
              <a:rPr lang="en-US" dirty="0"/>
              <a:t>What is an ECG?</a:t>
            </a:r>
          </a:p>
        </p:txBody>
      </p:sp>
      <p:sp>
        <p:nvSpPr>
          <p:cNvPr id="3" name="Content Placeholder 2">
            <a:extLst>
              <a:ext uri="{FF2B5EF4-FFF2-40B4-BE49-F238E27FC236}">
                <a16:creationId xmlns:a16="http://schemas.microsoft.com/office/drawing/2014/main" id="{64A37BBD-3CA2-4C3C-BA5E-44889CECF931}"/>
              </a:ext>
            </a:extLst>
          </p:cNvPr>
          <p:cNvSpPr>
            <a:spLocks noGrp="1"/>
          </p:cNvSpPr>
          <p:nvPr>
            <p:ph idx="1"/>
          </p:nvPr>
        </p:nvSpPr>
        <p:spPr>
          <a:xfrm>
            <a:off x="685800" y="1143000"/>
            <a:ext cx="7772400" cy="5029200"/>
          </a:xfrm>
        </p:spPr>
        <p:txBody>
          <a:bodyPr/>
          <a:lstStyle/>
          <a:p>
            <a:r>
              <a:rPr lang="en-US" dirty="0"/>
              <a:t>An electrocardiogram (ECG, EKG) measures the heart’s “summed” action potential</a:t>
            </a:r>
          </a:p>
          <a:p>
            <a:pPr lvl="1"/>
            <a:r>
              <a:rPr lang="en-US" dirty="0"/>
              <a:t>Each AP in the cardiac wave </a:t>
            </a:r>
            <a:r>
              <a:rPr lang="en-US" dirty="0">
                <a:latin typeface="Times New Roman" panose="02020603050405020304" pitchFamily="18" charset="0"/>
                <a:cs typeface="Times New Roman" panose="02020603050405020304" pitchFamily="18" charset="0"/>
              </a:rPr>
              <a:t>→ small current travels through the body to the ECG electrodes</a:t>
            </a:r>
          </a:p>
          <a:p>
            <a:pPr lvl="1">
              <a:spcBef>
                <a:spcPts val="0"/>
              </a:spcBef>
            </a:pPr>
            <a:r>
              <a:rPr lang="en-US" dirty="0">
                <a:latin typeface="Times New Roman" panose="02020603050405020304" pitchFamily="18" charset="0"/>
                <a:cs typeface="Times New Roman" panose="02020603050405020304" pitchFamily="18" charset="0"/>
              </a:rPr>
              <a:t>Different heart cells are oriented in different directions; vector dot products cause different results depending on where electrodes are attached</a:t>
            </a:r>
          </a:p>
          <a:p>
            <a:r>
              <a:rPr lang="en-US" dirty="0">
                <a:latin typeface="Times New Roman" panose="02020603050405020304" pitchFamily="18" charset="0"/>
                <a:cs typeface="Times New Roman" panose="02020603050405020304" pitchFamily="18" charset="0"/>
              </a:rPr>
              <a:t>More details in the ECG lab!</a:t>
            </a:r>
          </a:p>
          <a:p>
            <a:r>
              <a:rPr lang="en-US" dirty="0"/>
              <a:t>Weird fact</a:t>
            </a:r>
          </a:p>
          <a:p>
            <a:pPr lvl="1">
              <a:spcBef>
                <a:spcPts val="0"/>
              </a:spcBef>
            </a:pPr>
            <a:r>
              <a:rPr lang="en-US" dirty="0"/>
              <a:t>ECGs pioneered by Willem Eindhoven</a:t>
            </a:r>
          </a:p>
          <a:p>
            <a:pPr lvl="1">
              <a:spcBef>
                <a:spcPts val="0"/>
              </a:spcBef>
            </a:pPr>
            <a:r>
              <a:rPr lang="en-US" dirty="0"/>
              <a:t>Suspected of being Jack the Ripper</a:t>
            </a:r>
          </a:p>
        </p:txBody>
      </p:sp>
      <p:sp>
        <p:nvSpPr>
          <p:cNvPr id="4" name="Footer Placeholder 3">
            <a:extLst>
              <a:ext uri="{FF2B5EF4-FFF2-40B4-BE49-F238E27FC236}">
                <a16:creationId xmlns:a16="http://schemas.microsoft.com/office/drawing/2014/main" id="{A6393DDC-8F13-4E62-AB53-066A62015C47}"/>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55106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46556-39E2-E198-E171-BFFB5957C89C}"/>
              </a:ext>
            </a:extLst>
          </p:cNvPr>
          <p:cNvSpPr>
            <a:spLocks noGrp="1"/>
          </p:cNvSpPr>
          <p:nvPr>
            <p:ph type="title"/>
          </p:nvPr>
        </p:nvSpPr>
        <p:spPr/>
        <p:txBody>
          <a:bodyPr/>
          <a:lstStyle/>
          <a:p>
            <a:r>
              <a:rPr lang="en-US" dirty="0"/>
              <a:t>Vector math review</a:t>
            </a:r>
          </a:p>
        </p:txBody>
      </p:sp>
      <p:sp>
        <p:nvSpPr>
          <p:cNvPr id="3" name="Content Placeholder 2">
            <a:extLst>
              <a:ext uri="{FF2B5EF4-FFF2-40B4-BE49-F238E27FC236}">
                <a16:creationId xmlns:a16="http://schemas.microsoft.com/office/drawing/2014/main" id="{A52CC181-D341-B4CD-31F3-2CB1DDEFB6F0}"/>
              </a:ext>
            </a:extLst>
          </p:cNvPr>
          <p:cNvSpPr>
            <a:spLocks noGrp="1"/>
          </p:cNvSpPr>
          <p:nvPr>
            <p:ph idx="1"/>
          </p:nvPr>
        </p:nvSpPr>
        <p:spPr>
          <a:xfrm>
            <a:off x="4114799" y="1066799"/>
            <a:ext cx="4800599" cy="5253333"/>
          </a:xfrm>
        </p:spPr>
        <p:txBody>
          <a:bodyPr/>
          <a:lstStyle/>
          <a:p>
            <a:r>
              <a:rPr lang="en-US" dirty="0"/>
              <a:t>Adding vectors</a:t>
            </a:r>
          </a:p>
          <a:p>
            <a:r>
              <a:rPr lang="en-US" dirty="0"/>
              <a:t>Sum vector</a:t>
            </a:r>
          </a:p>
          <a:p>
            <a:pPr lvl="1">
              <a:spcBef>
                <a:spcPts val="0"/>
              </a:spcBef>
            </a:pPr>
            <a:r>
              <a:rPr lang="en-US" dirty="0"/>
              <a:t>points in the middle</a:t>
            </a:r>
          </a:p>
          <a:p>
            <a:pPr lvl="1">
              <a:spcBef>
                <a:spcPts val="0"/>
              </a:spcBef>
            </a:pPr>
            <a:r>
              <a:rPr lang="en-US" dirty="0"/>
              <a:t>bigger as you add more big vectors</a:t>
            </a:r>
          </a:p>
          <a:p>
            <a:r>
              <a:rPr lang="en-US" dirty="0"/>
              <a:t>Dot product shows to what extent two vectors point in the same direction</a:t>
            </a:r>
          </a:p>
          <a:p>
            <a:pPr lvl="1">
              <a:spcBef>
                <a:spcPts val="0"/>
              </a:spcBef>
            </a:pPr>
            <a:r>
              <a:rPr lang="en-US" dirty="0"/>
              <a:t>2*1.1=2.2</a:t>
            </a:r>
          </a:p>
          <a:p>
            <a:pPr>
              <a:spcBef>
                <a:spcPts val="1800"/>
              </a:spcBef>
            </a:pPr>
            <a:r>
              <a:rPr lang="en-US" dirty="0"/>
              <a:t>Dot product of vectors at 90</a:t>
            </a:r>
            <a:r>
              <a:rPr lang="en-US" dirty="0">
                <a:latin typeface="Times New Roman" panose="02020603050405020304" pitchFamily="18" charset="0"/>
                <a:cs typeface="Times New Roman" panose="02020603050405020304" pitchFamily="18" charset="0"/>
              </a:rPr>
              <a:t>º?</a:t>
            </a:r>
          </a:p>
          <a:p>
            <a:r>
              <a:rPr lang="en-US" dirty="0">
                <a:latin typeface="Times New Roman" panose="02020603050405020304" pitchFamily="18" charset="0"/>
                <a:cs typeface="Times New Roman" panose="02020603050405020304" pitchFamily="18" charset="0"/>
              </a:rPr>
              <a:t>Of vectors in same direction?</a:t>
            </a:r>
            <a:endParaRPr lang="en-US" dirty="0"/>
          </a:p>
          <a:p>
            <a:pPr>
              <a:spcBef>
                <a:spcPts val="0"/>
              </a:spcBef>
            </a:pPr>
            <a:endParaRPr lang="en-US" dirty="0"/>
          </a:p>
        </p:txBody>
      </p:sp>
      <p:sp>
        <p:nvSpPr>
          <p:cNvPr id="4" name="Footer Placeholder 3">
            <a:extLst>
              <a:ext uri="{FF2B5EF4-FFF2-40B4-BE49-F238E27FC236}">
                <a16:creationId xmlns:a16="http://schemas.microsoft.com/office/drawing/2014/main" id="{C98D3EAF-F964-E233-587F-4E1BAC7F2926}"/>
              </a:ext>
            </a:extLst>
          </p:cNvPr>
          <p:cNvSpPr>
            <a:spLocks noGrp="1"/>
          </p:cNvSpPr>
          <p:nvPr>
            <p:ph type="ftr" sz="quarter" idx="11"/>
          </p:nvPr>
        </p:nvSpPr>
        <p:spPr>
          <a:xfrm>
            <a:off x="2438400" y="6400800"/>
            <a:ext cx="2895600" cy="304800"/>
          </a:xfrm>
        </p:spPr>
        <p:txBody>
          <a:bodyPr/>
          <a:lstStyle/>
          <a:p>
            <a:pPr>
              <a:defRPr/>
            </a:pPr>
            <a:r>
              <a:rPr lang="en-US" dirty="0"/>
              <a:t>EE 123 -- Bioelectricity</a:t>
            </a:r>
          </a:p>
        </p:txBody>
      </p:sp>
      <p:cxnSp>
        <p:nvCxnSpPr>
          <p:cNvPr id="5" name="Straight Arrow Connector 4">
            <a:extLst>
              <a:ext uri="{FF2B5EF4-FFF2-40B4-BE49-F238E27FC236}">
                <a16:creationId xmlns:a16="http://schemas.microsoft.com/office/drawing/2014/main" id="{B7C05D3A-667B-EBB7-99A6-CA25812DB34D}"/>
              </a:ext>
            </a:extLst>
          </p:cNvPr>
          <p:cNvCxnSpPr>
            <a:cxnSpLocks/>
          </p:cNvCxnSpPr>
          <p:nvPr/>
        </p:nvCxnSpPr>
        <p:spPr>
          <a:xfrm>
            <a:off x="1143000" y="1676400"/>
            <a:ext cx="868527" cy="868527"/>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4FED1B9-586B-69B4-68B0-41AC0E8B4CB4}"/>
              </a:ext>
            </a:extLst>
          </p:cNvPr>
          <p:cNvCxnSpPr/>
          <p:nvPr/>
        </p:nvCxnSpPr>
        <p:spPr>
          <a:xfrm>
            <a:off x="1066800" y="1447800"/>
            <a:ext cx="144780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B2DA276-650F-A1B6-BAE4-489C416E7078}"/>
              </a:ext>
            </a:extLst>
          </p:cNvPr>
          <p:cNvSpPr txBox="1"/>
          <p:nvPr/>
        </p:nvSpPr>
        <p:spPr>
          <a:xfrm>
            <a:off x="1524000" y="1600200"/>
            <a:ext cx="381000" cy="461665"/>
          </a:xfrm>
          <a:prstGeom prst="rect">
            <a:avLst/>
          </a:prstGeom>
          <a:noFill/>
        </p:spPr>
        <p:txBody>
          <a:bodyPr wrap="square" rtlCol="0">
            <a:spAutoFit/>
          </a:bodyPr>
          <a:lstStyle/>
          <a:p>
            <a:r>
              <a:rPr lang="en-US" dirty="0"/>
              <a:t>+</a:t>
            </a:r>
          </a:p>
        </p:txBody>
      </p:sp>
      <p:cxnSp>
        <p:nvCxnSpPr>
          <p:cNvPr id="22" name="Straight Arrow Connector 21">
            <a:extLst>
              <a:ext uri="{FF2B5EF4-FFF2-40B4-BE49-F238E27FC236}">
                <a16:creationId xmlns:a16="http://schemas.microsoft.com/office/drawing/2014/main" id="{79C2DCA5-D814-D24D-A055-7E09EAEC5931}"/>
              </a:ext>
            </a:extLst>
          </p:cNvPr>
          <p:cNvCxnSpPr>
            <a:cxnSpLocks noChangeAspect="1"/>
          </p:cNvCxnSpPr>
          <p:nvPr/>
        </p:nvCxnSpPr>
        <p:spPr>
          <a:xfrm>
            <a:off x="1066800" y="1447800"/>
            <a:ext cx="2267712" cy="89129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AA8CF3F-C0DA-96D3-78BF-DBF8ED6CD6CB}"/>
              </a:ext>
            </a:extLst>
          </p:cNvPr>
          <p:cNvCxnSpPr>
            <a:cxnSpLocks/>
          </p:cNvCxnSpPr>
          <p:nvPr/>
        </p:nvCxnSpPr>
        <p:spPr>
          <a:xfrm>
            <a:off x="1088572" y="3331028"/>
            <a:ext cx="868527" cy="868527"/>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300607A-ADF4-302C-6639-0F46F91F08C0}"/>
              </a:ext>
            </a:extLst>
          </p:cNvPr>
          <p:cNvCxnSpPr/>
          <p:nvPr/>
        </p:nvCxnSpPr>
        <p:spPr>
          <a:xfrm>
            <a:off x="1066800" y="3322473"/>
            <a:ext cx="144780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C61E687-9926-0A24-F113-78B6952CA4D0}"/>
              </a:ext>
            </a:extLst>
          </p:cNvPr>
          <p:cNvCxnSpPr>
            <a:cxnSpLocks/>
          </p:cNvCxnSpPr>
          <p:nvPr/>
        </p:nvCxnSpPr>
        <p:spPr>
          <a:xfrm>
            <a:off x="1905000" y="3320142"/>
            <a:ext cx="0" cy="879413"/>
          </a:xfrm>
          <a:prstGeom prst="line">
            <a:avLst/>
          </a:prstGeom>
          <a:ln w="285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B9BFF52B-D711-B9C4-A4A7-8692E6C4BFAE}"/>
              </a:ext>
            </a:extLst>
          </p:cNvPr>
          <p:cNvSpPr txBox="1"/>
          <p:nvPr/>
        </p:nvSpPr>
        <p:spPr>
          <a:xfrm>
            <a:off x="2362200" y="2895600"/>
            <a:ext cx="381000" cy="461665"/>
          </a:xfrm>
          <a:prstGeom prst="rect">
            <a:avLst/>
          </a:prstGeom>
          <a:noFill/>
        </p:spPr>
        <p:txBody>
          <a:bodyPr wrap="square" rtlCol="0">
            <a:spAutoFit/>
          </a:bodyPr>
          <a:lstStyle/>
          <a:p>
            <a:r>
              <a:rPr lang="en-US" dirty="0"/>
              <a:t>2</a:t>
            </a:r>
          </a:p>
        </p:txBody>
      </p:sp>
      <p:sp>
        <p:nvSpPr>
          <p:cNvPr id="38" name="TextBox 37">
            <a:extLst>
              <a:ext uri="{FF2B5EF4-FFF2-40B4-BE49-F238E27FC236}">
                <a16:creationId xmlns:a16="http://schemas.microsoft.com/office/drawing/2014/main" id="{7D35A799-4451-DECC-9652-A67D414AFF8F}"/>
              </a:ext>
            </a:extLst>
          </p:cNvPr>
          <p:cNvSpPr txBox="1"/>
          <p:nvPr/>
        </p:nvSpPr>
        <p:spPr>
          <a:xfrm>
            <a:off x="1295399" y="3957935"/>
            <a:ext cx="609599" cy="461665"/>
          </a:xfrm>
          <a:prstGeom prst="rect">
            <a:avLst/>
          </a:prstGeom>
          <a:noFill/>
        </p:spPr>
        <p:txBody>
          <a:bodyPr wrap="square" rtlCol="0">
            <a:spAutoFit/>
          </a:bodyPr>
          <a:lstStyle/>
          <a:p>
            <a:r>
              <a:rPr lang="en-US" dirty="0"/>
              <a:t>1.5</a:t>
            </a:r>
          </a:p>
        </p:txBody>
      </p:sp>
      <p:sp>
        <p:nvSpPr>
          <p:cNvPr id="39" name="TextBox 38">
            <a:extLst>
              <a:ext uri="{FF2B5EF4-FFF2-40B4-BE49-F238E27FC236}">
                <a16:creationId xmlns:a16="http://schemas.microsoft.com/office/drawing/2014/main" id="{65F63E38-2CFE-8124-B780-4BEDB2863225}"/>
              </a:ext>
            </a:extLst>
          </p:cNvPr>
          <p:cNvSpPr txBox="1"/>
          <p:nvPr/>
        </p:nvSpPr>
        <p:spPr>
          <a:xfrm>
            <a:off x="1295400" y="2967335"/>
            <a:ext cx="609599" cy="461665"/>
          </a:xfrm>
          <a:prstGeom prst="rect">
            <a:avLst/>
          </a:prstGeom>
          <a:noFill/>
        </p:spPr>
        <p:txBody>
          <a:bodyPr wrap="square" rtlCol="0">
            <a:spAutoFit/>
          </a:bodyPr>
          <a:lstStyle/>
          <a:p>
            <a:r>
              <a:rPr lang="en-US" dirty="0"/>
              <a:t>1.1</a:t>
            </a:r>
          </a:p>
        </p:txBody>
      </p:sp>
      <p:cxnSp>
        <p:nvCxnSpPr>
          <p:cNvPr id="42" name="Straight Arrow Connector 41">
            <a:extLst>
              <a:ext uri="{FF2B5EF4-FFF2-40B4-BE49-F238E27FC236}">
                <a16:creationId xmlns:a16="http://schemas.microsoft.com/office/drawing/2014/main" id="{4BAC5E81-15A7-D61A-5984-FB3C2A492F86}"/>
              </a:ext>
            </a:extLst>
          </p:cNvPr>
          <p:cNvCxnSpPr>
            <a:cxnSpLocks/>
          </p:cNvCxnSpPr>
          <p:nvPr/>
        </p:nvCxnSpPr>
        <p:spPr>
          <a:xfrm>
            <a:off x="1066800" y="1447800"/>
            <a:ext cx="868527" cy="868527"/>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164A552-6312-AB7E-EFBE-8500CE2902B9}"/>
              </a:ext>
            </a:extLst>
          </p:cNvPr>
          <p:cNvCxnSpPr/>
          <p:nvPr/>
        </p:nvCxnSpPr>
        <p:spPr>
          <a:xfrm>
            <a:off x="1143000" y="5262265"/>
            <a:ext cx="144780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6FB20A5-A56A-EFB1-AE60-D16F7661DCBB}"/>
              </a:ext>
            </a:extLst>
          </p:cNvPr>
          <p:cNvCxnSpPr>
            <a:cxnSpLocks/>
          </p:cNvCxnSpPr>
          <p:nvPr/>
        </p:nvCxnSpPr>
        <p:spPr>
          <a:xfrm>
            <a:off x="1143000" y="5262265"/>
            <a:ext cx="0" cy="53340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9A8FDE3E-1F25-B602-B635-87A98D566582}"/>
              </a:ext>
            </a:extLst>
          </p:cNvPr>
          <p:cNvSpPr txBox="1"/>
          <p:nvPr/>
        </p:nvSpPr>
        <p:spPr>
          <a:xfrm>
            <a:off x="762000" y="5334000"/>
            <a:ext cx="381000" cy="461665"/>
          </a:xfrm>
          <a:prstGeom prst="rect">
            <a:avLst/>
          </a:prstGeom>
          <a:noFill/>
        </p:spPr>
        <p:txBody>
          <a:bodyPr wrap="square" rtlCol="0">
            <a:spAutoFit/>
          </a:bodyPr>
          <a:lstStyle/>
          <a:p>
            <a:r>
              <a:rPr lang="en-US" dirty="0"/>
              <a:t>1</a:t>
            </a:r>
          </a:p>
        </p:txBody>
      </p:sp>
      <p:sp>
        <p:nvSpPr>
          <p:cNvPr id="47" name="TextBox 46">
            <a:extLst>
              <a:ext uri="{FF2B5EF4-FFF2-40B4-BE49-F238E27FC236}">
                <a16:creationId xmlns:a16="http://schemas.microsoft.com/office/drawing/2014/main" id="{C752FE0A-39F8-AA93-BF43-6C460DA79E8F}"/>
              </a:ext>
            </a:extLst>
          </p:cNvPr>
          <p:cNvSpPr txBox="1"/>
          <p:nvPr/>
        </p:nvSpPr>
        <p:spPr>
          <a:xfrm>
            <a:off x="2286000" y="4876800"/>
            <a:ext cx="381000" cy="461665"/>
          </a:xfrm>
          <a:prstGeom prst="rect">
            <a:avLst/>
          </a:prstGeom>
          <a:noFill/>
        </p:spPr>
        <p:txBody>
          <a:bodyPr wrap="square" rtlCol="0">
            <a:spAutoFit/>
          </a:bodyPr>
          <a:lstStyle/>
          <a:p>
            <a:r>
              <a:rPr lang="en-US" dirty="0"/>
              <a:t>2</a:t>
            </a:r>
          </a:p>
        </p:txBody>
      </p:sp>
      <p:cxnSp>
        <p:nvCxnSpPr>
          <p:cNvPr id="48" name="Straight Arrow Connector 47">
            <a:extLst>
              <a:ext uri="{FF2B5EF4-FFF2-40B4-BE49-F238E27FC236}">
                <a16:creationId xmlns:a16="http://schemas.microsoft.com/office/drawing/2014/main" id="{E7DBC368-E3E4-D2BF-FE18-BCD249E725EE}"/>
              </a:ext>
            </a:extLst>
          </p:cNvPr>
          <p:cNvCxnSpPr/>
          <p:nvPr/>
        </p:nvCxnSpPr>
        <p:spPr>
          <a:xfrm>
            <a:off x="1143000" y="6024265"/>
            <a:ext cx="1447800"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13B8EC8-67EE-FE13-4C32-54285AF47FAB}"/>
              </a:ext>
            </a:extLst>
          </p:cNvPr>
          <p:cNvCxnSpPr>
            <a:cxnSpLocks/>
          </p:cNvCxnSpPr>
          <p:nvPr/>
        </p:nvCxnSpPr>
        <p:spPr>
          <a:xfrm>
            <a:off x="1153884" y="6024265"/>
            <a:ext cx="751114" cy="0"/>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C14FEF3A-9D46-F828-BC34-23A4EF65C87A}"/>
              </a:ext>
            </a:extLst>
          </p:cNvPr>
          <p:cNvSpPr txBox="1"/>
          <p:nvPr/>
        </p:nvSpPr>
        <p:spPr>
          <a:xfrm>
            <a:off x="2438400" y="5638800"/>
            <a:ext cx="381000" cy="461665"/>
          </a:xfrm>
          <a:prstGeom prst="rect">
            <a:avLst/>
          </a:prstGeom>
          <a:noFill/>
        </p:spPr>
        <p:txBody>
          <a:bodyPr wrap="square" rtlCol="0">
            <a:spAutoFit/>
          </a:bodyPr>
          <a:lstStyle/>
          <a:p>
            <a:r>
              <a:rPr lang="en-US" dirty="0"/>
              <a:t>2</a:t>
            </a:r>
          </a:p>
        </p:txBody>
      </p:sp>
      <p:sp>
        <p:nvSpPr>
          <p:cNvPr id="52" name="TextBox 51">
            <a:extLst>
              <a:ext uri="{FF2B5EF4-FFF2-40B4-BE49-F238E27FC236}">
                <a16:creationId xmlns:a16="http://schemas.microsoft.com/office/drawing/2014/main" id="{249D46A3-E554-505D-AE05-C9D9E5C90A71}"/>
              </a:ext>
            </a:extLst>
          </p:cNvPr>
          <p:cNvSpPr txBox="1"/>
          <p:nvPr/>
        </p:nvSpPr>
        <p:spPr>
          <a:xfrm>
            <a:off x="1600201" y="5643265"/>
            <a:ext cx="533399" cy="461665"/>
          </a:xfrm>
          <a:prstGeom prst="rect">
            <a:avLst/>
          </a:prstGeom>
          <a:noFill/>
        </p:spPr>
        <p:txBody>
          <a:bodyPr wrap="square" rtlCol="0">
            <a:spAutoFit/>
          </a:bodyPr>
          <a:lstStyle/>
          <a:p>
            <a:r>
              <a:rPr lang="en-US" dirty="0"/>
              <a:t>1</a:t>
            </a:r>
          </a:p>
        </p:txBody>
      </p:sp>
    </p:spTree>
    <p:extLst>
      <p:ext uri="{BB962C8B-B14F-4D97-AF65-F5344CB8AC3E}">
        <p14:creationId xmlns:p14="http://schemas.microsoft.com/office/powerpoint/2010/main" val="3809122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16667E-6 1.11111E-6 L 0.14427 -0.02986 " pathEditMode="relative" rAng="0" ptsTypes="AA">
                                      <p:cBhvr>
                                        <p:cTn id="6" dur="2000" fill="hold"/>
                                        <p:tgtEl>
                                          <p:spTgt spid="5"/>
                                        </p:tgtEl>
                                        <p:attrNameLst>
                                          <p:attrName>ppt_x</p:attrName>
                                          <p:attrName>ppt_y</p:attrName>
                                        </p:attrNameLst>
                                      </p:cBhvr>
                                      <p:rCtr x="7205" y="-1505"/>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5"/>
                                        </p:tgtEl>
                                      </p:cBhvr>
                                    </p:animEffect>
                                    <p:set>
                                      <p:cBhvr>
                                        <p:cTn id="16" dur="1" fill="hold">
                                          <p:stCondLst>
                                            <p:cond delay="499"/>
                                          </p:stCondLst>
                                        </p:cTn>
                                        <p:tgtEl>
                                          <p:spTgt spid="5"/>
                                        </p:tgtEl>
                                        <p:attrNameLst>
                                          <p:attrName>style.visibility</p:attrName>
                                        </p:attrNameLst>
                                      </p:cBhvr>
                                      <p:to>
                                        <p:strVal val="hidden"/>
                                      </p:to>
                                    </p:set>
                                  </p:childTnLst>
                                </p:cTn>
                              </p:par>
                              <p:par>
                                <p:cTn id="17" presetID="10" presetClass="entr" presetSubtype="0" fill="hold" nodeType="with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500"/>
                                        <p:tgtEl>
                                          <p:spTgt spid="4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500"/>
                                        <p:tgtEl>
                                          <p:spTgt spid="3">
                                            <p:txEl>
                                              <p:pRg st="1" end="1"/>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500"/>
                                        <p:tgtEl>
                                          <p:spTgt spid="3">
                                            <p:txEl>
                                              <p:pRg st="4" end="4"/>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par>
                                <p:cTn id="39" presetID="10"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00"/>
                                        <p:tgtEl>
                                          <p:spTgt spid="2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500"/>
                                        <p:tgtEl>
                                          <p:spTgt spid="3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500"/>
                                        <p:tgtEl>
                                          <p:spTgt spid="3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500"/>
                                        <p:tgtEl>
                                          <p:spTgt spid="3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fade">
                                      <p:cBhvr>
                                        <p:cTn id="57" dur="500"/>
                                        <p:tgtEl>
                                          <p:spTgt spid="3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5" end="5"/>
                                            </p:txEl>
                                          </p:spTgt>
                                        </p:tgtEl>
                                        <p:attrNameLst>
                                          <p:attrName>style.visibility</p:attrName>
                                        </p:attrNameLst>
                                      </p:cBhvr>
                                      <p:to>
                                        <p:strVal val="visible"/>
                                      </p:to>
                                    </p:set>
                                    <p:animEffect transition="in" filter="fade">
                                      <p:cBhvr>
                                        <p:cTn id="62" dur="500"/>
                                        <p:tgtEl>
                                          <p:spTgt spid="3">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6" end="6"/>
                                            </p:txEl>
                                          </p:spTgt>
                                        </p:tgtEl>
                                        <p:attrNameLst>
                                          <p:attrName>style.visibility</p:attrName>
                                        </p:attrNameLst>
                                      </p:cBhvr>
                                      <p:to>
                                        <p:strVal val="visible"/>
                                      </p:to>
                                    </p:set>
                                    <p:animEffect transition="in" filter="fade">
                                      <p:cBhvr>
                                        <p:cTn id="67" dur="500"/>
                                        <p:tgtEl>
                                          <p:spTgt spid="3">
                                            <p:txEl>
                                              <p:pRg st="6" end="6"/>
                                            </p:txEl>
                                          </p:spTgt>
                                        </p:tgtEl>
                                      </p:cBhvr>
                                    </p:animEffect>
                                  </p:childTnLst>
                                </p:cTn>
                              </p:par>
                              <p:par>
                                <p:cTn id="68" presetID="10" presetClass="entr" presetSubtype="0" fill="hold" nodeType="withEffect">
                                  <p:stCondLst>
                                    <p:cond delay="0"/>
                                  </p:stCondLst>
                                  <p:childTnLst>
                                    <p:set>
                                      <p:cBhvr>
                                        <p:cTn id="69" dur="1" fill="hold">
                                          <p:stCondLst>
                                            <p:cond delay="0"/>
                                          </p:stCondLst>
                                        </p:cTn>
                                        <p:tgtEl>
                                          <p:spTgt spid="43"/>
                                        </p:tgtEl>
                                        <p:attrNameLst>
                                          <p:attrName>style.visibility</p:attrName>
                                        </p:attrNameLst>
                                      </p:cBhvr>
                                      <p:to>
                                        <p:strVal val="visible"/>
                                      </p:to>
                                    </p:set>
                                    <p:animEffect transition="in" filter="fade">
                                      <p:cBhvr>
                                        <p:cTn id="70" dur="500"/>
                                        <p:tgtEl>
                                          <p:spTgt spid="43"/>
                                        </p:tgtEl>
                                      </p:cBhvr>
                                    </p:animEffect>
                                  </p:childTnLst>
                                </p:cTn>
                              </p:par>
                              <p:par>
                                <p:cTn id="71" presetID="10" presetClass="entr" presetSubtype="0" fill="hold" nodeType="withEffect">
                                  <p:stCondLst>
                                    <p:cond delay="0"/>
                                  </p:stCondLst>
                                  <p:childTnLst>
                                    <p:set>
                                      <p:cBhvr>
                                        <p:cTn id="72" dur="1" fill="hold">
                                          <p:stCondLst>
                                            <p:cond delay="0"/>
                                          </p:stCondLst>
                                        </p:cTn>
                                        <p:tgtEl>
                                          <p:spTgt spid="44"/>
                                        </p:tgtEl>
                                        <p:attrNameLst>
                                          <p:attrName>style.visibility</p:attrName>
                                        </p:attrNameLst>
                                      </p:cBhvr>
                                      <p:to>
                                        <p:strVal val="visible"/>
                                      </p:to>
                                    </p:set>
                                    <p:animEffect transition="in" filter="fade">
                                      <p:cBhvr>
                                        <p:cTn id="73" dur="500"/>
                                        <p:tgtEl>
                                          <p:spTgt spid="4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500"/>
                                        <p:tgtEl>
                                          <p:spTgt spid="4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500"/>
                                        <p:tgtEl>
                                          <p:spTgt spid="47"/>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3">
                                            <p:txEl>
                                              <p:pRg st="7" end="7"/>
                                            </p:txEl>
                                          </p:spTgt>
                                        </p:tgtEl>
                                        <p:attrNameLst>
                                          <p:attrName>style.visibility</p:attrName>
                                        </p:attrNameLst>
                                      </p:cBhvr>
                                      <p:to>
                                        <p:strVal val="visible"/>
                                      </p:to>
                                    </p:set>
                                    <p:animEffect transition="in" filter="fade">
                                      <p:cBhvr>
                                        <p:cTn id="84" dur="500"/>
                                        <p:tgtEl>
                                          <p:spTgt spid="3">
                                            <p:txEl>
                                              <p:pRg st="7" end="7"/>
                                            </p:txEl>
                                          </p:spTgt>
                                        </p:tgtEl>
                                      </p:cBhvr>
                                    </p:animEffect>
                                  </p:childTnLst>
                                </p:cTn>
                              </p:par>
                              <p:par>
                                <p:cTn id="85" presetID="10" presetClass="entr" presetSubtype="0" fill="hold" nodeType="withEffect">
                                  <p:stCondLst>
                                    <p:cond delay="0"/>
                                  </p:stCondLst>
                                  <p:childTnLst>
                                    <p:set>
                                      <p:cBhvr>
                                        <p:cTn id="86" dur="1" fill="hold">
                                          <p:stCondLst>
                                            <p:cond delay="0"/>
                                          </p:stCondLst>
                                        </p:cTn>
                                        <p:tgtEl>
                                          <p:spTgt spid="49"/>
                                        </p:tgtEl>
                                        <p:attrNameLst>
                                          <p:attrName>style.visibility</p:attrName>
                                        </p:attrNameLst>
                                      </p:cBhvr>
                                      <p:to>
                                        <p:strVal val="visible"/>
                                      </p:to>
                                    </p:set>
                                    <p:animEffect transition="in" filter="fade">
                                      <p:cBhvr>
                                        <p:cTn id="87" dur="500"/>
                                        <p:tgtEl>
                                          <p:spTgt spid="49"/>
                                        </p:tgtEl>
                                      </p:cBhvr>
                                    </p:animEffect>
                                  </p:childTnLst>
                                </p:cTn>
                              </p:par>
                              <p:par>
                                <p:cTn id="88" presetID="10" presetClass="entr" presetSubtype="0" fill="hold" nodeType="withEffect">
                                  <p:stCondLst>
                                    <p:cond delay="0"/>
                                  </p:stCondLst>
                                  <p:childTnLst>
                                    <p:set>
                                      <p:cBhvr>
                                        <p:cTn id="89" dur="1" fill="hold">
                                          <p:stCondLst>
                                            <p:cond delay="0"/>
                                          </p:stCondLst>
                                        </p:cTn>
                                        <p:tgtEl>
                                          <p:spTgt spid="48"/>
                                        </p:tgtEl>
                                        <p:attrNameLst>
                                          <p:attrName>style.visibility</p:attrName>
                                        </p:attrNameLst>
                                      </p:cBhvr>
                                      <p:to>
                                        <p:strVal val="visible"/>
                                      </p:to>
                                    </p:set>
                                    <p:animEffect transition="in" filter="fade">
                                      <p:cBhvr>
                                        <p:cTn id="90" dur="500"/>
                                        <p:tgtEl>
                                          <p:spTgt spid="4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1"/>
                                        </p:tgtEl>
                                        <p:attrNameLst>
                                          <p:attrName>style.visibility</p:attrName>
                                        </p:attrNameLst>
                                      </p:cBhvr>
                                      <p:to>
                                        <p:strVal val="visible"/>
                                      </p:to>
                                    </p:set>
                                    <p:animEffect transition="in" filter="fade">
                                      <p:cBhvr>
                                        <p:cTn id="93" dur="500"/>
                                        <p:tgtEl>
                                          <p:spTgt spid="5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2"/>
                                        </p:tgtEl>
                                        <p:attrNameLst>
                                          <p:attrName>style.visibility</p:attrName>
                                        </p:attrNameLst>
                                      </p:cBhvr>
                                      <p:to>
                                        <p:strVal val="visible"/>
                                      </p:to>
                                    </p:set>
                                    <p:animEffect transition="in" filter="fade">
                                      <p:cBhvr>
                                        <p:cTn id="9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6" grpId="0"/>
      <p:bldP spid="47" grpId="0"/>
      <p:bldP spid="51" grpId="0"/>
      <p:bldP spid="5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0B413-AA0F-2B05-0342-560647216656}"/>
            </a:ext>
          </a:extLst>
        </p:cNvPr>
        <p:cNvGrpSpPr/>
        <p:nvPr/>
      </p:nvGrpSpPr>
      <p:grpSpPr>
        <a:xfrm>
          <a:off x="0" y="0"/>
          <a:ext cx="0" cy="0"/>
          <a:chOff x="0" y="0"/>
          <a:chExt cx="0" cy="0"/>
        </a:xfrm>
      </p:grpSpPr>
      <p:pic>
        <p:nvPicPr>
          <p:cNvPr id="6" name="Picture 5" descr="A diagram of a heart&#10;&#10;AI-generated content may be incorrect.">
            <a:extLst>
              <a:ext uri="{FF2B5EF4-FFF2-40B4-BE49-F238E27FC236}">
                <a16:creationId xmlns:a16="http://schemas.microsoft.com/office/drawing/2014/main" id="{4CEDC396-1430-E958-71F8-F2E4DD9E0B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989BC394-6A96-E0CC-8959-601FFE148E31}"/>
              </a:ext>
            </a:extLst>
          </p:cNvPr>
          <p:cNvSpPr>
            <a:spLocks noGrp="1"/>
          </p:cNvSpPr>
          <p:nvPr>
            <p:ph type="title"/>
          </p:nvPr>
        </p:nvSpPr>
        <p:spPr/>
        <p:txBody>
          <a:bodyPr/>
          <a:lstStyle/>
          <a:p>
            <a:r>
              <a:rPr lang="en-US" dirty="0"/>
              <a:t>Atrial conduction</a:t>
            </a:r>
          </a:p>
        </p:txBody>
      </p:sp>
      <p:sp>
        <p:nvSpPr>
          <p:cNvPr id="3" name="Content Placeholder 2">
            <a:extLst>
              <a:ext uri="{FF2B5EF4-FFF2-40B4-BE49-F238E27FC236}">
                <a16:creationId xmlns:a16="http://schemas.microsoft.com/office/drawing/2014/main" id="{92918961-F4CF-92C8-AF79-1DFAA0B04C8A}"/>
              </a:ext>
            </a:extLst>
          </p:cNvPr>
          <p:cNvSpPr>
            <a:spLocks noGrp="1"/>
          </p:cNvSpPr>
          <p:nvPr>
            <p:ph idx="1"/>
          </p:nvPr>
        </p:nvSpPr>
        <p:spPr>
          <a:xfrm>
            <a:off x="4136675" y="1316380"/>
            <a:ext cx="4811650" cy="647886"/>
          </a:xfrm>
        </p:spPr>
        <p:txBody>
          <a:bodyPr/>
          <a:lstStyle/>
          <a:p>
            <a:r>
              <a:rPr lang="en-US" sz="2400" dirty="0"/>
              <a:t>P wave = atrial depolarization</a:t>
            </a:r>
          </a:p>
        </p:txBody>
      </p:sp>
      <p:sp>
        <p:nvSpPr>
          <p:cNvPr id="4" name="Footer Placeholder 3">
            <a:extLst>
              <a:ext uri="{FF2B5EF4-FFF2-40B4-BE49-F238E27FC236}">
                <a16:creationId xmlns:a16="http://schemas.microsoft.com/office/drawing/2014/main" id="{AFB3D941-D4FF-F5D7-1534-3A997E0E0ED2}"/>
              </a:ext>
            </a:extLst>
          </p:cNvPr>
          <p:cNvSpPr>
            <a:spLocks noGrp="1"/>
          </p:cNvSpPr>
          <p:nvPr>
            <p:ph type="ftr" sz="quarter" idx="11"/>
          </p:nvPr>
        </p:nvSpPr>
        <p:spPr/>
        <p:txBody>
          <a:bodyPr/>
          <a:lstStyle/>
          <a:p>
            <a:pPr>
              <a:defRPr/>
            </a:pPr>
            <a:r>
              <a:rPr lang="en-US"/>
              <a:t>EE 123 -- Bioelectricity</a:t>
            </a:r>
            <a:endParaRPr lang="en-US" dirty="0"/>
          </a:p>
        </p:txBody>
      </p:sp>
      <p:sp>
        <p:nvSpPr>
          <p:cNvPr id="18" name="Freeform: Shape 17">
            <a:extLst>
              <a:ext uri="{FF2B5EF4-FFF2-40B4-BE49-F238E27FC236}">
                <a16:creationId xmlns:a16="http://schemas.microsoft.com/office/drawing/2014/main" id="{D84E8F3E-4701-D139-1B99-CD5F6390223E}"/>
              </a:ext>
            </a:extLst>
          </p:cNvPr>
          <p:cNvSpPr/>
          <p:nvPr/>
        </p:nvSpPr>
        <p:spPr>
          <a:xfrm>
            <a:off x="5029200" y="5210665"/>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2B5C2036-87C7-B4FD-08CA-5785CF8DA217}"/>
              </a:ext>
            </a:extLst>
          </p:cNvPr>
          <p:cNvSpPr/>
          <p:nvPr/>
        </p:nvSpPr>
        <p:spPr>
          <a:xfrm>
            <a:off x="6774466" y="5119944"/>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1130E4B-4229-4DFE-4D5E-39E2AB05FE44}"/>
              </a:ext>
            </a:extLst>
          </p:cNvPr>
          <p:cNvSpPr/>
          <p:nvPr/>
        </p:nvSpPr>
        <p:spPr>
          <a:xfrm>
            <a:off x="5569934" y="3848286"/>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166892E-4C76-45AF-3DEE-5F194D6DAA92}"/>
              </a:ext>
            </a:extLst>
          </p:cNvPr>
          <p:cNvSpPr txBox="1"/>
          <p:nvPr/>
        </p:nvSpPr>
        <p:spPr>
          <a:xfrm>
            <a:off x="5105400" y="5223180"/>
            <a:ext cx="304800" cy="461665"/>
          </a:xfrm>
          <a:prstGeom prst="rect">
            <a:avLst/>
          </a:prstGeom>
          <a:noFill/>
        </p:spPr>
        <p:txBody>
          <a:bodyPr wrap="square" rtlCol="0">
            <a:spAutoFit/>
          </a:bodyPr>
          <a:lstStyle/>
          <a:p>
            <a:r>
              <a:rPr lang="en-US" dirty="0">
                <a:solidFill>
                  <a:srgbClr val="FF0000"/>
                </a:solidFill>
              </a:rPr>
              <a:t>P</a:t>
            </a:r>
          </a:p>
        </p:txBody>
      </p:sp>
      <p:sp>
        <p:nvSpPr>
          <p:cNvPr id="22" name="TextBox 21">
            <a:extLst>
              <a:ext uri="{FF2B5EF4-FFF2-40B4-BE49-F238E27FC236}">
                <a16:creationId xmlns:a16="http://schemas.microsoft.com/office/drawing/2014/main" id="{8D120707-65D2-90AB-3AC0-542DAC61908A}"/>
              </a:ext>
            </a:extLst>
          </p:cNvPr>
          <p:cNvSpPr txBox="1"/>
          <p:nvPr/>
        </p:nvSpPr>
        <p:spPr>
          <a:xfrm>
            <a:off x="5812930" y="5422669"/>
            <a:ext cx="304800" cy="461665"/>
          </a:xfrm>
          <a:prstGeom prst="rect">
            <a:avLst/>
          </a:prstGeom>
          <a:noFill/>
        </p:spPr>
        <p:txBody>
          <a:bodyPr wrap="square" rtlCol="0">
            <a:spAutoFit/>
          </a:bodyPr>
          <a:lstStyle/>
          <a:p>
            <a:r>
              <a:rPr lang="en-US" dirty="0">
                <a:solidFill>
                  <a:schemeClr val="accent2"/>
                </a:solidFill>
              </a:rPr>
              <a:t>Q</a:t>
            </a:r>
          </a:p>
        </p:txBody>
      </p:sp>
      <p:sp>
        <p:nvSpPr>
          <p:cNvPr id="23" name="TextBox 22">
            <a:extLst>
              <a:ext uri="{FF2B5EF4-FFF2-40B4-BE49-F238E27FC236}">
                <a16:creationId xmlns:a16="http://schemas.microsoft.com/office/drawing/2014/main" id="{CABFD6D0-83A0-232A-374A-7FCB28D0613B}"/>
              </a:ext>
            </a:extLst>
          </p:cNvPr>
          <p:cNvSpPr txBox="1"/>
          <p:nvPr/>
        </p:nvSpPr>
        <p:spPr>
          <a:xfrm>
            <a:off x="2152181" y="4415135"/>
            <a:ext cx="304800" cy="461665"/>
          </a:xfrm>
          <a:prstGeom prst="rect">
            <a:avLst/>
          </a:prstGeom>
          <a:noFill/>
        </p:spPr>
        <p:txBody>
          <a:bodyPr wrap="square" rtlCol="0">
            <a:spAutoFit/>
          </a:bodyPr>
          <a:lstStyle/>
          <a:p>
            <a:r>
              <a:rPr lang="en-US" dirty="0">
                <a:solidFill>
                  <a:schemeClr val="accent2"/>
                </a:solidFill>
              </a:rPr>
              <a:t>R</a:t>
            </a:r>
          </a:p>
        </p:txBody>
      </p:sp>
      <p:sp>
        <p:nvSpPr>
          <p:cNvPr id="24" name="TextBox 23">
            <a:extLst>
              <a:ext uri="{FF2B5EF4-FFF2-40B4-BE49-F238E27FC236}">
                <a16:creationId xmlns:a16="http://schemas.microsoft.com/office/drawing/2014/main" id="{455D2F93-46CD-D5AD-3326-89F4BD9491CC}"/>
              </a:ext>
            </a:extLst>
          </p:cNvPr>
          <p:cNvSpPr txBox="1"/>
          <p:nvPr/>
        </p:nvSpPr>
        <p:spPr>
          <a:xfrm>
            <a:off x="6913598" y="5113867"/>
            <a:ext cx="304800" cy="461665"/>
          </a:xfrm>
          <a:prstGeom prst="rect">
            <a:avLst/>
          </a:prstGeom>
          <a:noFill/>
        </p:spPr>
        <p:txBody>
          <a:bodyPr wrap="square" rtlCol="0">
            <a:spAutoFit/>
          </a:bodyPr>
          <a:lstStyle/>
          <a:p>
            <a:r>
              <a:rPr lang="en-US" dirty="0">
                <a:solidFill>
                  <a:schemeClr val="accent2"/>
                </a:solidFill>
              </a:rPr>
              <a:t>T</a:t>
            </a:r>
          </a:p>
        </p:txBody>
      </p:sp>
      <p:sp>
        <p:nvSpPr>
          <p:cNvPr id="25" name="TextBox 24">
            <a:extLst>
              <a:ext uri="{FF2B5EF4-FFF2-40B4-BE49-F238E27FC236}">
                <a16:creationId xmlns:a16="http://schemas.microsoft.com/office/drawing/2014/main" id="{E7CB5DF0-3F58-116C-61C5-A5868D45EB4C}"/>
              </a:ext>
            </a:extLst>
          </p:cNvPr>
          <p:cNvSpPr txBox="1"/>
          <p:nvPr/>
        </p:nvSpPr>
        <p:spPr>
          <a:xfrm>
            <a:off x="6096000" y="5634335"/>
            <a:ext cx="304800" cy="461665"/>
          </a:xfrm>
          <a:prstGeom prst="rect">
            <a:avLst/>
          </a:prstGeom>
          <a:noFill/>
        </p:spPr>
        <p:txBody>
          <a:bodyPr wrap="square" rtlCol="0">
            <a:spAutoFit/>
          </a:bodyPr>
          <a:lstStyle/>
          <a:p>
            <a:r>
              <a:rPr lang="en-US" dirty="0">
                <a:solidFill>
                  <a:schemeClr val="accent2"/>
                </a:solidFill>
              </a:rPr>
              <a:t>S</a:t>
            </a:r>
          </a:p>
        </p:txBody>
      </p:sp>
      <p:sp>
        <p:nvSpPr>
          <p:cNvPr id="5" name="Oval 4">
            <a:extLst>
              <a:ext uri="{FF2B5EF4-FFF2-40B4-BE49-F238E27FC236}">
                <a16:creationId xmlns:a16="http://schemas.microsoft.com/office/drawing/2014/main" id="{A50E2A90-4252-CE45-2B9C-62903DE38327}"/>
              </a:ext>
            </a:extLst>
          </p:cNvPr>
          <p:cNvSpPr/>
          <p:nvPr/>
        </p:nvSpPr>
        <p:spPr>
          <a:xfrm>
            <a:off x="751703" y="3072997"/>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7" name="Freeform: Shape 6">
            <a:extLst>
              <a:ext uri="{FF2B5EF4-FFF2-40B4-BE49-F238E27FC236}">
                <a16:creationId xmlns:a16="http://schemas.microsoft.com/office/drawing/2014/main" id="{9D4D96D8-8D64-1088-A0E2-D2799C4E14CE}"/>
              </a:ext>
            </a:extLst>
          </p:cNvPr>
          <p:cNvSpPr/>
          <p:nvPr/>
        </p:nvSpPr>
        <p:spPr>
          <a:xfrm>
            <a:off x="599303" y="3224712"/>
            <a:ext cx="679622" cy="392401"/>
          </a:xfrm>
          <a:custGeom>
            <a:avLst/>
            <a:gdLst>
              <a:gd name="connsiteX0" fmla="*/ 0 w 679622"/>
              <a:gd name="connsiteY0" fmla="*/ 296562 h 392401"/>
              <a:gd name="connsiteX1" fmla="*/ 98854 w 679622"/>
              <a:gd name="connsiteY1" fmla="*/ 370702 h 392401"/>
              <a:gd name="connsiteX2" fmla="*/ 481914 w 679622"/>
              <a:gd name="connsiteY2" fmla="*/ 358345 h 392401"/>
              <a:gd name="connsiteX3" fmla="*/ 679622 w 679622"/>
              <a:gd name="connsiteY3" fmla="*/ 0 h 392401"/>
            </a:gdLst>
            <a:ahLst/>
            <a:cxnLst>
              <a:cxn ang="0">
                <a:pos x="connsiteX0" y="connsiteY0"/>
              </a:cxn>
              <a:cxn ang="0">
                <a:pos x="connsiteX1" y="connsiteY1"/>
              </a:cxn>
              <a:cxn ang="0">
                <a:pos x="connsiteX2" y="connsiteY2"/>
              </a:cxn>
              <a:cxn ang="0">
                <a:pos x="connsiteX3" y="connsiteY3"/>
              </a:cxn>
            </a:cxnLst>
            <a:rect l="l" t="t" r="r" b="b"/>
            <a:pathLst>
              <a:path w="679622" h="392401">
                <a:moveTo>
                  <a:pt x="0" y="296562"/>
                </a:moveTo>
                <a:cubicBezTo>
                  <a:pt x="9267" y="328483"/>
                  <a:pt x="18535" y="360405"/>
                  <a:pt x="98854" y="370702"/>
                </a:cubicBezTo>
                <a:cubicBezTo>
                  <a:pt x="179173" y="380999"/>
                  <a:pt x="385119" y="420129"/>
                  <a:pt x="481914" y="358345"/>
                </a:cubicBezTo>
                <a:cubicBezTo>
                  <a:pt x="578709" y="296561"/>
                  <a:pt x="629165" y="148280"/>
                  <a:pt x="679622"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B59D40D0-49B2-CA3B-E58F-9E73AFFBABAB}"/>
              </a:ext>
            </a:extLst>
          </p:cNvPr>
          <p:cNvSpPr/>
          <p:nvPr/>
        </p:nvSpPr>
        <p:spPr>
          <a:xfrm>
            <a:off x="518984" y="3051717"/>
            <a:ext cx="966204" cy="755190"/>
          </a:xfrm>
          <a:custGeom>
            <a:avLst/>
            <a:gdLst>
              <a:gd name="connsiteX0" fmla="*/ 0 w 966204"/>
              <a:gd name="connsiteY0" fmla="*/ 704335 h 755190"/>
              <a:gd name="connsiteX1" fmla="*/ 284205 w 966204"/>
              <a:gd name="connsiteY1" fmla="*/ 753762 h 755190"/>
              <a:gd name="connsiteX2" fmla="*/ 716692 w 966204"/>
              <a:gd name="connsiteY2" fmla="*/ 654908 h 755190"/>
              <a:gd name="connsiteX3" fmla="*/ 939114 w 966204"/>
              <a:gd name="connsiteY3" fmla="*/ 296562 h 755190"/>
              <a:gd name="connsiteX4" fmla="*/ 963827 w 966204"/>
              <a:gd name="connsiteY4" fmla="*/ 210065 h 755190"/>
              <a:gd name="connsiteX5" fmla="*/ 963827 w 966204"/>
              <a:gd name="connsiteY5" fmla="*/ 0 h 755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204" h="755190">
                <a:moveTo>
                  <a:pt x="0" y="704335"/>
                </a:moveTo>
                <a:cubicBezTo>
                  <a:pt x="82378" y="733167"/>
                  <a:pt x="164756" y="762000"/>
                  <a:pt x="284205" y="753762"/>
                </a:cubicBezTo>
                <a:cubicBezTo>
                  <a:pt x="403654" y="745524"/>
                  <a:pt x="607541" y="731108"/>
                  <a:pt x="716692" y="654908"/>
                </a:cubicBezTo>
                <a:cubicBezTo>
                  <a:pt x="825843" y="578708"/>
                  <a:pt x="897925" y="370702"/>
                  <a:pt x="939114" y="296562"/>
                </a:cubicBezTo>
                <a:cubicBezTo>
                  <a:pt x="980303" y="222422"/>
                  <a:pt x="959708" y="259492"/>
                  <a:pt x="963827" y="210065"/>
                </a:cubicBezTo>
                <a:cubicBezTo>
                  <a:pt x="967946" y="160638"/>
                  <a:pt x="965886" y="80319"/>
                  <a:pt x="963827"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0AE3740-F365-3FF4-2F1D-BB08DC1478E6}"/>
              </a:ext>
            </a:extLst>
          </p:cNvPr>
          <p:cNvSpPr/>
          <p:nvPr/>
        </p:nvSpPr>
        <p:spPr>
          <a:xfrm>
            <a:off x="531341" y="3014647"/>
            <a:ext cx="1188993" cy="1001611"/>
          </a:xfrm>
          <a:custGeom>
            <a:avLst/>
            <a:gdLst>
              <a:gd name="connsiteX0" fmla="*/ 0 w 1188993"/>
              <a:gd name="connsiteY0" fmla="*/ 976183 h 1001611"/>
              <a:gd name="connsiteX1" fmla="*/ 284205 w 1188993"/>
              <a:gd name="connsiteY1" fmla="*/ 1000897 h 1001611"/>
              <a:gd name="connsiteX2" fmla="*/ 667265 w 1188993"/>
              <a:gd name="connsiteY2" fmla="*/ 951470 h 1001611"/>
              <a:gd name="connsiteX3" fmla="*/ 1025611 w 1188993"/>
              <a:gd name="connsiteY3" fmla="*/ 691978 h 1001611"/>
              <a:gd name="connsiteX4" fmla="*/ 1149178 w 1188993"/>
              <a:gd name="connsiteY4" fmla="*/ 345989 h 1001611"/>
              <a:gd name="connsiteX5" fmla="*/ 1186248 w 1188993"/>
              <a:gd name="connsiteY5" fmla="*/ 135924 h 1001611"/>
              <a:gd name="connsiteX6" fmla="*/ 1186248 w 1188993"/>
              <a:gd name="connsiteY6" fmla="*/ 0 h 1001611"/>
              <a:gd name="connsiteX7" fmla="*/ 1186248 w 1188993"/>
              <a:gd name="connsiteY7" fmla="*/ 0 h 100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8993" h="1001611">
                <a:moveTo>
                  <a:pt x="0" y="976183"/>
                </a:moveTo>
                <a:cubicBezTo>
                  <a:pt x="86497" y="990599"/>
                  <a:pt x="172994" y="1005016"/>
                  <a:pt x="284205" y="1000897"/>
                </a:cubicBezTo>
                <a:cubicBezTo>
                  <a:pt x="395416" y="996778"/>
                  <a:pt x="543697" y="1002956"/>
                  <a:pt x="667265" y="951470"/>
                </a:cubicBezTo>
                <a:cubicBezTo>
                  <a:pt x="790833" y="899984"/>
                  <a:pt x="945292" y="792891"/>
                  <a:pt x="1025611" y="691978"/>
                </a:cubicBezTo>
                <a:cubicBezTo>
                  <a:pt x="1105930" y="591065"/>
                  <a:pt x="1122405" y="438665"/>
                  <a:pt x="1149178" y="345989"/>
                </a:cubicBezTo>
                <a:cubicBezTo>
                  <a:pt x="1175951" y="253313"/>
                  <a:pt x="1180070" y="193589"/>
                  <a:pt x="1186248" y="135924"/>
                </a:cubicBezTo>
                <a:cubicBezTo>
                  <a:pt x="1192426" y="78259"/>
                  <a:pt x="1186248" y="0"/>
                  <a:pt x="1186248" y="0"/>
                </a:cubicBezTo>
                <a:lnTo>
                  <a:pt x="1186248" y="0"/>
                </a:ln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6CCBA45-02B3-14BD-07F1-2EE4513D98D8}"/>
              </a:ext>
            </a:extLst>
          </p:cNvPr>
          <p:cNvSpPr/>
          <p:nvPr/>
        </p:nvSpPr>
        <p:spPr>
          <a:xfrm>
            <a:off x="457200" y="2891079"/>
            <a:ext cx="1523447" cy="1384106"/>
          </a:xfrm>
          <a:custGeom>
            <a:avLst/>
            <a:gdLst>
              <a:gd name="connsiteX0" fmla="*/ 0 w 1523447"/>
              <a:gd name="connsiteY0" fmla="*/ 1346887 h 1384106"/>
              <a:gd name="connsiteX1" fmla="*/ 345989 w 1523447"/>
              <a:gd name="connsiteY1" fmla="*/ 1383957 h 1384106"/>
              <a:gd name="connsiteX2" fmla="*/ 840260 w 1523447"/>
              <a:gd name="connsiteY2" fmla="*/ 1334530 h 1384106"/>
              <a:gd name="connsiteX3" fmla="*/ 1112108 w 1523447"/>
              <a:gd name="connsiteY3" fmla="*/ 1124465 h 1384106"/>
              <a:gd name="connsiteX4" fmla="*/ 1322173 w 1523447"/>
              <a:gd name="connsiteY4" fmla="*/ 988541 h 1384106"/>
              <a:gd name="connsiteX5" fmla="*/ 1445741 w 1523447"/>
              <a:gd name="connsiteY5" fmla="*/ 667265 h 1384106"/>
              <a:gd name="connsiteX6" fmla="*/ 1482811 w 1523447"/>
              <a:gd name="connsiteY6" fmla="*/ 469557 h 1384106"/>
              <a:gd name="connsiteX7" fmla="*/ 1519881 w 1523447"/>
              <a:gd name="connsiteY7" fmla="*/ 234778 h 1384106"/>
              <a:gd name="connsiteX8" fmla="*/ 1519881 w 1523447"/>
              <a:gd name="connsiteY8" fmla="*/ 0 h 138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447" h="1384106">
                <a:moveTo>
                  <a:pt x="0" y="1346887"/>
                </a:moveTo>
                <a:cubicBezTo>
                  <a:pt x="102973" y="1366452"/>
                  <a:pt x="205946" y="1386017"/>
                  <a:pt x="345989" y="1383957"/>
                </a:cubicBezTo>
                <a:cubicBezTo>
                  <a:pt x="486032" y="1381898"/>
                  <a:pt x="712574" y="1377779"/>
                  <a:pt x="840260" y="1334530"/>
                </a:cubicBezTo>
                <a:cubicBezTo>
                  <a:pt x="967947" y="1291281"/>
                  <a:pt x="1031789" y="1182130"/>
                  <a:pt x="1112108" y="1124465"/>
                </a:cubicBezTo>
                <a:cubicBezTo>
                  <a:pt x="1192427" y="1066800"/>
                  <a:pt x="1266568" y="1064741"/>
                  <a:pt x="1322173" y="988541"/>
                </a:cubicBezTo>
                <a:cubicBezTo>
                  <a:pt x="1377778" y="912341"/>
                  <a:pt x="1418968" y="753762"/>
                  <a:pt x="1445741" y="667265"/>
                </a:cubicBezTo>
                <a:cubicBezTo>
                  <a:pt x="1472514" y="580768"/>
                  <a:pt x="1470454" y="541638"/>
                  <a:pt x="1482811" y="469557"/>
                </a:cubicBezTo>
                <a:cubicBezTo>
                  <a:pt x="1495168" y="397476"/>
                  <a:pt x="1513703" y="313037"/>
                  <a:pt x="1519881" y="234778"/>
                </a:cubicBezTo>
                <a:cubicBezTo>
                  <a:pt x="1526059" y="156519"/>
                  <a:pt x="1522970" y="78259"/>
                  <a:pt x="1519881"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49F33FB2-4FEA-09AE-7ACE-2B8EEED8B6B6}"/>
              </a:ext>
            </a:extLst>
          </p:cNvPr>
          <p:cNvSpPr/>
          <p:nvPr/>
        </p:nvSpPr>
        <p:spPr>
          <a:xfrm>
            <a:off x="630195" y="4435674"/>
            <a:ext cx="679622" cy="149003"/>
          </a:xfrm>
          <a:custGeom>
            <a:avLst/>
            <a:gdLst>
              <a:gd name="connsiteX0" fmla="*/ 0 w 679622"/>
              <a:gd name="connsiteY0" fmla="*/ 135924 h 149003"/>
              <a:gd name="connsiteX1" fmla="*/ 457200 w 679622"/>
              <a:gd name="connsiteY1" fmla="*/ 135924 h 149003"/>
              <a:gd name="connsiteX2" fmla="*/ 679622 w 679622"/>
              <a:gd name="connsiteY2" fmla="*/ 0 h 149003"/>
            </a:gdLst>
            <a:ahLst/>
            <a:cxnLst>
              <a:cxn ang="0">
                <a:pos x="connsiteX0" y="connsiteY0"/>
              </a:cxn>
              <a:cxn ang="0">
                <a:pos x="connsiteX1" y="connsiteY1"/>
              </a:cxn>
              <a:cxn ang="0">
                <a:pos x="connsiteX2" y="connsiteY2"/>
              </a:cxn>
            </a:cxnLst>
            <a:rect l="l" t="t" r="r" b="b"/>
            <a:pathLst>
              <a:path w="679622" h="149003">
                <a:moveTo>
                  <a:pt x="0" y="135924"/>
                </a:moveTo>
                <a:cubicBezTo>
                  <a:pt x="171965" y="147251"/>
                  <a:pt x="343930" y="158578"/>
                  <a:pt x="457200" y="135924"/>
                </a:cubicBezTo>
                <a:cubicBezTo>
                  <a:pt x="570470" y="113270"/>
                  <a:pt x="625046" y="56635"/>
                  <a:pt x="679622"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12001A45-283A-45FE-8C53-5B7971DC3D9E}"/>
              </a:ext>
            </a:extLst>
          </p:cNvPr>
          <p:cNvSpPr/>
          <p:nvPr/>
        </p:nvSpPr>
        <p:spPr>
          <a:xfrm>
            <a:off x="1952368" y="2705728"/>
            <a:ext cx="358830" cy="1371600"/>
          </a:xfrm>
          <a:custGeom>
            <a:avLst/>
            <a:gdLst>
              <a:gd name="connsiteX0" fmla="*/ 0 w 358830"/>
              <a:gd name="connsiteY0" fmla="*/ 1371600 h 1371600"/>
              <a:gd name="connsiteX1" fmla="*/ 172994 w 358830"/>
              <a:gd name="connsiteY1" fmla="*/ 1198605 h 1371600"/>
              <a:gd name="connsiteX2" fmla="*/ 308919 w 358830"/>
              <a:gd name="connsiteY2" fmla="*/ 704335 h 1371600"/>
              <a:gd name="connsiteX3" fmla="*/ 358346 w 358830"/>
              <a:gd name="connsiteY3" fmla="*/ 420129 h 1371600"/>
              <a:gd name="connsiteX4" fmla="*/ 284205 w 358830"/>
              <a:gd name="connsiteY4" fmla="*/ 0 h 137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830" h="1371600">
                <a:moveTo>
                  <a:pt x="0" y="1371600"/>
                </a:moveTo>
                <a:cubicBezTo>
                  <a:pt x="60754" y="1340708"/>
                  <a:pt x="121508" y="1309816"/>
                  <a:pt x="172994" y="1198605"/>
                </a:cubicBezTo>
                <a:cubicBezTo>
                  <a:pt x="224480" y="1087394"/>
                  <a:pt x="278027" y="834081"/>
                  <a:pt x="308919" y="704335"/>
                </a:cubicBezTo>
                <a:cubicBezTo>
                  <a:pt x="339811" y="574589"/>
                  <a:pt x="362465" y="537518"/>
                  <a:pt x="358346" y="420129"/>
                </a:cubicBezTo>
                <a:cubicBezTo>
                  <a:pt x="354227" y="302740"/>
                  <a:pt x="319216" y="151370"/>
                  <a:pt x="284205"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E2DA957D-9916-4D4A-B6F3-76E56721B370}"/>
              </a:ext>
            </a:extLst>
          </p:cNvPr>
          <p:cNvSpPr/>
          <p:nvPr/>
        </p:nvSpPr>
        <p:spPr>
          <a:xfrm>
            <a:off x="2434281" y="2656301"/>
            <a:ext cx="173445" cy="1272746"/>
          </a:xfrm>
          <a:custGeom>
            <a:avLst/>
            <a:gdLst>
              <a:gd name="connsiteX0" fmla="*/ 0 w 173445"/>
              <a:gd name="connsiteY0" fmla="*/ 1272746 h 1272746"/>
              <a:gd name="connsiteX1" fmla="*/ 123568 w 173445"/>
              <a:gd name="connsiteY1" fmla="*/ 1000897 h 1272746"/>
              <a:gd name="connsiteX2" fmla="*/ 172995 w 173445"/>
              <a:gd name="connsiteY2" fmla="*/ 432486 h 1272746"/>
              <a:gd name="connsiteX3" fmla="*/ 98854 w 173445"/>
              <a:gd name="connsiteY3" fmla="*/ 0 h 1272746"/>
            </a:gdLst>
            <a:ahLst/>
            <a:cxnLst>
              <a:cxn ang="0">
                <a:pos x="connsiteX0" y="connsiteY0"/>
              </a:cxn>
              <a:cxn ang="0">
                <a:pos x="connsiteX1" y="connsiteY1"/>
              </a:cxn>
              <a:cxn ang="0">
                <a:pos x="connsiteX2" y="connsiteY2"/>
              </a:cxn>
              <a:cxn ang="0">
                <a:pos x="connsiteX3" y="connsiteY3"/>
              </a:cxn>
            </a:cxnLst>
            <a:rect l="l" t="t" r="r" b="b"/>
            <a:pathLst>
              <a:path w="173445" h="1272746">
                <a:moveTo>
                  <a:pt x="0" y="1272746"/>
                </a:moveTo>
                <a:cubicBezTo>
                  <a:pt x="47367" y="1206843"/>
                  <a:pt x="94735" y="1140940"/>
                  <a:pt x="123568" y="1000897"/>
                </a:cubicBezTo>
                <a:cubicBezTo>
                  <a:pt x="152401" y="860854"/>
                  <a:pt x="177114" y="599302"/>
                  <a:pt x="172995" y="432486"/>
                </a:cubicBezTo>
                <a:cubicBezTo>
                  <a:pt x="168876" y="265670"/>
                  <a:pt x="133865" y="132835"/>
                  <a:pt x="98854"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83B46758-1C49-59B8-1E5A-BB366A4569E3}"/>
              </a:ext>
            </a:extLst>
          </p:cNvPr>
          <p:cNvSpPr/>
          <p:nvPr/>
        </p:nvSpPr>
        <p:spPr>
          <a:xfrm>
            <a:off x="2903838" y="2878722"/>
            <a:ext cx="78014" cy="694003"/>
          </a:xfrm>
          <a:custGeom>
            <a:avLst/>
            <a:gdLst>
              <a:gd name="connsiteX0" fmla="*/ 12357 w 78014"/>
              <a:gd name="connsiteY0" fmla="*/ 679622 h 694003"/>
              <a:gd name="connsiteX1" fmla="*/ 61784 w 78014"/>
              <a:gd name="connsiteY1" fmla="*/ 642552 h 694003"/>
              <a:gd name="connsiteX2" fmla="*/ 74141 w 78014"/>
              <a:gd name="connsiteY2" fmla="*/ 259492 h 694003"/>
              <a:gd name="connsiteX3" fmla="*/ 0 w 78014"/>
              <a:gd name="connsiteY3" fmla="*/ 0 h 694003"/>
            </a:gdLst>
            <a:ahLst/>
            <a:cxnLst>
              <a:cxn ang="0">
                <a:pos x="connsiteX0" y="connsiteY0"/>
              </a:cxn>
              <a:cxn ang="0">
                <a:pos x="connsiteX1" y="connsiteY1"/>
              </a:cxn>
              <a:cxn ang="0">
                <a:pos x="connsiteX2" y="connsiteY2"/>
              </a:cxn>
              <a:cxn ang="0">
                <a:pos x="connsiteX3" y="connsiteY3"/>
              </a:cxn>
            </a:cxnLst>
            <a:rect l="l" t="t" r="r" b="b"/>
            <a:pathLst>
              <a:path w="78014" h="694003">
                <a:moveTo>
                  <a:pt x="12357" y="679622"/>
                </a:moveTo>
                <a:cubicBezTo>
                  <a:pt x="31922" y="696098"/>
                  <a:pt x="51487" y="712574"/>
                  <a:pt x="61784" y="642552"/>
                </a:cubicBezTo>
                <a:cubicBezTo>
                  <a:pt x="72081" y="572530"/>
                  <a:pt x="84438" y="366584"/>
                  <a:pt x="74141" y="259492"/>
                </a:cubicBezTo>
                <a:cubicBezTo>
                  <a:pt x="63844" y="152400"/>
                  <a:pt x="31922" y="76200"/>
                  <a:pt x="0"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0061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xit" presetSubtype="0" fill="hold" grpId="1" nodeType="withEffect">
                                  <p:stCondLst>
                                    <p:cond delay="0"/>
                                  </p:stCondLst>
                                  <p:childTnLst>
                                    <p:animEffect transition="out" filter="fade">
                                      <p:cBhvr>
                                        <p:cTn id="14" dur="500"/>
                                        <p:tgtEl>
                                          <p:spTgt spid="7"/>
                                        </p:tgtEl>
                                      </p:cBhvr>
                                    </p:animEffect>
                                    <p:set>
                                      <p:cBhvr>
                                        <p:cTn id="15" dur="1" fill="hold">
                                          <p:stCondLst>
                                            <p:cond delay="499"/>
                                          </p:stCondLst>
                                        </p:cTn>
                                        <p:tgtEl>
                                          <p:spTgt spid="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xit" presetSubtype="0" fill="hold" grpId="1" nodeType="withEffect">
                                  <p:stCondLst>
                                    <p:cond delay="0"/>
                                  </p:stCondLst>
                                  <p:childTnLst>
                                    <p:animEffect transition="out" filter="fade">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1"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xit" presetSubtype="0" fill="hold" grpId="1" nodeType="withEffect">
                                  <p:stCondLst>
                                    <p:cond delay="0"/>
                                  </p:stCondLst>
                                  <p:childTnLst>
                                    <p:animEffect transition="out" filter="fade">
                                      <p:cBhvr>
                                        <p:cTn id="30" dur="500"/>
                                        <p:tgtEl>
                                          <p:spTgt spid="10"/>
                                        </p:tgtEl>
                                      </p:cBhvr>
                                    </p:animEffect>
                                    <p:set>
                                      <p:cBhvr>
                                        <p:cTn id="31" dur="1" fill="hold">
                                          <p:stCondLst>
                                            <p:cond delay="499"/>
                                          </p:stCondLst>
                                        </p:cTn>
                                        <p:tgtEl>
                                          <p:spTgt spid="1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1"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ntr" presetSubtype="0" fill="hold" grpId="1"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childTnLst>
                                </p:cTn>
                              </p:par>
                              <p:par>
                                <p:cTn id="40" presetID="10" presetClass="exit" presetSubtype="0" fill="hold" grpId="0" nodeType="withEffect">
                                  <p:stCondLst>
                                    <p:cond delay="0"/>
                                  </p:stCondLst>
                                  <p:childTnLst>
                                    <p:animEffect transition="out" filter="fade">
                                      <p:cBhvr>
                                        <p:cTn id="41" dur="500"/>
                                        <p:tgtEl>
                                          <p:spTgt spid="16"/>
                                        </p:tgtEl>
                                      </p:cBhvr>
                                    </p:animEffect>
                                    <p:set>
                                      <p:cBhvr>
                                        <p:cTn id="42" dur="1" fill="hold">
                                          <p:stCondLst>
                                            <p:cond delay="499"/>
                                          </p:stCondLst>
                                        </p:cTn>
                                        <p:tgtEl>
                                          <p:spTgt spid="1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1"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00"/>
                                        <p:tgtEl>
                                          <p:spTgt spid="32"/>
                                        </p:tgtEl>
                                      </p:cBhvr>
                                    </p:animEffect>
                                  </p:childTnLst>
                                </p:cTn>
                              </p:par>
                              <p:par>
                                <p:cTn id="48" presetID="10" presetClass="exit" presetSubtype="0" fill="hold" grpId="0" nodeType="withEffect">
                                  <p:stCondLst>
                                    <p:cond delay="0"/>
                                  </p:stCondLst>
                                  <p:childTnLst>
                                    <p:animEffect transition="out" filter="fade">
                                      <p:cBhvr>
                                        <p:cTn id="49" dur="500"/>
                                        <p:tgtEl>
                                          <p:spTgt spid="28"/>
                                        </p:tgtEl>
                                      </p:cBhvr>
                                    </p:animEffect>
                                    <p:set>
                                      <p:cBhvr>
                                        <p:cTn id="50" dur="1" fill="hold">
                                          <p:stCondLst>
                                            <p:cond delay="499"/>
                                          </p:stCondLst>
                                        </p:cTn>
                                        <p:tgtEl>
                                          <p:spTgt spid="28"/>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500"/>
                                        <p:tgtEl>
                                          <p:spTgt spid="31"/>
                                        </p:tgtEl>
                                      </p:cBhvr>
                                    </p:animEffect>
                                    <p:set>
                                      <p:cBhvr>
                                        <p:cTn id="53" dur="1" fill="hold">
                                          <p:stCondLst>
                                            <p:cond delay="499"/>
                                          </p:stCondLst>
                                        </p:cTn>
                                        <p:tgtEl>
                                          <p:spTgt spid="31"/>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1" nodeType="click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500"/>
                                        <p:tgtEl>
                                          <p:spTgt spid="36"/>
                                        </p:tgtEl>
                                      </p:cBhvr>
                                    </p:animEffect>
                                  </p:childTnLst>
                                </p:cTn>
                              </p:par>
                              <p:par>
                                <p:cTn id="59" presetID="10" presetClass="exit" presetSubtype="0" fill="hold" grpId="0" nodeType="withEffect">
                                  <p:stCondLst>
                                    <p:cond delay="0"/>
                                  </p:stCondLst>
                                  <p:childTnLst>
                                    <p:animEffect transition="out" filter="fade">
                                      <p:cBhvr>
                                        <p:cTn id="60" dur="500"/>
                                        <p:tgtEl>
                                          <p:spTgt spid="32"/>
                                        </p:tgtEl>
                                      </p:cBhvr>
                                    </p:animEffect>
                                    <p:set>
                                      <p:cBhvr>
                                        <p:cTn id="61" dur="1" fill="hold">
                                          <p:stCondLst>
                                            <p:cond delay="499"/>
                                          </p:stCondLst>
                                        </p:cTn>
                                        <p:tgtEl>
                                          <p:spTgt spid="32"/>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grpId="0" nodeType="clickEffect">
                                  <p:stCondLst>
                                    <p:cond delay="0"/>
                                  </p:stCondLst>
                                  <p:childTnLst>
                                    <p:animEffect transition="out" filter="fade">
                                      <p:cBhvr>
                                        <p:cTn id="65" dur="500"/>
                                        <p:tgtEl>
                                          <p:spTgt spid="36"/>
                                        </p:tgtEl>
                                      </p:cBhvr>
                                    </p:animEffect>
                                    <p:set>
                                      <p:cBhvr>
                                        <p:cTn id="66" dur="1" fill="hold">
                                          <p:stCondLst>
                                            <p:cond delay="499"/>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10" grpId="0" animBg="1"/>
      <p:bldP spid="10" grpId="1" animBg="1"/>
      <p:bldP spid="16" grpId="0" animBg="1"/>
      <p:bldP spid="16" grpId="1" animBg="1"/>
      <p:bldP spid="28" grpId="0" animBg="1"/>
      <p:bldP spid="28" grpId="1" animBg="1"/>
      <p:bldP spid="31" grpId="0" animBg="1"/>
      <p:bldP spid="31" grpId="1" animBg="1"/>
      <p:bldP spid="32" grpId="0" animBg="1"/>
      <p:bldP spid="32" grpId="1" animBg="1"/>
      <p:bldP spid="36" grpId="0" animBg="1"/>
      <p:bldP spid="36"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1303E-9129-6636-B0AB-C43EA37AD87B}"/>
            </a:ext>
          </a:extLst>
        </p:cNvPr>
        <p:cNvGrpSpPr/>
        <p:nvPr/>
      </p:nvGrpSpPr>
      <p:grpSpPr>
        <a:xfrm>
          <a:off x="0" y="0"/>
          <a:ext cx="0" cy="0"/>
          <a:chOff x="0" y="0"/>
          <a:chExt cx="0" cy="0"/>
        </a:xfrm>
      </p:grpSpPr>
      <p:pic>
        <p:nvPicPr>
          <p:cNvPr id="6" name="Picture 5" descr="A diagram of a heart&#10;&#10;AI-generated content may be incorrect.">
            <a:extLst>
              <a:ext uri="{FF2B5EF4-FFF2-40B4-BE49-F238E27FC236}">
                <a16:creationId xmlns:a16="http://schemas.microsoft.com/office/drawing/2014/main" id="{9E99F8C1-A0CA-B08C-E7A4-244E847287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3EF87F1B-516D-8EAC-DE04-F5E95DE32240}"/>
              </a:ext>
            </a:extLst>
          </p:cNvPr>
          <p:cNvSpPr>
            <a:spLocks noGrp="1"/>
          </p:cNvSpPr>
          <p:nvPr>
            <p:ph type="title"/>
          </p:nvPr>
        </p:nvSpPr>
        <p:spPr/>
        <p:txBody>
          <a:bodyPr/>
          <a:lstStyle/>
          <a:p>
            <a:r>
              <a:rPr lang="en-US" dirty="0"/>
              <a:t>P-wave vectors</a:t>
            </a:r>
          </a:p>
        </p:txBody>
      </p:sp>
      <p:sp>
        <p:nvSpPr>
          <p:cNvPr id="3" name="Content Placeholder 2">
            <a:extLst>
              <a:ext uri="{FF2B5EF4-FFF2-40B4-BE49-F238E27FC236}">
                <a16:creationId xmlns:a16="http://schemas.microsoft.com/office/drawing/2014/main" id="{D7863485-2E47-EE27-6724-563BC2C9F2DC}"/>
              </a:ext>
            </a:extLst>
          </p:cNvPr>
          <p:cNvSpPr>
            <a:spLocks noGrp="1"/>
          </p:cNvSpPr>
          <p:nvPr>
            <p:ph idx="1"/>
          </p:nvPr>
        </p:nvSpPr>
        <p:spPr>
          <a:xfrm>
            <a:off x="4136675" y="1316379"/>
            <a:ext cx="4769582" cy="1756617"/>
          </a:xfrm>
        </p:spPr>
        <p:txBody>
          <a:bodyPr/>
          <a:lstStyle/>
          <a:p>
            <a:r>
              <a:rPr lang="en-US" sz="2400" dirty="0"/>
              <a:t>What is the summed vector direction at the beginning of the P wave?</a:t>
            </a:r>
          </a:p>
          <a:p>
            <a:pPr lvl="1"/>
            <a:r>
              <a:rPr lang="en-US" sz="2000" dirty="0"/>
              <a:t>Down and to the </a:t>
            </a:r>
            <a:r>
              <a:rPr lang="en-US" sz="2000" i="1" dirty="0"/>
              <a:t>anatomical left</a:t>
            </a:r>
            <a:endParaRPr lang="en-US" sz="2000" dirty="0"/>
          </a:p>
          <a:p>
            <a:endParaRPr lang="en-US" sz="2400" dirty="0"/>
          </a:p>
          <a:p>
            <a:endParaRPr lang="en-US" sz="2400" dirty="0"/>
          </a:p>
        </p:txBody>
      </p:sp>
      <p:sp>
        <p:nvSpPr>
          <p:cNvPr id="4" name="Footer Placeholder 3">
            <a:extLst>
              <a:ext uri="{FF2B5EF4-FFF2-40B4-BE49-F238E27FC236}">
                <a16:creationId xmlns:a16="http://schemas.microsoft.com/office/drawing/2014/main" id="{B77FC1FC-058A-83B6-4137-1FCBA7AD5D2F}"/>
              </a:ext>
            </a:extLst>
          </p:cNvPr>
          <p:cNvSpPr>
            <a:spLocks noGrp="1"/>
          </p:cNvSpPr>
          <p:nvPr>
            <p:ph type="ftr" sz="quarter" idx="11"/>
          </p:nvPr>
        </p:nvSpPr>
        <p:spPr/>
        <p:txBody>
          <a:bodyPr/>
          <a:lstStyle/>
          <a:p>
            <a:pPr>
              <a:defRPr/>
            </a:pPr>
            <a:r>
              <a:rPr lang="en-US"/>
              <a:t>EE 123 -- Bioelectricity</a:t>
            </a:r>
            <a:endParaRPr lang="en-US" dirty="0"/>
          </a:p>
        </p:txBody>
      </p:sp>
      <p:sp>
        <p:nvSpPr>
          <p:cNvPr id="23" name="TextBox 22">
            <a:extLst>
              <a:ext uri="{FF2B5EF4-FFF2-40B4-BE49-F238E27FC236}">
                <a16:creationId xmlns:a16="http://schemas.microsoft.com/office/drawing/2014/main" id="{8FB845FD-2698-A045-DAB6-B34CD1AC541B}"/>
              </a:ext>
            </a:extLst>
          </p:cNvPr>
          <p:cNvSpPr txBox="1"/>
          <p:nvPr/>
        </p:nvSpPr>
        <p:spPr>
          <a:xfrm>
            <a:off x="2152181" y="4415135"/>
            <a:ext cx="304800" cy="461665"/>
          </a:xfrm>
          <a:prstGeom prst="rect">
            <a:avLst/>
          </a:prstGeom>
          <a:noFill/>
        </p:spPr>
        <p:txBody>
          <a:bodyPr wrap="square" rtlCol="0">
            <a:spAutoFit/>
          </a:bodyPr>
          <a:lstStyle/>
          <a:p>
            <a:r>
              <a:rPr lang="en-US" dirty="0">
                <a:solidFill>
                  <a:schemeClr val="accent2"/>
                </a:solidFill>
              </a:rPr>
              <a:t>R</a:t>
            </a:r>
          </a:p>
        </p:txBody>
      </p:sp>
      <p:sp>
        <p:nvSpPr>
          <p:cNvPr id="5" name="Oval 4">
            <a:extLst>
              <a:ext uri="{FF2B5EF4-FFF2-40B4-BE49-F238E27FC236}">
                <a16:creationId xmlns:a16="http://schemas.microsoft.com/office/drawing/2014/main" id="{930E722F-EB2B-46DA-E4A6-24D131E35663}"/>
              </a:ext>
            </a:extLst>
          </p:cNvPr>
          <p:cNvSpPr/>
          <p:nvPr/>
        </p:nvSpPr>
        <p:spPr>
          <a:xfrm>
            <a:off x="751703" y="3072997"/>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cxnSp>
        <p:nvCxnSpPr>
          <p:cNvPr id="9" name="Straight Arrow Connector 8">
            <a:extLst>
              <a:ext uri="{FF2B5EF4-FFF2-40B4-BE49-F238E27FC236}">
                <a16:creationId xmlns:a16="http://schemas.microsoft.com/office/drawing/2014/main" id="{2A488690-81AB-7750-1E72-7CDB5B974B56}"/>
              </a:ext>
            </a:extLst>
          </p:cNvPr>
          <p:cNvCxnSpPr>
            <a:cxnSpLocks/>
          </p:cNvCxnSpPr>
          <p:nvPr/>
        </p:nvCxnSpPr>
        <p:spPr>
          <a:xfrm flipH="1">
            <a:off x="679494" y="3505200"/>
            <a:ext cx="82506" cy="320572"/>
          </a:xfrm>
          <a:prstGeom prst="straightConnector1">
            <a:avLst/>
          </a:prstGeom>
          <a:ln w="28575">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6A7C87C-586C-908B-BADD-03297B31A4EC}"/>
              </a:ext>
            </a:extLst>
          </p:cNvPr>
          <p:cNvCxnSpPr>
            <a:cxnSpLocks/>
          </p:cNvCxnSpPr>
          <p:nvPr/>
        </p:nvCxnSpPr>
        <p:spPr>
          <a:xfrm>
            <a:off x="1066800" y="3453312"/>
            <a:ext cx="161541" cy="204288"/>
          </a:xfrm>
          <a:prstGeom prst="straightConnector1">
            <a:avLst/>
          </a:prstGeom>
          <a:ln w="28575">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6023A31-8AA7-F2B0-FD1C-312234C7B870}"/>
              </a:ext>
            </a:extLst>
          </p:cNvPr>
          <p:cNvCxnSpPr>
            <a:cxnSpLocks/>
          </p:cNvCxnSpPr>
          <p:nvPr/>
        </p:nvCxnSpPr>
        <p:spPr>
          <a:xfrm>
            <a:off x="1198436" y="3248740"/>
            <a:ext cx="325564" cy="120557"/>
          </a:xfrm>
          <a:prstGeom prst="straightConnector1">
            <a:avLst/>
          </a:prstGeom>
          <a:ln w="28575">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0D6A28B-00C7-A022-9CB8-AED63016D76E}"/>
              </a:ext>
            </a:extLst>
          </p:cNvPr>
          <p:cNvCxnSpPr>
            <a:cxnSpLocks/>
          </p:cNvCxnSpPr>
          <p:nvPr/>
        </p:nvCxnSpPr>
        <p:spPr>
          <a:xfrm>
            <a:off x="1066800" y="3434322"/>
            <a:ext cx="403685" cy="528078"/>
          </a:xfrm>
          <a:prstGeom prst="straightConnector1">
            <a:avLst/>
          </a:prstGeom>
          <a:ln w="28575">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2" name="Freeform: Shape 41">
            <a:extLst>
              <a:ext uri="{FF2B5EF4-FFF2-40B4-BE49-F238E27FC236}">
                <a16:creationId xmlns:a16="http://schemas.microsoft.com/office/drawing/2014/main" id="{63161C42-DAEB-12D6-8502-B02BC9682F30}"/>
              </a:ext>
            </a:extLst>
          </p:cNvPr>
          <p:cNvSpPr/>
          <p:nvPr/>
        </p:nvSpPr>
        <p:spPr>
          <a:xfrm>
            <a:off x="5029200" y="5210665"/>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909B1110-718F-AC89-8CD4-CA3635BD15C5}"/>
              </a:ext>
            </a:extLst>
          </p:cNvPr>
          <p:cNvSpPr/>
          <p:nvPr/>
        </p:nvSpPr>
        <p:spPr>
          <a:xfrm>
            <a:off x="6774466" y="5119944"/>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0B258D03-904A-619B-750D-2F2D577D5082}"/>
              </a:ext>
            </a:extLst>
          </p:cNvPr>
          <p:cNvSpPr/>
          <p:nvPr/>
        </p:nvSpPr>
        <p:spPr>
          <a:xfrm>
            <a:off x="5569934" y="3848286"/>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CB8C3878-38C7-D7B1-1F88-67FF97BCB5ED}"/>
              </a:ext>
            </a:extLst>
          </p:cNvPr>
          <p:cNvSpPr txBox="1"/>
          <p:nvPr/>
        </p:nvSpPr>
        <p:spPr>
          <a:xfrm>
            <a:off x="5105400" y="5223180"/>
            <a:ext cx="304800" cy="461665"/>
          </a:xfrm>
          <a:prstGeom prst="rect">
            <a:avLst/>
          </a:prstGeom>
          <a:noFill/>
        </p:spPr>
        <p:txBody>
          <a:bodyPr wrap="square" rtlCol="0">
            <a:spAutoFit/>
          </a:bodyPr>
          <a:lstStyle/>
          <a:p>
            <a:r>
              <a:rPr lang="en-US" dirty="0">
                <a:solidFill>
                  <a:srgbClr val="FF0000"/>
                </a:solidFill>
              </a:rPr>
              <a:t>P</a:t>
            </a:r>
          </a:p>
        </p:txBody>
      </p:sp>
      <p:sp>
        <p:nvSpPr>
          <p:cNvPr id="46" name="TextBox 45">
            <a:extLst>
              <a:ext uri="{FF2B5EF4-FFF2-40B4-BE49-F238E27FC236}">
                <a16:creationId xmlns:a16="http://schemas.microsoft.com/office/drawing/2014/main" id="{97968366-D76E-D0C6-2C77-E403DB63CCFA}"/>
              </a:ext>
            </a:extLst>
          </p:cNvPr>
          <p:cNvSpPr txBox="1"/>
          <p:nvPr/>
        </p:nvSpPr>
        <p:spPr>
          <a:xfrm>
            <a:off x="5812930" y="5422669"/>
            <a:ext cx="304800" cy="461665"/>
          </a:xfrm>
          <a:prstGeom prst="rect">
            <a:avLst/>
          </a:prstGeom>
          <a:noFill/>
        </p:spPr>
        <p:txBody>
          <a:bodyPr wrap="square" rtlCol="0">
            <a:spAutoFit/>
          </a:bodyPr>
          <a:lstStyle/>
          <a:p>
            <a:r>
              <a:rPr lang="en-US" dirty="0">
                <a:solidFill>
                  <a:schemeClr val="accent2"/>
                </a:solidFill>
              </a:rPr>
              <a:t>Q</a:t>
            </a:r>
          </a:p>
        </p:txBody>
      </p:sp>
      <p:sp>
        <p:nvSpPr>
          <p:cNvPr id="47" name="TextBox 46">
            <a:extLst>
              <a:ext uri="{FF2B5EF4-FFF2-40B4-BE49-F238E27FC236}">
                <a16:creationId xmlns:a16="http://schemas.microsoft.com/office/drawing/2014/main" id="{4C58A42B-C914-1CB2-5230-FF84FCCEE665}"/>
              </a:ext>
            </a:extLst>
          </p:cNvPr>
          <p:cNvSpPr txBox="1"/>
          <p:nvPr/>
        </p:nvSpPr>
        <p:spPr>
          <a:xfrm>
            <a:off x="6913598" y="5113867"/>
            <a:ext cx="304800" cy="461665"/>
          </a:xfrm>
          <a:prstGeom prst="rect">
            <a:avLst/>
          </a:prstGeom>
          <a:noFill/>
        </p:spPr>
        <p:txBody>
          <a:bodyPr wrap="square" rtlCol="0">
            <a:spAutoFit/>
          </a:bodyPr>
          <a:lstStyle/>
          <a:p>
            <a:r>
              <a:rPr lang="en-US" dirty="0">
                <a:solidFill>
                  <a:schemeClr val="accent2"/>
                </a:solidFill>
              </a:rPr>
              <a:t>T</a:t>
            </a:r>
          </a:p>
        </p:txBody>
      </p:sp>
      <p:sp>
        <p:nvSpPr>
          <p:cNvPr id="48" name="TextBox 47">
            <a:extLst>
              <a:ext uri="{FF2B5EF4-FFF2-40B4-BE49-F238E27FC236}">
                <a16:creationId xmlns:a16="http://schemas.microsoft.com/office/drawing/2014/main" id="{C2B93FB9-DB53-92B7-BF36-6593CCDA9B1E}"/>
              </a:ext>
            </a:extLst>
          </p:cNvPr>
          <p:cNvSpPr txBox="1"/>
          <p:nvPr/>
        </p:nvSpPr>
        <p:spPr>
          <a:xfrm>
            <a:off x="6096000" y="5634335"/>
            <a:ext cx="304800" cy="461665"/>
          </a:xfrm>
          <a:prstGeom prst="rect">
            <a:avLst/>
          </a:prstGeom>
          <a:noFill/>
        </p:spPr>
        <p:txBody>
          <a:bodyPr wrap="square" rtlCol="0">
            <a:spAutoFit/>
          </a:bodyPr>
          <a:lstStyle/>
          <a:p>
            <a:r>
              <a:rPr lang="en-US" dirty="0">
                <a:solidFill>
                  <a:schemeClr val="accent2"/>
                </a:solidFill>
              </a:rPr>
              <a:t>S</a:t>
            </a:r>
          </a:p>
        </p:txBody>
      </p:sp>
      <p:sp>
        <p:nvSpPr>
          <p:cNvPr id="7" name="Freeform: Shape 6">
            <a:extLst>
              <a:ext uri="{FF2B5EF4-FFF2-40B4-BE49-F238E27FC236}">
                <a16:creationId xmlns:a16="http://schemas.microsoft.com/office/drawing/2014/main" id="{C6DD03AE-39FD-8644-B5B1-C3B786A0A076}"/>
              </a:ext>
            </a:extLst>
          </p:cNvPr>
          <p:cNvSpPr/>
          <p:nvPr/>
        </p:nvSpPr>
        <p:spPr>
          <a:xfrm>
            <a:off x="599303" y="3224712"/>
            <a:ext cx="679622" cy="392401"/>
          </a:xfrm>
          <a:custGeom>
            <a:avLst/>
            <a:gdLst>
              <a:gd name="connsiteX0" fmla="*/ 0 w 679622"/>
              <a:gd name="connsiteY0" fmla="*/ 296562 h 392401"/>
              <a:gd name="connsiteX1" fmla="*/ 98854 w 679622"/>
              <a:gd name="connsiteY1" fmla="*/ 370702 h 392401"/>
              <a:gd name="connsiteX2" fmla="*/ 481914 w 679622"/>
              <a:gd name="connsiteY2" fmla="*/ 358345 h 392401"/>
              <a:gd name="connsiteX3" fmla="*/ 679622 w 679622"/>
              <a:gd name="connsiteY3" fmla="*/ 0 h 392401"/>
            </a:gdLst>
            <a:ahLst/>
            <a:cxnLst>
              <a:cxn ang="0">
                <a:pos x="connsiteX0" y="connsiteY0"/>
              </a:cxn>
              <a:cxn ang="0">
                <a:pos x="connsiteX1" y="connsiteY1"/>
              </a:cxn>
              <a:cxn ang="0">
                <a:pos x="connsiteX2" y="connsiteY2"/>
              </a:cxn>
              <a:cxn ang="0">
                <a:pos x="connsiteX3" y="connsiteY3"/>
              </a:cxn>
            </a:cxnLst>
            <a:rect l="l" t="t" r="r" b="b"/>
            <a:pathLst>
              <a:path w="679622" h="392401">
                <a:moveTo>
                  <a:pt x="0" y="296562"/>
                </a:moveTo>
                <a:cubicBezTo>
                  <a:pt x="9267" y="328483"/>
                  <a:pt x="18535" y="360405"/>
                  <a:pt x="98854" y="370702"/>
                </a:cubicBezTo>
                <a:cubicBezTo>
                  <a:pt x="179173" y="380999"/>
                  <a:pt x="385119" y="420129"/>
                  <a:pt x="481914" y="358345"/>
                </a:cubicBezTo>
                <a:cubicBezTo>
                  <a:pt x="578709" y="296561"/>
                  <a:pt x="629165" y="148280"/>
                  <a:pt x="679622"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8937170D-546A-6678-7C05-67E802852816}"/>
              </a:ext>
            </a:extLst>
          </p:cNvPr>
          <p:cNvCxnSpPr>
            <a:cxnSpLocks/>
          </p:cNvCxnSpPr>
          <p:nvPr/>
        </p:nvCxnSpPr>
        <p:spPr>
          <a:xfrm>
            <a:off x="4648200" y="4648200"/>
            <a:ext cx="420056" cy="609600"/>
          </a:xfrm>
          <a:prstGeom prst="straightConnector1">
            <a:avLst/>
          </a:prstGeom>
          <a:ln w="28575">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27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500"/>
                                        <p:tgtEl>
                                          <p:spTgt spid="3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animEffect transition="in" filter="fade">
                                      <p:cBhvr>
                                        <p:cTn id="33"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8DBFE-9376-5664-588D-D4A00BC67C09}"/>
            </a:ext>
          </a:extLst>
        </p:cNvPr>
        <p:cNvGrpSpPr/>
        <p:nvPr/>
      </p:nvGrpSpPr>
      <p:grpSpPr>
        <a:xfrm>
          <a:off x="0" y="0"/>
          <a:ext cx="0" cy="0"/>
          <a:chOff x="0" y="0"/>
          <a:chExt cx="0" cy="0"/>
        </a:xfrm>
      </p:grpSpPr>
      <p:pic>
        <p:nvPicPr>
          <p:cNvPr id="6" name="Picture 5" descr="A diagram of a heart&#10;&#10;AI-generated content may be incorrect.">
            <a:extLst>
              <a:ext uri="{FF2B5EF4-FFF2-40B4-BE49-F238E27FC236}">
                <a16:creationId xmlns:a16="http://schemas.microsoft.com/office/drawing/2014/main" id="{67983EE5-5830-78FB-43A2-A1328B80D2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11D6129B-D7C8-4B08-AD80-4FC4A7D510DB}"/>
              </a:ext>
            </a:extLst>
          </p:cNvPr>
          <p:cNvSpPr>
            <a:spLocks noGrp="1"/>
          </p:cNvSpPr>
          <p:nvPr>
            <p:ph type="title"/>
          </p:nvPr>
        </p:nvSpPr>
        <p:spPr/>
        <p:txBody>
          <a:bodyPr/>
          <a:lstStyle/>
          <a:p>
            <a:r>
              <a:rPr lang="en-US" dirty="0"/>
              <a:t>Vectors</a:t>
            </a:r>
          </a:p>
        </p:txBody>
      </p:sp>
      <p:sp>
        <p:nvSpPr>
          <p:cNvPr id="3" name="Content Placeholder 2">
            <a:extLst>
              <a:ext uri="{FF2B5EF4-FFF2-40B4-BE49-F238E27FC236}">
                <a16:creationId xmlns:a16="http://schemas.microsoft.com/office/drawing/2014/main" id="{F20635A5-65A6-9610-34B7-34008A906357}"/>
              </a:ext>
            </a:extLst>
          </p:cNvPr>
          <p:cNvSpPr>
            <a:spLocks noGrp="1"/>
          </p:cNvSpPr>
          <p:nvPr>
            <p:ph idx="1"/>
          </p:nvPr>
        </p:nvSpPr>
        <p:spPr>
          <a:xfrm>
            <a:off x="4136675" y="1316380"/>
            <a:ext cx="4945542" cy="2531906"/>
          </a:xfrm>
        </p:spPr>
        <p:txBody>
          <a:bodyPr/>
          <a:lstStyle/>
          <a:p>
            <a:r>
              <a:rPr lang="en-US" sz="2400" dirty="0"/>
              <a:t>As the wave grows…</a:t>
            </a:r>
          </a:p>
          <a:p>
            <a:r>
              <a:rPr lang="en-US" sz="2400" dirty="0"/>
              <a:t>What is the summed vector direction now?</a:t>
            </a:r>
          </a:p>
          <a:p>
            <a:endParaRPr lang="en-US" sz="2400" dirty="0"/>
          </a:p>
        </p:txBody>
      </p:sp>
      <p:sp>
        <p:nvSpPr>
          <p:cNvPr id="4" name="Footer Placeholder 3">
            <a:extLst>
              <a:ext uri="{FF2B5EF4-FFF2-40B4-BE49-F238E27FC236}">
                <a16:creationId xmlns:a16="http://schemas.microsoft.com/office/drawing/2014/main" id="{4DE36CDC-4EB1-B307-C125-4F52B73B446C}"/>
              </a:ext>
            </a:extLst>
          </p:cNvPr>
          <p:cNvSpPr>
            <a:spLocks noGrp="1"/>
          </p:cNvSpPr>
          <p:nvPr>
            <p:ph type="ftr" sz="quarter" idx="11"/>
          </p:nvPr>
        </p:nvSpPr>
        <p:spPr/>
        <p:txBody>
          <a:bodyPr/>
          <a:lstStyle/>
          <a:p>
            <a:pPr>
              <a:defRPr/>
            </a:pPr>
            <a:r>
              <a:rPr lang="en-US"/>
              <a:t>EE 123 -- Bioelectricity</a:t>
            </a:r>
            <a:endParaRPr lang="en-US" dirty="0"/>
          </a:p>
        </p:txBody>
      </p:sp>
      <p:sp>
        <p:nvSpPr>
          <p:cNvPr id="23" name="TextBox 22">
            <a:extLst>
              <a:ext uri="{FF2B5EF4-FFF2-40B4-BE49-F238E27FC236}">
                <a16:creationId xmlns:a16="http://schemas.microsoft.com/office/drawing/2014/main" id="{E32D4486-9C86-806B-DE86-C79814CC2F09}"/>
              </a:ext>
            </a:extLst>
          </p:cNvPr>
          <p:cNvSpPr txBox="1"/>
          <p:nvPr/>
        </p:nvSpPr>
        <p:spPr>
          <a:xfrm>
            <a:off x="2152181" y="4415135"/>
            <a:ext cx="304800" cy="461665"/>
          </a:xfrm>
          <a:prstGeom prst="rect">
            <a:avLst/>
          </a:prstGeom>
          <a:noFill/>
        </p:spPr>
        <p:txBody>
          <a:bodyPr wrap="square" rtlCol="0">
            <a:spAutoFit/>
          </a:bodyPr>
          <a:lstStyle/>
          <a:p>
            <a:r>
              <a:rPr lang="en-US" dirty="0">
                <a:solidFill>
                  <a:schemeClr val="accent2"/>
                </a:solidFill>
              </a:rPr>
              <a:t>R</a:t>
            </a:r>
          </a:p>
        </p:txBody>
      </p:sp>
      <p:sp>
        <p:nvSpPr>
          <p:cNvPr id="5" name="Oval 4">
            <a:extLst>
              <a:ext uri="{FF2B5EF4-FFF2-40B4-BE49-F238E27FC236}">
                <a16:creationId xmlns:a16="http://schemas.microsoft.com/office/drawing/2014/main" id="{FC931100-FCF8-713A-586A-A33DF4E1240F}"/>
              </a:ext>
            </a:extLst>
          </p:cNvPr>
          <p:cNvSpPr/>
          <p:nvPr/>
        </p:nvSpPr>
        <p:spPr>
          <a:xfrm>
            <a:off x="751703" y="3072997"/>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cxnSp>
        <p:nvCxnSpPr>
          <p:cNvPr id="39" name="Straight Arrow Connector 38">
            <a:extLst>
              <a:ext uri="{FF2B5EF4-FFF2-40B4-BE49-F238E27FC236}">
                <a16:creationId xmlns:a16="http://schemas.microsoft.com/office/drawing/2014/main" id="{B8401EBF-22FF-4D5A-9342-ECB6E9CFBEDD}"/>
              </a:ext>
            </a:extLst>
          </p:cNvPr>
          <p:cNvCxnSpPr>
            <a:cxnSpLocks/>
          </p:cNvCxnSpPr>
          <p:nvPr/>
        </p:nvCxnSpPr>
        <p:spPr>
          <a:xfrm>
            <a:off x="1143000" y="3505200"/>
            <a:ext cx="684376" cy="762000"/>
          </a:xfrm>
          <a:prstGeom prst="straightConnector1">
            <a:avLst/>
          </a:prstGeom>
          <a:ln w="28575">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2" name="Freeform: Shape 41">
            <a:extLst>
              <a:ext uri="{FF2B5EF4-FFF2-40B4-BE49-F238E27FC236}">
                <a16:creationId xmlns:a16="http://schemas.microsoft.com/office/drawing/2014/main" id="{CA8A86A5-43E2-26AE-575F-9DD3174BE1C1}"/>
              </a:ext>
            </a:extLst>
          </p:cNvPr>
          <p:cNvSpPr/>
          <p:nvPr/>
        </p:nvSpPr>
        <p:spPr>
          <a:xfrm>
            <a:off x="5029200" y="5210665"/>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551F7444-C161-FA95-5BC7-8BE133DC1F68}"/>
              </a:ext>
            </a:extLst>
          </p:cNvPr>
          <p:cNvSpPr/>
          <p:nvPr/>
        </p:nvSpPr>
        <p:spPr>
          <a:xfrm>
            <a:off x="6774466" y="5119944"/>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4EA96EFF-61AE-CAD0-8C27-FD9BA61F78B3}"/>
              </a:ext>
            </a:extLst>
          </p:cNvPr>
          <p:cNvSpPr/>
          <p:nvPr/>
        </p:nvSpPr>
        <p:spPr>
          <a:xfrm>
            <a:off x="5569934" y="3848286"/>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24A67A7B-D89C-1BAE-7B01-B32B666FD357}"/>
              </a:ext>
            </a:extLst>
          </p:cNvPr>
          <p:cNvSpPr txBox="1"/>
          <p:nvPr/>
        </p:nvSpPr>
        <p:spPr>
          <a:xfrm>
            <a:off x="5105400" y="5223180"/>
            <a:ext cx="304800" cy="461665"/>
          </a:xfrm>
          <a:prstGeom prst="rect">
            <a:avLst/>
          </a:prstGeom>
          <a:noFill/>
        </p:spPr>
        <p:txBody>
          <a:bodyPr wrap="square" rtlCol="0">
            <a:spAutoFit/>
          </a:bodyPr>
          <a:lstStyle/>
          <a:p>
            <a:r>
              <a:rPr lang="en-US" dirty="0">
                <a:solidFill>
                  <a:srgbClr val="FF0000"/>
                </a:solidFill>
              </a:rPr>
              <a:t>P</a:t>
            </a:r>
          </a:p>
        </p:txBody>
      </p:sp>
      <p:sp>
        <p:nvSpPr>
          <p:cNvPr id="46" name="TextBox 45">
            <a:extLst>
              <a:ext uri="{FF2B5EF4-FFF2-40B4-BE49-F238E27FC236}">
                <a16:creationId xmlns:a16="http://schemas.microsoft.com/office/drawing/2014/main" id="{A0AB3499-FEF1-C3C3-A8C5-D42C9FB4AE52}"/>
              </a:ext>
            </a:extLst>
          </p:cNvPr>
          <p:cNvSpPr txBox="1"/>
          <p:nvPr/>
        </p:nvSpPr>
        <p:spPr>
          <a:xfrm>
            <a:off x="5812930" y="5422669"/>
            <a:ext cx="304800" cy="461665"/>
          </a:xfrm>
          <a:prstGeom prst="rect">
            <a:avLst/>
          </a:prstGeom>
          <a:noFill/>
        </p:spPr>
        <p:txBody>
          <a:bodyPr wrap="square" rtlCol="0">
            <a:spAutoFit/>
          </a:bodyPr>
          <a:lstStyle/>
          <a:p>
            <a:r>
              <a:rPr lang="en-US" dirty="0">
                <a:solidFill>
                  <a:schemeClr val="accent2"/>
                </a:solidFill>
              </a:rPr>
              <a:t>Q</a:t>
            </a:r>
          </a:p>
        </p:txBody>
      </p:sp>
      <p:sp>
        <p:nvSpPr>
          <p:cNvPr id="47" name="TextBox 46">
            <a:extLst>
              <a:ext uri="{FF2B5EF4-FFF2-40B4-BE49-F238E27FC236}">
                <a16:creationId xmlns:a16="http://schemas.microsoft.com/office/drawing/2014/main" id="{E275BFC3-B2FC-84F6-3FB4-193843630713}"/>
              </a:ext>
            </a:extLst>
          </p:cNvPr>
          <p:cNvSpPr txBox="1"/>
          <p:nvPr/>
        </p:nvSpPr>
        <p:spPr>
          <a:xfrm>
            <a:off x="6913598" y="5113867"/>
            <a:ext cx="304800" cy="461665"/>
          </a:xfrm>
          <a:prstGeom prst="rect">
            <a:avLst/>
          </a:prstGeom>
          <a:noFill/>
        </p:spPr>
        <p:txBody>
          <a:bodyPr wrap="square" rtlCol="0">
            <a:spAutoFit/>
          </a:bodyPr>
          <a:lstStyle/>
          <a:p>
            <a:r>
              <a:rPr lang="en-US" dirty="0">
                <a:solidFill>
                  <a:schemeClr val="accent2"/>
                </a:solidFill>
              </a:rPr>
              <a:t>T</a:t>
            </a:r>
          </a:p>
        </p:txBody>
      </p:sp>
      <p:sp>
        <p:nvSpPr>
          <p:cNvPr id="48" name="TextBox 47">
            <a:extLst>
              <a:ext uri="{FF2B5EF4-FFF2-40B4-BE49-F238E27FC236}">
                <a16:creationId xmlns:a16="http://schemas.microsoft.com/office/drawing/2014/main" id="{74FA5085-B18F-CA5A-85B6-F16667372020}"/>
              </a:ext>
            </a:extLst>
          </p:cNvPr>
          <p:cNvSpPr txBox="1"/>
          <p:nvPr/>
        </p:nvSpPr>
        <p:spPr>
          <a:xfrm>
            <a:off x="6096000" y="5634335"/>
            <a:ext cx="304800" cy="461665"/>
          </a:xfrm>
          <a:prstGeom prst="rect">
            <a:avLst/>
          </a:prstGeom>
          <a:noFill/>
        </p:spPr>
        <p:txBody>
          <a:bodyPr wrap="square" rtlCol="0">
            <a:spAutoFit/>
          </a:bodyPr>
          <a:lstStyle/>
          <a:p>
            <a:r>
              <a:rPr lang="en-US" dirty="0">
                <a:solidFill>
                  <a:schemeClr val="accent2"/>
                </a:solidFill>
              </a:rPr>
              <a:t>S</a:t>
            </a:r>
          </a:p>
        </p:txBody>
      </p:sp>
      <p:sp>
        <p:nvSpPr>
          <p:cNvPr id="11" name="Freeform: Shape 10">
            <a:extLst>
              <a:ext uri="{FF2B5EF4-FFF2-40B4-BE49-F238E27FC236}">
                <a16:creationId xmlns:a16="http://schemas.microsoft.com/office/drawing/2014/main" id="{0DA4C47A-52EB-E9A2-03A4-E86B32A2C50D}"/>
              </a:ext>
            </a:extLst>
          </p:cNvPr>
          <p:cNvSpPr/>
          <p:nvPr/>
        </p:nvSpPr>
        <p:spPr>
          <a:xfrm>
            <a:off x="599303" y="3224712"/>
            <a:ext cx="679622" cy="392401"/>
          </a:xfrm>
          <a:custGeom>
            <a:avLst/>
            <a:gdLst>
              <a:gd name="connsiteX0" fmla="*/ 0 w 679622"/>
              <a:gd name="connsiteY0" fmla="*/ 296562 h 392401"/>
              <a:gd name="connsiteX1" fmla="*/ 98854 w 679622"/>
              <a:gd name="connsiteY1" fmla="*/ 370702 h 392401"/>
              <a:gd name="connsiteX2" fmla="*/ 481914 w 679622"/>
              <a:gd name="connsiteY2" fmla="*/ 358345 h 392401"/>
              <a:gd name="connsiteX3" fmla="*/ 679622 w 679622"/>
              <a:gd name="connsiteY3" fmla="*/ 0 h 392401"/>
            </a:gdLst>
            <a:ahLst/>
            <a:cxnLst>
              <a:cxn ang="0">
                <a:pos x="connsiteX0" y="connsiteY0"/>
              </a:cxn>
              <a:cxn ang="0">
                <a:pos x="connsiteX1" y="connsiteY1"/>
              </a:cxn>
              <a:cxn ang="0">
                <a:pos x="connsiteX2" y="connsiteY2"/>
              </a:cxn>
              <a:cxn ang="0">
                <a:pos x="connsiteX3" y="connsiteY3"/>
              </a:cxn>
            </a:cxnLst>
            <a:rect l="l" t="t" r="r" b="b"/>
            <a:pathLst>
              <a:path w="679622" h="392401">
                <a:moveTo>
                  <a:pt x="0" y="296562"/>
                </a:moveTo>
                <a:cubicBezTo>
                  <a:pt x="9267" y="328483"/>
                  <a:pt x="18535" y="360405"/>
                  <a:pt x="98854" y="370702"/>
                </a:cubicBezTo>
                <a:cubicBezTo>
                  <a:pt x="179173" y="380999"/>
                  <a:pt x="385119" y="420129"/>
                  <a:pt x="481914" y="358345"/>
                </a:cubicBezTo>
                <a:cubicBezTo>
                  <a:pt x="578709" y="296561"/>
                  <a:pt x="629165" y="148280"/>
                  <a:pt x="679622"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6609D83-D323-76FA-C918-7A945108EC4F}"/>
              </a:ext>
            </a:extLst>
          </p:cNvPr>
          <p:cNvSpPr/>
          <p:nvPr/>
        </p:nvSpPr>
        <p:spPr>
          <a:xfrm>
            <a:off x="518984" y="3051717"/>
            <a:ext cx="966204" cy="755190"/>
          </a:xfrm>
          <a:custGeom>
            <a:avLst/>
            <a:gdLst>
              <a:gd name="connsiteX0" fmla="*/ 0 w 966204"/>
              <a:gd name="connsiteY0" fmla="*/ 704335 h 755190"/>
              <a:gd name="connsiteX1" fmla="*/ 284205 w 966204"/>
              <a:gd name="connsiteY1" fmla="*/ 753762 h 755190"/>
              <a:gd name="connsiteX2" fmla="*/ 716692 w 966204"/>
              <a:gd name="connsiteY2" fmla="*/ 654908 h 755190"/>
              <a:gd name="connsiteX3" fmla="*/ 939114 w 966204"/>
              <a:gd name="connsiteY3" fmla="*/ 296562 h 755190"/>
              <a:gd name="connsiteX4" fmla="*/ 963827 w 966204"/>
              <a:gd name="connsiteY4" fmla="*/ 210065 h 755190"/>
              <a:gd name="connsiteX5" fmla="*/ 963827 w 966204"/>
              <a:gd name="connsiteY5" fmla="*/ 0 h 755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204" h="755190">
                <a:moveTo>
                  <a:pt x="0" y="704335"/>
                </a:moveTo>
                <a:cubicBezTo>
                  <a:pt x="82378" y="733167"/>
                  <a:pt x="164756" y="762000"/>
                  <a:pt x="284205" y="753762"/>
                </a:cubicBezTo>
                <a:cubicBezTo>
                  <a:pt x="403654" y="745524"/>
                  <a:pt x="607541" y="731108"/>
                  <a:pt x="716692" y="654908"/>
                </a:cubicBezTo>
                <a:cubicBezTo>
                  <a:pt x="825843" y="578708"/>
                  <a:pt x="897925" y="370702"/>
                  <a:pt x="939114" y="296562"/>
                </a:cubicBezTo>
                <a:cubicBezTo>
                  <a:pt x="980303" y="222422"/>
                  <a:pt x="959708" y="259492"/>
                  <a:pt x="963827" y="210065"/>
                </a:cubicBezTo>
                <a:cubicBezTo>
                  <a:pt x="967946" y="160638"/>
                  <a:pt x="965886" y="80319"/>
                  <a:pt x="963827"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5E69479-E9FA-7D75-9C6F-5C0ECAFABDE1}"/>
              </a:ext>
            </a:extLst>
          </p:cNvPr>
          <p:cNvCxnSpPr>
            <a:cxnSpLocks/>
          </p:cNvCxnSpPr>
          <p:nvPr/>
        </p:nvCxnSpPr>
        <p:spPr>
          <a:xfrm flipH="1">
            <a:off x="603294" y="3657600"/>
            <a:ext cx="82506" cy="320572"/>
          </a:xfrm>
          <a:prstGeom prst="straightConnector1">
            <a:avLst/>
          </a:prstGeom>
          <a:ln w="28575">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3F2EB04-CFAC-CD95-6F4A-3CB5AB7C9F2A}"/>
              </a:ext>
            </a:extLst>
          </p:cNvPr>
          <p:cNvCxnSpPr>
            <a:cxnSpLocks/>
          </p:cNvCxnSpPr>
          <p:nvPr/>
        </p:nvCxnSpPr>
        <p:spPr>
          <a:xfrm>
            <a:off x="990600" y="3657600"/>
            <a:ext cx="65903" cy="228600"/>
          </a:xfrm>
          <a:prstGeom prst="straightConnector1">
            <a:avLst/>
          </a:prstGeom>
          <a:ln w="28575">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D9499B1-AFC2-81E2-A02A-334D2B27C4E2}"/>
              </a:ext>
            </a:extLst>
          </p:cNvPr>
          <p:cNvCxnSpPr>
            <a:cxnSpLocks/>
          </p:cNvCxnSpPr>
          <p:nvPr/>
        </p:nvCxnSpPr>
        <p:spPr>
          <a:xfrm>
            <a:off x="1371600" y="3224712"/>
            <a:ext cx="325564" cy="96245"/>
          </a:xfrm>
          <a:prstGeom prst="straightConnector1">
            <a:avLst/>
          </a:prstGeom>
          <a:ln w="28575">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43D9C8D-3F3F-AAAA-75C6-8C6CCAB8EA86}"/>
              </a:ext>
            </a:extLst>
          </p:cNvPr>
          <p:cNvCxnSpPr>
            <a:cxnSpLocks/>
          </p:cNvCxnSpPr>
          <p:nvPr/>
        </p:nvCxnSpPr>
        <p:spPr>
          <a:xfrm>
            <a:off x="1268309" y="3545687"/>
            <a:ext cx="179491" cy="188113"/>
          </a:xfrm>
          <a:prstGeom prst="straightConnector1">
            <a:avLst/>
          </a:prstGeom>
          <a:ln w="28575">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FD67440-D258-8FB5-E74A-358AD13E4D30}"/>
              </a:ext>
            </a:extLst>
          </p:cNvPr>
          <p:cNvCxnSpPr>
            <a:cxnSpLocks/>
          </p:cNvCxnSpPr>
          <p:nvPr/>
        </p:nvCxnSpPr>
        <p:spPr>
          <a:xfrm>
            <a:off x="4495800" y="4415135"/>
            <a:ext cx="685800" cy="842665"/>
          </a:xfrm>
          <a:prstGeom prst="straightConnector1">
            <a:avLst/>
          </a:prstGeom>
          <a:ln w="28575">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8479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xit" presetSubtype="0" fill="hold" grpId="1" nodeType="withEffect">
                                  <p:stCondLst>
                                    <p:cond delay="0"/>
                                  </p:stCondLst>
                                  <p:childTnLst>
                                    <p:animEffect transition="out" filter="fade">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par>
                                <p:cTn id="21" presetID="10"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par>
                                <p:cTn id="27" presetID="10"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FA494-6D3D-4F51-9111-92B30E3132DD}"/>
            </a:ext>
          </a:extLst>
        </p:cNvPr>
        <p:cNvGrpSpPr/>
        <p:nvPr/>
      </p:nvGrpSpPr>
      <p:grpSpPr>
        <a:xfrm>
          <a:off x="0" y="0"/>
          <a:ext cx="0" cy="0"/>
          <a:chOff x="0" y="0"/>
          <a:chExt cx="0" cy="0"/>
        </a:xfrm>
      </p:grpSpPr>
      <p:pic>
        <p:nvPicPr>
          <p:cNvPr id="6" name="Picture 5" descr="A diagram of a heart&#10;&#10;AI-generated content may be incorrect.">
            <a:extLst>
              <a:ext uri="{FF2B5EF4-FFF2-40B4-BE49-F238E27FC236}">
                <a16:creationId xmlns:a16="http://schemas.microsoft.com/office/drawing/2014/main" id="{3A349B7D-F79D-FEA0-0863-AE4A71D1A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45F34C49-0020-BC86-8D13-86A4A33FEA95}"/>
              </a:ext>
            </a:extLst>
          </p:cNvPr>
          <p:cNvSpPr>
            <a:spLocks noGrp="1"/>
          </p:cNvSpPr>
          <p:nvPr>
            <p:ph type="title"/>
          </p:nvPr>
        </p:nvSpPr>
        <p:spPr/>
        <p:txBody>
          <a:bodyPr/>
          <a:lstStyle/>
          <a:p>
            <a:r>
              <a:rPr lang="en-US" dirty="0"/>
              <a:t>Atrial conduction</a:t>
            </a:r>
          </a:p>
        </p:txBody>
      </p:sp>
      <p:sp>
        <p:nvSpPr>
          <p:cNvPr id="3" name="Content Placeholder 2">
            <a:extLst>
              <a:ext uri="{FF2B5EF4-FFF2-40B4-BE49-F238E27FC236}">
                <a16:creationId xmlns:a16="http://schemas.microsoft.com/office/drawing/2014/main" id="{C8A7C561-2E06-1480-E698-1B2AD6BDFF33}"/>
              </a:ext>
            </a:extLst>
          </p:cNvPr>
          <p:cNvSpPr>
            <a:spLocks noGrp="1"/>
          </p:cNvSpPr>
          <p:nvPr>
            <p:ph idx="1"/>
          </p:nvPr>
        </p:nvSpPr>
        <p:spPr>
          <a:xfrm>
            <a:off x="4136675" y="1316380"/>
            <a:ext cx="4811650" cy="2112620"/>
          </a:xfrm>
        </p:spPr>
        <p:txBody>
          <a:bodyPr/>
          <a:lstStyle/>
          <a:p>
            <a:r>
              <a:rPr lang="en-US" sz="2400" dirty="0"/>
              <a:t>Think about how the summed vector size &amp; direction moves during the P wave</a:t>
            </a:r>
          </a:p>
          <a:p>
            <a:r>
              <a:rPr lang="en-US" sz="2400" dirty="0"/>
              <a:t>Can you explain the entire P-wave shape?</a:t>
            </a:r>
          </a:p>
        </p:txBody>
      </p:sp>
      <p:sp>
        <p:nvSpPr>
          <p:cNvPr id="4" name="Footer Placeholder 3">
            <a:extLst>
              <a:ext uri="{FF2B5EF4-FFF2-40B4-BE49-F238E27FC236}">
                <a16:creationId xmlns:a16="http://schemas.microsoft.com/office/drawing/2014/main" id="{FEB23E11-CDDA-2C70-CE91-6368E3DEECD1}"/>
              </a:ext>
            </a:extLst>
          </p:cNvPr>
          <p:cNvSpPr>
            <a:spLocks noGrp="1"/>
          </p:cNvSpPr>
          <p:nvPr>
            <p:ph type="ftr" sz="quarter" idx="11"/>
          </p:nvPr>
        </p:nvSpPr>
        <p:spPr/>
        <p:txBody>
          <a:bodyPr/>
          <a:lstStyle/>
          <a:p>
            <a:pPr>
              <a:defRPr/>
            </a:pPr>
            <a:r>
              <a:rPr lang="en-US"/>
              <a:t>EE 123 -- Bioelectricity</a:t>
            </a:r>
            <a:endParaRPr lang="en-US" dirty="0"/>
          </a:p>
        </p:txBody>
      </p:sp>
      <p:sp>
        <p:nvSpPr>
          <p:cNvPr id="18" name="Freeform: Shape 17">
            <a:extLst>
              <a:ext uri="{FF2B5EF4-FFF2-40B4-BE49-F238E27FC236}">
                <a16:creationId xmlns:a16="http://schemas.microsoft.com/office/drawing/2014/main" id="{509160B2-3007-9903-3F34-DC7D93B1638A}"/>
              </a:ext>
            </a:extLst>
          </p:cNvPr>
          <p:cNvSpPr/>
          <p:nvPr/>
        </p:nvSpPr>
        <p:spPr>
          <a:xfrm>
            <a:off x="5029200" y="5210665"/>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7B4EDF7A-8813-308C-E1C5-ABFE6C62C12C}"/>
              </a:ext>
            </a:extLst>
          </p:cNvPr>
          <p:cNvSpPr/>
          <p:nvPr/>
        </p:nvSpPr>
        <p:spPr>
          <a:xfrm>
            <a:off x="6774466" y="5119944"/>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291E6C04-A9C8-C915-41BF-AE4916D37B7D}"/>
              </a:ext>
            </a:extLst>
          </p:cNvPr>
          <p:cNvSpPr/>
          <p:nvPr/>
        </p:nvSpPr>
        <p:spPr>
          <a:xfrm>
            <a:off x="5569934" y="3848286"/>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1B429D8-08D5-9AD7-55F7-F452D55034CA}"/>
              </a:ext>
            </a:extLst>
          </p:cNvPr>
          <p:cNvSpPr txBox="1"/>
          <p:nvPr/>
        </p:nvSpPr>
        <p:spPr>
          <a:xfrm>
            <a:off x="5105400" y="5223180"/>
            <a:ext cx="304800" cy="461665"/>
          </a:xfrm>
          <a:prstGeom prst="rect">
            <a:avLst/>
          </a:prstGeom>
          <a:noFill/>
        </p:spPr>
        <p:txBody>
          <a:bodyPr wrap="square" rtlCol="0">
            <a:spAutoFit/>
          </a:bodyPr>
          <a:lstStyle/>
          <a:p>
            <a:r>
              <a:rPr lang="en-US" dirty="0">
                <a:solidFill>
                  <a:srgbClr val="FF0000"/>
                </a:solidFill>
              </a:rPr>
              <a:t>P</a:t>
            </a:r>
          </a:p>
        </p:txBody>
      </p:sp>
      <p:sp>
        <p:nvSpPr>
          <p:cNvPr id="22" name="TextBox 21">
            <a:extLst>
              <a:ext uri="{FF2B5EF4-FFF2-40B4-BE49-F238E27FC236}">
                <a16:creationId xmlns:a16="http://schemas.microsoft.com/office/drawing/2014/main" id="{8DF71357-4376-F3F9-2756-CA191DE005EE}"/>
              </a:ext>
            </a:extLst>
          </p:cNvPr>
          <p:cNvSpPr txBox="1"/>
          <p:nvPr/>
        </p:nvSpPr>
        <p:spPr>
          <a:xfrm>
            <a:off x="5812930" y="5422669"/>
            <a:ext cx="304800" cy="461665"/>
          </a:xfrm>
          <a:prstGeom prst="rect">
            <a:avLst/>
          </a:prstGeom>
          <a:noFill/>
        </p:spPr>
        <p:txBody>
          <a:bodyPr wrap="square" rtlCol="0">
            <a:spAutoFit/>
          </a:bodyPr>
          <a:lstStyle/>
          <a:p>
            <a:r>
              <a:rPr lang="en-US" dirty="0">
                <a:solidFill>
                  <a:schemeClr val="accent2"/>
                </a:solidFill>
              </a:rPr>
              <a:t>Q</a:t>
            </a:r>
          </a:p>
        </p:txBody>
      </p:sp>
      <p:sp>
        <p:nvSpPr>
          <p:cNvPr id="23" name="TextBox 22">
            <a:extLst>
              <a:ext uri="{FF2B5EF4-FFF2-40B4-BE49-F238E27FC236}">
                <a16:creationId xmlns:a16="http://schemas.microsoft.com/office/drawing/2014/main" id="{A1F5A7DA-C4F3-D38C-3212-3E489EB027DE}"/>
              </a:ext>
            </a:extLst>
          </p:cNvPr>
          <p:cNvSpPr txBox="1"/>
          <p:nvPr/>
        </p:nvSpPr>
        <p:spPr>
          <a:xfrm>
            <a:off x="2152181" y="4415135"/>
            <a:ext cx="304800" cy="461665"/>
          </a:xfrm>
          <a:prstGeom prst="rect">
            <a:avLst/>
          </a:prstGeom>
          <a:noFill/>
        </p:spPr>
        <p:txBody>
          <a:bodyPr wrap="square" rtlCol="0">
            <a:spAutoFit/>
          </a:bodyPr>
          <a:lstStyle/>
          <a:p>
            <a:r>
              <a:rPr lang="en-US" dirty="0">
                <a:solidFill>
                  <a:schemeClr val="accent2"/>
                </a:solidFill>
              </a:rPr>
              <a:t>R</a:t>
            </a:r>
          </a:p>
        </p:txBody>
      </p:sp>
      <p:sp>
        <p:nvSpPr>
          <p:cNvPr id="24" name="TextBox 23">
            <a:extLst>
              <a:ext uri="{FF2B5EF4-FFF2-40B4-BE49-F238E27FC236}">
                <a16:creationId xmlns:a16="http://schemas.microsoft.com/office/drawing/2014/main" id="{02460BBC-D201-D9C7-04FE-3A00F82E0521}"/>
              </a:ext>
            </a:extLst>
          </p:cNvPr>
          <p:cNvSpPr txBox="1"/>
          <p:nvPr/>
        </p:nvSpPr>
        <p:spPr>
          <a:xfrm>
            <a:off x="6913598" y="5113867"/>
            <a:ext cx="304800" cy="461665"/>
          </a:xfrm>
          <a:prstGeom prst="rect">
            <a:avLst/>
          </a:prstGeom>
          <a:noFill/>
        </p:spPr>
        <p:txBody>
          <a:bodyPr wrap="square" rtlCol="0">
            <a:spAutoFit/>
          </a:bodyPr>
          <a:lstStyle/>
          <a:p>
            <a:r>
              <a:rPr lang="en-US" dirty="0">
                <a:solidFill>
                  <a:schemeClr val="accent2"/>
                </a:solidFill>
              </a:rPr>
              <a:t>T</a:t>
            </a:r>
          </a:p>
        </p:txBody>
      </p:sp>
      <p:sp>
        <p:nvSpPr>
          <p:cNvPr id="25" name="TextBox 24">
            <a:extLst>
              <a:ext uri="{FF2B5EF4-FFF2-40B4-BE49-F238E27FC236}">
                <a16:creationId xmlns:a16="http://schemas.microsoft.com/office/drawing/2014/main" id="{92441292-8A5B-F9DA-380A-DB365E32FD72}"/>
              </a:ext>
            </a:extLst>
          </p:cNvPr>
          <p:cNvSpPr txBox="1"/>
          <p:nvPr/>
        </p:nvSpPr>
        <p:spPr>
          <a:xfrm>
            <a:off x="6096000" y="5634335"/>
            <a:ext cx="304800" cy="461665"/>
          </a:xfrm>
          <a:prstGeom prst="rect">
            <a:avLst/>
          </a:prstGeom>
          <a:noFill/>
        </p:spPr>
        <p:txBody>
          <a:bodyPr wrap="square" rtlCol="0">
            <a:spAutoFit/>
          </a:bodyPr>
          <a:lstStyle/>
          <a:p>
            <a:r>
              <a:rPr lang="en-US" dirty="0">
                <a:solidFill>
                  <a:schemeClr val="accent2"/>
                </a:solidFill>
              </a:rPr>
              <a:t>S</a:t>
            </a:r>
          </a:p>
        </p:txBody>
      </p:sp>
      <p:sp>
        <p:nvSpPr>
          <p:cNvPr id="5" name="Oval 4">
            <a:extLst>
              <a:ext uri="{FF2B5EF4-FFF2-40B4-BE49-F238E27FC236}">
                <a16:creationId xmlns:a16="http://schemas.microsoft.com/office/drawing/2014/main" id="{0B70056E-B6CD-56AA-ACA1-35D2413733BC}"/>
              </a:ext>
            </a:extLst>
          </p:cNvPr>
          <p:cNvSpPr/>
          <p:nvPr/>
        </p:nvSpPr>
        <p:spPr>
          <a:xfrm>
            <a:off x="751703" y="3072997"/>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7" name="Freeform: Shape 6">
            <a:extLst>
              <a:ext uri="{FF2B5EF4-FFF2-40B4-BE49-F238E27FC236}">
                <a16:creationId xmlns:a16="http://schemas.microsoft.com/office/drawing/2014/main" id="{5F464D95-C2D1-7744-DB64-481696EF0A7C}"/>
              </a:ext>
            </a:extLst>
          </p:cNvPr>
          <p:cNvSpPr/>
          <p:nvPr/>
        </p:nvSpPr>
        <p:spPr>
          <a:xfrm>
            <a:off x="599303" y="3224712"/>
            <a:ext cx="679622" cy="392401"/>
          </a:xfrm>
          <a:custGeom>
            <a:avLst/>
            <a:gdLst>
              <a:gd name="connsiteX0" fmla="*/ 0 w 679622"/>
              <a:gd name="connsiteY0" fmla="*/ 296562 h 392401"/>
              <a:gd name="connsiteX1" fmla="*/ 98854 w 679622"/>
              <a:gd name="connsiteY1" fmla="*/ 370702 h 392401"/>
              <a:gd name="connsiteX2" fmla="*/ 481914 w 679622"/>
              <a:gd name="connsiteY2" fmla="*/ 358345 h 392401"/>
              <a:gd name="connsiteX3" fmla="*/ 679622 w 679622"/>
              <a:gd name="connsiteY3" fmla="*/ 0 h 392401"/>
            </a:gdLst>
            <a:ahLst/>
            <a:cxnLst>
              <a:cxn ang="0">
                <a:pos x="connsiteX0" y="connsiteY0"/>
              </a:cxn>
              <a:cxn ang="0">
                <a:pos x="connsiteX1" y="connsiteY1"/>
              </a:cxn>
              <a:cxn ang="0">
                <a:pos x="connsiteX2" y="connsiteY2"/>
              </a:cxn>
              <a:cxn ang="0">
                <a:pos x="connsiteX3" y="connsiteY3"/>
              </a:cxn>
            </a:cxnLst>
            <a:rect l="l" t="t" r="r" b="b"/>
            <a:pathLst>
              <a:path w="679622" h="392401">
                <a:moveTo>
                  <a:pt x="0" y="296562"/>
                </a:moveTo>
                <a:cubicBezTo>
                  <a:pt x="9267" y="328483"/>
                  <a:pt x="18535" y="360405"/>
                  <a:pt x="98854" y="370702"/>
                </a:cubicBezTo>
                <a:cubicBezTo>
                  <a:pt x="179173" y="380999"/>
                  <a:pt x="385119" y="420129"/>
                  <a:pt x="481914" y="358345"/>
                </a:cubicBezTo>
                <a:cubicBezTo>
                  <a:pt x="578709" y="296561"/>
                  <a:pt x="629165" y="148280"/>
                  <a:pt x="679622"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EEB473B9-3E5B-3522-F310-0CE29ED1C5BE}"/>
              </a:ext>
            </a:extLst>
          </p:cNvPr>
          <p:cNvSpPr/>
          <p:nvPr/>
        </p:nvSpPr>
        <p:spPr>
          <a:xfrm>
            <a:off x="518984" y="3051717"/>
            <a:ext cx="966204" cy="755190"/>
          </a:xfrm>
          <a:custGeom>
            <a:avLst/>
            <a:gdLst>
              <a:gd name="connsiteX0" fmla="*/ 0 w 966204"/>
              <a:gd name="connsiteY0" fmla="*/ 704335 h 755190"/>
              <a:gd name="connsiteX1" fmla="*/ 284205 w 966204"/>
              <a:gd name="connsiteY1" fmla="*/ 753762 h 755190"/>
              <a:gd name="connsiteX2" fmla="*/ 716692 w 966204"/>
              <a:gd name="connsiteY2" fmla="*/ 654908 h 755190"/>
              <a:gd name="connsiteX3" fmla="*/ 939114 w 966204"/>
              <a:gd name="connsiteY3" fmla="*/ 296562 h 755190"/>
              <a:gd name="connsiteX4" fmla="*/ 963827 w 966204"/>
              <a:gd name="connsiteY4" fmla="*/ 210065 h 755190"/>
              <a:gd name="connsiteX5" fmla="*/ 963827 w 966204"/>
              <a:gd name="connsiteY5" fmla="*/ 0 h 755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204" h="755190">
                <a:moveTo>
                  <a:pt x="0" y="704335"/>
                </a:moveTo>
                <a:cubicBezTo>
                  <a:pt x="82378" y="733167"/>
                  <a:pt x="164756" y="762000"/>
                  <a:pt x="284205" y="753762"/>
                </a:cubicBezTo>
                <a:cubicBezTo>
                  <a:pt x="403654" y="745524"/>
                  <a:pt x="607541" y="731108"/>
                  <a:pt x="716692" y="654908"/>
                </a:cubicBezTo>
                <a:cubicBezTo>
                  <a:pt x="825843" y="578708"/>
                  <a:pt x="897925" y="370702"/>
                  <a:pt x="939114" y="296562"/>
                </a:cubicBezTo>
                <a:cubicBezTo>
                  <a:pt x="980303" y="222422"/>
                  <a:pt x="959708" y="259492"/>
                  <a:pt x="963827" y="210065"/>
                </a:cubicBezTo>
                <a:cubicBezTo>
                  <a:pt x="967946" y="160638"/>
                  <a:pt x="965886" y="80319"/>
                  <a:pt x="963827"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9FBA697-E9F8-D3A5-1781-7F9AB1B0BBB2}"/>
              </a:ext>
            </a:extLst>
          </p:cNvPr>
          <p:cNvSpPr/>
          <p:nvPr/>
        </p:nvSpPr>
        <p:spPr>
          <a:xfrm>
            <a:off x="531341" y="3014647"/>
            <a:ext cx="1188993" cy="1001611"/>
          </a:xfrm>
          <a:custGeom>
            <a:avLst/>
            <a:gdLst>
              <a:gd name="connsiteX0" fmla="*/ 0 w 1188993"/>
              <a:gd name="connsiteY0" fmla="*/ 976183 h 1001611"/>
              <a:gd name="connsiteX1" fmla="*/ 284205 w 1188993"/>
              <a:gd name="connsiteY1" fmla="*/ 1000897 h 1001611"/>
              <a:gd name="connsiteX2" fmla="*/ 667265 w 1188993"/>
              <a:gd name="connsiteY2" fmla="*/ 951470 h 1001611"/>
              <a:gd name="connsiteX3" fmla="*/ 1025611 w 1188993"/>
              <a:gd name="connsiteY3" fmla="*/ 691978 h 1001611"/>
              <a:gd name="connsiteX4" fmla="*/ 1149178 w 1188993"/>
              <a:gd name="connsiteY4" fmla="*/ 345989 h 1001611"/>
              <a:gd name="connsiteX5" fmla="*/ 1186248 w 1188993"/>
              <a:gd name="connsiteY5" fmla="*/ 135924 h 1001611"/>
              <a:gd name="connsiteX6" fmla="*/ 1186248 w 1188993"/>
              <a:gd name="connsiteY6" fmla="*/ 0 h 1001611"/>
              <a:gd name="connsiteX7" fmla="*/ 1186248 w 1188993"/>
              <a:gd name="connsiteY7" fmla="*/ 0 h 100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8993" h="1001611">
                <a:moveTo>
                  <a:pt x="0" y="976183"/>
                </a:moveTo>
                <a:cubicBezTo>
                  <a:pt x="86497" y="990599"/>
                  <a:pt x="172994" y="1005016"/>
                  <a:pt x="284205" y="1000897"/>
                </a:cubicBezTo>
                <a:cubicBezTo>
                  <a:pt x="395416" y="996778"/>
                  <a:pt x="543697" y="1002956"/>
                  <a:pt x="667265" y="951470"/>
                </a:cubicBezTo>
                <a:cubicBezTo>
                  <a:pt x="790833" y="899984"/>
                  <a:pt x="945292" y="792891"/>
                  <a:pt x="1025611" y="691978"/>
                </a:cubicBezTo>
                <a:cubicBezTo>
                  <a:pt x="1105930" y="591065"/>
                  <a:pt x="1122405" y="438665"/>
                  <a:pt x="1149178" y="345989"/>
                </a:cubicBezTo>
                <a:cubicBezTo>
                  <a:pt x="1175951" y="253313"/>
                  <a:pt x="1180070" y="193589"/>
                  <a:pt x="1186248" y="135924"/>
                </a:cubicBezTo>
                <a:cubicBezTo>
                  <a:pt x="1192426" y="78259"/>
                  <a:pt x="1186248" y="0"/>
                  <a:pt x="1186248" y="0"/>
                </a:cubicBezTo>
                <a:lnTo>
                  <a:pt x="1186248" y="0"/>
                </a:ln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00853FD-0E16-28C9-AB66-442DAAE427DB}"/>
              </a:ext>
            </a:extLst>
          </p:cNvPr>
          <p:cNvSpPr/>
          <p:nvPr/>
        </p:nvSpPr>
        <p:spPr>
          <a:xfrm>
            <a:off x="457200" y="2891079"/>
            <a:ext cx="1523447" cy="1384106"/>
          </a:xfrm>
          <a:custGeom>
            <a:avLst/>
            <a:gdLst>
              <a:gd name="connsiteX0" fmla="*/ 0 w 1523447"/>
              <a:gd name="connsiteY0" fmla="*/ 1346887 h 1384106"/>
              <a:gd name="connsiteX1" fmla="*/ 345989 w 1523447"/>
              <a:gd name="connsiteY1" fmla="*/ 1383957 h 1384106"/>
              <a:gd name="connsiteX2" fmla="*/ 840260 w 1523447"/>
              <a:gd name="connsiteY2" fmla="*/ 1334530 h 1384106"/>
              <a:gd name="connsiteX3" fmla="*/ 1112108 w 1523447"/>
              <a:gd name="connsiteY3" fmla="*/ 1124465 h 1384106"/>
              <a:gd name="connsiteX4" fmla="*/ 1322173 w 1523447"/>
              <a:gd name="connsiteY4" fmla="*/ 988541 h 1384106"/>
              <a:gd name="connsiteX5" fmla="*/ 1445741 w 1523447"/>
              <a:gd name="connsiteY5" fmla="*/ 667265 h 1384106"/>
              <a:gd name="connsiteX6" fmla="*/ 1482811 w 1523447"/>
              <a:gd name="connsiteY6" fmla="*/ 469557 h 1384106"/>
              <a:gd name="connsiteX7" fmla="*/ 1519881 w 1523447"/>
              <a:gd name="connsiteY7" fmla="*/ 234778 h 1384106"/>
              <a:gd name="connsiteX8" fmla="*/ 1519881 w 1523447"/>
              <a:gd name="connsiteY8" fmla="*/ 0 h 1384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3447" h="1384106">
                <a:moveTo>
                  <a:pt x="0" y="1346887"/>
                </a:moveTo>
                <a:cubicBezTo>
                  <a:pt x="102973" y="1366452"/>
                  <a:pt x="205946" y="1386017"/>
                  <a:pt x="345989" y="1383957"/>
                </a:cubicBezTo>
                <a:cubicBezTo>
                  <a:pt x="486032" y="1381898"/>
                  <a:pt x="712574" y="1377779"/>
                  <a:pt x="840260" y="1334530"/>
                </a:cubicBezTo>
                <a:cubicBezTo>
                  <a:pt x="967947" y="1291281"/>
                  <a:pt x="1031789" y="1182130"/>
                  <a:pt x="1112108" y="1124465"/>
                </a:cubicBezTo>
                <a:cubicBezTo>
                  <a:pt x="1192427" y="1066800"/>
                  <a:pt x="1266568" y="1064741"/>
                  <a:pt x="1322173" y="988541"/>
                </a:cubicBezTo>
                <a:cubicBezTo>
                  <a:pt x="1377778" y="912341"/>
                  <a:pt x="1418968" y="753762"/>
                  <a:pt x="1445741" y="667265"/>
                </a:cubicBezTo>
                <a:cubicBezTo>
                  <a:pt x="1472514" y="580768"/>
                  <a:pt x="1470454" y="541638"/>
                  <a:pt x="1482811" y="469557"/>
                </a:cubicBezTo>
                <a:cubicBezTo>
                  <a:pt x="1495168" y="397476"/>
                  <a:pt x="1513703" y="313037"/>
                  <a:pt x="1519881" y="234778"/>
                </a:cubicBezTo>
                <a:cubicBezTo>
                  <a:pt x="1526059" y="156519"/>
                  <a:pt x="1522970" y="78259"/>
                  <a:pt x="1519881"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4C3CE6FA-1796-3A07-F7D4-EB3D5E65CF97}"/>
              </a:ext>
            </a:extLst>
          </p:cNvPr>
          <p:cNvSpPr/>
          <p:nvPr/>
        </p:nvSpPr>
        <p:spPr>
          <a:xfrm>
            <a:off x="630195" y="4435674"/>
            <a:ext cx="679622" cy="149003"/>
          </a:xfrm>
          <a:custGeom>
            <a:avLst/>
            <a:gdLst>
              <a:gd name="connsiteX0" fmla="*/ 0 w 679622"/>
              <a:gd name="connsiteY0" fmla="*/ 135924 h 149003"/>
              <a:gd name="connsiteX1" fmla="*/ 457200 w 679622"/>
              <a:gd name="connsiteY1" fmla="*/ 135924 h 149003"/>
              <a:gd name="connsiteX2" fmla="*/ 679622 w 679622"/>
              <a:gd name="connsiteY2" fmla="*/ 0 h 149003"/>
            </a:gdLst>
            <a:ahLst/>
            <a:cxnLst>
              <a:cxn ang="0">
                <a:pos x="connsiteX0" y="connsiteY0"/>
              </a:cxn>
              <a:cxn ang="0">
                <a:pos x="connsiteX1" y="connsiteY1"/>
              </a:cxn>
              <a:cxn ang="0">
                <a:pos x="connsiteX2" y="connsiteY2"/>
              </a:cxn>
            </a:cxnLst>
            <a:rect l="l" t="t" r="r" b="b"/>
            <a:pathLst>
              <a:path w="679622" h="149003">
                <a:moveTo>
                  <a:pt x="0" y="135924"/>
                </a:moveTo>
                <a:cubicBezTo>
                  <a:pt x="171965" y="147251"/>
                  <a:pt x="343930" y="158578"/>
                  <a:pt x="457200" y="135924"/>
                </a:cubicBezTo>
                <a:cubicBezTo>
                  <a:pt x="570470" y="113270"/>
                  <a:pt x="625046" y="56635"/>
                  <a:pt x="679622"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3BDD195-83AE-0B03-615D-810811BD3A24}"/>
              </a:ext>
            </a:extLst>
          </p:cNvPr>
          <p:cNvSpPr/>
          <p:nvPr/>
        </p:nvSpPr>
        <p:spPr>
          <a:xfrm>
            <a:off x="1952368" y="2705728"/>
            <a:ext cx="358830" cy="1371600"/>
          </a:xfrm>
          <a:custGeom>
            <a:avLst/>
            <a:gdLst>
              <a:gd name="connsiteX0" fmla="*/ 0 w 358830"/>
              <a:gd name="connsiteY0" fmla="*/ 1371600 h 1371600"/>
              <a:gd name="connsiteX1" fmla="*/ 172994 w 358830"/>
              <a:gd name="connsiteY1" fmla="*/ 1198605 h 1371600"/>
              <a:gd name="connsiteX2" fmla="*/ 308919 w 358830"/>
              <a:gd name="connsiteY2" fmla="*/ 704335 h 1371600"/>
              <a:gd name="connsiteX3" fmla="*/ 358346 w 358830"/>
              <a:gd name="connsiteY3" fmla="*/ 420129 h 1371600"/>
              <a:gd name="connsiteX4" fmla="*/ 284205 w 358830"/>
              <a:gd name="connsiteY4" fmla="*/ 0 h 137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830" h="1371600">
                <a:moveTo>
                  <a:pt x="0" y="1371600"/>
                </a:moveTo>
                <a:cubicBezTo>
                  <a:pt x="60754" y="1340708"/>
                  <a:pt x="121508" y="1309816"/>
                  <a:pt x="172994" y="1198605"/>
                </a:cubicBezTo>
                <a:cubicBezTo>
                  <a:pt x="224480" y="1087394"/>
                  <a:pt x="278027" y="834081"/>
                  <a:pt x="308919" y="704335"/>
                </a:cubicBezTo>
                <a:cubicBezTo>
                  <a:pt x="339811" y="574589"/>
                  <a:pt x="362465" y="537518"/>
                  <a:pt x="358346" y="420129"/>
                </a:cubicBezTo>
                <a:cubicBezTo>
                  <a:pt x="354227" y="302740"/>
                  <a:pt x="319216" y="151370"/>
                  <a:pt x="284205"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13543D29-EF43-EBC2-46FC-59ECEDBDAB93}"/>
              </a:ext>
            </a:extLst>
          </p:cNvPr>
          <p:cNvSpPr/>
          <p:nvPr/>
        </p:nvSpPr>
        <p:spPr>
          <a:xfrm>
            <a:off x="2434281" y="2656301"/>
            <a:ext cx="173445" cy="1272746"/>
          </a:xfrm>
          <a:custGeom>
            <a:avLst/>
            <a:gdLst>
              <a:gd name="connsiteX0" fmla="*/ 0 w 173445"/>
              <a:gd name="connsiteY0" fmla="*/ 1272746 h 1272746"/>
              <a:gd name="connsiteX1" fmla="*/ 123568 w 173445"/>
              <a:gd name="connsiteY1" fmla="*/ 1000897 h 1272746"/>
              <a:gd name="connsiteX2" fmla="*/ 172995 w 173445"/>
              <a:gd name="connsiteY2" fmla="*/ 432486 h 1272746"/>
              <a:gd name="connsiteX3" fmla="*/ 98854 w 173445"/>
              <a:gd name="connsiteY3" fmla="*/ 0 h 1272746"/>
            </a:gdLst>
            <a:ahLst/>
            <a:cxnLst>
              <a:cxn ang="0">
                <a:pos x="connsiteX0" y="connsiteY0"/>
              </a:cxn>
              <a:cxn ang="0">
                <a:pos x="connsiteX1" y="connsiteY1"/>
              </a:cxn>
              <a:cxn ang="0">
                <a:pos x="connsiteX2" y="connsiteY2"/>
              </a:cxn>
              <a:cxn ang="0">
                <a:pos x="connsiteX3" y="connsiteY3"/>
              </a:cxn>
            </a:cxnLst>
            <a:rect l="l" t="t" r="r" b="b"/>
            <a:pathLst>
              <a:path w="173445" h="1272746">
                <a:moveTo>
                  <a:pt x="0" y="1272746"/>
                </a:moveTo>
                <a:cubicBezTo>
                  <a:pt x="47367" y="1206843"/>
                  <a:pt x="94735" y="1140940"/>
                  <a:pt x="123568" y="1000897"/>
                </a:cubicBezTo>
                <a:cubicBezTo>
                  <a:pt x="152401" y="860854"/>
                  <a:pt x="177114" y="599302"/>
                  <a:pt x="172995" y="432486"/>
                </a:cubicBezTo>
                <a:cubicBezTo>
                  <a:pt x="168876" y="265670"/>
                  <a:pt x="133865" y="132835"/>
                  <a:pt x="98854"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3A633F77-FFAD-CEF4-A8F6-08E8A1911B83}"/>
              </a:ext>
            </a:extLst>
          </p:cNvPr>
          <p:cNvSpPr/>
          <p:nvPr/>
        </p:nvSpPr>
        <p:spPr>
          <a:xfrm>
            <a:off x="2903838" y="2878722"/>
            <a:ext cx="78014" cy="694003"/>
          </a:xfrm>
          <a:custGeom>
            <a:avLst/>
            <a:gdLst>
              <a:gd name="connsiteX0" fmla="*/ 12357 w 78014"/>
              <a:gd name="connsiteY0" fmla="*/ 679622 h 694003"/>
              <a:gd name="connsiteX1" fmla="*/ 61784 w 78014"/>
              <a:gd name="connsiteY1" fmla="*/ 642552 h 694003"/>
              <a:gd name="connsiteX2" fmla="*/ 74141 w 78014"/>
              <a:gd name="connsiteY2" fmla="*/ 259492 h 694003"/>
              <a:gd name="connsiteX3" fmla="*/ 0 w 78014"/>
              <a:gd name="connsiteY3" fmla="*/ 0 h 694003"/>
            </a:gdLst>
            <a:ahLst/>
            <a:cxnLst>
              <a:cxn ang="0">
                <a:pos x="connsiteX0" y="connsiteY0"/>
              </a:cxn>
              <a:cxn ang="0">
                <a:pos x="connsiteX1" y="connsiteY1"/>
              </a:cxn>
              <a:cxn ang="0">
                <a:pos x="connsiteX2" y="connsiteY2"/>
              </a:cxn>
              <a:cxn ang="0">
                <a:pos x="connsiteX3" y="connsiteY3"/>
              </a:cxn>
            </a:cxnLst>
            <a:rect l="l" t="t" r="r" b="b"/>
            <a:pathLst>
              <a:path w="78014" h="694003">
                <a:moveTo>
                  <a:pt x="12357" y="679622"/>
                </a:moveTo>
                <a:cubicBezTo>
                  <a:pt x="31922" y="696098"/>
                  <a:pt x="51487" y="712574"/>
                  <a:pt x="61784" y="642552"/>
                </a:cubicBezTo>
                <a:cubicBezTo>
                  <a:pt x="72081" y="572530"/>
                  <a:pt x="84438" y="366584"/>
                  <a:pt x="74141" y="259492"/>
                </a:cubicBezTo>
                <a:cubicBezTo>
                  <a:pt x="63844" y="152400"/>
                  <a:pt x="31922" y="76200"/>
                  <a:pt x="0"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B81BBD-265A-222A-71FD-B07FC69D6143}"/>
              </a:ext>
            </a:extLst>
          </p:cNvPr>
          <p:cNvSpPr txBox="1"/>
          <p:nvPr/>
        </p:nvSpPr>
        <p:spPr>
          <a:xfrm>
            <a:off x="6553201" y="3617113"/>
            <a:ext cx="1769304" cy="830997"/>
          </a:xfrm>
          <a:prstGeom prst="rect">
            <a:avLst/>
          </a:prstGeom>
          <a:noFill/>
          <a:ln w="38100">
            <a:solidFill>
              <a:schemeClr val="accent2"/>
            </a:solidFill>
          </a:ln>
        </p:spPr>
        <p:txBody>
          <a:bodyPr wrap="square" rtlCol="0">
            <a:spAutoFit/>
          </a:bodyPr>
          <a:lstStyle/>
          <a:p>
            <a:pPr algn="ctr"/>
            <a:r>
              <a:rPr lang="en-US" dirty="0"/>
              <a:t>Group exercise</a:t>
            </a:r>
          </a:p>
        </p:txBody>
      </p:sp>
    </p:spTree>
    <p:extLst>
      <p:ext uri="{BB962C8B-B14F-4D97-AF65-F5344CB8AC3E}">
        <p14:creationId xmlns:p14="http://schemas.microsoft.com/office/powerpoint/2010/main" val="224386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xit" presetSubtype="0" fill="hold" grpId="1" nodeType="withEffect">
                                  <p:stCondLst>
                                    <p:cond delay="0"/>
                                  </p:stCondLst>
                                  <p:childTnLst>
                                    <p:animEffect transition="out" filter="fade">
                                      <p:cBhvr>
                                        <p:cTn id="14" dur="500"/>
                                        <p:tgtEl>
                                          <p:spTgt spid="7"/>
                                        </p:tgtEl>
                                      </p:cBhvr>
                                    </p:animEffect>
                                    <p:set>
                                      <p:cBhvr>
                                        <p:cTn id="15" dur="1" fill="hold">
                                          <p:stCondLst>
                                            <p:cond delay="499"/>
                                          </p:stCondLst>
                                        </p:cTn>
                                        <p:tgtEl>
                                          <p:spTgt spid="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xit" presetSubtype="0" fill="hold" grpId="1" nodeType="withEffect">
                                  <p:stCondLst>
                                    <p:cond delay="0"/>
                                  </p:stCondLst>
                                  <p:childTnLst>
                                    <p:animEffect transition="out" filter="fade">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1"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xit" presetSubtype="0" fill="hold" grpId="1" nodeType="withEffect">
                                  <p:stCondLst>
                                    <p:cond delay="0"/>
                                  </p:stCondLst>
                                  <p:childTnLst>
                                    <p:animEffect transition="out" filter="fade">
                                      <p:cBhvr>
                                        <p:cTn id="30" dur="500"/>
                                        <p:tgtEl>
                                          <p:spTgt spid="10"/>
                                        </p:tgtEl>
                                      </p:cBhvr>
                                    </p:animEffect>
                                    <p:set>
                                      <p:cBhvr>
                                        <p:cTn id="31" dur="1" fill="hold">
                                          <p:stCondLst>
                                            <p:cond delay="499"/>
                                          </p:stCondLst>
                                        </p:cTn>
                                        <p:tgtEl>
                                          <p:spTgt spid="1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1"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ntr" presetSubtype="0" fill="hold" grpId="1"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childTnLst>
                                </p:cTn>
                              </p:par>
                              <p:par>
                                <p:cTn id="40" presetID="10" presetClass="exit" presetSubtype="0" fill="hold" grpId="0" nodeType="withEffect">
                                  <p:stCondLst>
                                    <p:cond delay="0"/>
                                  </p:stCondLst>
                                  <p:childTnLst>
                                    <p:animEffect transition="out" filter="fade">
                                      <p:cBhvr>
                                        <p:cTn id="41" dur="500"/>
                                        <p:tgtEl>
                                          <p:spTgt spid="16"/>
                                        </p:tgtEl>
                                      </p:cBhvr>
                                    </p:animEffect>
                                    <p:set>
                                      <p:cBhvr>
                                        <p:cTn id="42" dur="1" fill="hold">
                                          <p:stCondLst>
                                            <p:cond delay="499"/>
                                          </p:stCondLst>
                                        </p:cTn>
                                        <p:tgtEl>
                                          <p:spTgt spid="1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1"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00"/>
                                        <p:tgtEl>
                                          <p:spTgt spid="32"/>
                                        </p:tgtEl>
                                      </p:cBhvr>
                                    </p:animEffect>
                                  </p:childTnLst>
                                </p:cTn>
                              </p:par>
                              <p:par>
                                <p:cTn id="48" presetID="10" presetClass="exit" presetSubtype="0" fill="hold" grpId="0" nodeType="withEffect">
                                  <p:stCondLst>
                                    <p:cond delay="0"/>
                                  </p:stCondLst>
                                  <p:childTnLst>
                                    <p:animEffect transition="out" filter="fade">
                                      <p:cBhvr>
                                        <p:cTn id="49" dur="500"/>
                                        <p:tgtEl>
                                          <p:spTgt spid="28"/>
                                        </p:tgtEl>
                                      </p:cBhvr>
                                    </p:animEffect>
                                    <p:set>
                                      <p:cBhvr>
                                        <p:cTn id="50" dur="1" fill="hold">
                                          <p:stCondLst>
                                            <p:cond delay="499"/>
                                          </p:stCondLst>
                                        </p:cTn>
                                        <p:tgtEl>
                                          <p:spTgt spid="28"/>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500"/>
                                        <p:tgtEl>
                                          <p:spTgt spid="31"/>
                                        </p:tgtEl>
                                      </p:cBhvr>
                                    </p:animEffect>
                                    <p:set>
                                      <p:cBhvr>
                                        <p:cTn id="53" dur="1" fill="hold">
                                          <p:stCondLst>
                                            <p:cond delay="499"/>
                                          </p:stCondLst>
                                        </p:cTn>
                                        <p:tgtEl>
                                          <p:spTgt spid="31"/>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1" nodeType="click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500"/>
                                        <p:tgtEl>
                                          <p:spTgt spid="36"/>
                                        </p:tgtEl>
                                      </p:cBhvr>
                                    </p:animEffect>
                                  </p:childTnLst>
                                </p:cTn>
                              </p:par>
                              <p:par>
                                <p:cTn id="59" presetID="10" presetClass="exit" presetSubtype="0" fill="hold" grpId="0" nodeType="withEffect">
                                  <p:stCondLst>
                                    <p:cond delay="0"/>
                                  </p:stCondLst>
                                  <p:childTnLst>
                                    <p:animEffect transition="out" filter="fade">
                                      <p:cBhvr>
                                        <p:cTn id="60" dur="500"/>
                                        <p:tgtEl>
                                          <p:spTgt spid="32"/>
                                        </p:tgtEl>
                                      </p:cBhvr>
                                    </p:animEffect>
                                    <p:set>
                                      <p:cBhvr>
                                        <p:cTn id="61" dur="1" fill="hold">
                                          <p:stCondLst>
                                            <p:cond delay="499"/>
                                          </p:stCondLst>
                                        </p:cTn>
                                        <p:tgtEl>
                                          <p:spTgt spid="32"/>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grpId="0" nodeType="clickEffect">
                                  <p:stCondLst>
                                    <p:cond delay="0"/>
                                  </p:stCondLst>
                                  <p:childTnLst>
                                    <p:animEffect transition="out" filter="fade">
                                      <p:cBhvr>
                                        <p:cTn id="65" dur="500"/>
                                        <p:tgtEl>
                                          <p:spTgt spid="36"/>
                                        </p:tgtEl>
                                      </p:cBhvr>
                                    </p:animEffect>
                                    <p:set>
                                      <p:cBhvr>
                                        <p:cTn id="66" dur="1" fill="hold">
                                          <p:stCondLst>
                                            <p:cond delay="499"/>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10" grpId="0" animBg="1"/>
      <p:bldP spid="10" grpId="1" animBg="1"/>
      <p:bldP spid="16" grpId="0" animBg="1"/>
      <p:bldP spid="16" grpId="1" animBg="1"/>
      <p:bldP spid="28" grpId="0" animBg="1"/>
      <p:bldP spid="28" grpId="1" animBg="1"/>
      <p:bldP spid="31" grpId="0" animBg="1"/>
      <p:bldP spid="31" grpId="1" animBg="1"/>
      <p:bldP spid="32" grpId="0" animBg="1"/>
      <p:bldP spid="32" grpId="1" animBg="1"/>
      <p:bldP spid="36" grpId="0" animBg="1"/>
      <p:bldP spid="36"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6485A-4662-71CB-9D84-8E4EF77C4A8F}"/>
            </a:ext>
          </a:extLst>
        </p:cNvPr>
        <p:cNvGrpSpPr/>
        <p:nvPr/>
      </p:nvGrpSpPr>
      <p:grpSpPr>
        <a:xfrm>
          <a:off x="0" y="0"/>
          <a:ext cx="0" cy="0"/>
          <a:chOff x="0" y="0"/>
          <a:chExt cx="0" cy="0"/>
        </a:xfrm>
      </p:grpSpPr>
      <p:pic>
        <p:nvPicPr>
          <p:cNvPr id="6" name="Picture 5" descr="A diagram of a heart&#10;&#10;AI-generated content may be incorrect.">
            <a:extLst>
              <a:ext uri="{FF2B5EF4-FFF2-40B4-BE49-F238E27FC236}">
                <a16:creationId xmlns:a16="http://schemas.microsoft.com/office/drawing/2014/main" id="{1148B4E0-3793-796A-D382-F5F0045569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F2332EAB-38C4-6A59-BE7A-66EDBAEF4E31}"/>
              </a:ext>
            </a:extLst>
          </p:cNvPr>
          <p:cNvSpPr>
            <a:spLocks noGrp="1"/>
          </p:cNvSpPr>
          <p:nvPr>
            <p:ph type="title"/>
          </p:nvPr>
        </p:nvSpPr>
        <p:spPr/>
        <p:txBody>
          <a:bodyPr/>
          <a:lstStyle/>
          <a:p>
            <a:r>
              <a:rPr lang="en-US" dirty="0"/>
              <a:t>Vectors</a:t>
            </a:r>
          </a:p>
        </p:txBody>
      </p:sp>
      <p:sp>
        <p:nvSpPr>
          <p:cNvPr id="3" name="Content Placeholder 2">
            <a:extLst>
              <a:ext uri="{FF2B5EF4-FFF2-40B4-BE49-F238E27FC236}">
                <a16:creationId xmlns:a16="http://schemas.microsoft.com/office/drawing/2014/main" id="{E862C5A9-29F8-BC62-5BE7-CE98648DD1BB}"/>
              </a:ext>
            </a:extLst>
          </p:cNvPr>
          <p:cNvSpPr>
            <a:spLocks noGrp="1"/>
          </p:cNvSpPr>
          <p:nvPr>
            <p:ph idx="1"/>
          </p:nvPr>
        </p:nvSpPr>
        <p:spPr>
          <a:xfrm>
            <a:off x="4136674" y="1316380"/>
            <a:ext cx="5007325" cy="2531906"/>
          </a:xfrm>
        </p:spPr>
        <p:txBody>
          <a:bodyPr/>
          <a:lstStyle/>
          <a:p>
            <a:r>
              <a:rPr lang="en-US" sz="2400" dirty="0"/>
              <a:t>Average vector direction during most of the P wave is down/left</a:t>
            </a:r>
          </a:p>
          <a:p>
            <a:r>
              <a:rPr lang="en-US" sz="2400" dirty="0"/>
              <a:t>Red is + electrode; black is -</a:t>
            </a:r>
          </a:p>
          <a:p>
            <a:r>
              <a:rPr lang="en-US" sz="2400" dirty="0"/>
              <a:t>Vector dot product is positive</a:t>
            </a:r>
          </a:p>
          <a:p>
            <a:r>
              <a:rPr lang="en-US" sz="2400" dirty="0"/>
              <a:t>Is this yet another reason why the P wave shrinks at the end?</a:t>
            </a:r>
          </a:p>
          <a:p>
            <a:endParaRPr lang="en-US" sz="2400" dirty="0"/>
          </a:p>
        </p:txBody>
      </p:sp>
      <p:sp>
        <p:nvSpPr>
          <p:cNvPr id="4" name="Footer Placeholder 3">
            <a:extLst>
              <a:ext uri="{FF2B5EF4-FFF2-40B4-BE49-F238E27FC236}">
                <a16:creationId xmlns:a16="http://schemas.microsoft.com/office/drawing/2014/main" id="{F18C046A-89D3-930C-856A-9E7623AADBC3}"/>
              </a:ext>
            </a:extLst>
          </p:cNvPr>
          <p:cNvSpPr>
            <a:spLocks noGrp="1"/>
          </p:cNvSpPr>
          <p:nvPr>
            <p:ph type="ftr" sz="quarter" idx="11"/>
          </p:nvPr>
        </p:nvSpPr>
        <p:spPr/>
        <p:txBody>
          <a:bodyPr/>
          <a:lstStyle/>
          <a:p>
            <a:pPr>
              <a:defRPr/>
            </a:pPr>
            <a:r>
              <a:rPr lang="en-US"/>
              <a:t>EE 123 -- Bioelectricity</a:t>
            </a:r>
            <a:endParaRPr lang="en-US" dirty="0"/>
          </a:p>
        </p:txBody>
      </p:sp>
      <p:sp>
        <p:nvSpPr>
          <p:cNvPr id="23" name="TextBox 22">
            <a:extLst>
              <a:ext uri="{FF2B5EF4-FFF2-40B4-BE49-F238E27FC236}">
                <a16:creationId xmlns:a16="http://schemas.microsoft.com/office/drawing/2014/main" id="{EF40184E-1B01-7A5A-D214-9A90537C7247}"/>
              </a:ext>
            </a:extLst>
          </p:cNvPr>
          <p:cNvSpPr txBox="1"/>
          <p:nvPr/>
        </p:nvSpPr>
        <p:spPr>
          <a:xfrm>
            <a:off x="2152181" y="4415135"/>
            <a:ext cx="304800" cy="461665"/>
          </a:xfrm>
          <a:prstGeom prst="rect">
            <a:avLst/>
          </a:prstGeom>
          <a:noFill/>
        </p:spPr>
        <p:txBody>
          <a:bodyPr wrap="square" rtlCol="0">
            <a:spAutoFit/>
          </a:bodyPr>
          <a:lstStyle/>
          <a:p>
            <a:r>
              <a:rPr lang="en-US" dirty="0">
                <a:solidFill>
                  <a:schemeClr val="accent2"/>
                </a:solidFill>
              </a:rPr>
              <a:t>R</a:t>
            </a:r>
          </a:p>
        </p:txBody>
      </p:sp>
      <p:sp>
        <p:nvSpPr>
          <p:cNvPr id="5" name="Oval 4">
            <a:extLst>
              <a:ext uri="{FF2B5EF4-FFF2-40B4-BE49-F238E27FC236}">
                <a16:creationId xmlns:a16="http://schemas.microsoft.com/office/drawing/2014/main" id="{896376FB-74D6-3334-3CB5-B7AD3A6A1CFF}"/>
              </a:ext>
            </a:extLst>
          </p:cNvPr>
          <p:cNvSpPr/>
          <p:nvPr/>
        </p:nvSpPr>
        <p:spPr>
          <a:xfrm>
            <a:off x="751703" y="3072997"/>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40" name="Oval 39">
            <a:extLst>
              <a:ext uri="{FF2B5EF4-FFF2-40B4-BE49-F238E27FC236}">
                <a16:creationId xmlns:a16="http://schemas.microsoft.com/office/drawing/2014/main" id="{5D941031-B537-2E63-49AF-10232F6BB12E}"/>
              </a:ext>
            </a:extLst>
          </p:cNvPr>
          <p:cNvSpPr/>
          <p:nvPr/>
        </p:nvSpPr>
        <p:spPr>
          <a:xfrm>
            <a:off x="152400" y="1090869"/>
            <a:ext cx="228600" cy="2286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F882BE78-56C2-7F9D-D5F0-F75705A98510}"/>
              </a:ext>
            </a:extLst>
          </p:cNvPr>
          <p:cNvSpPr/>
          <p:nvPr/>
        </p:nvSpPr>
        <p:spPr>
          <a:xfrm>
            <a:off x="4022375" y="5791200"/>
            <a:ext cx="228600" cy="2286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8F73BDFE-8559-A964-A655-6166EC8A86DA}"/>
              </a:ext>
            </a:extLst>
          </p:cNvPr>
          <p:cNvSpPr/>
          <p:nvPr/>
        </p:nvSpPr>
        <p:spPr>
          <a:xfrm>
            <a:off x="5029200" y="5210665"/>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7DDB2DD3-2A56-D687-585C-0F7BD34CA52D}"/>
              </a:ext>
            </a:extLst>
          </p:cNvPr>
          <p:cNvSpPr/>
          <p:nvPr/>
        </p:nvSpPr>
        <p:spPr>
          <a:xfrm>
            <a:off x="6774466" y="5119944"/>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99591A3C-2FA4-6E3E-ACA3-2E9F18D14CDF}"/>
              </a:ext>
            </a:extLst>
          </p:cNvPr>
          <p:cNvSpPr/>
          <p:nvPr/>
        </p:nvSpPr>
        <p:spPr>
          <a:xfrm>
            <a:off x="5569934" y="3848286"/>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594636AC-8C51-A33B-28E5-5E3ED3C767D3}"/>
              </a:ext>
            </a:extLst>
          </p:cNvPr>
          <p:cNvSpPr txBox="1"/>
          <p:nvPr/>
        </p:nvSpPr>
        <p:spPr>
          <a:xfrm>
            <a:off x="5105400" y="5223180"/>
            <a:ext cx="304800" cy="461665"/>
          </a:xfrm>
          <a:prstGeom prst="rect">
            <a:avLst/>
          </a:prstGeom>
          <a:noFill/>
        </p:spPr>
        <p:txBody>
          <a:bodyPr wrap="square" rtlCol="0">
            <a:spAutoFit/>
          </a:bodyPr>
          <a:lstStyle/>
          <a:p>
            <a:r>
              <a:rPr lang="en-US" dirty="0">
                <a:solidFill>
                  <a:srgbClr val="FF0000"/>
                </a:solidFill>
              </a:rPr>
              <a:t>P</a:t>
            </a:r>
          </a:p>
        </p:txBody>
      </p:sp>
      <p:sp>
        <p:nvSpPr>
          <p:cNvPr id="46" name="TextBox 45">
            <a:extLst>
              <a:ext uri="{FF2B5EF4-FFF2-40B4-BE49-F238E27FC236}">
                <a16:creationId xmlns:a16="http://schemas.microsoft.com/office/drawing/2014/main" id="{B9C28206-0E49-F496-79DB-31A2C8297E70}"/>
              </a:ext>
            </a:extLst>
          </p:cNvPr>
          <p:cNvSpPr txBox="1"/>
          <p:nvPr/>
        </p:nvSpPr>
        <p:spPr>
          <a:xfrm>
            <a:off x="5812930" y="5422669"/>
            <a:ext cx="304800" cy="461665"/>
          </a:xfrm>
          <a:prstGeom prst="rect">
            <a:avLst/>
          </a:prstGeom>
          <a:noFill/>
        </p:spPr>
        <p:txBody>
          <a:bodyPr wrap="square" rtlCol="0">
            <a:spAutoFit/>
          </a:bodyPr>
          <a:lstStyle/>
          <a:p>
            <a:r>
              <a:rPr lang="en-US" dirty="0">
                <a:solidFill>
                  <a:schemeClr val="accent2"/>
                </a:solidFill>
              </a:rPr>
              <a:t>Q</a:t>
            </a:r>
          </a:p>
        </p:txBody>
      </p:sp>
      <p:sp>
        <p:nvSpPr>
          <p:cNvPr id="47" name="TextBox 46">
            <a:extLst>
              <a:ext uri="{FF2B5EF4-FFF2-40B4-BE49-F238E27FC236}">
                <a16:creationId xmlns:a16="http://schemas.microsoft.com/office/drawing/2014/main" id="{5B626E4F-C745-812C-1357-C0416B0A070C}"/>
              </a:ext>
            </a:extLst>
          </p:cNvPr>
          <p:cNvSpPr txBox="1"/>
          <p:nvPr/>
        </p:nvSpPr>
        <p:spPr>
          <a:xfrm>
            <a:off x="6913598" y="5113867"/>
            <a:ext cx="304800" cy="461665"/>
          </a:xfrm>
          <a:prstGeom prst="rect">
            <a:avLst/>
          </a:prstGeom>
          <a:noFill/>
        </p:spPr>
        <p:txBody>
          <a:bodyPr wrap="square" rtlCol="0">
            <a:spAutoFit/>
          </a:bodyPr>
          <a:lstStyle/>
          <a:p>
            <a:r>
              <a:rPr lang="en-US" dirty="0">
                <a:solidFill>
                  <a:schemeClr val="accent2"/>
                </a:solidFill>
              </a:rPr>
              <a:t>T</a:t>
            </a:r>
          </a:p>
        </p:txBody>
      </p:sp>
      <p:sp>
        <p:nvSpPr>
          <p:cNvPr id="48" name="TextBox 47">
            <a:extLst>
              <a:ext uri="{FF2B5EF4-FFF2-40B4-BE49-F238E27FC236}">
                <a16:creationId xmlns:a16="http://schemas.microsoft.com/office/drawing/2014/main" id="{BE395103-814B-0D71-DC8D-E67CDBFF7E8C}"/>
              </a:ext>
            </a:extLst>
          </p:cNvPr>
          <p:cNvSpPr txBox="1"/>
          <p:nvPr/>
        </p:nvSpPr>
        <p:spPr>
          <a:xfrm>
            <a:off x="6096000" y="5634335"/>
            <a:ext cx="304800" cy="461665"/>
          </a:xfrm>
          <a:prstGeom prst="rect">
            <a:avLst/>
          </a:prstGeom>
          <a:noFill/>
        </p:spPr>
        <p:txBody>
          <a:bodyPr wrap="square" rtlCol="0">
            <a:spAutoFit/>
          </a:bodyPr>
          <a:lstStyle/>
          <a:p>
            <a:r>
              <a:rPr lang="en-US" dirty="0">
                <a:solidFill>
                  <a:schemeClr val="accent2"/>
                </a:solidFill>
              </a:rPr>
              <a:t>S</a:t>
            </a:r>
          </a:p>
        </p:txBody>
      </p:sp>
      <p:cxnSp>
        <p:nvCxnSpPr>
          <p:cNvPr id="13" name="Straight Arrow Connector 12">
            <a:extLst>
              <a:ext uri="{FF2B5EF4-FFF2-40B4-BE49-F238E27FC236}">
                <a16:creationId xmlns:a16="http://schemas.microsoft.com/office/drawing/2014/main" id="{D91D7CE5-B4AC-375A-7FFA-7D8F8E8A016D}"/>
              </a:ext>
            </a:extLst>
          </p:cNvPr>
          <p:cNvCxnSpPr>
            <a:cxnSpLocks/>
          </p:cNvCxnSpPr>
          <p:nvPr/>
        </p:nvCxnSpPr>
        <p:spPr>
          <a:xfrm>
            <a:off x="7254546" y="4130346"/>
            <a:ext cx="670254" cy="670254"/>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1DCCA17-BDB1-4221-5A6D-5E1CB25B4831}"/>
              </a:ext>
            </a:extLst>
          </p:cNvPr>
          <p:cNvCxnSpPr>
            <a:cxnSpLocks/>
          </p:cNvCxnSpPr>
          <p:nvPr/>
        </p:nvCxnSpPr>
        <p:spPr>
          <a:xfrm>
            <a:off x="7385174" y="4016828"/>
            <a:ext cx="670254" cy="670254"/>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0EF2750-14F7-DE77-55C6-711B6290FE88}"/>
              </a:ext>
            </a:extLst>
          </p:cNvPr>
          <p:cNvCxnSpPr>
            <a:cxnSpLocks/>
          </p:cNvCxnSpPr>
          <p:nvPr/>
        </p:nvCxnSpPr>
        <p:spPr>
          <a:xfrm flipH="1">
            <a:off x="679494" y="3505200"/>
            <a:ext cx="82506" cy="320572"/>
          </a:xfrm>
          <a:prstGeom prst="straightConnector1">
            <a:avLst/>
          </a:prstGeom>
          <a:ln w="28575">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40BE031-B1F6-DF3D-B642-A228BD8DCBE8}"/>
              </a:ext>
            </a:extLst>
          </p:cNvPr>
          <p:cNvCxnSpPr>
            <a:cxnSpLocks/>
          </p:cNvCxnSpPr>
          <p:nvPr/>
        </p:nvCxnSpPr>
        <p:spPr>
          <a:xfrm>
            <a:off x="1066800" y="3453312"/>
            <a:ext cx="161541" cy="204288"/>
          </a:xfrm>
          <a:prstGeom prst="straightConnector1">
            <a:avLst/>
          </a:prstGeom>
          <a:ln w="28575">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9998938-FDD4-5D37-34A2-2ADA71C5C6A3}"/>
              </a:ext>
            </a:extLst>
          </p:cNvPr>
          <p:cNvCxnSpPr>
            <a:cxnSpLocks/>
          </p:cNvCxnSpPr>
          <p:nvPr/>
        </p:nvCxnSpPr>
        <p:spPr>
          <a:xfrm>
            <a:off x="1198436" y="3248740"/>
            <a:ext cx="325564" cy="120557"/>
          </a:xfrm>
          <a:prstGeom prst="straightConnector1">
            <a:avLst/>
          </a:prstGeom>
          <a:ln w="28575">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581C0CC-8DAE-D1CF-04F7-82160EF9B8A4}"/>
              </a:ext>
            </a:extLst>
          </p:cNvPr>
          <p:cNvCxnSpPr>
            <a:cxnSpLocks/>
          </p:cNvCxnSpPr>
          <p:nvPr/>
        </p:nvCxnSpPr>
        <p:spPr>
          <a:xfrm>
            <a:off x="1066800" y="3434322"/>
            <a:ext cx="170683" cy="223278"/>
          </a:xfrm>
          <a:prstGeom prst="straightConnector1">
            <a:avLst/>
          </a:prstGeom>
          <a:ln w="76200">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31FE3852-6782-80CC-60D4-C0517ED8D6F9}"/>
              </a:ext>
            </a:extLst>
          </p:cNvPr>
          <p:cNvSpPr/>
          <p:nvPr/>
        </p:nvSpPr>
        <p:spPr>
          <a:xfrm>
            <a:off x="599303" y="3224712"/>
            <a:ext cx="679622" cy="392401"/>
          </a:xfrm>
          <a:custGeom>
            <a:avLst/>
            <a:gdLst>
              <a:gd name="connsiteX0" fmla="*/ 0 w 679622"/>
              <a:gd name="connsiteY0" fmla="*/ 296562 h 392401"/>
              <a:gd name="connsiteX1" fmla="*/ 98854 w 679622"/>
              <a:gd name="connsiteY1" fmla="*/ 370702 h 392401"/>
              <a:gd name="connsiteX2" fmla="*/ 481914 w 679622"/>
              <a:gd name="connsiteY2" fmla="*/ 358345 h 392401"/>
              <a:gd name="connsiteX3" fmla="*/ 679622 w 679622"/>
              <a:gd name="connsiteY3" fmla="*/ 0 h 392401"/>
            </a:gdLst>
            <a:ahLst/>
            <a:cxnLst>
              <a:cxn ang="0">
                <a:pos x="connsiteX0" y="connsiteY0"/>
              </a:cxn>
              <a:cxn ang="0">
                <a:pos x="connsiteX1" y="connsiteY1"/>
              </a:cxn>
              <a:cxn ang="0">
                <a:pos x="connsiteX2" y="connsiteY2"/>
              </a:cxn>
              <a:cxn ang="0">
                <a:pos x="connsiteX3" y="connsiteY3"/>
              </a:cxn>
            </a:cxnLst>
            <a:rect l="l" t="t" r="r" b="b"/>
            <a:pathLst>
              <a:path w="679622" h="392401">
                <a:moveTo>
                  <a:pt x="0" y="296562"/>
                </a:moveTo>
                <a:cubicBezTo>
                  <a:pt x="9267" y="328483"/>
                  <a:pt x="18535" y="360405"/>
                  <a:pt x="98854" y="370702"/>
                </a:cubicBezTo>
                <a:cubicBezTo>
                  <a:pt x="179173" y="380999"/>
                  <a:pt x="385119" y="420129"/>
                  <a:pt x="481914" y="358345"/>
                </a:cubicBezTo>
                <a:cubicBezTo>
                  <a:pt x="578709" y="296561"/>
                  <a:pt x="629165" y="148280"/>
                  <a:pt x="679622"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4782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00"/>
                                        <p:tgtEl>
                                          <p:spTgt spid="4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500"/>
                                        <p:tgtEl>
                                          <p:spTgt spid="4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5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8B55C-1FC0-66D2-79FA-F6F65DD04C32}"/>
            </a:ext>
          </a:extLst>
        </p:cNvPr>
        <p:cNvGrpSpPr/>
        <p:nvPr/>
      </p:nvGrpSpPr>
      <p:grpSpPr>
        <a:xfrm>
          <a:off x="0" y="0"/>
          <a:ext cx="0" cy="0"/>
          <a:chOff x="0" y="0"/>
          <a:chExt cx="0" cy="0"/>
        </a:xfrm>
      </p:grpSpPr>
      <p:pic>
        <p:nvPicPr>
          <p:cNvPr id="9" name="Picture 8" descr="A diagram of a heart&#10;&#10;AI-generated content may be incorrect.">
            <a:extLst>
              <a:ext uri="{FF2B5EF4-FFF2-40B4-BE49-F238E27FC236}">
                <a16:creationId xmlns:a16="http://schemas.microsoft.com/office/drawing/2014/main" id="{F315DC1B-C85B-2860-E426-C8BF85F077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881CEAD1-E15C-E6BE-A173-C5993857425F}"/>
              </a:ext>
            </a:extLst>
          </p:cNvPr>
          <p:cNvSpPr>
            <a:spLocks noGrp="1"/>
          </p:cNvSpPr>
          <p:nvPr>
            <p:ph type="title"/>
          </p:nvPr>
        </p:nvSpPr>
        <p:spPr/>
        <p:txBody>
          <a:bodyPr/>
          <a:lstStyle/>
          <a:p>
            <a:r>
              <a:rPr lang="en-US" dirty="0"/>
              <a:t>Vectors</a:t>
            </a:r>
          </a:p>
        </p:txBody>
      </p:sp>
      <p:sp>
        <p:nvSpPr>
          <p:cNvPr id="3" name="Content Placeholder 2">
            <a:extLst>
              <a:ext uri="{FF2B5EF4-FFF2-40B4-BE49-F238E27FC236}">
                <a16:creationId xmlns:a16="http://schemas.microsoft.com/office/drawing/2014/main" id="{8A46F4FC-8109-038E-539E-B9D7EDE66510}"/>
              </a:ext>
            </a:extLst>
          </p:cNvPr>
          <p:cNvSpPr>
            <a:spLocks noGrp="1"/>
          </p:cNvSpPr>
          <p:nvPr>
            <p:ph idx="1"/>
          </p:nvPr>
        </p:nvSpPr>
        <p:spPr>
          <a:xfrm>
            <a:off x="4136675" y="1316380"/>
            <a:ext cx="4811650" cy="2265020"/>
          </a:xfrm>
        </p:spPr>
        <p:txBody>
          <a:bodyPr/>
          <a:lstStyle/>
          <a:p>
            <a:r>
              <a:rPr lang="en-US" sz="2400" dirty="0"/>
              <a:t>Red is + electrode; black is -.</a:t>
            </a:r>
          </a:p>
          <a:p>
            <a:r>
              <a:rPr lang="en-US" sz="2400" dirty="0"/>
              <a:t>Reverse the two electrodes; vector dot product is now negative!</a:t>
            </a:r>
          </a:p>
        </p:txBody>
      </p:sp>
      <p:sp>
        <p:nvSpPr>
          <p:cNvPr id="4" name="Footer Placeholder 3">
            <a:extLst>
              <a:ext uri="{FF2B5EF4-FFF2-40B4-BE49-F238E27FC236}">
                <a16:creationId xmlns:a16="http://schemas.microsoft.com/office/drawing/2014/main" id="{00A1F77F-948D-36D7-8D5B-DCBED8DF0647}"/>
              </a:ext>
            </a:extLst>
          </p:cNvPr>
          <p:cNvSpPr>
            <a:spLocks noGrp="1"/>
          </p:cNvSpPr>
          <p:nvPr>
            <p:ph type="ftr" sz="quarter" idx="11"/>
          </p:nvPr>
        </p:nvSpPr>
        <p:spPr/>
        <p:txBody>
          <a:bodyPr/>
          <a:lstStyle/>
          <a:p>
            <a:pPr>
              <a:defRPr/>
            </a:pPr>
            <a:r>
              <a:rPr lang="en-US"/>
              <a:t>EE 123 -- Bioelectricity</a:t>
            </a:r>
            <a:endParaRPr lang="en-US" dirty="0"/>
          </a:p>
        </p:txBody>
      </p:sp>
      <p:sp>
        <p:nvSpPr>
          <p:cNvPr id="23" name="TextBox 22">
            <a:extLst>
              <a:ext uri="{FF2B5EF4-FFF2-40B4-BE49-F238E27FC236}">
                <a16:creationId xmlns:a16="http://schemas.microsoft.com/office/drawing/2014/main" id="{D7979644-4361-511C-8B3B-FA7D307463AF}"/>
              </a:ext>
            </a:extLst>
          </p:cNvPr>
          <p:cNvSpPr txBox="1"/>
          <p:nvPr/>
        </p:nvSpPr>
        <p:spPr>
          <a:xfrm>
            <a:off x="2152181" y="4415135"/>
            <a:ext cx="304800" cy="461665"/>
          </a:xfrm>
          <a:prstGeom prst="rect">
            <a:avLst/>
          </a:prstGeom>
          <a:noFill/>
        </p:spPr>
        <p:txBody>
          <a:bodyPr wrap="square" rtlCol="0">
            <a:spAutoFit/>
          </a:bodyPr>
          <a:lstStyle/>
          <a:p>
            <a:r>
              <a:rPr lang="en-US" dirty="0">
                <a:solidFill>
                  <a:schemeClr val="accent2"/>
                </a:solidFill>
              </a:rPr>
              <a:t>R</a:t>
            </a:r>
          </a:p>
        </p:txBody>
      </p:sp>
      <p:sp>
        <p:nvSpPr>
          <p:cNvPr id="5" name="Oval 4">
            <a:extLst>
              <a:ext uri="{FF2B5EF4-FFF2-40B4-BE49-F238E27FC236}">
                <a16:creationId xmlns:a16="http://schemas.microsoft.com/office/drawing/2014/main" id="{AE28ACD3-0555-565F-17E6-3F2DAECFFB5C}"/>
              </a:ext>
            </a:extLst>
          </p:cNvPr>
          <p:cNvSpPr/>
          <p:nvPr/>
        </p:nvSpPr>
        <p:spPr>
          <a:xfrm>
            <a:off x="751703" y="3072997"/>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8" name="Freeform: Shape 7">
            <a:extLst>
              <a:ext uri="{FF2B5EF4-FFF2-40B4-BE49-F238E27FC236}">
                <a16:creationId xmlns:a16="http://schemas.microsoft.com/office/drawing/2014/main" id="{E9DB066B-97AB-3023-BDC8-F90837FD32EC}"/>
              </a:ext>
            </a:extLst>
          </p:cNvPr>
          <p:cNvSpPr/>
          <p:nvPr/>
        </p:nvSpPr>
        <p:spPr>
          <a:xfrm>
            <a:off x="518984" y="3051717"/>
            <a:ext cx="966204" cy="755190"/>
          </a:xfrm>
          <a:custGeom>
            <a:avLst/>
            <a:gdLst>
              <a:gd name="connsiteX0" fmla="*/ 0 w 966204"/>
              <a:gd name="connsiteY0" fmla="*/ 704335 h 755190"/>
              <a:gd name="connsiteX1" fmla="*/ 284205 w 966204"/>
              <a:gd name="connsiteY1" fmla="*/ 753762 h 755190"/>
              <a:gd name="connsiteX2" fmla="*/ 716692 w 966204"/>
              <a:gd name="connsiteY2" fmla="*/ 654908 h 755190"/>
              <a:gd name="connsiteX3" fmla="*/ 939114 w 966204"/>
              <a:gd name="connsiteY3" fmla="*/ 296562 h 755190"/>
              <a:gd name="connsiteX4" fmla="*/ 963827 w 966204"/>
              <a:gd name="connsiteY4" fmla="*/ 210065 h 755190"/>
              <a:gd name="connsiteX5" fmla="*/ 963827 w 966204"/>
              <a:gd name="connsiteY5" fmla="*/ 0 h 755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204" h="755190">
                <a:moveTo>
                  <a:pt x="0" y="704335"/>
                </a:moveTo>
                <a:cubicBezTo>
                  <a:pt x="82378" y="733167"/>
                  <a:pt x="164756" y="762000"/>
                  <a:pt x="284205" y="753762"/>
                </a:cubicBezTo>
                <a:cubicBezTo>
                  <a:pt x="403654" y="745524"/>
                  <a:pt x="607541" y="731108"/>
                  <a:pt x="716692" y="654908"/>
                </a:cubicBezTo>
                <a:cubicBezTo>
                  <a:pt x="825843" y="578708"/>
                  <a:pt x="897925" y="370702"/>
                  <a:pt x="939114" y="296562"/>
                </a:cubicBezTo>
                <a:cubicBezTo>
                  <a:pt x="980303" y="222422"/>
                  <a:pt x="959708" y="259492"/>
                  <a:pt x="963827" y="210065"/>
                </a:cubicBezTo>
                <a:cubicBezTo>
                  <a:pt x="967946" y="160638"/>
                  <a:pt x="965886" y="80319"/>
                  <a:pt x="963827"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918065F-D286-9B42-38A8-4B4D1BEFC671}"/>
              </a:ext>
            </a:extLst>
          </p:cNvPr>
          <p:cNvSpPr/>
          <p:nvPr/>
        </p:nvSpPr>
        <p:spPr>
          <a:xfrm>
            <a:off x="531341" y="3014647"/>
            <a:ext cx="1188993" cy="1001611"/>
          </a:xfrm>
          <a:custGeom>
            <a:avLst/>
            <a:gdLst>
              <a:gd name="connsiteX0" fmla="*/ 0 w 1188993"/>
              <a:gd name="connsiteY0" fmla="*/ 976183 h 1001611"/>
              <a:gd name="connsiteX1" fmla="*/ 284205 w 1188993"/>
              <a:gd name="connsiteY1" fmla="*/ 1000897 h 1001611"/>
              <a:gd name="connsiteX2" fmla="*/ 667265 w 1188993"/>
              <a:gd name="connsiteY2" fmla="*/ 951470 h 1001611"/>
              <a:gd name="connsiteX3" fmla="*/ 1025611 w 1188993"/>
              <a:gd name="connsiteY3" fmla="*/ 691978 h 1001611"/>
              <a:gd name="connsiteX4" fmla="*/ 1149178 w 1188993"/>
              <a:gd name="connsiteY4" fmla="*/ 345989 h 1001611"/>
              <a:gd name="connsiteX5" fmla="*/ 1186248 w 1188993"/>
              <a:gd name="connsiteY5" fmla="*/ 135924 h 1001611"/>
              <a:gd name="connsiteX6" fmla="*/ 1186248 w 1188993"/>
              <a:gd name="connsiteY6" fmla="*/ 0 h 1001611"/>
              <a:gd name="connsiteX7" fmla="*/ 1186248 w 1188993"/>
              <a:gd name="connsiteY7" fmla="*/ 0 h 100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8993" h="1001611">
                <a:moveTo>
                  <a:pt x="0" y="976183"/>
                </a:moveTo>
                <a:cubicBezTo>
                  <a:pt x="86497" y="990599"/>
                  <a:pt x="172994" y="1005016"/>
                  <a:pt x="284205" y="1000897"/>
                </a:cubicBezTo>
                <a:cubicBezTo>
                  <a:pt x="395416" y="996778"/>
                  <a:pt x="543697" y="1002956"/>
                  <a:pt x="667265" y="951470"/>
                </a:cubicBezTo>
                <a:cubicBezTo>
                  <a:pt x="790833" y="899984"/>
                  <a:pt x="945292" y="792891"/>
                  <a:pt x="1025611" y="691978"/>
                </a:cubicBezTo>
                <a:cubicBezTo>
                  <a:pt x="1105930" y="591065"/>
                  <a:pt x="1122405" y="438665"/>
                  <a:pt x="1149178" y="345989"/>
                </a:cubicBezTo>
                <a:cubicBezTo>
                  <a:pt x="1175951" y="253313"/>
                  <a:pt x="1180070" y="193589"/>
                  <a:pt x="1186248" y="135924"/>
                </a:cubicBezTo>
                <a:cubicBezTo>
                  <a:pt x="1192426" y="78259"/>
                  <a:pt x="1186248" y="0"/>
                  <a:pt x="1186248" y="0"/>
                </a:cubicBezTo>
                <a:lnTo>
                  <a:pt x="1186248" y="0"/>
                </a:ln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0611DD81-1820-776E-FC5B-3B0039865F9B}"/>
              </a:ext>
            </a:extLst>
          </p:cNvPr>
          <p:cNvCxnSpPr/>
          <p:nvPr/>
        </p:nvCxnSpPr>
        <p:spPr>
          <a:xfrm>
            <a:off x="1295400" y="3581400"/>
            <a:ext cx="533400" cy="381000"/>
          </a:xfrm>
          <a:prstGeom prst="straightConnector1">
            <a:avLst/>
          </a:prstGeom>
          <a:ln w="76200">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2" name="Freeform: Shape 41">
            <a:extLst>
              <a:ext uri="{FF2B5EF4-FFF2-40B4-BE49-F238E27FC236}">
                <a16:creationId xmlns:a16="http://schemas.microsoft.com/office/drawing/2014/main" id="{9417686B-0FA3-160F-4C18-CC452110A68E}"/>
              </a:ext>
            </a:extLst>
          </p:cNvPr>
          <p:cNvSpPr/>
          <p:nvPr/>
        </p:nvSpPr>
        <p:spPr>
          <a:xfrm flipV="1">
            <a:off x="5029200" y="5384819"/>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2C3BEE90-3DB2-0466-2F33-A908E75FF84D}"/>
              </a:ext>
            </a:extLst>
          </p:cNvPr>
          <p:cNvSpPr/>
          <p:nvPr/>
        </p:nvSpPr>
        <p:spPr>
          <a:xfrm>
            <a:off x="6774466" y="5119944"/>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72C1745F-FF74-579A-E52F-A1C8102CB64C}"/>
              </a:ext>
            </a:extLst>
          </p:cNvPr>
          <p:cNvSpPr/>
          <p:nvPr/>
        </p:nvSpPr>
        <p:spPr>
          <a:xfrm>
            <a:off x="5569934" y="3848286"/>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D855DF4F-217A-9AEF-599E-BDF34369EFDD}"/>
              </a:ext>
            </a:extLst>
          </p:cNvPr>
          <p:cNvSpPr txBox="1"/>
          <p:nvPr/>
        </p:nvSpPr>
        <p:spPr>
          <a:xfrm>
            <a:off x="5105400" y="5029200"/>
            <a:ext cx="304800" cy="461665"/>
          </a:xfrm>
          <a:prstGeom prst="rect">
            <a:avLst/>
          </a:prstGeom>
          <a:noFill/>
        </p:spPr>
        <p:txBody>
          <a:bodyPr wrap="square" rtlCol="0">
            <a:spAutoFit/>
          </a:bodyPr>
          <a:lstStyle/>
          <a:p>
            <a:r>
              <a:rPr lang="en-US" dirty="0">
                <a:solidFill>
                  <a:srgbClr val="FF0000"/>
                </a:solidFill>
              </a:rPr>
              <a:t>P</a:t>
            </a:r>
          </a:p>
        </p:txBody>
      </p:sp>
      <p:sp>
        <p:nvSpPr>
          <p:cNvPr id="46" name="TextBox 45">
            <a:extLst>
              <a:ext uri="{FF2B5EF4-FFF2-40B4-BE49-F238E27FC236}">
                <a16:creationId xmlns:a16="http://schemas.microsoft.com/office/drawing/2014/main" id="{A3428D47-4B0C-8E1D-6AAB-65B69D7C0E0F}"/>
              </a:ext>
            </a:extLst>
          </p:cNvPr>
          <p:cNvSpPr txBox="1"/>
          <p:nvPr/>
        </p:nvSpPr>
        <p:spPr>
          <a:xfrm>
            <a:off x="5812930" y="5422669"/>
            <a:ext cx="304800" cy="461665"/>
          </a:xfrm>
          <a:prstGeom prst="rect">
            <a:avLst/>
          </a:prstGeom>
          <a:noFill/>
        </p:spPr>
        <p:txBody>
          <a:bodyPr wrap="square" rtlCol="0">
            <a:spAutoFit/>
          </a:bodyPr>
          <a:lstStyle/>
          <a:p>
            <a:r>
              <a:rPr lang="en-US" dirty="0">
                <a:solidFill>
                  <a:schemeClr val="accent2"/>
                </a:solidFill>
              </a:rPr>
              <a:t>Q</a:t>
            </a:r>
          </a:p>
        </p:txBody>
      </p:sp>
      <p:sp>
        <p:nvSpPr>
          <p:cNvPr id="47" name="TextBox 46">
            <a:extLst>
              <a:ext uri="{FF2B5EF4-FFF2-40B4-BE49-F238E27FC236}">
                <a16:creationId xmlns:a16="http://schemas.microsoft.com/office/drawing/2014/main" id="{8F76A5A8-622D-46BF-4144-0304A1A91DEF}"/>
              </a:ext>
            </a:extLst>
          </p:cNvPr>
          <p:cNvSpPr txBox="1"/>
          <p:nvPr/>
        </p:nvSpPr>
        <p:spPr>
          <a:xfrm>
            <a:off x="6913598" y="5113867"/>
            <a:ext cx="304800" cy="461665"/>
          </a:xfrm>
          <a:prstGeom prst="rect">
            <a:avLst/>
          </a:prstGeom>
          <a:noFill/>
        </p:spPr>
        <p:txBody>
          <a:bodyPr wrap="square" rtlCol="0">
            <a:spAutoFit/>
          </a:bodyPr>
          <a:lstStyle/>
          <a:p>
            <a:r>
              <a:rPr lang="en-US" dirty="0">
                <a:solidFill>
                  <a:schemeClr val="accent2"/>
                </a:solidFill>
              </a:rPr>
              <a:t>T</a:t>
            </a:r>
          </a:p>
        </p:txBody>
      </p:sp>
      <p:sp>
        <p:nvSpPr>
          <p:cNvPr id="48" name="TextBox 47">
            <a:extLst>
              <a:ext uri="{FF2B5EF4-FFF2-40B4-BE49-F238E27FC236}">
                <a16:creationId xmlns:a16="http://schemas.microsoft.com/office/drawing/2014/main" id="{D7EBA647-B48F-0156-EBC7-A6FF2D3E708D}"/>
              </a:ext>
            </a:extLst>
          </p:cNvPr>
          <p:cNvSpPr txBox="1"/>
          <p:nvPr/>
        </p:nvSpPr>
        <p:spPr>
          <a:xfrm>
            <a:off x="6096000" y="5634335"/>
            <a:ext cx="304800" cy="461665"/>
          </a:xfrm>
          <a:prstGeom prst="rect">
            <a:avLst/>
          </a:prstGeom>
          <a:noFill/>
        </p:spPr>
        <p:txBody>
          <a:bodyPr wrap="square" rtlCol="0">
            <a:spAutoFit/>
          </a:bodyPr>
          <a:lstStyle/>
          <a:p>
            <a:r>
              <a:rPr lang="en-US" dirty="0">
                <a:solidFill>
                  <a:schemeClr val="accent2"/>
                </a:solidFill>
              </a:rPr>
              <a:t>S</a:t>
            </a:r>
          </a:p>
        </p:txBody>
      </p:sp>
      <p:sp>
        <p:nvSpPr>
          <p:cNvPr id="11" name="Oval 10">
            <a:extLst>
              <a:ext uri="{FF2B5EF4-FFF2-40B4-BE49-F238E27FC236}">
                <a16:creationId xmlns:a16="http://schemas.microsoft.com/office/drawing/2014/main" id="{ABFD42E9-F6E6-14B3-5676-9213EB63B447}"/>
              </a:ext>
            </a:extLst>
          </p:cNvPr>
          <p:cNvSpPr/>
          <p:nvPr/>
        </p:nvSpPr>
        <p:spPr>
          <a:xfrm>
            <a:off x="152400" y="1090869"/>
            <a:ext cx="228600" cy="2286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EB32B5B-900C-9FD3-DEE4-15E05C3A77E9}"/>
              </a:ext>
            </a:extLst>
          </p:cNvPr>
          <p:cNvSpPr/>
          <p:nvPr/>
        </p:nvSpPr>
        <p:spPr>
          <a:xfrm>
            <a:off x="4022375" y="5791200"/>
            <a:ext cx="228600" cy="2286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7AB7A0DC-AE1A-CCCE-826F-A4933A908F85}"/>
              </a:ext>
            </a:extLst>
          </p:cNvPr>
          <p:cNvCxnSpPr>
            <a:cxnSpLocks/>
          </p:cNvCxnSpPr>
          <p:nvPr/>
        </p:nvCxnSpPr>
        <p:spPr>
          <a:xfrm>
            <a:off x="7254546" y="3977946"/>
            <a:ext cx="670254" cy="670254"/>
          </a:xfrm>
          <a:prstGeom prst="straightConnector1">
            <a:avLst/>
          </a:prstGeom>
          <a:ln w="28575">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4486066-89BD-7A85-D1C5-DD8082F3036C}"/>
              </a:ext>
            </a:extLst>
          </p:cNvPr>
          <p:cNvCxnSpPr>
            <a:cxnSpLocks/>
          </p:cNvCxnSpPr>
          <p:nvPr/>
        </p:nvCxnSpPr>
        <p:spPr>
          <a:xfrm>
            <a:off x="6574972" y="3303032"/>
            <a:ext cx="670254" cy="670254"/>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64386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736C5-6A44-9A60-91AE-999A9D3C64EA}"/>
            </a:ext>
          </a:extLst>
        </p:cNvPr>
        <p:cNvGrpSpPr/>
        <p:nvPr/>
      </p:nvGrpSpPr>
      <p:grpSpPr>
        <a:xfrm>
          <a:off x="0" y="0"/>
          <a:ext cx="0" cy="0"/>
          <a:chOff x="0" y="0"/>
          <a:chExt cx="0" cy="0"/>
        </a:xfrm>
      </p:grpSpPr>
      <p:pic>
        <p:nvPicPr>
          <p:cNvPr id="15" name="Picture 14" descr="A diagram of a heart&#10;&#10;AI-generated content may be incorrect.">
            <a:extLst>
              <a:ext uri="{FF2B5EF4-FFF2-40B4-BE49-F238E27FC236}">
                <a16:creationId xmlns:a16="http://schemas.microsoft.com/office/drawing/2014/main" id="{E85AD177-24C9-C7B8-8EAD-85C011D8B8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4BE79E49-1DF7-8FF9-365A-1873F86074CC}"/>
              </a:ext>
            </a:extLst>
          </p:cNvPr>
          <p:cNvSpPr>
            <a:spLocks noGrp="1"/>
          </p:cNvSpPr>
          <p:nvPr>
            <p:ph type="title"/>
          </p:nvPr>
        </p:nvSpPr>
        <p:spPr/>
        <p:txBody>
          <a:bodyPr/>
          <a:lstStyle/>
          <a:p>
            <a:r>
              <a:rPr lang="en-US" dirty="0"/>
              <a:t>Vectors</a:t>
            </a:r>
          </a:p>
        </p:txBody>
      </p:sp>
      <p:sp>
        <p:nvSpPr>
          <p:cNvPr id="3" name="Content Placeholder 2">
            <a:extLst>
              <a:ext uri="{FF2B5EF4-FFF2-40B4-BE49-F238E27FC236}">
                <a16:creationId xmlns:a16="http://schemas.microsoft.com/office/drawing/2014/main" id="{18A578E2-AEF6-C791-456E-D2317A09D40C}"/>
              </a:ext>
            </a:extLst>
          </p:cNvPr>
          <p:cNvSpPr>
            <a:spLocks noGrp="1"/>
          </p:cNvSpPr>
          <p:nvPr>
            <p:ph idx="1"/>
          </p:nvPr>
        </p:nvSpPr>
        <p:spPr>
          <a:xfrm>
            <a:off x="4136675" y="1316380"/>
            <a:ext cx="4811650" cy="2265020"/>
          </a:xfrm>
        </p:spPr>
        <p:txBody>
          <a:bodyPr/>
          <a:lstStyle/>
          <a:p>
            <a:r>
              <a:rPr lang="en-US" sz="2400" dirty="0"/>
              <a:t>Red is + electrode; black is -.</a:t>
            </a:r>
          </a:p>
          <a:p>
            <a:r>
              <a:rPr lang="en-US" sz="2400" dirty="0"/>
              <a:t>Rotate observation angle by 90</a:t>
            </a:r>
            <a:r>
              <a:rPr lang="en-US" sz="2400" dirty="0">
                <a:latin typeface="Times New Roman" panose="02020603050405020304" pitchFamily="18" charset="0"/>
                <a:cs typeface="Times New Roman" panose="02020603050405020304" pitchFamily="18" charset="0"/>
              </a:rPr>
              <a:t>º</a:t>
            </a:r>
            <a:endParaRPr lang="en-US" sz="2400" dirty="0"/>
          </a:p>
          <a:p>
            <a:r>
              <a:rPr lang="en-US" sz="2400" dirty="0"/>
              <a:t>What will happen to the P wave now?</a:t>
            </a:r>
          </a:p>
        </p:txBody>
      </p:sp>
      <p:sp>
        <p:nvSpPr>
          <p:cNvPr id="4" name="Footer Placeholder 3">
            <a:extLst>
              <a:ext uri="{FF2B5EF4-FFF2-40B4-BE49-F238E27FC236}">
                <a16:creationId xmlns:a16="http://schemas.microsoft.com/office/drawing/2014/main" id="{536BAC38-00AF-87BD-5C35-8D5AB84C1949}"/>
              </a:ext>
            </a:extLst>
          </p:cNvPr>
          <p:cNvSpPr>
            <a:spLocks noGrp="1"/>
          </p:cNvSpPr>
          <p:nvPr>
            <p:ph type="ftr" sz="quarter" idx="11"/>
          </p:nvPr>
        </p:nvSpPr>
        <p:spPr/>
        <p:txBody>
          <a:bodyPr/>
          <a:lstStyle/>
          <a:p>
            <a:pPr>
              <a:defRPr/>
            </a:pPr>
            <a:r>
              <a:rPr lang="en-US"/>
              <a:t>EE 123 -- Bioelectricity</a:t>
            </a:r>
            <a:endParaRPr lang="en-US" dirty="0"/>
          </a:p>
        </p:txBody>
      </p:sp>
      <p:sp>
        <p:nvSpPr>
          <p:cNvPr id="23" name="TextBox 22">
            <a:extLst>
              <a:ext uri="{FF2B5EF4-FFF2-40B4-BE49-F238E27FC236}">
                <a16:creationId xmlns:a16="http://schemas.microsoft.com/office/drawing/2014/main" id="{8F866DB4-7B05-D9EB-613D-DC4114FA15EF}"/>
              </a:ext>
            </a:extLst>
          </p:cNvPr>
          <p:cNvSpPr txBox="1"/>
          <p:nvPr/>
        </p:nvSpPr>
        <p:spPr>
          <a:xfrm>
            <a:off x="2152181" y="4415135"/>
            <a:ext cx="304800" cy="461665"/>
          </a:xfrm>
          <a:prstGeom prst="rect">
            <a:avLst/>
          </a:prstGeom>
          <a:noFill/>
        </p:spPr>
        <p:txBody>
          <a:bodyPr wrap="square" rtlCol="0">
            <a:spAutoFit/>
          </a:bodyPr>
          <a:lstStyle/>
          <a:p>
            <a:r>
              <a:rPr lang="en-US" dirty="0">
                <a:solidFill>
                  <a:schemeClr val="accent2"/>
                </a:solidFill>
              </a:rPr>
              <a:t>R</a:t>
            </a:r>
          </a:p>
        </p:txBody>
      </p:sp>
      <p:sp>
        <p:nvSpPr>
          <p:cNvPr id="5" name="Oval 4">
            <a:extLst>
              <a:ext uri="{FF2B5EF4-FFF2-40B4-BE49-F238E27FC236}">
                <a16:creationId xmlns:a16="http://schemas.microsoft.com/office/drawing/2014/main" id="{8DE90CBB-D700-3B07-7566-126D5016F5D2}"/>
              </a:ext>
            </a:extLst>
          </p:cNvPr>
          <p:cNvSpPr/>
          <p:nvPr/>
        </p:nvSpPr>
        <p:spPr>
          <a:xfrm>
            <a:off x="751703" y="3072997"/>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8" name="Freeform: Shape 7">
            <a:extLst>
              <a:ext uri="{FF2B5EF4-FFF2-40B4-BE49-F238E27FC236}">
                <a16:creationId xmlns:a16="http://schemas.microsoft.com/office/drawing/2014/main" id="{98F61172-4511-3A25-2E74-07A1C35E1A7E}"/>
              </a:ext>
            </a:extLst>
          </p:cNvPr>
          <p:cNvSpPr/>
          <p:nvPr/>
        </p:nvSpPr>
        <p:spPr>
          <a:xfrm>
            <a:off x="518984" y="3051717"/>
            <a:ext cx="966204" cy="755190"/>
          </a:xfrm>
          <a:custGeom>
            <a:avLst/>
            <a:gdLst>
              <a:gd name="connsiteX0" fmla="*/ 0 w 966204"/>
              <a:gd name="connsiteY0" fmla="*/ 704335 h 755190"/>
              <a:gd name="connsiteX1" fmla="*/ 284205 w 966204"/>
              <a:gd name="connsiteY1" fmla="*/ 753762 h 755190"/>
              <a:gd name="connsiteX2" fmla="*/ 716692 w 966204"/>
              <a:gd name="connsiteY2" fmla="*/ 654908 h 755190"/>
              <a:gd name="connsiteX3" fmla="*/ 939114 w 966204"/>
              <a:gd name="connsiteY3" fmla="*/ 296562 h 755190"/>
              <a:gd name="connsiteX4" fmla="*/ 963827 w 966204"/>
              <a:gd name="connsiteY4" fmla="*/ 210065 h 755190"/>
              <a:gd name="connsiteX5" fmla="*/ 963827 w 966204"/>
              <a:gd name="connsiteY5" fmla="*/ 0 h 755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204" h="755190">
                <a:moveTo>
                  <a:pt x="0" y="704335"/>
                </a:moveTo>
                <a:cubicBezTo>
                  <a:pt x="82378" y="733167"/>
                  <a:pt x="164756" y="762000"/>
                  <a:pt x="284205" y="753762"/>
                </a:cubicBezTo>
                <a:cubicBezTo>
                  <a:pt x="403654" y="745524"/>
                  <a:pt x="607541" y="731108"/>
                  <a:pt x="716692" y="654908"/>
                </a:cubicBezTo>
                <a:cubicBezTo>
                  <a:pt x="825843" y="578708"/>
                  <a:pt x="897925" y="370702"/>
                  <a:pt x="939114" y="296562"/>
                </a:cubicBezTo>
                <a:cubicBezTo>
                  <a:pt x="980303" y="222422"/>
                  <a:pt x="959708" y="259492"/>
                  <a:pt x="963827" y="210065"/>
                </a:cubicBezTo>
                <a:cubicBezTo>
                  <a:pt x="967946" y="160638"/>
                  <a:pt x="965886" y="80319"/>
                  <a:pt x="963827" y="0"/>
                </a:cubicBez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3F99890-0B74-DEE7-A5F9-282F0719FEB5}"/>
              </a:ext>
            </a:extLst>
          </p:cNvPr>
          <p:cNvSpPr/>
          <p:nvPr/>
        </p:nvSpPr>
        <p:spPr>
          <a:xfrm>
            <a:off x="531341" y="3014647"/>
            <a:ext cx="1188993" cy="1001611"/>
          </a:xfrm>
          <a:custGeom>
            <a:avLst/>
            <a:gdLst>
              <a:gd name="connsiteX0" fmla="*/ 0 w 1188993"/>
              <a:gd name="connsiteY0" fmla="*/ 976183 h 1001611"/>
              <a:gd name="connsiteX1" fmla="*/ 284205 w 1188993"/>
              <a:gd name="connsiteY1" fmla="*/ 1000897 h 1001611"/>
              <a:gd name="connsiteX2" fmla="*/ 667265 w 1188993"/>
              <a:gd name="connsiteY2" fmla="*/ 951470 h 1001611"/>
              <a:gd name="connsiteX3" fmla="*/ 1025611 w 1188993"/>
              <a:gd name="connsiteY3" fmla="*/ 691978 h 1001611"/>
              <a:gd name="connsiteX4" fmla="*/ 1149178 w 1188993"/>
              <a:gd name="connsiteY4" fmla="*/ 345989 h 1001611"/>
              <a:gd name="connsiteX5" fmla="*/ 1186248 w 1188993"/>
              <a:gd name="connsiteY5" fmla="*/ 135924 h 1001611"/>
              <a:gd name="connsiteX6" fmla="*/ 1186248 w 1188993"/>
              <a:gd name="connsiteY6" fmla="*/ 0 h 1001611"/>
              <a:gd name="connsiteX7" fmla="*/ 1186248 w 1188993"/>
              <a:gd name="connsiteY7" fmla="*/ 0 h 100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8993" h="1001611">
                <a:moveTo>
                  <a:pt x="0" y="976183"/>
                </a:moveTo>
                <a:cubicBezTo>
                  <a:pt x="86497" y="990599"/>
                  <a:pt x="172994" y="1005016"/>
                  <a:pt x="284205" y="1000897"/>
                </a:cubicBezTo>
                <a:cubicBezTo>
                  <a:pt x="395416" y="996778"/>
                  <a:pt x="543697" y="1002956"/>
                  <a:pt x="667265" y="951470"/>
                </a:cubicBezTo>
                <a:cubicBezTo>
                  <a:pt x="790833" y="899984"/>
                  <a:pt x="945292" y="792891"/>
                  <a:pt x="1025611" y="691978"/>
                </a:cubicBezTo>
                <a:cubicBezTo>
                  <a:pt x="1105930" y="591065"/>
                  <a:pt x="1122405" y="438665"/>
                  <a:pt x="1149178" y="345989"/>
                </a:cubicBezTo>
                <a:cubicBezTo>
                  <a:pt x="1175951" y="253313"/>
                  <a:pt x="1180070" y="193589"/>
                  <a:pt x="1186248" y="135924"/>
                </a:cubicBezTo>
                <a:cubicBezTo>
                  <a:pt x="1192426" y="78259"/>
                  <a:pt x="1186248" y="0"/>
                  <a:pt x="1186248" y="0"/>
                </a:cubicBezTo>
                <a:lnTo>
                  <a:pt x="1186248" y="0"/>
                </a:lnTo>
              </a:path>
            </a:pathLst>
          </a:cu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83E6348F-A37A-B1C5-C5F2-7ABD29C3506F}"/>
              </a:ext>
            </a:extLst>
          </p:cNvPr>
          <p:cNvCxnSpPr/>
          <p:nvPr/>
        </p:nvCxnSpPr>
        <p:spPr>
          <a:xfrm>
            <a:off x="1295400" y="3581400"/>
            <a:ext cx="533400" cy="381000"/>
          </a:xfrm>
          <a:prstGeom prst="straightConnector1">
            <a:avLst/>
          </a:prstGeom>
          <a:ln w="76200">
            <a:solidFill>
              <a:srgbClr val="FFFF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2" name="Freeform: Shape 41">
            <a:extLst>
              <a:ext uri="{FF2B5EF4-FFF2-40B4-BE49-F238E27FC236}">
                <a16:creationId xmlns:a16="http://schemas.microsoft.com/office/drawing/2014/main" id="{B1D777D6-1B69-9B53-1DFE-D4CC65E6414E}"/>
              </a:ext>
            </a:extLst>
          </p:cNvPr>
          <p:cNvSpPr/>
          <p:nvPr/>
        </p:nvSpPr>
        <p:spPr>
          <a:xfrm flipV="1">
            <a:off x="5029200" y="5384819"/>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50B28994-3C3D-E65F-9D08-C56698758909}"/>
              </a:ext>
            </a:extLst>
          </p:cNvPr>
          <p:cNvSpPr/>
          <p:nvPr/>
        </p:nvSpPr>
        <p:spPr>
          <a:xfrm>
            <a:off x="6774466" y="5119944"/>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ABD2F7E8-5796-FC69-1A2C-2E6A0B2D287A}"/>
              </a:ext>
            </a:extLst>
          </p:cNvPr>
          <p:cNvSpPr/>
          <p:nvPr/>
        </p:nvSpPr>
        <p:spPr>
          <a:xfrm>
            <a:off x="5569934" y="3848286"/>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8850C70-9FB4-6622-94DE-293CD5400CE5}"/>
              </a:ext>
            </a:extLst>
          </p:cNvPr>
          <p:cNvSpPr txBox="1"/>
          <p:nvPr/>
        </p:nvSpPr>
        <p:spPr>
          <a:xfrm>
            <a:off x="5105400" y="5029200"/>
            <a:ext cx="304800" cy="461665"/>
          </a:xfrm>
          <a:prstGeom prst="rect">
            <a:avLst/>
          </a:prstGeom>
          <a:noFill/>
        </p:spPr>
        <p:txBody>
          <a:bodyPr wrap="square" rtlCol="0">
            <a:spAutoFit/>
          </a:bodyPr>
          <a:lstStyle/>
          <a:p>
            <a:r>
              <a:rPr lang="en-US" dirty="0">
                <a:solidFill>
                  <a:srgbClr val="FF0000"/>
                </a:solidFill>
              </a:rPr>
              <a:t>P</a:t>
            </a:r>
          </a:p>
        </p:txBody>
      </p:sp>
      <p:sp>
        <p:nvSpPr>
          <p:cNvPr id="46" name="TextBox 45">
            <a:extLst>
              <a:ext uri="{FF2B5EF4-FFF2-40B4-BE49-F238E27FC236}">
                <a16:creationId xmlns:a16="http://schemas.microsoft.com/office/drawing/2014/main" id="{EB984D2B-A726-B246-B1D3-41743D6C0794}"/>
              </a:ext>
            </a:extLst>
          </p:cNvPr>
          <p:cNvSpPr txBox="1"/>
          <p:nvPr/>
        </p:nvSpPr>
        <p:spPr>
          <a:xfrm>
            <a:off x="5812930" y="5422669"/>
            <a:ext cx="304800" cy="461665"/>
          </a:xfrm>
          <a:prstGeom prst="rect">
            <a:avLst/>
          </a:prstGeom>
          <a:noFill/>
        </p:spPr>
        <p:txBody>
          <a:bodyPr wrap="square" rtlCol="0">
            <a:spAutoFit/>
          </a:bodyPr>
          <a:lstStyle/>
          <a:p>
            <a:r>
              <a:rPr lang="en-US" dirty="0">
                <a:solidFill>
                  <a:schemeClr val="accent2"/>
                </a:solidFill>
              </a:rPr>
              <a:t>Q</a:t>
            </a:r>
          </a:p>
        </p:txBody>
      </p:sp>
      <p:sp>
        <p:nvSpPr>
          <p:cNvPr id="47" name="TextBox 46">
            <a:extLst>
              <a:ext uri="{FF2B5EF4-FFF2-40B4-BE49-F238E27FC236}">
                <a16:creationId xmlns:a16="http://schemas.microsoft.com/office/drawing/2014/main" id="{D486076E-0F30-D3CA-222C-D9FBF7B1BC16}"/>
              </a:ext>
            </a:extLst>
          </p:cNvPr>
          <p:cNvSpPr txBox="1"/>
          <p:nvPr/>
        </p:nvSpPr>
        <p:spPr>
          <a:xfrm>
            <a:off x="6913598" y="5113867"/>
            <a:ext cx="304800" cy="461665"/>
          </a:xfrm>
          <a:prstGeom prst="rect">
            <a:avLst/>
          </a:prstGeom>
          <a:noFill/>
        </p:spPr>
        <p:txBody>
          <a:bodyPr wrap="square" rtlCol="0">
            <a:spAutoFit/>
          </a:bodyPr>
          <a:lstStyle/>
          <a:p>
            <a:r>
              <a:rPr lang="en-US" dirty="0">
                <a:solidFill>
                  <a:schemeClr val="accent2"/>
                </a:solidFill>
              </a:rPr>
              <a:t>T</a:t>
            </a:r>
          </a:p>
        </p:txBody>
      </p:sp>
      <p:sp>
        <p:nvSpPr>
          <p:cNvPr id="48" name="TextBox 47">
            <a:extLst>
              <a:ext uri="{FF2B5EF4-FFF2-40B4-BE49-F238E27FC236}">
                <a16:creationId xmlns:a16="http://schemas.microsoft.com/office/drawing/2014/main" id="{1E0281F3-5894-9316-1CF0-35E2326B1CF1}"/>
              </a:ext>
            </a:extLst>
          </p:cNvPr>
          <p:cNvSpPr txBox="1"/>
          <p:nvPr/>
        </p:nvSpPr>
        <p:spPr>
          <a:xfrm>
            <a:off x="6096000" y="5634335"/>
            <a:ext cx="304800" cy="461665"/>
          </a:xfrm>
          <a:prstGeom prst="rect">
            <a:avLst/>
          </a:prstGeom>
          <a:noFill/>
        </p:spPr>
        <p:txBody>
          <a:bodyPr wrap="square" rtlCol="0">
            <a:spAutoFit/>
          </a:bodyPr>
          <a:lstStyle/>
          <a:p>
            <a:r>
              <a:rPr lang="en-US" dirty="0">
                <a:solidFill>
                  <a:schemeClr val="accent2"/>
                </a:solidFill>
              </a:rPr>
              <a:t>S</a:t>
            </a:r>
          </a:p>
        </p:txBody>
      </p:sp>
      <p:sp>
        <p:nvSpPr>
          <p:cNvPr id="11" name="Oval 10">
            <a:extLst>
              <a:ext uri="{FF2B5EF4-FFF2-40B4-BE49-F238E27FC236}">
                <a16:creationId xmlns:a16="http://schemas.microsoft.com/office/drawing/2014/main" id="{1D4F8659-2751-3FD7-6583-ADD63A451EB6}"/>
              </a:ext>
            </a:extLst>
          </p:cNvPr>
          <p:cNvSpPr/>
          <p:nvPr/>
        </p:nvSpPr>
        <p:spPr>
          <a:xfrm>
            <a:off x="3878213" y="2448890"/>
            <a:ext cx="228600" cy="2286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210B5AB-CF94-6AEE-E619-0E29A2916A17}"/>
              </a:ext>
            </a:extLst>
          </p:cNvPr>
          <p:cNvSpPr/>
          <p:nvPr/>
        </p:nvSpPr>
        <p:spPr>
          <a:xfrm>
            <a:off x="239148" y="5029200"/>
            <a:ext cx="228600" cy="2286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0CF09D3E-B51A-E2A7-B3BE-53BA5203441D}"/>
              </a:ext>
            </a:extLst>
          </p:cNvPr>
          <p:cNvCxnSpPr/>
          <p:nvPr/>
        </p:nvCxnSpPr>
        <p:spPr>
          <a:xfrm flipH="1">
            <a:off x="5101795" y="5397843"/>
            <a:ext cx="537005"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A76729A0-F930-7D7F-0E68-AF6A196F8403}"/>
              </a:ext>
            </a:extLst>
          </p:cNvPr>
          <p:cNvCxnSpPr>
            <a:cxnSpLocks/>
          </p:cNvCxnSpPr>
          <p:nvPr/>
        </p:nvCxnSpPr>
        <p:spPr>
          <a:xfrm>
            <a:off x="7254546" y="3977946"/>
            <a:ext cx="670254" cy="670254"/>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F33431D-41D0-4D3E-93B6-8B4254BB7032}"/>
              </a:ext>
            </a:extLst>
          </p:cNvPr>
          <p:cNvCxnSpPr>
            <a:cxnSpLocks/>
          </p:cNvCxnSpPr>
          <p:nvPr/>
        </p:nvCxnSpPr>
        <p:spPr>
          <a:xfrm rot="-5400000">
            <a:off x="7249886" y="3309258"/>
            <a:ext cx="670254" cy="670254"/>
          </a:xfrm>
          <a:prstGeom prst="straightConnector1">
            <a:avLst/>
          </a:prstGeom>
          <a:ln w="2857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531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2"/>
                                        </p:tgtEl>
                                      </p:cBhvr>
                                    </p:animEffect>
                                    <p:set>
                                      <p:cBhvr>
                                        <p:cTn id="7" dur="1" fill="hold">
                                          <p:stCondLst>
                                            <p:cond delay="499"/>
                                          </p:stCondLst>
                                        </p:cTn>
                                        <p:tgtEl>
                                          <p:spTgt spid="42"/>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FB800-19A2-C27F-9EF3-38DF69BD6AEA}"/>
            </a:ext>
          </a:extLst>
        </p:cNvPr>
        <p:cNvGrpSpPr/>
        <p:nvPr/>
      </p:nvGrpSpPr>
      <p:grpSpPr>
        <a:xfrm>
          <a:off x="0" y="0"/>
          <a:ext cx="0" cy="0"/>
          <a:chOff x="0" y="0"/>
          <a:chExt cx="0" cy="0"/>
        </a:xfrm>
      </p:grpSpPr>
      <p:pic>
        <p:nvPicPr>
          <p:cNvPr id="31" name="Picture 30" descr="A diagram of a heart&#10;&#10;AI-generated content may be incorrect.">
            <a:extLst>
              <a:ext uri="{FF2B5EF4-FFF2-40B4-BE49-F238E27FC236}">
                <a16:creationId xmlns:a16="http://schemas.microsoft.com/office/drawing/2014/main" id="{48331140-7D06-4E8C-F010-A4CF6C0D60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688D3D72-882A-DF1B-3A75-7847AAB3A51A}"/>
              </a:ext>
            </a:extLst>
          </p:cNvPr>
          <p:cNvSpPr>
            <a:spLocks noGrp="1"/>
          </p:cNvSpPr>
          <p:nvPr>
            <p:ph type="title"/>
          </p:nvPr>
        </p:nvSpPr>
        <p:spPr/>
        <p:txBody>
          <a:bodyPr/>
          <a:lstStyle/>
          <a:p>
            <a:r>
              <a:rPr lang="en-US" dirty="0"/>
              <a:t>QRS complex</a:t>
            </a:r>
          </a:p>
        </p:txBody>
      </p:sp>
      <p:sp>
        <p:nvSpPr>
          <p:cNvPr id="3" name="Content Placeholder 2">
            <a:extLst>
              <a:ext uri="{FF2B5EF4-FFF2-40B4-BE49-F238E27FC236}">
                <a16:creationId xmlns:a16="http://schemas.microsoft.com/office/drawing/2014/main" id="{86616D28-C624-5348-1F43-3ADDE8DD02A1}"/>
              </a:ext>
            </a:extLst>
          </p:cNvPr>
          <p:cNvSpPr>
            <a:spLocks noGrp="1"/>
          </p:cNvSpPr>
          <p:nvPr>
            <p:ph idx="1"/>
          </p:nvPr>
        </p:nvSpPr>
        <p:spPr>
          <a:xfrm>
            <a:off x="4206934" y="1270415"/>
            <a:ext cx="4811650" cy="3149185"/>
          </a:xfrm>
        </p:spPr>
        <p:txBody>
          <a:bodyPr/>
          <a:lstStyle/>
          <a:p>
            <a:r>
              <a:rPr lang="en-US" sz="2400" dirty="0"/>
              <a:t>Caused by ventricular APs</a:t>
            </a:r>
          </a:p>
          <a:p>
            <a:r>
              <a:rPr lang="en-US" sz="2400" dirty="0"/>
              <a:t>Purkinje fibers have seeded the AP on much of the ventricular surface</a:t>
            </a:r>
          </a:p>
          <a:p>
            <a:r>
              <a:rPr lang="en-US" sz="2400" dirty="0"/>
              <a:t>Now it squeezes the entire muscle all at once</a:t>
            </a:r>
          </a:p>
          <a:p>
            <a:r>
              <a:rPr lang="en-US" sz="2400" dirty="0"/>
              <a:t>Why so tall &amp; skinny?</a:t>
            </a:r>
          </a:p>
          <a:p>
            <a:r>
              <a:rPr lang="en-US" sz="2400" dirty="0"/>
              <a:t>But why three peaks? Now the fun begins…</a:t>
            </a:r>
          </a:p>
          <a:p>
            <a:endParaRPr lang="en-US" sz="2400" dirty="0"/>
          </a:p>
          <a:p>
            <a:endParaRPr lang="en-US" sz="2400" dirty="0"/>
          </a:p>
        </p:txBody>
      </p:sp>
      <p:sp>
        <p:nvSpPr>
          <p:cNvPr id="4" name="Footer Placeholder 3">
            <a:extLst>
              <a:ext uri="{FF2B5EF4-FFF2-40B4-BE49-F238E27FC236}">
                <a16:creationId xmlns:a16="http://schemas.microsoft.com/office/drawing/2014/main" id="{F9717F9E-5C49-D5CB-6206-E2670DC24B3F}"/>
              </a:ext>
            </a:extLst>
          </p:cNvPr>
          <p:cNvSpPr>
            <a:spLocks noGrp="1"/>
          </p:cNvSpPr>
          <p:nvPr>
            <p:ph type="ftr" sz="quarter" idx="11"/>
          </p:nvPr>
        </p:nvSpPr>
        <p:spPr/>
        <p:txBody>
          <a:bodyPr/>
          <a:lstStyle/>
          <a:p>
            <a:pPr>
              <a:defRPr/>
            </a:pPr>
            <a:r>
              <a:rPr lang="en-US" dirty="0"/>
              <a:t>EN1 EIY-- Bioelectricity</a:t>
            </a:r>
          </a:p>
        </p:txBody>
      </p:sp>
      <p:sp>
        <p:nvSpPr>
          <p:cNvPr id="17" name="Oval 16">
            <a:extLst>
              <a:ext uri="{FF2B5EF4-FFF2-40B4-BE49-F238E27FC236}">
                <a16:creationId xmlns:a16="http://schemas.microsoft.com/office/drawing/2014/main" id="{7AD751E5-0CF8-B2D8-B243-476AD4FED907}"/>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30" name="Straight Arrow Connector 29">
            <a:extLst>
              <a:ext uri="{FF2B5EF4-FFF2-40B4-BE49-F238E27FC236}">
                <a16:creationId xmlns:a16="http://schemas.microsoft.com/office/drawing/2014/main" id="{EE161478-F132-64FC-534E-13856CCFF8E2}"/>
              </a:ext>
            </a:extLst>
          </p:cNvPr>
          <p:cNvCxnSpPr>
            <a:cxnSpLocks/>
            <a:stCxn id="17" idx="0"/>
          </p:cNvCxnSpPr>
          <p:nvPr/>
        </p:nvCxnSpPr>
        <p:spPr>
          <a:xfrm>
            <a:off x="1892298" y="3505200"/>
            <a:ext cx="0" cy="32289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A41B2B3-67DE-34B5-F9AE-F20DA96552D0}"/>
              </a:ext>
            </a:extLst>
          </p:cNvPr>
          <p:cNvCxnSpPr>
            <a:cxnSpLocks/>
          </p:cNvCxnSpPr>
          <p:nvPr/>
        </p:nvCxnSpPr>
        <p:spPr>
          <a:xfrm>
            <a:off x="1892298" y="3810000"/>
            <a:ext cx="211398" cy="56631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29BFEFA-FBEF-6661-7A0F-50F0B65778E2}"/>
              </a:ext>
            </a:extLst>
          </p:cNvPr>
          <p:cNvCxnSpPr>
            <a:cxnSpLocks/>
          </p:cNvCxnSpPr>
          <p:nvPr/>
        </p:nvCxnSpPr>
        <p:spPr>
          <a:xfrm>
            <a:off x="1981200" y="4376311"/>
            <a:ext cx="685800" cy="1033889"/>
          </a:xfrm>
          <a:prstGeom prst="straightConnector1">
            <a:avLst/>
          </a:prstGeom>
          <a:ln w="12700">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66F32F7-B6B8-70CD-DDC0-F0B93799E28F}"/>
              </a:ext>
            </a:extLst>
          </p:cNvPr>
          <p:cNvCxnSpPr>
            <a:cxnSpLocks/>
          </p:cNvCxnSpPr>
          <p:nvPr/>
        </p:nvCxnSpPr>
        <p:spPr>
          <a:xfrm>
            <a:off x="2275170" y="4301473"/>
            <a:ext cx="1001430" cy="11087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A8CBCFC7-899B-B883-6C55-36927EAE5790}"/>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cxnSp>
        <p:nvCxnSpPr>
          <p:cNvPr id="23" name="Straight Arrow Connector 22">
            <a:extLst>
              <a:ext uri="{FF2B5EF4-FFF2-40B4-BE49-F238E27FC236}">
                <a16:creationId xmlns:a16="http://schemas.microsoft.com/office/drawing/2014/main" id="{AF68C16F-4A16-75FD-87FA-86F6F1376703}"/>
              </a:ext>
            </a:extLst>
          </p:cNvPr>
          <p:cNvCxnSpPr>
            <a:cxnSpLocks/>
          </p:cNvCxnSpPr>
          <p:nvPr/>
        </p:nvCxnSpPr>
        <p:spPr>
          <a:xfrm flipH="1">
            <a:off x="1597703" y="990600"/>
            <a:ext cx="459697" cy="5842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3AAD21C-CEC5-A421-A5D3-E2DD823B74FC}"/>
              </a:ext>
            </a:extLst>
          </p:cNvPr>
          <p:cNvCxnSpPr>
            <a:cxnSpLocks/>
          </p:cNvCxnSpPr>
          <p:nvPr/>
        </p:nvCxnSpPr>
        <p:spPr>
          <a:xfrm flipV="1">
            <a:off x="2614436" y="4301473"/>
            <a:ext cx="281164" cy="1943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2B0A3C9-20AA-9FE4-4EFF-6B3BBEA23C3D}"/>
              </a:ext>
            </a:extLst>
          </p:cNvPr>
          <p:cNvCxnSpPr>
            <a:cxnSpLocks/>
          </p:cNvCxnSpPr>
          <p:nvPr/>
        </p:nvCxnSpPr>
        <p:spPr>
          <a:xfrm flipH="1" flipV="1">
            <a:off x="1219200" y="5105400"/>
            <a:ext cx="1395236" cy="381000"/>
          </a:xfrm>
          <a:prstGeom prst="straightConnector1">
            <a:avLst/>
          </a:prstGeom>
          <a:ln w="12700">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1DE71EC-D8D0-B6C6-8661-51BA91D61287}"/>
              </a:ext>
            </a:extLst>
          </p:cNvPr>
          <p:cNvCxnSpPr>
            <a:cxnSpLocks/>
          </p:cNvCxnSpPr>
          <p:nvPr/>
        </p:nvCxnSpPr>
        <p:spPr>
          <a:xfrm flipV="1">
            <a:off x="3429000" y="4038600"/>
            <a:ext cx="0" cy="12192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Freeform: Shape 4">
            <a:extLst>
              <a:ext uri="{FF2B5EF4-FFF2-40B4-BE49-F238E27FC236}">
                <a16:creationId xmlns:a16="http://schemas.microsoft.com/office/drawing/2014/main" id="{F24C74E3-3257-65F1-8B63-C285D9A206F8}"/>
              </a:ext>
            </a:extLst>
          </p:cNvPr>
          <p:cNvSpPr/>
          <p:nvPr/>
        </p:nvSpPr>
        <p:spPr>
          <a:xfrm>
            <a:off x="6324600" y="5803331"/>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828E679A-C0EC-D9D8-DE33-DFF168FFC9D8}"/>
              </a:ext>
            </a:extLst>
          </p:cNvPr>
          <p:cNvSpPr/>
          <p:nvPr/>
        </p:nvSpPr>
        <p:spPr>
          <a:xfrm>
            <a:off x="8069866" y="5712610"/>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FBBB802D-C2CF-17BB-4546-92A6DDF5EAAC}"/>
              </a:ext>
            </a:extLst>
          </p:cNvPr>
          <p:cNvSpPr/>
          <p:nvPr/>
        </p:nvSpPr>
        <p:spPr>
          <a:xfrm>
            <a:off x="6865334" y="4440952"/>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ECEEAC2-706B-597A-7540-384CAD8D1293}"/>
              </a:ext>
            </a:extLst>
          </p:cNvPr>
          <p:cNvSpPr txBox="1"/>
          <p:nvPr/>
        </p:nvSpPr>
        <p:spPr>
          <a:xfrm>
            <a:off x="6400800" y="5815846"/>
            <a:ext cx="304800" cy="461665"/>
          </a:xfrm>
          <a:prstGeom prst="rect">
            <a:avLst/>
          </a:prstGeom>
          <a:noFill/>
        </p:spPr>
        <p:txBody>
          <a:bodyPr wrap="square" rtlCol="0">
            <a:spAutoFit/>
          </a:bodyPr>
          <a:lstStyle/>
          <a:p>
            <a:r>
              <a:rPr lang="en-US" dirty="0">
                <a:solidFill>
                  <a:schemeClr val="accent2"/>
                </a:solidFill>
              </a:rPr>
              <a:t>P</a:t>
            </a:r>
          </a:p>
        </p:txBody>
      </p:sp>
      <p:sp>
        <p:nvSpPr>
          <p:cNvPr id="10" name="TextBox 9">
            <a:extLst>
              <a:ext uri="{FF2B5EF4-FFF2-40B4-BE49-F238E27FC236}">
                <a16:creationId xmlns:a16="http://schemas.microsoft.com/office/drawing/2014/main" id="{557C31C1-EB50-7E43-18DD-D6F52B29C56F}"/>
              </a:ext>
            </a:extLst>
          </p:cNvPr>
          <p:cNvSpPr txBox="1"/>
          <p:nvPr/>
        </p:nvSpPr>
        <p:spPr>
          <a:xfrm>
            <a:off x="7108330" y="6015335"/>
            <a:ext cx="304800" cy="461665"/>
          </a:xfrm>
          <a:prstGeom prst="rect">
            <a:avLst/>
          </a:prstGeom>
          <a:noFill/>
        </p:spPr>
        <p:txBody>
          <a:bodyPr wrap="square" rtlCol="0">
            <a:spAutoFit/>
          </a:bodyPr>
          <a:lstStyle/>
          <a:p>
            <a:r>
              <a:rPr lang="en-US" dirty="0">
                <a:solidFill>
                  <a:schemeClr val="accent2"/>
                </a:solidFill>
              </a:rPr>
              <a:t>Q</a:t>
            </a:r>
          </a:p>
        </p:txBody>
      </p:sp>
      <p:sp>
        <p:nvSpPr>
          <p:cNvPr id="11" name="TextBox 10">
            <a:extLst>
              <a:ext uri="{FF2B5EF4-FFF2-40B4-BE49-F238E27FC236}">
                <a16:creationId xmlns:a16="http://schemas.microsoft.com/office/drawing/2014/main" id="{CF5F3DF2-F3DD-7E3C-0755-70DE49CF17D5}"/>
              </a:ext>
            </a:extLst>
          </p:cNvPr>
          <p:cNvSpPr txBox="1"/>
          <p:nvPr/>
        </p:nvSpPr>
        <p:spPr>
          <a:xfrm>
            <a:off x="7323729" y="4180300"/>
            <a:ext cx="304800" cy="461665"/>
          </a:xfrm>
          <a:prstGeom prst="rect">
            <a:avLst/>
          </a:prstGeom>
          <a:noFill/>
        </p:spPr>
        <p:txBody>
          <a:bodyPr wrap="square" rtlCol="0">
            <a:spAutoFit/>
          </a:bodyPr>
          <a:lstStyle/>
          <a:p>
            <a:r>
              <a:rPr lang="en-US" dirty="0">
                <a:solidFill>
                  <a:schemeClr val="accent2"/>
                </a:solidFill>
              </a:rPr>
              <a:t>R</a:t>
            </a:r>
          </a:p>
        </p:txBody>
      </p:sp>
      <p:sp>
        <p:nvSpPr>
          <p:cNvPr id="13" name="TextBox 12">
            <a:extLst>
              <a:ext uri="{FF2B5EF4-FFF2-40B4-BE49-F238E27FC236}">
                <a16:creationId xmlns:a16="http://schemas.microsoft.com/office/drawing/2014/main" id="{C588D1B6-D581-57AF-DB34-32FBE9B98EDD}"/>
              </a:ext>
            </a:extLst>
          </p:cNvPr>
          <p:cNvSpPr txBox="1"/>
          <p:nvPr/>
        </p:nvSpPr>
        <p:spPr>
          <a:xfrm>
            <a:off x="8208998" y="5850466"/>
            <a:ext cx="304800" cy="461665"/>
          </a:xfrm>
          <a:prstGeom prst="rect">
            <a:avLst/>
          </a:prstGeom>
          <a:noFill/>
        </p:spPr>
        <p:txBody>
          <a:bodyPr wrap="square" rtlCol="0">
            <a:spAutoFit/>
          </a:bodyPr>
          <a:lstStyle/>
          <a:p>
            <a:r>
              <a:rPr lang="en-US" dirty="0">
                <a:solidFill>
                  <a:schemeClr val="accent2"/>
                </a:solidFill>
              </a:rPr>
              <a:t>T</a:t>
            </a:r>
          </a:p>
        </p:txBody>
      </p:sp>
      <p:sp>
        <p:nvSpPr>
          <p:cNvPr id="14" name="TextBox 13">
            <a:extLst>
              <a:ext uri="{FF2B5EF4-FFF2-40B4-BE49-F238E27FC236}">
                <a16:creationId xmlns:a16="http://schemas.microsoft.com/office/drawing/2014/main" id="{26AED06F-D077-E5B6-CE86-276B136AE852}"/>
              </a:ext>
            </a:extLst>
          </p:cNvPr>
          <p:cNvSpPr txBox="1"/>
          <p:nvPr/>
        </p:nvSpPr>
        <p:spPr>
          <a:xfrm>
            <a:off x="7467600" y="6167735"/>
            <a:ext cx="304800" cy="461665"/>
          </a:xfrm>
          <a:prstGeom prst="rect">
            <a:avLst/>
          </a:prstGeom>
          <a:noFill/>
        </p:spPr>
        <p:txBody>
          <a:bodyPr wrap="square" rtlCol="0">
            <a:spAutoFit/>
          </a:bodyPr>
          <a:lstStyle/>
          <a:p>
            <a:r>
              <a:rPr lang="en-US" dirty="0">
                <a:solidFill>
                  <a:schemeClr val="accent2"/>
                </a:solidFill>
              </a:rPr>
              <a:t>S</a:t>
            </a:r>
          </a:p>
        </p:txBody>
      </p:sp>
      <p:cxnSp>
        <p:nvCxnSpPr>
          <p:cNvPr id="12" name="Straight Arrow Connector 11">
            <a:extLst>
              <a:ext uri="{FF2B5EF4-FFF2-40B4-BE49-F238E27FC236}">
                <a16:creationId xmlns:a16="http://schemas.microsoft.com/office/drawing/2014/main" id="{6733CDC6-A993-CF20-792E-84D214A61F9B}"/>
              </a:ext>
            </a:extLst>
          </p:cNvPr>
          <p:cNvCxnSpPr>
            <a:cxnSpLocks/>
          </p:cNvCxnSpPr>
          <p:nvPr/>
        </p:nvCxnSpPr>
        <p:spPr>
          <a:xfrm flipV="1">
            <a:off x="3505200" y="3810000"/>
            <a:ext cx="0" cy="1943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437C007-EB79-EF62-BD46-DAFE3DEC22E6}"/>
              </a:ext>
            </a:extLst>
          </p:cNvPr>
          <p:cNvCxnSpPr>
            <a:cxnSpLocks/>
          </p:cNvCxnSpPr>
          <p:nvPr/>
        </p:nvCxnSpPr>
        <p:spPr>
          <a:xfrm>
            <a:off x="3505200" y="4304521"/>
            <a:ext cx="110666" cy="39223"/>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E3AFD33-914D-D960-97AC-2249EEB97AE1}"/>
              </a:ext>
            </a:extLst>
          </p:cNvPr>
          <p:cNvCxnSpPr>
            <a:cxnSpLocks/>
          </p:cNvCxnSpPr>
          <p:nvPr/>
        </p:nvCxnSpPr>
        <p:spPr>
          <a:xfrm flipH="1">
            <a:off x="2667000" y="5029200"/>
            <a:ext cx="210607" cy="14793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29077DE-AAB0-5B88-39A4-A643FEC0D5D9}"/>
              </a:ext>
            </a:extLst>
          </p:cNvPr>
          <p:cNvCxnSpPr>
            <a:cxnSpLocks/>
          </p:cNvCxnSpPr>
          <p:nvPr/>
        </p:nvCxnSpPr>
        <p:spPr>
          <a:xfrm flipV="1">
            <a:off x="2971800" y="4724400"/>
            <a:ext cx="281164" cy="1943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7BEDCBD-A248-8D00-9C26-9D833D71B3E2}"/>
              </a:ext>
            </a:extLst>
          </p:cNvPr>
          <p:cNvCxnSpPr>
            <a:cxnSpLocks/>
          </p:cNvCxnSpPr>
          <p:nvPr/>
        </p:nvCxnSpPr>
        <p:spPr>
          <a:xfrm flipV="1">
            <a:off x="2157236" y="5139673"/>
            <a:ext cx="281164" cy="19432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23B46A6-87C4-80EE-2507-B43E10D3A2C1}"/>
              </a:ext>
            </a:extLst>
          </p:cNvPr>
          <p:cNvCxnSpPr>
            <a:cxnSpLocks/>
          </p:cNvCxnSpPr>
          <p:nvPr/>
        </p:nvCxnSpPr>
        <p:spPr>
          <a:xfrm flipH="1" flipV="1">
            <a:off x="1573918" y="4978399"/>
            <a:ext cx="26282" cy="16892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F5D082E-7B90-4831-34AC-7104887413B7}"/>
              </a:ext>
            </a:extLst>
          </p:cNvPr>
          <p:cNvCxnSpPr>
            <a:cxnSpLocks/>
          </p:cNvCxnSpPr>
          <p:nvPr/>
        </p:nvCxnSpPr>
        <p:spPr>
          <a:xfrm flipH="1">
            <a:off x="2038945" y="4648200"/>
            <a:ext cx="194491" cy="11498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2B5BC1E-0A5D-EEDB-6841-EC2AC04368C0}"/>
              </a:ext>
            </a:extLst>
          </p:cNvPr>
          <p:cNvCxnSpPr>
            <a:cxnSpLocks/>
          </p:cNvCxnSpPr>
          <p:nvPr/>
        </p:nvCxnSpPr>
        <p:spPr>
          <a:xfrm flipH="1" flipV="1">
            <a:off x="3201855" y="4343400"/>
            <a:ext cx="150945" cy="193983"/>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083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8" dur="500"/>
                                        <p:tgtEl>
                                          <p:spTgt spid="37"/>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par>
                                <p:cTn id="33" presetID="10"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par>
                                <p:cTn id="36" presetID="10" presetClass="entr" presetSubtype="0" fill="hold"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500"/>
                                        <p:tgtEl>
                                          <p:spTgt spid="35"/>
                                        </p:tgtEl>
                                      </p:cBhvr>
                                    </p:animEffect>
                                  </p:childTnLst>
                                </p:cTn>
                              </p:par>
                              <p:par>
                                <p:cTn id="39" presetID="10"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par>
                                <p:cTn id="42" presetID="10" presetClass="entr" presetSubtype="0" fill="hold"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500"/>
                                        <p:tgtEl>
                                          <p:spTgt spid="38"/>
                                        </p:tgtEl>
                                      </p:cBhvr>
                                    </p:animEffect>
                                  </p:childTnLst>
                                </p:cTn>
                              </p:par>
                              <p:par>
                                <p:cTn id="45" presetID="10" presetClass="entr" presetSubtype="0" fill="hold"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par>
                                <p:cTn id="48" presetID="10" presetClass="entr" presetSubtype="0" fill="hold"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3" end="3"/>
                                            </p:txEl>
                                          </p:spTgt>
                                        </p:tgtEl>
                                        <p:attrNameLst>
                                          <p:attrName>style.visibility</p:attrName>
                                        </p:attrNameLst>
                                      </p:cBhvr>
                                      <p:to>
                                        <p:strVal val="visible"/>
                                      </p:to>
                                    </p:set>
                                    <p:animEffect transition="in" filter="fade">
                                      <p:cBhvr>
                                        <p:cTn id="55" dur="500"/>
                                        <p:tgtEl>
                                          <p:spTgt spid="3">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
                                            <p:txEl>
                                              <p:pRg st="4" end="4"/>
                                            </p:txEl>
                                          </p:spTgt>
                                        </p:tgtEl>
                                        <p:attrNameLst>
                                          <p:attrName>style.visibility</p:attrName>
                                        </p:attrNameLst>
                                      </p:cBhvr>
                                      <p:to>
                                        <p:strVal val="visible"/>
                                      </p:to>
                                    </p:set>
                                    <p:animEffect transition="in" filter="fade">
                                      <p:cBhvr>
                                        <p:cTn id="6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E2B9F-2F75-748E-4827-D6E14D1BCD42}"/>
              </a:ext>
            </a:extLst>
          </p:cNvPr>
          <p:cNvSpPr>
            <a:spLocks noGrp="1"/>
          </p:cNvSpPr>
          <p:nvPr>
            <p:ph type="title"/>
          </p:nvPr>
        </p:nvSpPr>
        <p:spPr/>
        <p:txBody>
          <a:bodyPr/>
          <a:lstStyle/>
          <a:p>
            <a:r>
              <a:rPr lang="en-US" dirty="0"/>
              <a:t>Vectors 1, 2, 3</a:t>
            </a:r>
          </a:p>
        </p:txBody>
      </p:sp>
      <p:sp>
        <p:nvSpPr>
          <p:cNvPr id="3" name="Content Placeholder 2">
            <a:extLst>
              <a:ext uri="{FF2B5EF4-FFF2-40B4-BE49-F238E27FC236}">
                <a16:creationId xmlns:a16="http://schemas.microsoft.com/office/drawing/2014/main" id="{CDD988A1-F47A-03E6-45FE-66993E142256}"/>
              </a:ext>
            </a:extLst>
          </p:cNvPr>
          <p:cNvSpPr>
            <a:spLocks noGrp="1"/>
          </p:cNvSpPr>
          <p:nvPr>
            <p:ph idx="1"/>
          </p:nvPr>
        </p:nvSpPr>
        <p:spPr>
          <a:xfrm>
            <a:off x="3505200" y="1371600"/>
            <a:ext cx="4953000" cy="4724400"/>
          </a:xfrm>
        </p:spPr>
        <p:txBody>
          <a:bodyPr/>
          <a:lstStyle/>
          <a:p>
            <a:r>
              <a:rPr lang="en-US" dirty="0"/>
              <a:t>Vector 1: bundle of HIS &amp; left bundle branch seed the inter-ventricular septum; APs move to the right</a:t>
            </a:r>
          </a:p>
          <a:p>
            <a:r>
              <a:rPr lang="en-US" dirty="0"/>
              <a:t>Vector 2: Purkinje fibers seed the endocardium; APs move outwards</a:t>
            </a:r>
          </a:p>
          <a:p>
            <a:pPr lvl="1"/>
            <a:r>
              <a:rPr lang="en-US" dirty="0"/>
              <a:t>Why is the LV vector drawn longer than the RV vector?</a:t>
            </a:r>
          </a:p>
          <a:p>
            <a:r>
              <a:rPr lang="en-US" dirty="0"/>
              <a:t>Vector 3: end of the road</a:t>
            </a:r>
          </a:p>
        </p:txBody>
      </p:sp>
      <p:sp>
        <p:nvSpPr>
          <p:cNvPr id="4" name="Footer Placeholder 3">
            <a:extLst>
              <a:ext uri="{FF2B5EF4-FFF2-40B4-BE49-F238E27FC236}">
                <a16:creationId xmlns:a16="http://schemas.microsoft.com/office/drawing/2014/main" id="{D623746F-F81C-B230-31F2-F876202AE771}"/>
              </a:ext>
            </a:extLst>
          </p:cNvPr>
          <p:cNvSpPr>
            <a:spLocks noGrp="1"/>
          </p:cNvSpPr>
          <p:nvPr>
            <p:ph type="ftr" sz="quarter" idx="11"/>
          </p:nvPr>
        </p:nvSpPr>
        <p:spPr/>
        <p:txBody>
          <a:bodyPr/>
          <a:lstStyle/>
          <a:p>
            <a:pPr>
              <a:defRPr/>
            </a:pPr>
            <a:r>
              <a:rPr lang="en-US"/>
              <a:t>EE 123 -- Bioelectricity</a:t>
            </a:r>
            <a:endParaRPr lang="en-US" dirty="0"/>
          </a:p>
        </p:txBody>
      </p:sp>
      <p:pic>
        <p:nvPicPr>
          <p:cNvPr id="5" name="Picture 4">
            <a:extLst>
              <a:ext uri="{FF2B5EF4-FFF2-40B4-BE49-F238E27FC236}">
                <a16:creationId xmlns:a16="http://schemas.microsoft.com/office/drawing/2014/main" id="{E2ACED68-EB92-7ADF-1D83-F406B5D5DFEB}"/>
              </a:ext>
            </a:extLst>
          </p:cNvPr>
          <p:cNvPicPr>
            <a:picLocks noChangeAspect="1"/>
          </p:cNvPicPr>
          <p:nvPr/>
        </p:nvPicPr>
        <p:blipFill>
          <a:blip r:embed="rId3"/>
          <a:stretch>
            <a:fillRect/>
          </a:stretch>
        </p:blipFill>
        <p:spPr>
          <a:xfrm>
            <a:off x="567029" y="457200"/>
            <a:ext cx="2196068" cy="2017487"/>
          </a:xfrm>
          <a:prstGeom prst="rect">
            <a:avLst/>
          </a:prstGeom>
        </p:spPr>
      </p:pic>
      <p:pic>
        <p:nvPicPr>
          <p:cNvPr id="6" name="Picture 5">
            <a:extLst>
              <a:ext uri="{FF2B5EF4-FFF2-40B4-BE49-F238E27FC236}">
                <a16:creationId xmlns:a16="http://schemas.microsoft.com/office/drawing/2014/main" id="{979A8C89-B3BB-0AA7-3AA8-E89160771B08}"/>
              </a:ext>
            </a:extLst>
          </p:cNvPr>
          <p:cNvPicPr>
            <a:picLocks noChangeAspect="1"/>
          </p:cNvPicPr>
          <p:nvPr/>
        </p:nvPicPr>
        <p:blipFill>
          <a:blip r:embed="rId4"/>
          <a:stretch>
            <a:fillRect/>
          </a:stretch>
        </p:blipFill>
        <p:spPr>
          <a:xfrm>
            <a:off x="532741" y="2453555"/>
            <a:ext cx="2240748" cy="2093062"/>
          </a:xfrm>
          <a:prstGeom prst="rect">
            <a:avLst/>
          </a:prstGeom>
        </p:spPr>
      </p:pic>
      <p:pic>
        <p:nvPicPr>
          <p:cNvPr id="7" name="Picture 6">
            <a:extLst>
              <a:ext uri="{FF2B5EF4-FFF2-40B4-BE49-F238E27FC236}">
                <a16:creationId xmlns:a16="http://schemas.microsoft.com/office/drawing/2014/main" id="{F4111E57-6E08-A9D9-FA23-3E799413A5EE}"/>
              </a:ext>
            </a:extLst>
          </p:cNvPr>
          <p:cNvPicPr>
            <a:picLocks noChangeAspect="1"/>
          </p:cNvPicPr>
          <p:nvPr/>
        </p:nvPicPr>
        <p:blipFill>
          <a:blip r:embed="rId5"/>
          <a:stretch>
            <a:fillRect/>
          </a:stretch>
        </p:blipFill>
        <p:spPr>
          <a:xfrm>
            <a:off x="457200" y="4390061"/>
            <a:ext cx="2285774" cy="2093062"/>
          </a:xfrm>
          <a:prstGeom prst="rect">
            <a:avLst/>
          </a:prstGeom>
        </p:spPr>
      </p:pic>
      <p:sp>
        <p:nvSpPr>
          <p:cNvPr id="8" name="TextBox 7">
            <a:extLst>
              <a:ext uri="{FF2B5EF4-FFF2-40B4-BE49-F238E27FC236}">
                <a16:creationId xmlns:a16="http://schemas.microsoft.com/office/drawing/2014/main" id="{723BAC43-5E61-EB7D-23DF-9D2646A89CAF}"/>
              </a:ext>
            </a:extLst>
          </p:cNvPr>
          <p:cNvSpPr txBox="1"/>
          <p:nvPr/>
        </p:nvSpPr>
        <p:spPr>
          <a:xfrm>
            <a:off x="762000" y="6477000"/>
            <a:ext cx="1262974" cy="369332"/>
          </a:xfrm>
          <a:prstGeom prst="rect">
            <a:avLst/>
          </a:prstGeom>
          <a:noFill/>
        </p:spPr>
        <p:txBody>
          <a:bodyPr wrap="none" lIns="0" tIns="0" rIns="0" bIns="0" rtlCol="0">
            <a:spAutoFit/>
          </a:bodyPr>
          <a:lstStyle/>
          <a:p>
            <a:r>
              <a:rPr lang="en-US" dirty="0"/>
              <a:t>A/P views</a:t>
            </a:r>
          </a:p>
        </p:txBody>
      </p:sp>
      <p:sp>
        <p:nvSpPr>
          <p:cNvPr id="9" name="TextBox 8">
            <a:extLst>
              <a:ext uri="{FF2B5EF4-FFF2-40B4-BE49-F238E27FC236}">
                <a16:creationId xmlns:a16="http://schemas.microsoft.com/office/drawing/2014/main" id="{36775764-10A4-D65D-F13B-2DCC97C2C468}"/>
              </a:ext>
            </a:extLst>
          </p:cNvPr>
          <p:cNvSpPr txBox="1"/>
          <p:nvPr/>
        </p:nvSpPr>
        <p:spPr>
          <a:xfrm>
            <a:off x="228600" y="1371600"/>
            <a:ext cx="222818" cy="369332"/>
          </a:xfrm>
          <a:prstGeom prst="rect">
            <a:avLst/>
          </a:prstGeom>
          <a:noFill/>
        </p:spPr>
        <p:txBody>
          <a:bodyPr wrap="none" lIns="0" tIns="0" rIns="0" bIns="0" rtlCol="0">
            <a:spAutoFit/>
          </a:bodyPr>
          <a:lstStyle/>
          <a:p>
            <a:r>
              <a:rPr lang="en-US" dirty="0"/>
              <a:t>Q</a:t>
            </a:r>
          </a:p>
        </p:txBody>
      </p:sp>
      <p:sp>
        <p:nvSpPr>
          <p:cNvPr id="10" name="TextBox 9">
            <a:extLst>
              <a:ext uri="{FF2B5EF4-FFF2-40B4-BE49-F238E27FC236}">
                <a16:creationId xmlns:a16="http://schemas.microsoft.com/office/drawing/2014/main" id="{422F8809-A91E-BF8C-864E-B02164C3A601}"/>
              </a:ext>
            </a:extLst>
          </p:cNvPr>
          <p:cNvSpPr txBox="1"/>
          <p:nvPr/>
        </p:nvSpPr>
        <p:spPr>
          <a:xfrm>
            <a:off x="234382" y="3364468"/>
            <a:ext cx="205184" cy="369332"/>
          </a:xfrm>
          <a:prstGeom prst="rect">
            <a:avLst/>
          </a:prstGeom>
          <a:noFill/>
        </p:spPr>
        <p:txBody>
          <a:bodyPr wrap="none" lIns="0" tIns="0" rIns="0" bIns="0" rtlCol="0">
            <a:spAutoFit/>
          </a:bodyPr>
          <a:lstStyle/>
          <a:p>
            <a:r>
              <a:rPr lang="en-US" dirty="0"/>
              <a:t>R</a:t>
            </a:r>
          </a:p>
        </p:txBody>
      </p:sp>
      <p:sp>
        <p:nvSpPr>
          <p:cNvPr id="11" name="TextBox 10">
            <a:extLst>
              <a:ext uri="{FF2B5EF4-FFF2-40B4-BE49-F238E27FC236}">
                <a16:creationId xmlns:a16="http://schemas.microsoft.com/office/drawing/2014/main" id="{ADA75497-BB08-97C5-7443-55CCE3C3E48F}"/>
              </a:ext>
            </a:extLst>
          </p:cNvPr>
          <p:cNvSpPr txBox="1"/>
          <p:nvPr/>
        </p:nvSpPr>
        <p:spPr>
          <a:xfrm>
            <a:off x="152400" y="5410200"/>
            <a:ext cx="171522" cy="369332"/>
          </a:xfrm>
          <a:prstGeom prst="rect">
            <a:avLst/>
          </a:prstGeom>
          <a:noFill/>
        </p:spPr>
        <p:txBody>
          <a:bodyPr wrap="none" lIns="0" tIns="0" rIns="0" bIns="0" rtlCol="0">
            <a:spAutoFit/>
          </a:bodyPr>
          <a:lstStyle/>
          <a:p>
            <a:r>
              <a:rPr lang="en-US" dirty="0"/>
              <a:t>S</a:t>
            </a:r>
          </a:p>
        </p:txBody>
      </p:sp>
    </p:spTree>
    <p:extLst>
      <p:ext uri="{BB962C8B-B14F-4D97-AF65-F5344CB8AC3E}">
        <p14:creationId xmlns:p14="http://schemas.microsoft.com/office/powerpoint/2010/main" val="30254184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heart&#10;&#10;AI-generated content may be incorrect.">
            <a:extLst>
              <a:ext uri="{FF2B5EF4-FFF2-40B4-BE49-F238E27FC236}">
                <a16:creationId xmlns:a16="http://schemas.microsoft.com/office/drawing/2014/main" id="{523D2D94-F074-2EF5-36DC-FEE3D48467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T wave</a:t>
            </a:r>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a:t>EE 123 -- Bioelectricity</a:t>
            </a:r>
            <a:endParaRPr lang="en-US" dirty="0"/>
          </a:p>
        </p:txBody>
      </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sp>
        <p:nvSpPr>
          <p:cNvPr id="29" name="Content Placeholder 2">
            <a:extLst>
              <a:ext uri="{FF2B5EF4-FFF2-40B4-BE49-F238E27FC236}">
                <a16:creationId xmlns:a16="http://schemas.microsoft.com/office/drawing/2014/main" id="{EBE13DF5-0931-4D33-B74E-75CF8585BF44}"/>
              </a:ext>
            </a:extLst>
          </p:cNvPr>
          <p:cNvSpPr txBox="1">
            <a:spLocks/>
          </p:cNvSpPr>
          <p:nvPr/>
        </p:nvSpPr>
        <p:spPr bwMode="auto">
          <a:xfrm>
            <a:off x="4027770" y="1295401"/>
            <a:ext cx="4849530" cy="137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dirty="0"/>
              <a:t>Ventricular repolarization</a:t>
            </a:r>
          </a:p>
          <a:p>
            <a:pPr lvl="1">
              <a:spcBef>
                <a:spcPts val="0"/>
              </a:spcBef>
            </a:pPr>
            <a:r>
              <a:rPr lang="en-US" sz="2000" dirty="0"/>
              <a:t>It takes current to make the cells more negative, too</a:t>
            </a:r>
          </a:p>
          <a:p>
            <a:pPr lvl="1">
              <a:spcBef>
                <a:spcPts val="0"/>
              </a:spcBef>
            </a:pPr>
            <a:r>
              <a:rPr lang="en-US" sz="2400" dirty="0"/>
              <a:t>T wave</a:t>
            </a:r>
          </a:p>
          <a:p>
            <a:pPr marL="0" indent="0">
              <a:buNone/>
            </a:pPr>
            <a:endParaRPr lang="en-US" sz="2800" dirty="0"/>
          </a:p>
        </p:txBody>
      </p:sp>
      <p:sp>
        <p:nvSpPr>
          <p:cNvPr id="30" name="Freeform: Shape 29">
            <a:extLst>
              <a:ext uri="{FF2B5EF4-FFF2-40B4-BE49-F238E27FC236}">
                <a16:creationId xmlns:a16="http://schemas.microsoft.com/office/drawing/2014/main" id="{22AA4E4E-42E9-4773-BDD9-FE0299A950F2}"/>
              </a:ext>
            </a:extLst>
          </p:cNvPr>
          <p:cNvSpPr/>
          <p:nvPr/>
        </p:nvSpPr>
        <p:spPr>
          <a:xfrm>
            <a:off x="5029200" y="5210665"/>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56A9731E-2A03-401A-BD3A-010AAEDBB73A}"/>
              </a:ext>
            </a:extLst>
          </p:cNvPr>
          <p:cNvSpPr/>
          <p:nvPr/>
        </p:nvSpPr>
        <p:spPr>
          <a:xfrm>
            <a:off x="6774466" y="5119944"/>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3F6E7409-67BC-4831-885E-E660482883B4}"/>
              </a:ext>
            </a:extLst>
          </p:cNvPr>
          <p:cNvSpPr/>
          <p:nvPr/>
        </p:nvSpPr>
        <p:spPr>
          <a:xfrm>
            <a:off x="5569934" y="3848286"/>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04F6696D-D3AA-48B8-81D5-DADCDC0E0888}"/>
              </a:ext>
            </a:extLst>
          </p:cNvPr>
          <p:cNvSpPr txBox="1"/>
          <p:nvPr/>
        </p:nvSpPr>
        <p:spPr>
          <a:xfrm>
            <a:off x="5105400" y="5223180"/>
            <a:ext cx="304800" cy="461665"/>
          </a:xfrm>
          <a:prstGeom prst="rect">
            <a:avLst/>
          </a:prstGeom>
          <a:noFill/>
        </p:spPr>
        <p:txBody>
          <a:bodyPr wrap="square" rtlCol="0">
            <a:spAutoFit/>
          </a:bodyPr>
          <a:lstStyle/>
          <a:p>
            <a:r>
              <a:rPr lang="en-US" dirty="0">
                <a:solidFill>
                  <a:schemeClr val="accent2"/>
                </a:solidFill>
              </a:rPr>
              <a:t>P</a:t>
            </a:r>
          </a:p>
        </p:txBody>
      </p:sp>
      <p:sp>
        <p:nvSpPr>
          <p:cNvPr id="45" name="TextBox 44">
            <a:extLst>
              <a:ext uri="{FF2B5EF4-FFF2-40B4-BE49-F238E27FC236}">
                <a16:creationId xmlns:a16="http://schemas.microsoft.com/office/drawing/2014/main" id="{C9AA2B5E-A345-4C5B-AAEA-C6922C75B11C}"/>
              </a:ext>
            </a:extLst>
          </p:cNvPr>
          <p:cNvSpPr txBox="1"/>
          <p:nvPr/>
        </p:nvSpPr>
        <p:spPr>
          <a:xfrm>
            <a:off x="5812930" y="5422669"/>
            <a:ext cx="304800" cy="461665"/>
          </a:xfrm>
          <a:prstGeom prst="rect">
            <a:avLst/>
          </a:prstGeom>
          <a:noFill/>
        </p:spPr>
        <p:txBody>
          <a:bodyPr wrap="square" rtlCol="0">
            <a:spAutoFit/>
          </a:bodyPr>
          <a:lstStyle/>
          <a:p>
            <a:r>
              <a:rPr lang="en-US" dirty="0">
                <a:solidFill>
                  <a:schemeClr val="accent2"/>
                </a:solidFill>
              </a:rPr>
              <a:t>Q</a:t>
            </a:r>
          </a:p>
        </p:txBody>
      </p:sp>
      <p:sp>
        <p:nvSpPr>
          <p:cNvPr id="46" name="TextBox 45">
            <a:extLst>
              <a:ext uri="{FF2B5EF4-FFF2-40B4-BE49-F238E27FC236}">
                <a16:creationId xmlns:a16="http://schemas.microsoft.com/office/drawing/2014/main" id="{82887BD9-86F6-4858-A89F-59471775074F}"/>
              </a:ext>
            </a:extLst>
          </p:cNvPr>
          <p:cNvSpPr txBox="1"/>
          <p:nvPr/>
        </p:nvSpPr>
        <p:spPr>
          <a:xfrm>
            <a:off x="6028329" y="3587634"/>
            <a:ext cx="304800" cy="461665"/>
          </a:xfrm>
          <a:prstGeom prst="rect">
            <a:avLst/>
          </a:prstGeom>
          <a:noFill/>
        </p:spPr>
        <p:txBody>
          <a:bodyPr wrap="square" rtlCol="0">
            <a:spAutoFit/>
          </a:bodyPr>
          <a:lstStyle/>
          <a:p>
            <a:r>
              <a:rPr lang="en-US" dirty="0">
                <a:solidFill>
                  <a:schemeClr val="accent2"/>
                </a:solidFill>
              </a:rPr>
              <a:t>R</a:t>
            </a:r>
          </a:p>
        </p:txBody>
      </p:sp>
      <p:sp>
        <p:nvSpPr>
          <p:cNvPr id="47" name="TextBox 46">
            <a:extLst>
              <a:ext uri="{FF2B5EF4-FFF2-40B4-BE49-F238E27FC236}">
                <a16:creationId xmlns:a16="http://schemas.microsoft.com/office/drawing/2014/main" id="{199A8A4F-D445-4A05-905E-98C2FCA0E640}"/>
              </a:ext>
            </a:extLst>
          </p:cNvPr>
          <p:cNvSpPr txBox="1"/>
          <p:nvPr/>
        </p:nvSpPr>
        <p:spPr>
          <a:xfrm>
            <a:off x="6913598" y="5862935"/>
            <a:ext cx="304800" cy="461665"/>
          </a:xfrm>
          <a:prstGeom prst="rect">
            <a:avLst/>
          </a:prstGeom>
          <a:noFill/>
        </p:spPr>
        <p:txBody>
          <a:bodyPr wrap="square" rtlCol="0">
            <a:spAutoFit/>
          </a:bodyPr>
          <a:lstStyle/>
          <a:p>
            <a:r>
              <a:rPr lang="en-US" dirty="0">
                <a:solidFill>
                  <a:schemeClr val="accent2"/>
                </a:solidFill>
              </a:rPr>
              <a:t>T</a:t>
            </a:r>
          </a:p>
        </p:txBody>
      </p:sp>
      <p:sp>
        <p:nvSpPr>
          <p:cNvPr id="48" name="TextBox 47">
            <a:extLst>
              <a:ext uri="{FF2B5EF4-FFF2-40B4-BE49-F238E27FC236}">
                <a16:creationId xmlns:a16="http://schemas.microsoft.com/office/drawing/2014/main" id="{6FF2F58F-BA6A-4E94-B5B2-1D61D8F4B2C1}"/>
              </a:ext>
            </a:extLst>
          </p:cNvPr>
          <p:cNvSpPr txBox="1"/>
          <p:nvPr/>
        </p:nvSpPr>
        <p:spPr>
          <a:xfrm>
            <a:off x="6096000" y="5634335"/>
            <a:ext cx="304800" cy="461665"/>
          </a:xfrm>
          <a:prstGeom prst="rect">
            <a:avLst/>
          </a:prstGeom>
          <a:noFill/>
        </p:spPr>
        <p:txBody>
          <a:bodyPr wrap="square" rtlCol="0">
            <a:spAutoFit/>
          </a:bodyPr>
          <a:lstStyle/>
          <a:p>
            <a:r>
              <a:rPr lang="en-US" dirty="0">
                <a:solidFill>
                  <a:schemeClr val="accent2"/>
                </a:solidFill>
              </a:rPr>
              <a:t>S</a:t>
            </a:r>
          </a:p>
        </p:txBody>
      </p:sp>
    </p:spTree>
    <p:extLst>
      <p:ext uri="{BB962C8B-B14F-4D97-AF65-F5344CB8AC3E}">
        <p14:creationId xmlns:p14="http://schemas.microsoft.com/office/powerpoint/2010/main" val="22213047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BEA7A-6D21-202F-1BA5-E5C4B936B3D0}"/>
              </a:ext>
            </a:extLst>
          </p:cNvPr>
          <p:cNvSpPr>
            <a:spLocks noGrp="1"/>
          </p:cNvSpPr>
          <p:nvPr>
            <p:ph type="title"/>
          </p:nvPr>
        </p:nvSpPr>
        <p:spPr/>
        <p:txBody>
          <a:bodyPr/>
          <a:lstStyle/>
          <a:p>
            <a:r>
              <a:rPr lang="en-US" dirty="0"/>
              <a:t>Three basic leads</a:t>
            </a:r>
          </a:p>
        </p:txBody>
      </p:sp>
      <p:sp>
        <p:nvSpPr>
          <p:cNvPr id="4" name="Footer Placeholder 3">
            <a:extLst>
              <a:ext uri="{FF2B5EF4-FFF2-40B4-BE49-F238E27FC236}">
                <a16:creationId xmlns:a16="http://schemas.microsoft.com/office/drawing/2014/main" id="{AE7ADAB3-37E6-3DEC-1A5D-073C4E602F2E}"/>
              </a:ext>
            </a:extLst>
          </p:cNvPr>
          <p:cNvSpPr>
            <a:spLocks noGrp="1"/>
          </p:cNvSpPr>
          <p:nvPr>
            <p:ph type="ftr" sz="quarter" idx="11"/>
          </p:nvPr>
        </p:nvSpPr>
        <p:spPr/>
        <p:txBody>
          <a:bodyPr/>
          <a:lstStyle/>
          <a:p>
            <a:pPr>
              <a:defRPr/>
            </a:pPr>
            <a:r>
              <a:rPr lang="en-US"/>
              <a:t>EE 123 -- Bioelectricity</a:t>
            </a:r>
            <a:endParaRPr lang="en-US" dirty="0"/>
          </a:p>
        </p:txBody>
      </p:sp>
      <p:grpSp>
        <p:nvGrpSpPr>
          <p:cNvPr id="18" name="Group 17">
            <a:extLst>
              <a:ext uri="{FF2B5EF4-FFF2-40B4-BE49-F238E27FC236}">
                <a16:creationId xmlns:a16="http://schemas.microsoft.com/office/drawing/2014/main" id="{B55B5140-576A-EA45-4C5D-6E755C2AF696}"/>
              </a:ext>
            </a:extLst>
          </p:cNvPr>
          <p:cNvGrpSpPr/>
          <p:nvPr/>
        </p:nvGrpSpPr>
        <p:grpSpPr>
          <a:xfrm>
            <a:off x="455225" y="2280434"/>
            <a:ext cx="2947880" cy="3694099"/>
            <a:chOff x="455225" y="3200400"/>
            <a:chExt cx="2213750" cy="2774133"/>
          </a:xfrm>
        </p:grpSpPr>
        <p:sp>
          <p:nvSpPr>
            <p:cNvPr id="6" name="Oval 5">
              <a:extLst>
                <a:ext uri="{FF2B5EF4-FFF2-40B4-BE49-F238E27FC236}">
                  <a16:creationId xmlns:a16="http://schemas.microsoft.com/office/drawing/2014/main" id="{9498E44C-2FC3-FC48-18CA-9FA54A6AB0C4}"/>
                </a:ext>
              </a:extLst>
            </p:cNvPr>
            <p:cNvSpPr/>
            <p:nvPr/>
          </p:nvSpPr>
          <p:spPr>
            <a:xfrm>
              <a:off x="1219200" y="3200400"/>
              <a:ext cx="685800" cy="609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A74752D-F94A-3762-C23C-8BD8EB193B95}"/>
                </a:ext>
              </a:extLst>
            </p:cNvPr>
            <p:cNvSpPr/>
            <p:nvPr/>
          </p:nvSpPr>
          <p:spPr>
            <a:xfrm>
              <a:off x="1485900" y="3810000"/>
              <a:ext cx="152400" cy="152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2F85FDA-CBD3-ACA2-89C8-DA487EC2300B}"/>
                </a:ext>
              </a:extLst>
            </p:cNvPr>
            <p:cNvSpPr/>
            <p:nvPr/>
          </p:nvSpPr>
          <p:spPr>
            <a:xfrm>
              <a:off x="1143000" y="3962400"/>
              <a:ext cx="838200" cy="1295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39D77622-5B0F-BC13-DDE6-CC95D922A9A4}"/>
                </a:ext>
              </a:extLst>
            </p:cNvPr>
            <p:cNvSpPr/>
            <p:nvPr/>
          </p:nvSpPr>
          <p:spPr>
            <a:xfrm rot="20694383">
              <a:off x="455225" y="4240162"/>
              <a:ext cx="716733" cy="16516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413A1A45-FB30-0092-6469-DA14388446E2}"/>
                </a:ext>
              </a:extLst>
            </p:cNvPr>
            <p:cNvSpPr/>
            <p:nvPr/>
          </p:nvSpPr>
          <p:spPr>
            <a:xfrm rot="905617" flipH="1">
              <a:off x="1952242" y="4240162"/>
              <a:ext cx="716733" cy="16516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553790B-566D-5811-990E-BB380ABF4AF9}"/>
                </a:ext>
              </a:extLst>
            </p:cNvPr>
            <p:cNvSpPr/>
            <p:nvPr/>
          </p:nvSpPr>
          <p:spPr>
            <a:xfrm rot="5400000" flipH="1">
              <a:off x="1019618" y="5533582"/>
              <a:ext cx="716733" cy="16516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A34FC6FA-5D8B-9A4A-EDF8-1556B1F9C1CB}"/>
                </a:ext>
              </a:extLst>
            </p:cNvPr>
            <p:cNvSpPr/>
            <p:nvPr/>
          </p:nvSpPr>
          <p:spPr>
            <a:xfrm rot="5400000" flipH="1">
              <a:off x="1464049" y="5533582"/>
              <a:ext cx="716733" cy="16516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Content Placeholder 16" descr="A drawing of a heart&#10;&#10;AI-generated content may be incorrect.">
            <a:extLst>
              <a:ext uri="{FF2B5EF4-FFF2-40B4-BE49-F238E27FC236}">
                <a16:creationId xmlns:a16="http://schemas.microsoft.com/office/drawing/2014/main" id="{2C241D7E-BB02-20E8-F6FA-EA1F71312CA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rot="20395569">
            <a:off x="1783106" y="3420570"/>
            <a:ext cx="521269" cy="714030"/>
          </a:xfrm>
        </p:spPr>
      </p:pic>
      <p:sp>
        <p:nvSpPr>
          <p:cNvPr id="19" name="Oval 18">
            <a:extLst>
              <a:ext uri="{FF2B5EF4-FFF2-40B4-BE49-F238E27FC236}">
                <a16:creationId xmlns:a16="http://schemas.microsoft.com/office/drawing/2014/main" id="{3AEFE868-59E2-B675-F71A-74F534AB228D}"/>
              </a:ext>
            </a:extLst>
          </p:cNvPr>
          <p:cNvSpPr/>
          <p:nvPr/>
        </p:nvSpPr>
        <p:spPr>
          <a:xfrm>
            <a:off x="519251" y="3712995"/>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7AF1B07-DBD8-4342-E65F-85A4764ABE14}"/>
              </a:ext>
            </a:extLst>
          </p:cNvPr>
          <p:cNvSpPr/>
          <p:nvPr/>
        </p:nvSpPr>
        <p:spPr>
          <a:xfrm>
            <a:off x="2957651" y="3712995"/>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78D917B-1476-E27E-CCF9-9D7BBD3F5F4A}"/>
              </a:ext>
            </a:extLst>
          </p:cNvPr>
          <p:cNvSpPr/>
          <p:nvPr/>
        </p:nvSpPr>
        <p:spPr>
          <a:xfrm>
            <a:off x="1586051" y="5638800"/>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094AFDC-6AD5-A216-1EAA-58A212ABB24A}"/>
              </a:ext>
            </a:extLst>
          </p:cNvPr>
          <p:cNvSpPr/>
          <p:nvPr/>
        </p:nvSpPr>
        <p:spPr>
          <a:xfrm>
            <a:off x="2133600" y="5638800"/>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9DF71F5-16A1-6A6D-5A22-E0B96722827D}"/>
              </a:ext>
            </a:extLst>
          </p:cNvPr>
          <p:cNvSpPr txBox="1"/>
          <p:nvPr/>
        </p:nvSpPr>
        <p:spPr>
          <a:xfrm>
            <a:off x="304799" y="3276600"/>
            <a:ext cx="711783" cy="461665"/>
          </a:xfrm>
          <a:prstGeom prst="rect">
            <a:avLst/>
          </a:prstGeom>
          <a:noFill/>
        </p:spPr>
        <p:txBody>
          <a:bodyPr wrap="square" rtlCol="0">
            <a:spAutoFit/>
          </a:bodyPr>
          <a:lstStyle/>
          <a:p>
            <a:r>
              <a:rPr lang="en-US" dirty="0"/>
              <a:t>RA</a:t>
            </a:r>
          </a:p>
        </p:txBody>
      </p:sp>
      <p:sp>
        <p:nvSpPr>
          <p:cNvPr id="24" name="TextBox 23">
            <a:extLst>
              <a:ext uri="{FF2B5EF4-FFF2-40B4-BE49-F238E27FC236}">
                <a16:creationId xmlns:a16="http://schemas.microsoft.com/office/drawing/2014/main" id="{79B7CCE7-8DD0-CFFF-2DB3-FFD53BB53B2F}"/>
              </a:ext>
            </a:extLst>
          </p:cNvPr>
          <p:cNvSpPr txBox="1"/>
          <p:nvPr/>
        </p:nvSpPr>
        <p:spPr>
          <a:xfrm>
            <a:off x="2869617" y="3276600"/>
            <a:ext cx="711783" cy="461665"/>
          </a:xfrm>
          <a:prstGeom prst="rect">
            <a:avLst/>
          </a:prstGeom>
          <a:noFill/>
        </p:spPr>
        <p:txBody>
          <a:bodyPr wrap="square" rtlCol="0">
            <a:spAutoFit/>
          </a:bodyPr>
          <a:lstStyle/>
          <a:p>
            <a:r>
              <a:rPr lang="en-US" dirty="0"/>
              <a:t>LA</a:t>
            </a:r>
          </a:p>
        </p:txBody>
      </p:sp>
      <p:sp>
        <p:nvSpPr>
          <p:cNvPr id="25" name="TextBox 24">
            <a:extLst>
              <a:ext uri="{FF2B5EF4-FFF2-40B4-BE49-F238E27FC236}">
                <a16:creationId xmlns:a16="http://schemas.microsoft.com/office/drawing/2014/main" id="{4445BBDA-C62C-E076-A482-6B03B2FA3714}"/>
              </a:ext>
            </a:extLst>
          </p:cNvPr>
          <p:cNvSpPr txBox="1"/>
          <p:nvPr/>
        </p:nvSpPr>
        <p:spPr>
          <a:xfrm>
            <a:off x="1047222" y="5585596"/>
            <a:ext cx="2076977" cy="461665"/>
          </a:xfrm>
          <a:prstGeom prst="rect">
            <a:avLst/>
          </a:prstGeom>
          <a:noFill/>
        </p:spPr>
        <p:txBody>
          <a:bodyPr wrap="square" rtlCol="0">
            <a:spAutoFit/>
          </a:bodyPr>
          <a:lstStyle/>
          <a:p>
            <a:r>
              <a:rPr lang="en-US" dirty="0"/>
              <a:t>RL              LL</a:t>
            </a:r>
          </a:p>
        </p:txBody>
      </p:sp>
      <p:sp>
        <p:nvSpPr>
          <p:cNvPr id="26" name="Content Placeholder 2">
            <a:extLst>
              <a:ext uri="{FF2B5EF4-FFF2-40B4-BE49-F238E27FC236}">
                <a16:creationId xmlns:a16="http://schemas.microsoft.com/office/drawing/2014/main" id="{7268CB45-6ADB-6BE2-4E45-1C1700D47BDC}"/>
              </a:ext>
            </a:extLst>
          </p:cNvPr>
          <p:cNvSpPr txBox="1">
            <a:spLocks/>
          </p:cNvSpPr>
          <p:nvPr/>
        </p:nvSpPr>
        <p:spPr bwMode="auto">
          <a:xfrm>
            <a:off x="4027770" y="1295401"/>
            <a:ext cx="4849530" cy="419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dirty="0"/>
              <a:t>Four electrodes (left &amp; right arm, left &amp; right leg)</a:t>
            </a:r>
          </a:p>
          <a:p>
            <a:r>
              <a:rPr lang="en-US" sz="2400" dirty="0"/>
              <a:t>Three leads</a:t>
            </a:r>
          </a:p>
          <a:p>
            <a:pPr lvl="1"/>
            <a:r>
              <a:rPr lang="en-US" sz="2000" dirty="0"/>
              <a:t>Lead I = LA-RA</a:t>
            </a:r>
          </a:p>
          <a:p>
            <a:pPr lvl="1"/>
            <a:r>
              <a:rPr lang="en-US" sz="2000" dirty="0"/>
              <a:t>Lead II = LL - RA</a:t>
            </a:r>
          </a:p>
          <a:p>
            <a:pPr lvl="1"/>
            <a:r>
              <a:rPr lang="en-US" sz="2000" dirty="0"/>
              <a:t>Lead III = LL - LA</a:t>
            </a:r>
          </a:p>
          <a:p>
            <a:r>
              <a:rPr lang="en-US" sz="2400" dirty="0"/>
              <a:t>Remember that voltage is </a:t>
            </a:r>
            <a:r>
              <a:rPr lang="en-US" sz="2400" i="1" dirty="0"/>
              <a:t>relative</a:t>
            </a:r>
          </a:p>
          <a:p>
            <a:pPr lvl="1"/>
            <a:r>
              <a:rPr lang="en-US" sz="2000" dirty="0"/>
              <a:t>if you know leads I and II, can you compute lead III with just math?</a:t>
            </a:r>
          </a:p>
          <a:p>
            <a:r>
              <a:rPr lang="en-US" sz="2400" dirty="0"/>
              <a:t>What is RL for?</a:t>
            </a:r>
          </a:p>
          <a:p>
            <a:pPr marL="0" indent="0">
              <a:buNone/>
            </a:pPr>
            <a:endParaRPr lang="en-US" sz="2800" dirty="0"/>
          </a:p>
        </p:txBody>
      </p:sp>
    </p:spTree>
    <p:extLst>
      <p:ext uri="{BB962C8B-B14F-4D97-AF65-F5344CB8AC3E}">
        <p14:creationId xmlns:p14="http://schemas.microsoft.com/office/powerpoint/2010/main" val="3828972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82C2A-2FBF-F6FD-830A-2BF73FAC6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A4E85B-8620-FD62-0E0D-AA6DE1E4E0FF}"/>
              </a:ext>
            </a:extLst>
          </p:cNvPr>
          <p:cNvSpPr>
            <a:spLocks noGrp="1"/>
          </p:cNvSpPr>
          <p:nvPr>
            <p:ph type="title"/>
          </p:nvPr>
        </p:nvSpPr>
        <p:spPr/>
        <p:txBody>
          <a:bodyPr/>
          <a:lstStyle/>
          <a:p>
            <a:r>
              <a:rPr lang="en-US" dirty="0"/>
              <a:t>Three basic leads</a:t>
            </a:r>
          </a:p>
        </p:txBody>
      </p:sp>
      <p:sp>
        <p:nvSpPr>
          <p:cNvPr id="4" name="Footer Placeholder 3">
            <a:extLst>
              <a:ext uri="{FF2B5EF4-FFF2-40B4-BE49-F238E27FC236}">
                <a16:creationId xmlns:a16="http://schemas.microsoft.com/office/drawing/2014/main" id="{D7B12173-E6F0-E39B-B854-F57363F2DA35}"/>
              </a:ext>
            </a:extLst>
          </p:cNvPr>
          <p:cNvSpPr>
            <a:spLocks noGrp="1"/>
          </p:cNvSpPr>
          <p:nvPr>
            <p:ph type="ftr" sz="quarter" idx="11"/>
          </p:nvPr>
        </p:nvSpPr>
        <p:spPr/>
        <p:txBody>
          <a:bodyPr/>
          <a:lstStyle/>
          <a:p>
            <a:pPr>
              <a:defRPr/>
            </a:pPr>
            <a:r>
              <a:rPr lang="en-US"/>
              <a:t>EE 123 -- Bioelectricity</a:t>
            </a:r>
            <a:endParaRPr lang="en-US" dirty="0"/>
          </a:p>
        </p:txBody>
      </p:sp>
      <p:grpSp>
        <p:nvGrpSpPr>
          <p:cNvPr id="18" name="Group 17">
            <a:extLst>
              <a:ext uri="{FF2B5EF4-FFF2-40B4-BE49-F238E27FC236}">
                <a16:creationId xmlns:a16="http://schemas.microsoft.com/office/drawing/2014/main" id="{72046D16-DF9E-6DCD-EF21-478FACBD0439}"/>
              </a:ext>
            </a:extLst>
          </p:cNvPr>
          <p:cNvGrpSpPr/>
          <p:nvPr/>
        </p:nvGrpSpPr>
        <p:grpSpPr>
          <a:xfrm>
            <a:off x="455225" y="2280434"/>
            <a:ext cx="2947880" cy="3694099"/>
            <a:chOff x="455225" y="3200400"/>
            <a:chExt cx="2213750" cy="2774133"/>
          </a:xfrm>
        </p:grpSpPr>
        <p:sp>
          <p:nvSpPr>
            <p:cNvPr id="6" name="Oval 5">
              <a:extLst>
                <a:ext uri="{FF2B5EF4-FFF2-40B4-BE49-F238E27FC236}">
                  <a16:creationId xmlns:a16="http://schemas.microsoft.com/office/drawing/2014/main" id="{1109E997-E623-9726-6C8B-F3DD6835235C}"/>
                </a:ext>
              </a:extLst>
            </p:cNvPr>
            <p:cNvSpPr/>
            <p:nvPr/>
          </p:nvSpPr>
          <p:spPr>
            <a:xfrm>
              <a:off x="1219200" y="3200400"/>
              <a:ext cx="685800" cy="609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D797CD0-77FB-2F83-D662-E8D5241CE1CF}"/>
                </a:ext>
              </a:extLst>
            </p:cNvPr>
            <p:cNvSpPr/>
            <p:nvPr/>
          </p:nvSpPr>
          <p:spPr>
            <a:xfrm>
              <a:off x="1485900" y="3810000"/>
              <a:ext cx="152400" cy="152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131D6BB-8958-9873-A1C1-E70289012CB3}"/>
                </a:ext>
              </a:extLst>
            </p:cNvPr>
            <p:cNvSpPr/>
            <p:nvPr/>
          </p:nvSpPr>
          <p:spPr>
            <a:xfrm>
              <a:off x="1143000" y="3962400"/>
              <a:ext cx="838200" cy="1295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2065C2CC-AEB6-26CB-7FD0-14111B9AEA14}"/>
                </a:ext>
              </a:extLst>
            </p:cNvPr>
            <p:cNvSpPr/>
            <p:nvPr/>
          </p:nvSpPr>
          <p:spPr>
            <a:xfrm rot="20694383">
              <a:off x="455225" y="4240162"/>
              <a:ext cx="716733" cy="16516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58DB2D52-A197-E788-7B40-100DCF699360}"/>
                </a:ext>
              </a:extLst>
            </p:cNvPr>
            <p:cNvSpPr/>
            <p:nvPr/>
          </p:nvSpPr>
          <p:spPr>
            <a:xfrm rot="905617" flipH="1">
              <a:off x="1952242" y="4240162"/>
              <a:ext cx="716733" cy="16516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5253312C-7554-E4DE-0F57-78E1D0ACBD9D}"/>
                </a:ext>
              </a:extLst>
            </p:cNvPr>
            <p:cNvSpPr/>
            <p:nvPr/>
          </p:nvSpPr>
          <p:spPr>
            <a:xfrm rot="5400000" flipH="1">
              <a:off x="1019618" y="5533582"/>
              <a:ext cx="716733" cy="16516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B3F19C4F-BEF0-24E8-29F8-C3D4B4606955}"/>
                </a:ext>
              </a:extLst>
            </p:cNvPr>
            <p:cNvSpPr/>
            <p:nvPr/>
          </p:nvSpPr>
          <p:spPr>
            <a:xfrm rot="5400000" flipH="1">
              <a:off x="1464049" y="5533582"/>
              <a:ext cx="716733" cy="16516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Content Placeholder 16" descr="A drawing of a heart&#10;&#10;AI-generated content may be incorrect.">
            <a:extLst>
              <a:ext uri="{FF2B5EF4-FFF2-40B4-BE49-F238E27FC236}">
                <a16:creationId xmlns:a16="http://schemas.microsoft.com/office/drawing/2014/main" id="{AD32BBD2-3774-B741-BC42-765B687C7E4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rot="20395569">
            <a:off x="1783106" y="3420570"/>
            <a:ext cx="521269" cy="714030"/>
          </a:xfrm>
        </p:spPr>
      </p:pic>
      <p:sp>
        <p:nvSpPr>
          <p:cNvPr id="19" name="Oval 18">
            <a:extLst>
              <a:ext uri="{FF2B5EF4-FFF2-40B4-BE49-F238E27FC236}">
                <a16:creationId xmlns:a16="http://schemas.microsoft.com/office/drawing/2014/main" id="{78B5A611-48BC-EC60-A1F4-112653361A55}"/>
              </a:ext>
            </a:extLst>
          </p:cNvPr>
          <p:cNvSpPr/>
          <p:nvPr/>
        </p:nvSpPr>
        <p:spPr>
          <a:xfrm>
            <a:off x="519251" y="3712995"/>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625F894-E945-FBBC-059D-1520D81828D2}"/>
              </a:ext>
            </a:extLst>
          </p:cNvPr>
          <p:cNvSpPr/>
          <p:nvPr/>
        </p:nvSpPr>
        <p:spPr>
          <a:xfrm>
            <a:off x="2957651" y="3712995"/>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42D7AFFC-651F-95BA-0345-1897788D1CC3}"/>
              </a:ext>
            </a:extLst>
          </p:cNvPr>
          <p:cNvSpPr/>
          <p:nvPr/>
        </p:nvSpPr>
        <p:spPr>
          <a:xfrm>
            <a:off x="1586051" y="5638800"/>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2BC708E-8E2A-37B9-8DFA-3D954BF278F2}"/>
              </a:ext>
            </a:extLst>
          </p:cNvPr>
          <p:cNvSpPr/>
          <p:nvPr/>
        </p:nvSpPr>
        <p:spPr>
          <a:xfrm>
            <a:off x="2133600" y="5638800"/>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D266B7F-9BC3-AA74-53D9-15AC43B402FA}"/>
              </a:ext>
            </a:extLst>
          </p:cNvPr>
          <p:cNvSpPr txBox="1"/>
          <p:nvPr/>
        </p:nvSpPr>
        <p:spPr>
          <a:xfrm>
            <a:off x="304799" y="3276600"/>
            <a:ext cx="711783" cy="461665"/>
          </a:xfrm>
          <a:prstGeom prst="rect">
            <a:avLst/>
          </a:prstGeom>
          <a:noFill/>
        </p:spPr>
        <p:txBody>
          <a:bodyPr wrap="square" rtlCol="0">
            <a:spAutoFit/>
          </a:bodyPr>
          <a:lstStyle/>
          <a:p>
            <a:r>
              <a:rPr lang="en-US" dirty="0"/>
              <a:t>RA</a:t>
            </a:r>
          </a:p>
        </p:txBody>
      </p:sp>
      <p:sp>
        <p:nvSpPr>
          <p:cNvPr id="24" name="TextBox 23">
            <a:extLst>
              <a:ext uri="{FF2B5EF4-FFF2-40B4-BE49-F238E27FC236}">
                <a16:creationId xmlns:a16="http://schemas.microsoft.com/office/drawing/2014/main" id="{B394B1DC-1708-04E2-E5A7-EF1DF5D88ED0}"/>
              </a:ext>
            </a:extLst>
          </p:cNvPr>
          <p:cNvSpPr txBox="1"/>
          <p:nvPr/>
        </p:nvSpPr>
        <p:spPr>
          <a:xfrm>
            <a:off x="2869617" y="3276600"/>
            <a:ext cx="711783" cy="461665"/>
          </a:xfrm>
          <a:prstGeom prst="rect">
            <a:avLst/>
          </a:prstGeom>
          <a:noFill/>
        </p:spPr>
        <p:txBody>
          <a:bodyPr wrap="square" rtlCol="0">
            <a:spAutoFit/>
          </a:bodyPr>
          <a:lstStyle/>
          <a:p>
            <a:r>
              <a:rPr lang="en-US" dirty="0"/>
              <a:t>LA</a:t>
            </a:r>
          </a:p>
        </p:txBody>
      </p:sp>
      <p:sp>
        <p:nvSpPr>
          <p:cNvPr id="25" name="TextBox 24">
            <a:extLst>
              <a:ext uri="{FF2B5EF4-FFF2-40B4-BE49-F238E27FC236}">
                <a16:creationId xmlns:a16="http://schemas.microsoft.com/office/drawing/2014/main" id="{BBBCF01E-A6EB-0FCA-EF48-F88FF449FF2D}"/>
              </a:ext>
            </a:extLst>
          </p:cNvPr>
          <p:cNvSpPr txBox="1"/>
          <p:nvPr/>
        </p:nvSpPr>
        <p:spPr>
          <a:xfrm>
            <a:off x="1047222" y="5585596"/>
            <a:ext cx="2076977" cy="461665"/>
          </a:xfrm>
          <a:prstGeom prst="rect">
            <a:avLst/>
          </a:prstGeom>
          <a:noFill/>
        </p:spPr>
        <p:txBody>
          <a:bodyPr wrap="square" rtlCol="0">
            <a:spAutoFit/>
          </a:bodyPr>
          <a:lstStyle/>
          <a:p>
            <a:r>
              <a:rPr lang="en-US" dirty="0"/>
              <a:t>RL              LL</a:t>
            </a:r>
          </a:p>
        </p:txBody>
      </p:sp>
      <p:sp>
        <p:nvSpPr>
          <p:cNvPr id="26" name="Content Placeholder 2">
            <a:extLst>
              <a:ext uri="{FF2B5EF4-FFF2-40B4-BE49-F238E27FC236}">
                <a16:creationId xmlns:a16="http://schemas.microsoft.com/office/drawing/2014/main" id="{D1AFDB9B-7714-8912-FCCF-8B09B1DB635C}"/>
              </a:ext>
            </a:extLst>
          </p:cNvPr>
          <p:cNvSpPr txBox="1">
            <a:spLocks/>
          </p:cNvSpPr>
          <p:nvPr/>
        </p:nvSpPr>
        <p:spPr bwMode="auto">
          <a:xfrm>
            <a:off x="4027770" y="1219201"/>
            <a:ext cx="4849530" cy="181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dirty="0"/>
              <a:t>How many views do we have?</a:t>
            </a:r>
          </a:p>
          <a:p>
            <a:r>
              <a:rPr lang="en-US" sz="2400" dirty="0"/>
              <a:t>Views every 60</a:t>
            </a:r>
            <a:r>
              <a:rPr lang="en-US" sz="2400" dirty="0">
                <a:latin typeface="Times New Roman" panose="02020603050405020304" pitchFamily="18" charset="0"/>
                <a:cs typeface="Times New Roman" panose="02020603050405020304" pitchFamily="18" charset="0"/>
              </a:rPr>
              <a:t>º; not bad!</a:t>
            </a:r>
          </a:p>
          <a:p>
            <a:r>
              <a:rPr lang="en-US" sz="2400" dirty="0">
                <a:latin typeface="Times New Roman" panose="02020603050405020304" pitchFamily="18" charset="0"/>
                <a:cs typeface="Times New Roman" panose="02020603050405020304" pitchFamily="18" charset="0"/>
              </a:rPr>
              <a:t>Can we get more views from these same four electrodes? </a:t>
            </a:r>
            <a:endParaRPr lang="en-US" sz="2400" dirty="0"/>
          </a:p>
          <a:p>
            <a:endParaRPr lang="en-US" sz="2000" dirty="0"/>
          </a:p>
          <a:p>
            <a:pPr marL="0" indent="0">
              <a:buNone/>
            </a:pPr>
            <a:endParaRPr lang="en-US" sz="2800" dirty="0"/>
          </a:p>
        </p:txBody>
      </p:sp>
      <p:sp>
        <p:nvSpPr>
          <p:cNvPr id="3" name="Oval 2">
            <a:extLst>
              <a:ext uri="{FF2B5EF4-FFF2-40B4-BE49-F238E27FC236}">
                <a16:creationId xmlns:a16="http://schemas.microsoft.com/office/drawing/2014/main" id="{1E764473-802B-C2B7-18DB-8B8B5F98D291}"/>
              </a:ext>
            </a:extLst>
          </p:cNvPr>
          <p:cNvSpPr/>
          <p:nvPr/>
        </p:nvSpPr>
        <p:spPr>
          <a:xfrm>
            <a:off x="4937760" y="3302000"/>
            <a:ext cx="2834640" cy="2834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7FE96ADF-8B05-7B0F-9690-598F3302B7D1}"/>
              </a:ext>
            </a:extLst>
          </p:cNvPr>
          <p:cNvCxnSpPr/>
          <p:nvPr/>
        </p:nvCxnSpPr>
        <p:spPr>
          <a:xfrm>
            <a:off x="6324600" y="4724400"/>
            <a:ext cx="1413390" cy="0"/>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B7C4852-4FC7-A55D-7943-2C8DF3AF44FD}"/>
              </a:ext>
            </a:extLst>
          </p:cNvPr>
          <p:cNvSpPr txBox="1"/>
          <p:nvPr/>
        </p:nvSpPr>
        <p:spPr>
          <a:xfrm>
            <a:off x="7924799" y="4572000"/>
            <a:ext cx="912109" cy="276999"/>
          </a:xfrm>
          <a:prstGeom prst="rect">
            <a:avLst/>
          </a:prstGeom>
          <a:noFill/>
        </p:spPr>
        <p:txBody>
          <a:bodyPr wrap="none" lIns="0" tIns="0" rIns="0" bIns="0" rtlCol="0">
            <a:spAutoFit/>
          </a:bodyPr>
          <a:lstStyle/>
          <a:p>
            <a:r>
              <a:rPr lang="en-US" sz="1800" dirty="0"/>
              <a:t>I=LA-RA</a:t>
            </a:r>
          </a:p>
        </p:txBody>
      </p:sp>
      <p:sp>
        <p:nvSpPr>
          <p:cNvPr id="15" name="TextBox 14">
            <a:extLst>
              <a:ext uri="{FF2B5EF4-FFF2-40B4-BE49-F238E27FC236}">
                <a16:creationId xmlns:a16="http://schemas.microsoft.com/office/drawing/2014/main" id="{38E17553-A003-33B8-4BE7-1C6ACE38E753}"/>
              </a:ext>
            </a:extLst>
          </p:cNvPr>
          <p:cNvSpPr txBox="1"/>
          <p:nvPr/>
        </p:nvSpPr>
        <p:spPr>
          <a:xfrm>
            <a:off x="6858000" y="6019800"/>
            <a:ext cx="963405" cy="276999"/>
          </a:xfrm>
          <a:prstGeom prst="rect">
            <a:avLst/>
          </a:prstGeom>
          <a:noFill/>
        </p:spPr>
        <p:txBody>
          <a:bodyPr wrap="none" lIns="0" tIns="0" rIns="0" bIns="0" rtlCol="0">
            <a:spAutoFit/>
          </a:bodyPr>
          <a:lstStyle/>
          <a:p>
            <a:r>
              <a:rPr lang="en-US" sz="1800" dirty="0"/>
              <a:t>II=LL-RA</a:t>
            </a:r>
          </a:p>
        </p:txBody>
      </p:sp>
      <p:cxnSp>
        <p:nvCxnSpPr>
          <p:cNvPr id="16" name="Straight Arrow Connector 15">
            <a:extLst>
              <a:ext uri="{FF2B5EF4-FFF2-40B4-BE49-F238E27FC236}">
                <a16:creationId xmlns:a16="http://schemas.microsoft.com/office/drawing/2014/main" id="{22B558B1-B2B5-3DB9-70C6-904CE826F116}"/>
              </a:ext>
            </a:extLst>
          </p:cNvPr>
          <p:cNvCxnSpPr>
            <a:cxnSpLocks/>
          </p:cNvCxnSpPr>
          <p:nvPr/>
        </p:nvCxnSpPr>
        <p:spPr>
          <a:xfrm rot="3600000">
            <a:off x="5971253" y="5336416"/>
            <a:ext cx="1413390" cy="0"/>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96A002D-812C-E57B-CF4D-8FFDE034BE4A}"/>
              </a:ext>
            </a:extLst>
          </p:cNvPr>
          <p:cNvCxnSpPr>
            <a:cxnSpLocks/>
          </p:cNvCxnSpPr>
          <p:nvPr/>
        </p:nvCxnSpPr>
        <p:spPr>
          <a:xfrm rot="7200000">
            <a:off x="5285453" y="5336416"/>
            <a:ext cx="1413390" cy="0"/>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E38114CD-CF78-09A7-2DD9-42FE7FF3A34D}"/>
              </a:ext>
            </a:extLst>
          </p:cNvPr>
          <p:cNvSpPr txBox="1"/>
          <p:nvPr/>
        </p:nvSpPr>
        <p:spPr>
          <a:xfrm>
            <a:off x="4724400" y="6096000"/>
            <a:ext cx="1027525" cy="276999"/>
          </a:xfrm>
          <a:prstGeom prst="rect">
            <a:avLst/>
          </a:prstGeom>
          <a:noFill/>
        </p:spPr>
        <p:txBody>
          <a:bodyPr wrap="none" lIns="0" tIns="0" rIns="0" bIns="0" rtlCol="0">
            <a:spAutoFit/>
          </a:bodyPr>
          <a:lstStyle/>
          <a:p>
            <a:r>
              <a:rPr lang="en-US" sz="1800" dirty="0"/>
              <a:t>III=LL-LA</a:t>
            </a:r>
          </a:p>
        </p:txBody>
      </p:sp>
      <p:cxnSp>
        <p:nvCxnSpPr>
          <p:cNvPr id="30" name="Straight Arrow Connector 29">
            <a:extLst>
              <a:ext uri="{FF2B5EF4-FFF2-40B4-BE49-F238E27FC236}">
                <a16:creationId xmlns:a16="http://schemas.microsoft.com/office/drawing/2014/main" id="{43B4FA17-5FE7-6DB2-7D08-141873DD6FC2}"/>
              </a:ext>
            </a:extLst>
          </p:cNvPr>
          <p:cNvCxnSpPr>
            <a:cxnSpLocks/>
          </p:cNvCxnSpPr>
          <p:nvPr/>
        </p:nvCxnSpPr>
        <p:spPr>
          <a:xfrm flipH="1">
            <a:off x="4911210" y="4724400"/>
            <a:ext cx="1413390" cy="0"/>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D696547-0209-1FB6-B09E-C55B28F2100A}"/>
              </a:ext>
            </a:extLst>
          </p:cNvPr>
          <p:cNvCxnSpPr>
            <a:cxnSpLocks/>
          </p:cNvCxnSpPr>
          <p:nvPr/>
        </p:nvCxnSpPr>
        <p:spPr>
          <a:xfrm rot="3600000">
            <a:off x="5285453" y="4112384"/>
            <a:ext cx="1413390" cy="0"/>
          </a:xfrm>
          <a:prstGeom prst="straightConnector1">
            <a:avLst/>
          </a:prstGeom>
          <a:ln w="38100">
            <a:solidFill>
              <a:srgbClr val="FFFF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1739A66-DFBF-7C5E-173F-6F31C61248DF}"/>
              </a:ext>
            </a:extLst>
          </p:cNvPr>
          <p:cNvCxnSpPr>
            <a:cxnSpLocks/>
          </p:cNvCxnSpPr>
          <p:nvPr/>
        </p:nvCxnSpPr>
        <p:spPr>
          <a:xfrm rot="7200000">
            <a:off x="5971253" y="4193416"/>
            <a:ext cx="1413390" cy="0"/>
          </a:xfrm>
          <a:prstGeom prst="straightConnector1">
            <a:avLst/>
          </a:prstGeom>
          <a:ln w="38100">
            <a:solidFill>
              <a:srgbClr val="FFFF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7087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xEl>
                                              <p:pRg st="0" end="0"/>
                                            </p:txEl>
                                          </p:spTgt>
                                        </p:tgtEl>
                                        <p:attrNameLst>
                                          <p:attrName>style.visibility</p:attrName>
                                        </p:attrNameLst>
                                      </p:cBhvr>
                                      <p:to>
                                        <p:strVal val="visible"/>
                                      </p:to>
                                    </p:set>
                                    <p:animEffect transition="in" filter="fade">
                                      <p:cBhvr>
                                        <p:cTn id="31" dur="500"/>
                                        <p:tgtEl>
                                          <p:spTgt spid="26">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childTnLst>
                                </p:cTn>
                              </p:par>
                              <p:par>
                                <p:cTn id="37" presetID="10"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childTnLst>
                                </p:cTn>
                              </p:par>
                              <p:par>
                                <p:cTn id="40" presetID="10"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
                                            <p:txEl>
                                              <p:pRg st="1" end="1"/>
                                            </p:txEl>
                                          </p:spTgt>
                                        </p:tgtEl>
                                        <p:attrNameLst>
                                          <p:attrName>style.visibility</p:attrName>
                                        </p:attrNameLst>
                                      </p:cBhvr>
                                      <p:to>
                                        <p:strVal val="visible"/>
                                      </p:to>
                                    </p:set>
                                    <p:animEffect transition="in" filter="fade">
                                      <p:cBhvr>
                                        <p:cTn id="47" dur="500"/>
                                        <p:tgtEl>
                                          <p:spTgt spid="26">
                                            <p:txEl>
                                              <p:pRg st="1" end="1"/>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26">
                                            <p:txEl>
                                              <p:pRg st="2" end="2"/>
                                            </p:txEl>
                                          </p:spTgt>
                                        </p:tgtEl>
                                        <p:attrNameLst>
                                          <p:attrName>style.visibility</p:attrName>
                                        </p:attrNameLst>
                                      </p:cBhvr>
                                      <p:to>
                                        <p:strVal val="visible"/>
                                      </p:to>
                                    </p:set>
                                    <p:animEffect transition="in" filter="fade">
                                      <p:cBhvr>
                                        <p:cTn id="50" dur="500"/>
                                        <p:tgtEl>
                                          <p:spTgt spid="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2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D3C43-7393-6AFA-5510-FB00B6A7F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A5B50-E2A3-E514-D025-E98480B394EA}"/>
              </a:ext>
            </a:extLst>
          </p:cNvPr>
          <p:cNvSpPr>
            <a:spLocks noGrp="1"/>
          </p:cNvSpPr>
          <p:nvPr>
            <p:ph type="title"/>
          </p:nvPr>
        </p:nvSpPr>
        <p:spPr/>
        <p:txBody>
          <a:bodyPr/>
          <a:lstStyle/>
          <a:p>
            <a:r>
              <a:rPr lang="en-US" dirty="0"/>
              <a:t>Wilson’s central terminal</a:t>
            </a:r>
          </a:p>
        </p:txBody>
      </p:sp>
      <p:sp>
        <p:nvSpPr>
          <p:cNvPr id="4" name="Footer Placeholder 3">
            <a:extLst>
              <a:ext uri="{FF2B5EF4-FFF2-40B4-BE49-F238E27FC236}">
                <a16:creationId xmlns:a16="http://schemas.microsoft.com/office/drawing/2014/main" id="{D1ACB190-1E5A-24E0-F4C0-52F78693D4E8}"/>
              </a:ext>
            </a:extLst>
          </p:cNvPr>
          <p:cNvSpPr>
            <a:spLocks noGrp="1"/>
          </p:cNvSpPr>
          <p:nvPr>
            <p:ph type="ftr" sz="quarter" idx="11"/>
          </p:nvPr>
        </p:nvSpPr>
        <p:spPr/>
        <p:txBody>
          <a:bodyPr/>
          <a:lstStyle/>
          <a:p>
            <a:pPr>
              <a:defRPr/>
            </a:pPr>
            <a:r>
              <a:rPr lang="en-US"/>
              <a:t>EE 123 -- Bioelectricity</a:t>
            </a:r>
            <a:endParaRPr lang="en-US" dirty="0"/>
          </a:p>
        </p:txBody>
      </p:sp>
      <p:grpSp>
        <p:nvGrpSpPr>
          <p:cNvPr id="18" name="Group 17">
            <a:extLst>
              <a:ext uri="{FF2B5EF4-FFF2-40B4-BE49-F238E27FC236}">
                <a16:creationId xmlns:a16="http://schemas.microsoft.com/office/drawing/2014/main" id="{58DACE54-337C-E135-89F1-5B40099A97CD}"/>
              </a:ext>
            </a:extLst>
          </p:cNvPr>
          <p:cNvGrpSpPr/>
          <p:nvPr/>
        </p:nvGrpSpPr>
        <p:grpSpPr>
          <a:xfrm>
            <a:off x="455225" y="2280434"/>
            <a:ext cx="2947880" cy="3694099"/>
            <a:chOff x="455225" y="3200400"/>
            <a:chExt cx="2213750" cy="2774133"/>
          </a:xfrm>
        </p:grpSpPr>
        <p:sp>
          <p:nvSpPr>
            <p:cNvPr id="6" name="Oval 5">
              <a:extLst>
                <a:ext uri="{FF2B5EF4-FFF2-40B4-BE49-F238E27FC236}">
                  <a16:creationId xmlns:a16="http://schemas.microsoft.com/office/drawing/2014/main" id="{85388735-1D0F-2ED2-A70E-FB99788656C1}"/>
                </a:ext>
              </a:extLst>
            </p:cNvPr>
            <p:cNvSpPr/>
            <p:nvPr/>
          </p:nvSpPr>
          <p:spPr>
            <a:xfrm>
              <a:off x="1219200" y="3200400"/>
              <a:ext cx="685800" cy="609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90BFC29-6AD6-4BB8-D272-69F3FD7A567A}"/>
                </a:ext>
              </a:extLst>
            </p:cNvPr>
            <p:cNvSpPr/>
            <p:nvPr/>
          </p:nvSpPr>
          <p:spPr>
            <a:xfrm>
              <a:off x="1485900" y="3810000"/>
              <a:ext cx="152400" cy="1524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04E9C7C9-8C84-F868-6EF1-D558C0CAB2B7}"/>
                </a:ext>
              </a:extLst>
            </p:cNvPr>
            <p:cNvSpPr/>
            <p:nvPr/>
          </p:nvSpPr>
          <p:spPr>
            <a:xfrm>
              <a:off x="1143000" y="3962400"/>
              <a:ext cx="838200" cy="1295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92BC2A3-252F-F205-D91E-27E4972753C2}"/>
                </a:ext>
              </a:extLst>
            </p:cNvPr>
            <p:cNvSpPr/>
            <p:nvPr/>
          </p:nvSpPr>
          <p:spPr>
            <a:xfrm rot="20694383">
              <a:off x="455225" y="4240162"/>
              <a:ext cx="716733" cy="16516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F9CFC170-0A61-EDAF-9B08-DED1B583143D}"/>
                </a:ext>
              </a:extLst>
            </p:cNvPr>
            <p:cNvSpPr/>
            <p:nvPr/>
          </p:nvSpPr>
          <p:spPr>
            <a:xfrm rot="905617" flipH="1">
              <a:off x="1952242" y="4240162"/>
              <a:ext cx="716733" cy="16516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EED70193-4D30-0FBC-FFA5-30B994447C98}"/>
                </a:ext>
              </a:extLst>
            </p:cNvPr>
            <p:cNvSpPr/>
            <p:nvPr/>
          </p:nvSpPr>
          <p:spPr>
            <a:xfrm rot="5400000" flipH="1">
              <a:off x="1019618" y="5533582"/>
              <a:ext cx="716733" cy="16516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8610C0E9-09BF-FC42-2E6A-3AA40DFAD15E}"/>
                </a:ext>
              </a:extLst>
            </p:cNvPr>
            <p:cNvSpPr/>
            <p:nvPr/>
          </p:nvSpPr>
          <p:spPr>
            <a:xfrm rot="5400000" flipH="1">
              <a:off x="1464049" y="5533582"/>
              <a:ext cx="716733" cy="16516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Content Placeholder 16" descr="A drawing of a heart&#10;&#10;AI-generated content may be incorrect.">
            <a:extLst>
              <a:ext uri="{FF2B5EF4-FFF2-40B4-BE49-F238E27FC236}">
                <a16:creationId xmlns:a16="http://schemas.microsoft.com/office/drawing/2014/main" id="{474E5CBF-6CB9-CC0A-41B9-4F78DBF46C0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rot="20395569">
            <a:off x="1783106" y="3420570"/>
            <a:ext cx="521269" cy="714030"/>
          </a:xfrm>
        </p:spPr>
      </p:pic>
      <p:sp>
        <p:nvSpPr>
          <p:cNvPr id="19" name="Oval 18">
            <a:extLst>
              <a:ext uri="{FF2B5EF4-FFF2-40B4-BE49-F238E27FC236}">
                <a16:creationId xmlns:a16="http://schemas.microsoft.com/office/drawing/2014/main" id="{E29BFA20-6712-9EC4-79EA-ACC8B3DAF170}"/>
              </a:ext>
            </a:extLst>
          </p:cNvPr>
          <p:cNvSpPr/>
          <p:nvPr/>
        </p:nvSpPr>
        <p:spPr>
          <a:xfrm>
            <a:off x="519251" y="3712995"/>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65561E8-6F27-E3FB-16B2-398038A345FA}"/>
              </a:ext>
            </a:extLst>
          </p:cNvPr>
          <p:cNvSpPr/>
          <p:nvPr/>
        </p:nvSpPr>
        <p:spPr>
          <a:xfrm>
            <a:off x="2957651" y="3712995"/>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AD70135-4D36-0500-E648-D8AA9F174476}"/>
              </a:ext>
            </a:extLst>
          </p:cNvPr>
          <p:cNvSpPr/>
          <p:nvPr/>
        </p:nvSpPr>
        <p:spPr>
          <a:xfrm>
            <a:off x="1586051" y="5638800"/>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346CD6C-99D5-F3B6-FF2C-E4883524BD6C}"/>
              </a:ext>
            </a:extLst>
          </p:cNvPr>
          <p:cNvSpPr/>
          <p:nvPr/>
        </p:nvSpPr>
        <p:spPr>
          <a:xfrm>
            <a:off x="2133600" y="5638800"/>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D91AA60-04FA-8213-5CBD-DB68A99F0ED6}"/>
              </a:ext>
            </a:extLst>
          </p:cNvPr>
          <p:cNvSpPr txBox="1"/>
          <p:nvPr/>
        </p:nvSpPr>
        <p:spPr>
          <a:xfrm>
            <a:off x="304799" y="3276600"/>
            <a:ext cx="711783" cy="461665"/>
          </a:xfrm>
          <a:prstGeom prst="rect">
            <a:avLst/>
          </a:prstGeom>
          <a:noFill/>
        </p:spPr>
        <p:txBody>
          <a:bodyPr wrap="square" rtlCol="0">
            <a:spAutoFit/>
          </a:bodyPr>
          <a:lstStyle/>
          <a:p>
            <a:r>
              <a:rPr lang="en-US" dirty="0"/>
              <a:t>RA</a:t>
            </a:r>
          </a:p>
        </p:txBody>
      </p:sp>
      <p:sp>
        <p:nvSpPr>
          <p:cNvPr id="24" name="TextBox 23">
            <a:extLst>
              <a:ext uri="{FF2B5EF4-FFF2-40B4-BE49-F238E27FC236}">
                <a16:creationId xmlns:a16="http://schemas.microsoft.com/office/drawing/2014/main" id="{EF28C0E0-F56E-FAAC-6983-13515098BD45}"/>
              </a:ext>
            </a:extLst>
          </p:cNvPr>
          <p:cNvSpPr txBox="1"/>
          <p:nvPr/>
        </p:nvSpPr>
        <p:spPr>
          <a:xfrm>
            <a:off x="2869617" y="3276600"/>
            <a:ext cx="711783" cy="461665"/>
          </a:xfrm>
          <a:prstGeom prst="rect">
            <a:avLst/>
          </a:prstGeom>
          <a:noFill/>
        </p:spPr>
        <p:txBody>
          <a:bodyPr wrap="square" rtlCol="0">
            <a:spAutoFit/>
          </a:bodyPr>
          <a:lstStyle/>
          <a:p>
            <a:r>
              <a:rPr lang="en-US" dirty="0"/>
              <a:t>LA</a:t>
            </a:r>
          </a:p>
        </p:txBody>
      </p:sp>
      <p:sp>
        <p:nvSpPr>
          <p:cNvPr id="25" name="TextBox 24">
            <a:extLst>
              <a:ext uri="{FF2B5EF4-FFF2-40B4-BE49-F238E27FC236}">
                <a16:creationId xmlns:a16="http://schemas.microsoft.com/office/drawing/2014/main" id="{DC0299E0-0002-75E7-57B1-FA8801B488E8}"/>
              </a:ext>
            </a:extLst>
          </p:cNvPr>
          <p:cNvSpPr txBox="1"/>
          <p:nvPr/>
        </p:nvSpPr>
        <p:spPr>
          <a:xfrm>
            <a:off x="1047222" y="5585596"/>
            <a:ext cx="2076977" cy="461665"/>
          </a:xfrm>
          <a:prstGeom prst="rect">
            <a:avLst/>
          </a:prstGeom>
          <a:noFill/>
        </p:spPr>
        <p:txBody>
          <a:bodyPr wrap="square" rtlCol="0">
            <a:spAutoFit/>
          </a:bodyPr>
          <a:lstStyle/>
          <a:p>
            <a:r>
              <a:rPr lang="en-US" dirty="0"/>
              <a:t>RL              LL</a:t>
            </a:r>
          </a:p>
        </p:txBody>
      </p:sp>
      <p:sp>
        <p:nvSpPr>
          <p:cNvPr id="26" name="Content Placeholder 2">
            <a:extLst>
              <a:ext uri="{FF2B5EF4-FFF2-40B4-BE49-F238E27FC236}">
                <a16:creationId xmlns:a16="http://schemas.microsoft.com/office/drawing/2014/main" id="{96449913-71F9-D22F-DCB6-B7296F91EACF}"/>
              </a:ext>
            </a:extLst>
          </p:cNvPr>
          <p:cNvSpPr txBox="1">
            <a:spLocks/>
          </p:cNvSpPr>
          <p:nvPr/>
        </p:nvSpPr>
        <p:spPr bwMode="auto">
          <a:xfrm>
            <a:off x="3733800" y="1143000"/>
            <a:ext cx="4849530" cy="2281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pl-PL" sz="2400" dirty="0"/>
              <a:t>W = (LA+RA+</a:t>
            </a:r>
            <a:r>
              <a:rPr lang="en-US" sz="2400" dirty="0"/>
              <a:t>L</a:t>
            </a:r>
            <a:r>
              <a:rPr lang="pl-PL" sz="2400" dirty="0"/>
              <a:t>L)/3</a:t>
            </a:r>
            <a:endParaRPr lang="en-US" sz="2400" dirty="0"/>
          </a:p>
          <a:p>
            <a:r>
              <a:rPr lang="en-US" sz="2400" dirty="0" err="1"/>
              <a:t>aV</a:t>
            </a:r>
            <a:r>
              <a:rPr lang="en-US" sz="2400" baseline="-25000" dirty="0" err="1"/>
              <a:t>F</a:t>
            </a:r>
            <a:r>
              <a:rPr lang="en-US" sz="2400" dirty="0"/>
              <a:t> = 1.5(LL-W)</a:t>
            </a:r>
            <a:endParaRPr lang="pl-PL" sz="2400" dirty="0"/>
          </a:p>
          <a:p>
            <a:r>
              <a:rPr lang="en-US" sz="2400" dirty="0" err="1"/>
              <a:t>aV</a:t>
            </a:r>
            <a:r>
              <a:rPr lang="en-US" sz="2400" baseline="-25000" dirty="0" err="1"/>
              <a:t>R</a:t>
            </a:r>
            <a:r>
              <a:rPr lang="en-US" sz="2400" dirty="0"/>
              <a:t> = 1.5 (RA-W)</a:t>
            </a:r>
          </a:p>
          <a:p>
            <a:r>
              <a:rPr lang="en-US" sz="2400" dirty="0" err="1"/>
              <a:t>aV</a:t>
            </a:r>
            <a:r>
              <a:rPr lang="en-US" sz="2400" baseline="-25000" dirty="0" err="1"/>
              <a:t>L</a:t>
            </a:r>
            <a:r>
              <a:rPr lang="en-US" sz="2400" dirty="0"/>
              <a:t> = 1.5 (RA-W)</a:t>
            </a:r>
          </a:p>
          <a:p>
            <a:r>
              <a:rPr lang="en-US" sz="2400" dirty="0"/>
              <a:t>Views every 30</a:t>
            </a:r>
            <a:r>
              <a:rPr lang="en-US" sz="2400" dirty="0">
                <a:latin typeface="Times New Roman" panose="02020603050405020304" pitchFamily="18" charset="0"/>
                <a:cs typeface="Times New Roman" panose="02020603050405020304" pitchFamily="18" charset="0"/>
              </a:rPr>
              <a:t>º!</a:t>
            </a:r>
          </a:p>
          <a:p>
            <a:endParaRPr lang="en-US" sz="2000" dirty="0"/>
          </a:p>
          <a:p>
            <a:pPr marL="0" indent="0">
              <a:buNone/>
            </a:pPr>
            <a:endParaRPr lang="en-US" sz="2800" dirty="0"/>
          </a:p>
        </p:txBody>
      </p:sp>
      <p:sp>
        <p:nvSpPr>
          <p:cNvPr id="3" name="Oval 2">
            <a:extLst>
              <a:ext uri="{FF2B5EF4-FFF2-40B4-BE49-F238E27FC236}">
                <a16:creationId xmlns:a16="http://schemas.microsoft.com/office/drawing/2014/main" id="{5C9A85D2-4F9E-DFC1-5131-2104893BC50D}"/>
              </a:ext>
            </a:extLst>
          </p:cNvPr>
          <p:cNvSpPr/>
          <p:nvPr/>
        </p:nvSpPr>
        <p:spPr>
          <a:xfrm>
            <a:off x="4937760" y="3302000"/>
            <a:ext cx="2834640" cy="28346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CD62C1D8-8CA4-01FC-53B8-AA13FD1C9E55}"/>
              </a:ext>
            </a:extLst>
          </p:cNvPr>
          <p:cNvCxnSpPr/>
          <p:nvPr/>
        </p:nvCxnSpPr>
        <p:spPr>
          <a:xfrm>
            <a:off x="6324600" y="4724400"/>
            <a:ext cx="1413390" cy="0"/>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935983B-D6B3-4759-CFE1-EF1BF78D0478}"/>
              </a:ext>
            </a:extLst>
          </p:cNvPr>
          <p:cNvSpPr txBox="1"/>
          <p:nvPr/>
        </p:nvSpPr>
        <p:spPr>
          <a:xfrm>
            <a:off x="7924799" y="4572000"/>
            <a:ext cx="912109" cy="276999"/>
          </a:xfrm>
          <a:prstGeom prst="rect">
            <a:avLst/>
          </a:prstGeom>
          <a:noFill/>
        </p:spPr>
        <p:txBody>
          <a:bodyPr wrap="none" lIns="0" tIns="0" rIns="0" bIns="0" rtlCol="0">
            <a:spAutoFit/>
          </a:bodyPr>
          <a:lstStyle/>
          <a:p>
            <a:r>
              <a:rPr lang="en-US" sz="1800" dirty="0"/>
              <a:t>I=LA-RA</a:t>
            </a:r>
          </a:p>
        </p:txBody>
      </p:sp>
      <p:sp>
        <p:nvSpPr>
          <p:cNvPr id="15" name="TextBox 14">
            <a:extLst>
              <a:ext uri="{FF2B5EF4-FFF2-40B4-BE49-F238E27FC236}">
                <a16:creationId xmlns:a16="http://schemas.microsoft.com/office/drawing/2014/main" id="{230D718C-17BB-A696-ADE1-C269BAFCA849}"/>
              </a:ext>
            </a:extLst>
          </p:cNvPr>
          <p:cNvSpPr txBox="1"/>
          <p:nvPr/>
        </p:nvSpPr>
        <p:spPr>
          <a:xfrm>
            <a:off x="7037595" y="5943600"/>
            <a:ext cx="963405" cy="276999"/>
          </a:xfrm>
          <a:prstGeom prst="rect">
            <a:avLst/>
          </a:prstGeom>
          <a:noFill/>
        </p:spPr>
        <p:txBody>
          <a:bodyPr wrap="none" lIns="0" tIns="0" rIns="0" bIns="0" rtlCol="0">
            <a:spAutoFit/>
          </a:bodyPr>
          <a:lstStyle/>
          <a:p>
            <a:r>
              <a:rPr lang="en-US" sz="1800" dirty="0"/>
              <a:t>II=LL-RA</a:t>
            </a:r>
          </a:p>
        </p:txBody>
      </p:sp>
      <p:cxnSp>
        <p:nvCxnSpPr>
          <p:cNvPr id="16" name="Straight Arrow Connector 15">
            <a:extLst>
              <a:ext uri="{FF2B5EF4-FFF2-40B4-BE49-F238E27FC236}">
                <a16:creationId xmlns:a16="http://schemas.microsoft.com/office/drawing/2014/main" id="{9F0C6E6B-BF95-D264-E739-D5EB19E086F3}"/>
              </a:ext>
            </a:extLst>
          </p:cNvPr>
          <p:cNvCxnSpPr>
            <a:cxnSpLocks/>
          </p:cNvCxnSpPr>
          <p:nvPr/>
        </p:nvCxnSpPr>
        <p:spPr>
          <a:xfrm rot="3600000">
            <a:off x="5971253" y="5336416"/>
            <a:ext cx="1413390" cy="0"/>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036E792-8B52-15D0-2C68-EF414230E1DE}"/>
              </a:ext>
            </a:extLst>
          </p:cNvPr>
          <p:cNvCxnSpPr>
            <a:cxnSpLocks/>
          </p:cNvCxnSpPr>
          <p:nvPr/>
        </p:nvCxnSpPr>
        <p:spPr>
          <a:xfrm rot="7200000">
            <a:off x="5285453" y="5336416"/>
            <a:ext cx="1413390" cy="0"/>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43CFFCD-D30E-4D12-7809-FAC1A69ED399}"/>
              </a:ext>
            </a:extLst>
          </p:cNvPr>
          <p:cNvSpPr txBox="1"/>
          <p:nvPr/>
        </p:nvSpPr>
        <p:spPr>
          <a:xfrm>
            <a:off x="4724400" y="6096000"/>
            <a:ext cx="1027525" cy="276999"/>
          </a:xfrm>
          <a:prstGeom prst="rect">
            <a:avLst/>
          </a:prstGeom>
          <a:noFill/>
        </p:spPr>
        <p:txBody>
          <a:bodyPr wrap="none" lIns="0" tIns="0" rIns="0" bIns="0" rtlCol="0">
            <a:spAutoFit/>
          </a:bodyPr>
          <a:lstStyle/>
          <a:p>
            <a:r>
              <a:rPr lang="en-US" sz="1800" dirty="0"/>
              <a:t>III=LL-LA</a:t>
            </a:r>
          </a:p>
        </p:txBody>
      </p:sp>
      <p:sp>
        <p:nvSpPr>
          <p:cNvPr id="5" name="Oval 4">
            <a:extLst>
              <a:ext uri="{FF2B5EF4-FFF2-40B4-BE49-F238E27FC236}">
                <a16:creationId xmlns:a16="http://schemas.microsoft.com/office/drawing/2014/main" id="{85EFA568-A3EC-36CC-1B06-D7CD648D33D8}"/>
              </a:ext>
            </a:extLst>
          </p:cNvPr>
          <p:cNvSpPr/>
          <p:nvPr/>
        </p:nvSpPr>
        <p:spPr>
          <a:xfrm>
            <a:off x="1814651" y="4038600"/>
            <a:ext cx="242749" cy="24940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0A1BE4CF-66AD-4FC8-79C5-2591EAC05CB4}"/>
              </a:ext>
            </a:extLst>
          </p:cNvPr>
          <p:cNvCxnSpPr>
            <a:cxnSpLocks/>
          </p:cNvCxnSpPr>
          <p:nvPr/>
        </p:nvCxnSpPr>
        <p:spPr>
          <a:xfrm rot="5400000">
            <a:off x="5617905" y="5465505"/>
            <a:ext cx="1413390" cy="0"/>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501D63F-686D-5CDD-6C28-AF1C156479AB}"/>
              </a:ext>
            </a:extLst>
          </p:cNvPr>
          <p:cNvSpPr txBox="1"/>
          <p:nvPr/>
        </p:nvSpPr>
        <p:spPr>
          <a:xfrm>
            <a:off x="6172200" y="6172200"/>
            <a:ext cx="868828" cy="276999"/>
          </a:xfrm>
          <a:prstGeom prst="rect">
            <a:avLst/>
          </a:prstGeom>
          <a:noFill/>
        </p:spPr>
        <p:txBody>
          <a:bodyPr wrap="none" lIns="0" tIns="0" rIns="0" bIns="0" rtlCol="0">
            <a:spAutoFit/>
          </a:bodyPr>
          <a:lstStyle/>
          <a:p>
            <a:r>
              <a:rPr lang="en-US" sz="1800" dirty="0" err="1"/>
              <a:t>aV</a:t>
            </a:r>
            <a:r>
              <a:rPr lang="en-US" sz="1800" baseline="-25000" dirty="0" err="1"/>
              <a:t>F</a:t>
            </a:r>
            <a:r>
              <a:rPr lang="en-US" sz="1800" dirty="0"/>
              <a:t> (90</a:t>
            </a:r>
            <a:r>
              <a:rPr lang="en-US" sz="1800" dirty="0">
                <a:cs typeface="Times New Roman" panose="02020603050405020304" pitchFamily="18" charset="0"/>
              </a:rPr>
              <a:t>º)</a:t>
            </a:r>
            <a:endParaRPr lang="en-US" sz="1800" dirty="0"/>
          </a:p>
        </p:txBody>
      </p:sp>
      <p:cxnSp>
        <p:nvCxnSpPr>
          <p:cNvPr id="34" name="Straight Arrow Connector 33">
            <a:extLst>
              <a:ext uri="{FF2B5EF4-FFF2-40B4-BE49-F238E27FC236}">
                <a16:creationId xmlns:a16="http://schemas.microsoft.com/office/drawing/2014/main" id="{6C10EA7D-E19A-DE51-3CED-221DFC1DA0CA}"/>
              </a:ext>
            </a:extLst>
          </p:cNvPr>
          <p:cNvCxnSpPr>
            <a:cxnSpLocks/>
          </p:cNvCxnSpPr>
          <p:nvPr/>
        </p:nvCxnSpPr>
        <p:spPr>
          <a:xfrm rot="-9000000">
            <a:off x="5010721" y="4371052"/>
            <a:ext cx="1413390" cy="0"/>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D5D5C7D-3058-26AB-9FC2-F4C52653C694}"/>
              </a:ext>
            </a:extLst>
          </p:cNvPr>
          <p:cNvSpPr txBox="1"/>
          <p:nvPr/>
        </p:nvSpPr>
        <p:spPr>
          <a:xfrm>
            <a:off x="4038600" y="3810000"/>
            <a:ext cx="1078821" cy="276999"/>
          </a:xfrm>
          <a:prstGeom prst="rect">
            <a:avLst/>
          </a:prstGeom>
          <a:noFill/>
        </p:spPr>
        <p:txBody>
          <a:bodyPr wrap="none" lIns="0" tIns="0" rIns="0" bIns="0" rtlCol="0">
            <a:spAutoFit/>
          </a:bodyPr>
          <a:lstStyle/>
          <a:p>
            <a:r>
              <a:rPr lang="en-US" sz="1800" dirty="0" err="1"/>
              <a:t>aV</a:t>
            </a:r>
            <a:r>
              <a:rPr lang="en-US" sz="1800" baseline="-25000" dirty="0" err="1"/>
              <a:t>R</a:t>
            </a:r>
            <a:r>
              <a:rPr lang="en-US" sz="1800" dirty="0"/>
              <a:t> (-150</a:t>
            </a:r>
            <a:r>
              <a:rPr lang="en-US" sz="1800" dirty="0">
                <a:cs typeface="Times New Roman" panose="02020603050405020304" pitchFamily="18" charset="0"/>
              </a:rPr>
              <a:t>º)</a:t>
            </a:r>
            <a:endParaRPr lang="en-US" sz="1800" dirty="0"/>
          </a:p>
        </p:txBody>
      </p:sp>
      <p:cxnSp>
        <p:nvCxnSpPr>
          <p:cNvPr id="36" name="Straight Arrow Connector 35">
            <a:extLst>
              <a:ext uri="{FF2B5EF4-FFF2-40B4-BE49-F238E27FC236}">
                <a16:creationId xmlns:a16="http://schemas.microsoft.com/office/drawing/2014/main" id="{534C18CB-9904-EA3D-FBAA-B0A79C54312B}"/>
              </a:ext>
            </a:extLst>
          </p:cNvPr>
          <p:cNvCxnSpPr>
            <a:cxnSpLocks/>
          </p:cNvCxnSpPr>
          <p:nvPr/>
        </p:nvCxnSpPr>
        <p:spPr>
          <a:xfrm rot="-1800000">
            <a:off x="6229921" y="4371052"/>
            <a:ext cx="1413390" cy="0"/>
          </a:xfrm>
          <a:prstGeom prst="straightConnector1">
            <a:avLst/>
          </a:prstGeom>
          <a:ln w="38100">
            <a:solidFill>
              <a:srgbClr val="FFFF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DED450CE-AFB4-9331-BC95-842BC90A46A0}"/>
              </a:ext>
            </a:extLst>
          </p:cNvPr>
          <p:cNvSpPr txBox="1"/>
          <p:nvPr/>
        </p:nvSpPr>
        <p:spPr>
          <a:xfrm>
            <a:off x="7696200" y="3733800"/>
            <a:ext cx="949684" cy="276999"/>
          </a:xfrm>
          <a:prstGeom prst="rect">
            <a:avLst/>
          </a:prstGeom>
          <a:noFill/>
        </p:spPr>
        <p:txBody>
          <a:bodyPr wrap="none" lIns="0" tIns="0" rIns="0" bIns="0" rtlCol="0">
            <a:spAutoFit/>
          </a:bodyPr>
          <a:lstStyle/>
          <a:p>
            <a:r>
              <a:rPr lang="en-US" sz="1800" dirty="0" err="1"/>
              <a:t>aV</a:t>
            </a:r>
            <a:r>
              <a:rPr lang="en-US" sz="1800" baseline="-25000" dirty="0" err="1"/>
              <a:t>L</a:t>
            </a:r>
            <a:r>
              <a:rPr lang="en-US" sz="1800" dirty="0"/>
              <a:t> (-30</a:t>
            </a:r>
            <a:r>
              <a:rPr lang="en-US" sz="1800" dirty="0">
                <a:cs typeface="Times New Roman" panose="02020603050405020304" pitchFamily="18" charset="0"/>
              </a:rPr>
              <a:t>º)</a:t>
            </a:r>
            <a:endParaRPr lang="en-US" sz="1800" dirty="0"/>
          </a:p>
        </p:txBody>
      </p:sp>
    </p:spTree>
    <p:extLst>
      <p:ext uri="{BB962C8B-B14F-4D97-AF65-F5344CB8AC3E}">
        <p14:creationId xmlns:p14="http://schemas.microsoft.com/office/powerpoint/2010/main" val="372001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fade">
                                      <p:cBhvr>
                                        <p:cTn id="12" dur="500"/>
                                        <p:tgtEl>
                                          <p:spTgt spid="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500"/>
                                        <p:tgtEl>
                                          <p:spTgt spid="3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6">
                                            <p:txEl>
                                              <p:pRg st="2" end="2"/>
                                            </p:txEl>
                                          </p:spTgt>
                                        </p:tgtEl>
                                        <p:attrNameLst>
                                          <p:attrName>style.visibility</p:attrName>
                                        </p:attrNameLst>
                                      </p:cBhvr>
                                      <p:to>
                                        <p:strVal val="visible"/>
                                      </p:to>
                                    </p:set>
                                    <p:animEffect transition="in" filter="fade">
                                      <p:cBhvr>
                                        <p:cTn id="25" dur="500"/>
                                        <p:tgtEl>
                                          <p:spTgt spid="26">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6">
                                            <p:txEl>
                                              <p:pRg st="3" end="3"/>
                                            </p:txEl>
                                          </p:spTgt>
                                        </p:tgtEl>
                                        <p:attrNameLst>
                                          <p:attrName>style.visibility</p:attrName>
                                        </p:attrNameLst>
                                      </p:cBhvr>
                                      <p:to>
                                        <p:strVal val="visible"/>
                                      </p:to>
                                    </p:set>
                                    <p:animEffect transition="in" filter="fade">
                                      <p:cBhvr>
                                        <p:cTn id="38" dur="500"/>
                                        <p:tgtEl>
                                          <p:spTgt spid="26">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500"/>
                                        <p:tgtEl>
                                          <p:spTgt spid="3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6">
                                            <p:txEl>
                                              <p:pRg st="4" end="4"/>
                                            </p:txEl>
                                          </p:spTgt>
                                        </p:tgtEl>
                                        <p:attrNameLst>
                                          <p:attrName>style.visibility</p:attrName>
                                        </p:attrNameLst>
                                      </p:cBhvr>
                                      <p:to>
                                        <p:strVal val="visible"/>
                                      </p:to>
                                    </p:set>
                                    <p:animEffect transition="in" filter="fade">
                                      <p:cBhvr>
                                        <p:cTn id="51" dur="500"/>
                                        <p:tgtEl>
                                          <p:spTgt spid="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3" grpId="0"/>
      <p:bldP spid="35" grpId="0"/>
      <p:bldP spid="3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4E29A-DEA2-9DA1-086B-0E6478AD60D0}"/>
              </a:ext>
            </a:extLst>
          </p:cNvPr>
          <p:cNvSpPr>
            <a:spLocks noGrp="1"/>
          </p:cNvSpPr>
          <p:nvPr>
            <p:ph type="title"/>
          </p:nvPr>
        </p:nvSpPr>
        <p:spPr/>
        <p:txBody>
          <a:bodyPr/>
          <a:lstStyle/>
          <a:p>
            <a:r>
              <a:rPr lang="en-US" dirty="0"/>
              <a:t>What do clinicians use?</a:t>
            </a:r>
          </a:p>
        </p:txBody>
      </p:sp>
      <p:sp>
        <p:nvSpPr>
          <p:cNvPr id="3" name="Content Placeholder 2">
            <a:extLst>
              <a:ext uri="{FF2B5EF4-FFF2-40B4-BE49-F238E27FC236}">
                <a16:creationId xmlns:a16="http://schemas.microsoft.com/office/drawing/2014/main" id="{7973F4E5-2A08-73EE-0DB2-EE8ADA6534A9}"/>
              </a:ext>
            </a:extLst>
          </p:cNvPr>
          <p:cNvSpPr>
            <a:spLocks noGrp="1"/>
          </p:cNvSpPr>
          <p:nvPr>
            <p:ph idx="1"/>
          </p:nvPr>
        </p:nvSpPr>
        <p:spPr/>
        <p:txBody>
          <a:bodyPr/>
          <a:lstStyle/>
          <a:p>
            <a:r>
              <a:rPr lang="en-US" dirty="0"/>
              <a:t>In-office visits typically use a 12-lead ECG (another 6 electrodes), giving another 6 views</a:t>
            </a:r>
          </a:p>
          <a:p>
            <a:pPr lvl="1"/>
            <a:r>
              <a:rPr lang="en-US" dirty="0"/>
              <a:t>Extra views allow faster diagnosis of many arrhythmias</a:t>
            </a:r>
          </a:p>
          <a:p>
            <a:r>
              <a:rPr lang="en-US" dirty="0"/>
              <a:t>Long-term recording typically uses one lead</a:t>
            </a:r>
          </a:p>
          <a:p>
            <a:pPr lvl="1"/>
            <a:r>
              <a:rPr lang="en-US" dirty="0"/>
              <a:t>Nobody wants a rat’s nest of wires attached for weeks</a:t>
            </a:r>
          </a:p>
          <a:p>
            <a:r>
              <a:rPr lang="en-US" dirty="0"/>
              <a:t>ECG lab will work with 6-lead ECG</a:t>
            </a:r>
          </a:p>
          <a:p>
            <a:pPr lvl="1"/>
            <a:r>
              <a:rPr lang="en-US" dirty="0"/>
              <a:t>“Only” four wires, and more info that we can deal with anyway</a:t>
            </a:r>
          </a:p>
          <a:p>
            <a:endParaRPr lang="en-US" dirty="0"/>
          </a:p>
        </p:txBody>
      </p:sp>
      <p:sp>
        <p:nvSpPr>
          <p:cNvPr id="4" name="Footer Placeholder 3">
            <a:extLst>
              <a:ext uri="{FF2B5EF4-FFF2-40B4-BE49-F238E27FC236}">
                <a16:creationId xmlns:a16="http://schemas.microsoft.com/office/drawing/2014/main" id="{8764CF8A-1E9A-A0C3-0392-0802C31738C4}"/>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2796458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9332F-15D7-484C-B1DD-459510FE2701}"/>
              </a:ext>
            </a:extLst>
          </p:cNvPr>
          <p:cNvSpPr>
            <a:spLocks noGrp="1"/>
          </p:cNvSpPr>
          <p:nvPr>
            <p:ph type="title"/>
          </p:nvPr>
        </p:nvSpPr>
        <p:spPr/>
        <p:txBody>
          <a:bodyPr/>
          <a:lstStyle/>
          <a:p>
            <a:r>
              <a:rPr lang="en-US" dirty="0"/>
              <a:t>Electrocardiogram</a:t>
            </a:r>
          </a:p>
        </p:txBody>
      </p:sp>
      <p:sp>
        <p:nvSpPr>
          <p:cNvPr id="3" name="Content Placeholder 2">
            <a:extLst>
              <a:ext uri="{FF2B5EF4-FFF2-40B4-BE49-F238E27FC236}">
                <a16:creationId xmlns:a16="http://schemas.microsoft.com/office/drawing/2014/main" id="{036FC569-E95E-4533-A3B2-F121D601FCF2}"/>
              </a:ext>
            </a:extLst>
          </p:cNvPr>
          <p:cNvSpPr>
            <a:spLocks noGrp="1"/>
          </p:cNvSpPr>
          <p:nvPr>
            <p:ph idx="1"/>
          </p:nvPr>
        </p:nvSpPr>
        <p:spPr>
          <a:xfrm>
            <a:off x="152400" y="3755617"/>
            <a:ext cx="4419474" cy="2551713"/>
          </a:xfrm>
        </p:spPr>
        <p:txBody>
          <a:bodyPr/>
          <a:lstStyle/>
          <a:p>
            <a:r>
              <a:rPr lang="en-US" dirty="0"/>
              <a:t>Locate these</a:t>
            </a:r>
          </a:p>
          <a:p>
            <a:pPr lvl="1">
              <a:spcBef>
                <a:spcPts val="0"/>
              </a:spcBef>
            </a:pPr>
            <a:r>
              <a:rPr lang="en-US" dirty="0"/>
              <a:t>SA node firing</a:t>
            </a:r>
          </a:p>
          <a:p>
            <a:pPr lvl="1">
              <a:spcBef>
                <a:spcPts val="0"/>
              </a:spcBef>
            </a:pPr>
            <a:r>
              <a:rPr lang="en-US" dirty="0"/>
              <a:t>atrial depolarization</a:t>
            </a:r>
          </a:p>
          <a:p>
            <a:pPr lvl="1">
              <a:spcBef>
                <a:spcPts val="0"/>
              </a:spcBef>
            </a:pPr>
            <a:r>
              <a:rPr lang="en-US" dirty="0"/>
              <a:t>atrial repolarization</a:t>
            </a:r>
          </a:p>
          <a:p>
            <a:pPr lvl="1">
              <a:spcBef>
                <a:spcPts val="0"/>
              </a:spcBef>
            </a:pPr>
            <a:r>
              <a:rPr lang="en-US" dirty="0"/>
              <a:t>ventricular depolarization</a:t>
            </a:r>
          </a:p>
          <a:p>
            <a:pPr lvl="1">
              <a:spcBef>
                <a:spcPts val="0"/>
              </a:spcBef>
            </a:pPr>
            <a:r>
              <a:rPr lang="en-US" dirty="0"/>
              <a:t>ventricular repolarization</a:t>
            </a:r>
          </a:p>
          <a:p>
            <a:endParaRPr lang="en-US" dirty="0"/>
          </a:p>
        </p:txBody>
      </p:sp>
      <p:sp>
        <p:nvSpPr>
          <p:cNvPr id="4" name="Footer Placeholder 3">
            <a:extLst>
              <a:ext uri="{FF2B5EF4-FFF2-40B4-BE49-F238E27FC236}">
                <a16:creationId xmlns:a16="http://schemas.microsoft.com/office/drawing/2014/main" id="{29085EBB-3DEE-45A4-9CEE-B347DE2E2345}"/>
              </a:ext>
            </a:extLst>
          </p:cNvPr>
          <p:cNvSpPr>
            <a:spLocks noGrp="1"/>
          </p:cNvSpPr>
          <p:nvPr>
            <p:ph type="ftr" sz="quarter" idx="11"/>
          </p:nvPr>
        </p:nvSpPr>
        <p:spPr/>
        <p:txBody>
          <a:bodyPr/>
          <a:lstStyle/>
          <a:p>
            <a:pPr>
              <a:defRPr/>
            </a:pPr>
            <a:r>
              <a:rPr lang="en-US"/>
              <a:t>EE 123 -- Bioelectricity</a:t>
            </a:r>
            <a:endParaRPr lang="en-US" dirty="0"/>
          </a:p>
        </p:txBody>
      </p:sp>
      <p:grpSp>
        <p:nvGrpSpPr>
          <p:cNvPr id="24" name="Group 23">
            <a:extLst>
              <a:ext uri="{FF2B5EF4-FFF2-40B4-BE49-F238E27FC236}">
                <a16:creationId xmlns:a16="http://schemas.microsoft.com/office/drawing/2014/main" id="{0CD9E6D3-2763-4886-8475-C7A5F278DAED}"/>
              </a:ext>
            </a:extLst>
          </p:cNvPr>
          <p:cNvGrpSpPr/>
          <p:nvPr/>
        </p:nvGrpSpPr>
        <p:grpSpPr>
          <a:xfrm>
            <a:off x="914401" y="1295400"/>
            <a:ext cx="2286000" cy="1942914"/>
            <a:chOff x="1989667" y="1227667"/>
            <a:chExt cx="5190066" cy="4411133"/>
          </a:xfrm>
        </p:grpSpPr>
        <p:sp>
          <p:nvSpPr>
            <p:cNvPr id="21" name="Freeform: Shape 20">
              <a:extLst>
                <a:ext uri="{FF2B5EF4-FFF2-40B4-BE49-F238E27FC236}">
                  <a16:creationId xmlns:a16="http://schemas.microsoft.com/office/drawing/2014/main" id="{F5327CF0-5812-44AB-AB33-635C84898C3C}"/>
                </a:ext>
              </a:extLst>
            </p:cNvPr>
            <p:cNvSpPr/>
            <p:nvPr/>
          </p:nvSpPr>
          <p:spPr>
            <a:xfrm>
              <a:off x="1989667" y="4320771"/>
              <a:ext cx="1219200" cy="403629"/>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884F669D-0EEA-47FF-8806-0C0255682ECE}"/>
                </a:ext>
              </a:extLst>
            </p:cNvPr>
            <p:cNvSpPr/>
            <p:nvPr/>
          </p:nvSpPr>
          <p:spPr>
            <a:xfrm>
              <a:off x="5952067" y="4114800"/>
              <a:ext cx="1227666" cy="661116"/>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97C02CB2-63BA-4406-B4A6-13AA1B4A9CCF}"/>
                </a:ext>
              </a:extLst>
            </p:cNvPr>
            <p:cNvSpPr/>
            <p:nvPr/>
          </p:nvSpPr>
          <p:spPr>
            <a:xfrm>
              <a:off x="3217333" y="1227667"/>
              <a:ext cx="2751667" cy="4411133"/>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C9CFB950-7CBA-4E78-8A10-6809D5E029D6}"/>
              </a:ext>
            </a:extLst>
          </p:cNvPr>
          <p:cNvGrpSpPr/>
          <p:nvPr/>
        </p:nvGrpSpPr>
        <p:grpSpPr>
          <a:xfrm>
            <a:off x="4089399" y="1312334"/>
            <a:ext cx="2286000" cy="1942914"/>
            <a:chOff x="1989667" y="1227667"/>
            <a:chExt cx="5190066" cy="4411133"/>
          </a:xfrm>
        </p:grpSpPr>
        <p:sp>
          <p:nvSpPr>
            <p:cNvPr id="26" name="Freeform: Shape 25">
              <a:extLst>
                <a:ext uri="{FF2B5EF4-FFF2-40B4-BE49-F238E27FC236}">
                  <a16:creationId xmlns:a16="http://schemas.microsoft.com/office/drawing/2014/main" id="{028DC182-1543-4564-BF24-83A669225F1F}"/>
                </a:ext>
              </a:extLst>
            </p:cNvPr>
            <p:cNvSpPr/>
            <p:nvPr/>
          </p:nvSpPr>
          <p:spPr>
            <a:xfrm>
              <a:off x="1989667" y="4320771"/>
              <a:ext cx="1219200" cy="403629"/>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D190197-8065-4967-B0A2-C71A164612A0}"/>
                </a:ext>
              </a:extLst>
            </p:cNvPr>
            <p:cNvSpPr/>
            <p:nvPr/>
          </p:nvSpPr>
          <p:spPr>
            <a:xfrm>
              <a:off x="5952067" y="4114800"/>
              <a:ext cx="1227666" cy="661116"/>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192F3577-776E-4B89-993B-66393671BB2C}"/>
                </a:ext>
              </a:extLst>
            </p:cNvPr>
            <p:cNvSpPr/>
            <p:nvPr/>
          </p:nvSpPr>
          <p:spPr>
            <a:xfrm>
              <a:off x="3217333" y="1227667"/>
              <a:ext cx="2751667" cy="4411133"/>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0" name="Straight Connector 29">
            <a:extLst>
              <a:ext uri="{FF2B5EF4-FFF2-40B4-BE49-F238E27FC236}">
                <a16:creationId xmlns:a16="http://schemas.microsoft.com/office/drawing/2014/main" id="{DEB88B04-9201-4D79-A3C2-76C5D3AE6CE0}"/>
              </a:ext>
            </a:extLst>
          </p:cNvPr>
          <p:cNvCxnSpPr/>
          <p:nvPr/>
        </p:nvCxnSpPr>
        <p:spPr>
          <a:xfrm>
            <a:off x="3200400" y="2857187"/>
            <a:ext cx="9144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A54CB18-CBE5-41D0-AA45-84AE84D739D3}"/>
              </a:ext>
            </a:extLst>
          </p:cNvPr>
          <p:cNvSpPr txBox="1"/>
          <p:nvPr/>
        </p:nvSpPr>
        <p:spPr>
          <a:xfrm>
            <a:off x="1011202" y="2700113"/>
            <a:ext cx="304800" cy="461665"/>
          </a:xfrm>
          <a:prstGeom prst="rect">
            <a:avLst/>
          </a:prstGeom>
          <a:noFill/>
        </p:spPr>
        <p:txBody>
          <a:bodyPr wrap="square" rtlCol="0">
            <a:spAutoFit/>
          </a:bodyPr>
          <a:lstStyle/>
          <a:p>
            <a:r>
              <a:rPr lang="en-US" dirty="0">
                <a:solidFill>
                  <a:schemeClr val="accent2"/>
                </a:solidFill>
              </a:rPr>
              <a:t>P</a:t>
            </a:r>
          </a:p>
        </p:txBody>
      </p:sp>
      <p:sp>
        <p:nvSpPr>
          <p:cNvPr id="32" name="TextBox 31">
            <a:extLst>
              <a:ext uri="{FF2B5EF4-FFF2-40B4-BE49-F238E27FC236}">
                <a16:creationId xmlns:a16="http://schemas.microsoft.com/office/drawing/2014/main" id="{DD09B825-6CC4-4036-BC70-E47B91E2A7A9}"/>
              </a:ext>
            </a:extLst>
          </p:cNvPr>
          <p:cNvSpPr txBox="1"/>
          <p:nvPr/>
        </p:nvSpPr>
        <p:spPr>
          <a:xfrm>
            <a:off x="1718732" y="2899602"/>
            <a:ext cx="304800" cy="461665"/>
          </a:xfrm>
          <a:prstGeom prst="rect">
            <a:avLst/>
          </a:prstGeom>
          <a:noFill/>
        </p:spPr>
        <p:txBody>
          <a:bodyPr wrap="square" rtlCol="0">
            <a:spAutoFit/>
          </a:bodyPr>
          <a:lstStyle/>
          <a:p>
            <a:r>
              <a:rPr lang="en-US" dirty="0">
                <a:solidFill>
                  <a:schemeClr val="accent2"/>
                </a:solidFill>
              </a:rPr>
              <a:t>Q</a:t>
            </a:r>
          </a:p>
        </p:txBody>
      </p:sp>
      <p:sp>
        <p:nvSpPr>
          <p:cNvPr id="33" name="TextBox 32">
            <a:extLst>
              <a:ext uri="{FF2B5EF4-FFF2-40B4-BE49-F238E27FC236}">
                <a16:creationId xmlns:a16="http://schemas.microsoft.com/office/drawing/2014/main" id="{8CC258FD-21BB-4433-B307-89E436F297AB}"/>
              </a:ext>
            </a:extLst>
          </p:cNvPr>
          <p:cNvSpPr txBox="1"/>
          <p:nvPr/>
        </p:nvSpPr>
        <p:spPr>
          <a:xfrm>
            <a:off x="1934131" y="1064567"/>
            <a:ext cx="304800" cy="461665"/>
          </a:xfrm>
          <a:prstGeom prst="rect">
            <a:avLst/>
          </a:prstGeom>
          <a:noFill/>
        </p:spPr>
        <p:txBody>
          <a:bodyPr wrap="square" rtlCol="0">
            <a:spAutoFit/>
          </a:bodyPr>
          <a:lstStyle/>
          <a:p>
            <a:r>
              <a:rPr lang="en-US" dirty="0">
                <a:solidFill>
                  <a:schemeClr val="accent2"/>
                </a:solidFill>
              </a:rPr>
              <a:t>R</a:t>
            </a:r>
          </a:p>
        </p:txBody>
      </p:sp>
      <p:sp>
        <p:nvSpPr>
          <p:cNvPr id="34" name="TextBox 33">
            <a:extLst>
              <a:ext uri="{FF2B5EF4-FFF2-40B4-BE49-F238E27FC236}">
                <a16:creationId xmlns:a16="http://schemas.microsoft.com/office/drawing/2014/main" id="{CA8ADA5E-4A92-4A01-AD84-22895A9B0A4D}"/>
              </a:ext>
            </a:extLst>
          </p:cNvPr>
          <p:cNvSpPr txBox="1"/>
          <p:nvPr/>
        </p:nvSpPr>
        <p:spPr>
          <a:xfrm>
            <a:off x="1972730" y="3111268"/>
            <a:ext cx="304800" cy="461665"/>
          </a:xfrm>
          <a:prstGeom prst="rect">
            <a:avLst/>
          </a:prstGeom>
          <a:noFill/>
        </p:spPr>
        <p:txBody>
          <a:bodyPr wrap="square" rtlCol="0">
            <a:spAutoFit/>
          </a:bodyPr>
          <a:lstStyle/>
          <a:p>
            <a:r>
              <a:rPr lang="en-US" dirty="0">
                <a:solidFill>
                  <a:schemeClr val="accent2"/>
                </a:solidFill>
              </a:rPr>
              <a:t>S</a:t>
            </a:r>
          </a:p>
        </p:txBody>
      </p:sp>
      <p:sp>
        <p:nvSpPr>
          <p:cNvPr id="35" name="TextBox 34">
            <a:extLst>
              <a:ext uri="{FF2B5EF4-FFF2-40B4-BE49-F238E27FC236}">
                <a16:creationId xmlns:a16="http://schemas.microsoft.com/office/drawing/2014/main" id="{D04776AA-CEBA-4666-8309-575D611E6A19}"/>
              </a:ext>
            </a:extLst>
          </p:cNvPr>
          <p:cNvSpPr txBox="1"/>
          <p:nvPr/>
        </p:nvSpPr>
        <p:spPr>
          <a:xfrm>
            <a:off x="2819400" y="2590800"/>
            <a:ext cx="304800" cy="461665"/>
          </a:xfrm>
          <a:prstGeom prst="rect">
            <a:avLst/>
          </a:prstGeom>
          <a:noFill/>
        </p:spPr>
        <p:txBody>
          <a:bodyPr wrap="square" rtlCol="0">
            <a:spAutoFit/>
          </a:bodyPr>
          <a:lstStyle/>
          <a:p>
            <a:r>
              <a:rPr lang="en-US" dirty="0">
                <a:solidFill>
                  <a:schemeClr val="accent2"/>
                </a:solidFill>
              </a:rPr>
              <a:t>T</a:t>
            </a:r>
          </a:p>
        </p:txBody>
      </p:sp>
      <p:sp>
        <p:nvSpPr>
          <p:cNvPr id="20" name="Content Placeholder 2">
            <a:extLst>
              <a:ext uri="{FF2B5EF4-FFF2-40B4-BE49-F238E27FC236}">
                <a16:creationId xmlns:a16="http://schemas.microsoft.com/office/drawing/2014/main" id="{60859776-6B34-C1DE-9530-8CA879BBBFBC}"/>
              </a:ext>
            </a:extLst>
          </p:cNvPr>
          <p:cNvSpPr txBox="1">
            <a:spLocks/>
          </p:cNvSpPr>
          <p:nvPr/>
        </p:nvSpPr>
        <p:spPr bwMode="auto">
          <a:xfrm>
            <a:off x="3962400" y="3753009"/>
            <a:ext cx="5105274" cy="255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How can you read these delays?</a:t>
            </a:r>
          </a:p>
          <a:p>
            <a:pPr lvl="1">
              <a:spcBef>
                <a:spcPts val="0"/>
              </a:spcBef>
            </a:pPr>
            <a:r>
              <a:rPr lang="en-US" kern="0" dirty="0"/>
              <a:t>heartrate</a:t>
            </a:r>
          </a:p>
          <a:p>
            <a:pPr lvl="1">
              <a:spcBef>
                <a:spcPts val="0"/>
              </a:spcBef>
            </a:pPr>
            <a:r>
              <a:rPr lang="en-US" kern="0" dirty="0"/>
              <a:t>time to traverse atria + AV node</a:t>
            </a:r>
          </a:p>
          <a:p>
            <a:pPr lvl="1">
              <a:spcBef>
                <a:spcPts val="0"/>
              </a:spcBef>
            </a:pPr>
            <a:r>
              <a:rPr lang="en-US" kern="0" dirty="0"/>
              <a:t>time to traverse AV node</a:t>
            </a:r>
          </a:p>
          <a:p>
            <a:pPr lvl="1">
              <a:spcBef>
                <a:spcPts val="0"/>
              </a:spcBef>
            </a:pPr>
            <a:r>
              <a:rPr lang="en-US" kern="0" dirty="0"/>
              <a:t>QRS width</a:t>
            </a:r>
          </a:p>
        </p:txBody>
      </p:sp>
      <p:sp>
        <p:nvSpPr>
          <p:cNvPr id="5" name="TextBox 4">
            <a:extLst>
              <a:ext uri="{FF2B5EF4-FFF2-40B4-BE49-F238E27FC236}">
                <a16:creationId xmlns:a16="http://schemas.microsoft.com/office/drawing/2014/main" id="{181F15C5-7082-F2BF-54C7-6C69537F7CF1}"/>
              </a:ext>
            </a:extLst>
          </p:cNvPr>
          <p:cNvSpPr txBox="1"/>
          <p:nvPr/>
        </p:nvSpPr>
        <p:spPr>
          <a:xfrm>
            <a:off x="7010400" y="2140803"/>
            <a:ext cx="1769304" cy="830997"/>
          </a:xfrm>
          <a:prstGeom prst="rect">
            <a:avLst/>
          </a:prstGeom>
          <a:noFill/>
          <a:ln w="38100">
            <a:solidFill>
              <a:schemeClr val="accent2"/>
            </a:solidFill>
          </a:ln>
        </p:spPr>
        <p:txBody>
          <a:bodyPr wrap="square" rtlCol="0">
            <a:spAutoFit/>
          </a:bodyPr>
          <a:lstStyle/>
          <a:p>
            <a:pPr algn="ctr"/>
            <a:r>
              <a:rPr lang="en-US" dirty="0"/>
              <a:t>Group exercise</a:t>
            </a:r>
          </a:p>
        </p:txBody>
      </p:sp>
    </p:spTree>
    <p:extLst>
      <p:ext uri="{BB962C8B-B14F-4D97-AF65-F5344CB8AC3E}">
        <p14:creationId xmlns:p14="http://schemas.microsoft.com/office/powerpoint/2010/main" val="8818013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DCE91-C106-7666-0E48-F8E7408124FB}"/>
              </a:ext>
            </a:extLst>
          </p:cNvPr>
          <p:cNvSpPr>
            <a:spLocks noGrp="1"/>
          </p:cNvSpPr>
          <p:nvPr>
            <p:ph type="title"/>
          </p:nvPr>
        </p:nvSpPr>
        <p:spPr/>
        <p:txBody>
          <a:bodyPr/>
          <a:lstStyle/>
          <a:p>
            <a:r>
              <a:rPr lang="en-US" dirty="0"/>
              <a:t>What is the R axis?</a:t>
            </a:r>
          </a:p>
        </p:txBody>
      </p:sp>
      <p:sp>
        <p:nvSpPr>
          <p:cNvPr id="4" name="Footer Placeholder 3">
            <a:extLst>
              <a:ext uri="{FF2B5EF4-FFF2-40B4-BE49-F238E27FC236}">
                <a16:creationId xmlns:a16="http://schemas.microsoft.com/office/drawing/2014/main" id="{BB0DD88B-79BD-AE00-78C2-C938FB5D3AE3}"/>
              </a:ext>
            </a:extLst>
          </p:cNvPr>
          <p:cNvSpPr>
            <a:spLocks noGrp="1"/>
          </p:cNvSpPr>
          <p:nvPr>
            <p:ph type="ftr" sz="quarter" idx="11"/>
          </p:nvPr>
        </p:nvSpPr>
        <p:spPr/>
        <p:txBody>
          <a:bodyPr/>
          <a:lstStyle/>
          <a:p>
            <a:pPr>
              <a:defRPr/>
            </a:pPr>
            <a:r>
              <a:rPr lang="en-US"/>
              <a:t>EE 123 -- Bioelectricity</a:t>
            </a:r>
            <a:endParaRPr lang="en-US" dirty="0"/>
          </a:p>
        </p:txBody>
      </p:sp>
      <p:pic>
        <p:nvPicPr>
          <p:cNvPr id="6" name="Picture 5" descr="A graph of a graph&#10;&#10;AI-generated content may be incorrect.">
            <a:extLst>
              <a:ext uri="{FF2B5EF4-FFF2-40B4-BE49-F238E27FC236}">
                <a16:creationId xmlns:a16="http://schemas.microsoft.com/office/drawing/2014/main" id="{8FE1AC98-A83F-F5DD-BB81-A9A507FE9D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74384"/>
            <a:ext cx="9144000" cy="4709232"/>
          </a:xfrm>
          <a:prstGeom prst="rect">
            <a:avLst/>
          </a:prstGeom>
        </p:spPr>
      </p:pic>
    </p:spTree>
    <p:extLst>
      <p:ext uri="{BB962C8B-B14F-4D97-AF65-F5344CB8AC3E}">
        <p14:creationId xmlns:p14="http://schemas.microsoft.com/office/powerpoint/2010/main" val="6936041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D722C-7F77-FC94-37B4-9971E1576382}"/>
              </a:ext>
            </a:extLst>
          </p:cNvPr>
          <p:cNvSpPr>
            <a:spLocks noGrp="1"/>
          </p:cNvSpPr>
          <p:nvPr>
            <p:ph type="title"/>
          </p:nvPr>
        </p:nvSpPr>
        <p:spPr/>
        <p:txBody>
          <a:bodyPr/>
          <a:lstStyle/>
          <a:p>
            <a:r>
              <a:rPr lang="en-US" dirty="0"/>
              <a:t>Determining the R axis</a:t>
            </a:r>
          </a:p>
        </p:txBody>
      </p:sp>
      <p:sp>
        <p:nvSpPr>
          <p:cNvPr id="3" name="Content Placeholder 2">
            <a:extLst>
              <a:ext uri="{FF2B5EF4-FFF2-40B4-BE49-F238E27FC236}">
                <a16:creationId xmlns:a16="http://schemas.microsoft.com/office/drawing/2014/main" id="{1B903E0F-3F4A-2F31-D7C0-B27D05EF0547}"/>
              </a:ext>
            </a:extLst>
          </p:cNvPr>
          <p:cNvSpPr>
            <a:spLocks noGrp="1"/>
          </p:cNvSpPr>
          <p:nvPr>
            <p:ph idx="1"/>
          </p:nvPr>
        </p:nvSpPr>
        <p:spPr>
          <a:xfrm>
            <a:off x="4572000" y="1447800"/>
            <a:ext cx="4323776" cy="4648200"/>
          </a:xfrm>
        </p:spPr>
        <p:txBody>
          <a:bodyPr/>
          <a:lstStyle/>
          <a:p>
            <a:r>
              <a:rPr lang="en-US" sz="2400" dirty="0">
                <a:latin typeface="Times New Roman" panose="02020603050405020304" pitchFamily="18" charset="0"/>
                <a:cs typeface="Times New Roman" panose="02020603050405020304" pitchFamily="18" charset="0"/>
              </a:rPr>
              <a:t>Max at 60º</a:t>
            </a:r>
          </a:p>
          <a:p>
            <a:r>
              <a:rPr lang="en-US" sz="2400" dirty="0">
                <a:latin typeface="Times New Roman" panose="02020603050405020304" pitchFamily="18" charset="0"/>
                <a:cs typeface="Times New Roman" panose="02020603050405020304" pitchFamily="18" charset="0"/>
              </a:rPr>
              <a:t>Value at -120º?</a:t>
            </a:r>
          </a:p>
          <a:p>
            <a:r>
              <a:rPr lang="en-US" sz="2400" dirty="0"/>
              <a:t>0 at -30</a:t>
            </a:r>
            <a:r>
              <a:rPr lang="en-US" sz="2400" dirty="0">
                <a:latin typeface="Times New Roman" panose="02020603050405020304" pitchFamily="18" charset="0"/>
                <a:cs typeface="Times New Roman" panose="02020603050405020304" pitchFamily="18" charset="0"/>
              </a:rPr>
              <a:t>º, +150º</a:t>
            </a:r>
          </a:p>
          <a:p>
            <a:pPr lvl="1">
              <a:spcBef>
                <a:spcPts val="0"/>
              </a:spcBef>
            </a:pPr>
            <a:r>
              <a:rPr lang="en-US" sz="2000" dirty="0">
                <a:latin typeface="Times New Roman" panose="02020603050405020304" pitchFamily="18" charset="0"/>
                <a:cs typeface="Times New Roman" panose="02020603050405020304" pitchFamily="18" charset="0"/>
              </a:rPr>
              <a:t>90º off of the max!</a:t>
            </a:r>
          </a:p>
          <a:p>
            <a:r>
              <a:rPr lang="en-US" sz="2400" dirty="0">
                <a:latin typeface="Times New Roman" panose="02020603050405020304" pitchFamily="18" charset="0"/>
                <a:cs typeface="Times New Roman" panose="02020603050405020304" pitchFamily="18" charset="0"/>
              </a:rPr>
              <a:t>+ at 0º, 90º, 120º</a:t>
            </a:r>
          </a:p>
          <a:p>
            <a:r>
              <a:rPr lang="en-US" sz="2400" dirty="0">
                <a:latin typeface="Times New Roman" panose="02020603050405020304" pitchFamily="18" charset="0"/>
                <a:cs typeface="Times New Roman" panose="02020603050405020304" pitchFamily="18" charset="0"/>
              </a:rPr>
              <a:t>-- at -150º</a:t>
            </a:r>
          </a:p>
          <a:p>
            <a:r>
              <a:rPr lang="en-US" sz="2400" dirty="0">
                <a:latin typeface="Times New Roman" panose="02020603050405020304" pitchFamily="18" charset="0"/>
                <a:cs typeface="Times New Roman" panose="02020603050405020304" pitchFamily="18" charset="0"/>
              </a:rPr>
              <a:t>Note the nice symmetry</a:t>
            </a:r>
          </a:p>
          <a:p>
            <a:r>
              <a:rPr lang="en-US" sz="2400" dirty="0">
                <a:latin typeface="Times New Roman" panose="02020603050405020304" pitchFamily="18" charset="0"/>
                <a:cs typeface="Times New Roman" panose="02020603050405020304" pitchFamily="18" charset="0"/>
              </a:rPr>
              <a:t>Conclusion?</a:t>
            </a:r>
          </a:p>
          <a:p>
            <a:r>
              <a:rPr lang="en-US" sz="2400" dirty="0">
                <a:latin typeface="Times New Roman" panose="02020603050405020304" pitchFamily="18" charset="0"/>
                <a:cs typeface="Times New Roman" panose="02020603050405020304" pitchFamily="18" charset="0"/>
              </a:rPr>
              <a:t>“Normal” R-axis is -30º to 90º</a:t>
            </a:r>
          </a:p>
          <a:p>
            <a:r>
              <a:rPr lang="en-US" sz="2400" dirty="0">
                <a:latin typeface="Times New Roman" panose="02020603050405020304" pitchFamily="18" charset="0"/>
                <a:cs typeface="Times New Roman" panose="02020603050405020304" pitchFamily="18" charset="0"/>
              </a:rPr>
              <a:t>Can do the same thing for P,Q,S,T waves</a:t>
            </a:r>
            <a:endParaRPr lang="en-US" sz="2400" dirty="0"/>
          </a:p>
        </p:txBody>
      </p:sp>
      <p:sp>
        <p:nvSpPr>
          <p:cNvPr id="4" name="Footer Placeholder 3">
            <a:extLst>
              <a:ext uri="{FF2B5EF4-FFF2-40B4-BE49-F238E27FC236}">
                <a16:creationId xmlns:a16="http://schemas.microsoft.com/office/drawing/2014/main" id="{8E9BAFB1-C9F4-8255-CA00-F44A7965E468}"/>
              </a:ext>
            </a:extLst>
          </p:cNvPr>
          <p:cNvSpPr>
            <a:spLocks noGrp="1"/>
          </p:cNvSpPr>
          <p:nvPr>
            <p:ph type="ftr" sz="quarter" idx="11"/>
          </p:nvPr>
        </p:nvSpPr>
        <p:spPr/>
        <p:txBody>
          <a:bodyPr/>
          <a:lstStyle/>
          <a:p>
            <a:pPr>
              <a:defRPr/>
            </a:pPr>
            <a:r>
              <a:rPr lang="en-US"/>
              <a:t>EE 123 -- Bioelectricity</a:t>
            </a:r>
            <a:endParaRPr lang="en-US" dirty="0"/>
          </a:p>
        </p:txBody>
      </p:sp>
      <p:sp>
        <p:nvSpPr>
          <p:cNvPr id="66" name="Oval 65">
            <a:extLst>
              <a:ext uri="{FF2B5EF4-FFF2-40B4-BE49-F238E27FC236}">
                <a16:creationId xmlns:a16="http://schemas.microsoft.com/office/drawing/2014/main" id="{BF9708D9-F341-42CC-C75C-E79AEB91956A}"/>
              </a:ext>
            </a:extLst>
          </p:cNvPr>
          <p:cNvSpPr/>
          <p:nvPr/>
        </p:nvSpPr>
        <p:spPr>
          <a:xfrm>
            <a:off x="1686625" y="2779481"/>
            <a:ext cx="2306782" cy="230678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Connector 66">
            <a:extLst>
              <a:ext uri="{FF2B5EF4-FFF2-40B4-BE49-F238E27FC236}">
                <a16:creationId xmlns:a16="http://schemas.microsoft.com/office/drawing/2014/main" id="{60C204C9-A730-02D3-23FB-97641A18554C}"/>
              </a:ext>
            </a:extLst>
          </p:cNvPr>
          <p:cNvCxnSpPr>
            <a:stCxn id="66" idx="2"/>
            <a:endCxn id="66" idx="6"/>
          </p:cNvCxnSpPr>
          <p:nvPr/>
        </p:nvCxnSpPr>
        <p:spPr>
          <a:xfrm>
            <a:off x="1686625" y="3932872"/>
            <a:ext cx="2306782"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9208EE9B-521F-DFF9-B11A-D98826034F04}"/>
              </a:ext>
            </a:extLst>
          </p:cNvPr>
          <p:cNvCxnSpPr>
            <a:stCxn id="66" idx="0"/>
          </p:cNvCxnSpPr>
          <p:nvPr/>
        </p:nvCxnSpPr>
        <p:spPr>
          <a:xfrm flipH="1">
            <a:off x="2829625" y="2779481"/>
            <a:ext cx="10391" cy="230678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C63CA583-33A3-4FEF-F370-60D79D000D77}"/>
              </a:ext>
            </a:extLst>
          </p:cNvPr>
          <p:cNvCxnSpPr>
            <a:cxnSpLocks/>
          </p:cNvCxnSpPr>
          <p:nvPr/>
        </p:nvCxnSpPr>
        <p:spPr>
          <a:xfrm rot="1800000" flipH="1">
            <a:off x="2826160" y="2765625"/>
            <a:ext cx="10391" cy="2306782"/>
          </a:xfrm>
          <a:prstGeom prst="line">
            <a:avLst/>
          </a:prstGeom>
          <a:ln>
            <a:prstDash val="solid"/>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81C29C7B-B680-D2A7-8F17-3706708AFC74}"/>
              </a:ext>
            </a:extLst>
          </p:cNvPr>
          <p:cNvCxnSpPr>
            <a:cxnSpLocks/>
          </p:cNvCxnSpPr>
          <p:nvPr/>
        </p:nvCxnSpPr>
        <p:spPr>
          <a:xfrm rot="19800000">
            <a:off x="2822695" y="2772551"/>
            <a:ext cx="10391" cy="2306782"/>
          </a:xfrm>
          <a:prstGeom prst="line">
            <a:avLst/>
          </a:prstGeom>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CEE0D095-3381-1212-96D3-DB1F37B730AE}"/>
              </a:ext>
            </a:extLst>
          </p:cNvPr>
          <p:cNvCxnSpPr>
            <a:cxnSpLocks/>
          </p:cNvCxnSpPr>
          <p:nvPr/>
        </p:nvCxnSpPr>
        <p:spPr>
          <a:xfrm rot="18000000">
            <a:off x="2829621" y="2789868"/>
            <a:ext cx="10391" cy="2306782"/>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B9BFCD61-4E4E-E3D8-2062-2D3C321D6568}"/>
              </a:ext>
            </a:extLst>
          </p:cNvPr>
          <p:cNvCxnSpPr>
            <a:cxnSpLocks/>
          </p:cNvCxnSpPr>
          <p:nvPr/>
        </p:nvCxnSpPr>
        <p:spPr>
          <a:xfrm rot="3600000" flipV="1">
            <a:off x="2826156" y="2786403"/>
            <a:ext cx="10391" cy="2306782"/>
          </a:xfrm>
          <a:prstGeom prst="line">
            <a:avLst/>
          </a:prstGeom>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24D1191B-7406-3B90-BF30-24E025BE0C56}"/>
              </a:ext>
            </a:extLst>
          </p:cNvPr>
          <p:cNvSpPr txBox="1"/>
          <p:nvPr/>
        </p:nvSpPr>
        <p:spPr>
          <a:xfrm>
            <a:off x="2622722" y="3688183"/>
            <a:ext cx="415637" cy="461665"/>
          </a:xfrm>
          <a:prstGeom prst="rect">
            <a:avLst/>
          </a:prstGeom>
          <a:solidFill>
            <a:schemeClr val="bg1"/>
          </a:solidFill>
        </p:spPr>
        <p:txBody>
          <a:bodyPr wrap="square" rtlCol="0">
            <a:spAutoFit/>
          </a:bodyPr>
          <a:lstStyle/>
          <a:p>
            <a:r>
              <a:rPr lang="en-US" sz="2400" dirty="0"/>
              <a:t>R</a:t>
            </a:r>
            <a:endParaRPr lang="en-US" dirty="0"/>
          </a:p>
        </p:txBody>
      </p:sp>
      <p:sp>
        <p:nvSpPr>
          <p:cNvPr id="74" name="TextBox 73">
            <a:extLst>
              <a:ext uri="{FF2B5EF4-FFF2-40B4-BE49-F238E27FC236}">
                <a16:creationId xmlns:a16="http://schemas.microsoft.com/office/drawing/2014/main" id="{9351DD3D-8BF2-FBA5-58BA-F30BA815A7D4}"/>
              </a:ext>
            </a:extLst>
          </p:cNvPr>
          <p:cNvSpPr txBox="1"/>
          <p:nvPr/>
        </p:nvSpPr>
        <p:spPr>
          <a:xfrm>
            <a:off x="4091718" y="3801294"/>
            <a:ext cx="357790" cy="369332"/>
          </a:xfrm>
          <a:prstGeom prst="rect">
            <a:avLst/>
          </a:prstGeom>
          <a:noFill/>
        </p:spPr>
        <p:txBody>
          <a:bodyPr wrap="none" lIns="0" tIns="0" rIns="182880" bIns="0" rtlCol="0">
            <a:spAutoFit/>
          </a:bodyPr>
          <a:lstStyle/>
          <a:p>
            <a:r>
              <a:rPr lang="en-US" dirty="0"/>
              <a:t>+</a:t>
            </a:r>
          </a:p>
        </p:txBody>
      </p:sp>
      <p:sp>
        <p:nvSpPr>
          <p:cNvPr id="75" name="TextBox 74">
            <a:extLst>
              <a:ext uri="{FF2B5EF4-FFF2-40B4-BE49-F238E27FC236}">
                <a16:creationId xmlns:a16="http://schemas.microsoft.com/office/drawing/2014/main" id="{95DF98B6-CFDC-4F1E-A9F5-07E9FDBB2C7B}"/>
              </a:ext>
            </a:extLst>
          </p:cNvPr>
          <p:cNvSpPr txBox="1"/>
          <p:nvPr/>
        </p:nvSpPr>
        <p:spPr>
          <a:xfrm>
            <a:off x="1447800" y="3795273"/>
            <a:ext cx="287258" cy="369332"/>
          </a:xfrm>
          <a:prstGeom prst="rect">
            <a:avLst/>
          </a:prstGeom>
          <a:noFill/>
        </p:spPr>
        <p:txBody>
          <a:bodyPr wrap="none" lIns="0" tIns="0" rIns="182880" bIns="0" rtlCol="0">
            <a:spAutoFit/>
          </a:bodyPr>
          <a:lstStyle/>
          <a:p>
            <a:r>
              <a:rPr lang="en-US" dirty="0"/>
              <a:t>-</a:t>
            </a:r>
          </a:p>
        </p:txBody>
      </p:sp>
      <p:sp>
        <p:nvSpPr>
          <p:cNvPr id="76" name="TextBox 75">
            <a:extLst>
              <a:ext uri="{FF2B5EF4-FFF2-40B4-BE49-F238E27FC236}">
                <a16:creationId xmlns:a16="http://schemas.microsoft.com/office/drawing/2014/main" id="{114E5560-4EEF-3386-B23C-6D7AF3DEA555}"/>
              </a:ext>
            </a:extLst>
          </p:cNvPr>
          <p:cNvSpPr txBox="1"/>
          <p:nvPr/>
        </p:nvSpPr>
        <p:spPr>
          <a:xfrm>
            <a:off x="3380029" y="4923945"/>
            <a:ext cx="431528" cy="276999"/>
          </a:xfrm>
          <a:prstGeom prst="rect">
            <a:avLst/>
          </a:prstGeom>
          <a:noFill/>
        </p:spPr>
        <p:txBody>
          <a:bodyPr wrap="none" lIns="0" tIns="0" rIns="182880" bIns="0" rtlCol="0">
            <a:spAutoFit/>
          </a:bodyPr>
          <a:lstStyle/>
          <a:p>
            <a:r>
              <a:rPr lang="en-US" dirty="0"/>
              <a:t>++</a:t>
            </a:r>
          </a:p>
        </p:txBody>
      </p:sp>
      <p:sp>
        <p:nvSpPr>
          <p:cNvPr id="77" name="TextBox 76">
            <a:extLst>
              <a:ext uri="{FF2B5EF4-FFF2-40B4-BE49-F238E27FC236}">
                <a16:creationId xmlns:a16="http://schemas.microsoft.com/office/drawing/2014/main" id="{952D224B-87A4-CFEE-6E16-3671A5ED60AD}"/>
              </a:ext>
            </a:extLst>
          </p:cNvPr>
          <p:cNvSpPr txBox="1"/>
          <p:nvPr/>
        </p:nvSpPr>
        <p:spPr>
          <a:xfrm>
            <a:off x="2057400" y="2590800"/>
            <a:ext cx="389850" cy="369332"/>
          </a:xfrm>
          <a:prstGeom prst="rect">
            <a:avLst/>
          </a:prstGeom>
          <a:noFill/>
        </p:spPr>
        <p:txBody>
          <a:bodyPr wrap="none" lIns="0" tIns="0" rIns="182880" bIns="0" rtlCol="0">
            <a:spAutoFit/>
          </a:bodyPr>
          <a:lstStyle/>
          <a:p>
            <a:r>
              <a:rPr lang="en-US" dirty="0"/>
              <a:t>--</a:t>
            </a:r>
          </a:p>
        </p:txBody>
      </p:sp>
      <p:sp>
        <p:nvSpPr>
          <p:cNvPr id="78" name="TextBox 77">
            <a:extLst>
              <a:ext uri="{FF2B5EF4-FFF2-40B4-BE49-F238E27FC236}">
                <a16:creationId xmlns:a16="http://schemas.microsoft.com/office/drawing/2014/main" id="{46F57307-A5A3-1C33-5BF3-F3C1BAB790E4}"/>
              </a:ext>
            </a:extLst>
          </p:cNvPr>
          <p:cNvSpPr txBox="1"/>
          <p:nvPr/>
        </p:nvSpPr>
        <p:spPr>
          <a:xfrm>
            <a:off x="2784716" y="5105214"/>
            <a:ext cx="357790" cy="369332"/>
          </a:xfrm>
          <a:prstGeom prst="rect">
            <a:avLst/>
          </a:prstGeom>
          <a:noFill/>
        </p:spPr>
        <p:txBody>
          <a:bodyPr wrap="none" lIns="0" tIns="0" rIns="182880" bIns="0" rtlCol="0">
            <a:spAutoFit/>
          </a:bodyPr>
          <a:lstStyle/>
          <a:p>
            <a:r>
              <a:rPr lang="en-US" dirty="0"/>
              <a:t>+</a:t>
            </a:r>
          </a:p>
        </p:txBody>
      </p:sp>
      <p:sp>
        <p:nvSpPr>
          <p:cNvPr id="79" name="TextBox 78">
            <a:extLst>
              <a:ext uri="{FF2B5EF4-FFF2-40B4-BE49-F238E27FC236}">
                <a16:creationId xmlns:a16="http://schemas.microsoft.com/office/drawing/2014/main" id="{19AC90A2-9271-241C-E7B4-411C33B9F5A3}"/>
              </a:ext>
            </a:extLst>
          </p:cNvPr>
          <p:cNvSpPr txBox="1"/>
          <p:nvPr/>
        </p:nvSpPr>
        <p:spPr>
          <a:xfrm>
            <a:off x="2790118" y="2438400"/>
            <a:ext cx="287258" cy="369332"/>
          </a:xfrm>
          <a:prstGeom prst="rect">
            <a:avLst/>
          </a:prstGeom>
          <a:noFill/>
        </p:spPr>
        <p:txBody>
          <a:bodyPr wrap="none" lIns="0" tIns="0" rIns="182880" bIns="0" rtlCol="0">
            <a:spAutoFit/>
          </a:bodyPr>
          <a:lstStyle/>
          <a:p>
            <a:r>
              <a:rPr lang="en-US" dirty="0"/>
              <a:t>-</a:t>
            </a:r>
          </a:p>
        </p:txBody>
      </p:sp>
      <p:sp>
        <p:nvSpPr>
          <p:cNvPr id="80" name="TextBox 79">
            <a:extLst>
              <a:ext uri="{FF2B5EF4-FFF2-40B4-BE49-F238E27FC236}">
                <a16:creationId xmlns:a16="http://schemas.microsoft.com/office/drawing/2014/main" id="{7A1B08A7-CF17-5DA7-23C9-34DE2C9CCC0C}"/>
              </a:ext>
            </a:extLst>
          </p:cNvPr>
          <p:cNvSpPr txBox="1"/>
          <p:nvPr/>
        </p:nvSpPr>
        <p:spPr>
          <a:xfrm>
            <a:off x="2089419" y="4997888"/>
            <a:ext cx="357790" cy="369332"/>
          </a:xfrm>
          <a:prstGeom prst="rect">
            <a:avLst/>
          </a:prstGeom>
          <a:noFill/>
        </p:spPr>
        <p:txBody>
          <a:bodyPr wrap="none" lIns="0" tIns="0" rIns="182880" bIns="0" rtlCol="0">
            <a:spAutoFit/>
          </a:bodyPr>
          <a:lstStyle/>
          <a:p>
            <a:r>
              <a:rPr lang="en-US" dirty="0"/>
              <a:t>+</a:t>
            </a:r>
          </a:p>
        </p:txBody>
      </p:sp>
      <p:sp>
        <p:nvSpPr>
          <p:cNvPr id="81" name="TextBox 80">
            <a:extLst>
              <a:ext uri="{FF2B5EF4-FFF2-40B4-BE49-F238E27FC236}">
                <a16:creationId xmlns:a16="http://schemas.microsoft.com/office/drawing/2014/main" id="{15667C37-A732-DAB8-BA5C-C325D4DDA697}"/>
              </a:ext>
            </a:extLst>
          </p:cNvPr>
          <p:cNvSpPr txBox="1"/>
          <p:nvPr/>
        </p:nvSpPr>
        <p:spPr>
          <a:xfrm>
            <a:off x="3427256" y="2655274"/>
            <a:ext cx="287258" cy="369332"/>
          </a:xfrm>
          <a:prstGeom prst="rect">
            <a:avLst/>
          </a:prstGeom>
          <a:noFill/>
        </p:spPr>
        <p:txBody>
          <a:bodyPr wrap="none" lIns="0" tIns="0" rIns="182880" bIns="0" rtlCol="0">
            <a:spAutoFit/>
          </a:bodyPr>
          <a:lstStyle/>
          <a:p>
            <a:r>
              <a:rPr lang="en-US" dirty="0"/>
              <a:t>-</a:t>
            </a:r>
          </a:p>
        </p:txBody>
      </p:sp>
      <p:sp>
        <p:nvSpPr>
          <p:cNvPr id="82" name="TextBox 81">
            <a:extLst>
              <a:ext uri="{FF2B5EF4-FFF2-40B4-BE49-F238E27FC236}">
                <a16:creationId xmlns:a16="http://schemas.microsoft.com/office/drawing/2014/main" id="{310E6E13-34F1-2285-15DB-CE185710BC4C}"/>
              </a:ext>
            </a:extLst>
          </p:cNvPr>
          <p:cNvSpPr txBox="1"/>
          <p:nvPr/>
        </p:nvSpPr>
        <p:spPr>
          <a:xfrm>
            <a:off x="1524000" y="3124200"/>
            <a:ext cx="389850" cy="369332"/>
          </a:xfrm>
          <a:prstGeom prst="rect">
            <a:avLst/>
          </a:prstGeom>
          <a:noFill/>
        </p:spPr>
        <p:txBody>
          <a:bodyPr wrap="none" lIns="0" tIns="0" rIns="182880" bIns="0" rtlCol="0">
            <a:spAutoFit/>
          </a:bodyPr>
          <a:lstStyle/>
          <a:p>
            <a:r>
              <a:rPr lang="en-US" dirty="0"/>
              <a:t>--</a:t>
            </a:r>
          </a:p>
        </p:txBody>
      </p:sp>
      <p:sp>
        <p:nvSpPr>
          <p:cNvPr id="83" name="TextBox 82">
            <a:extLst>
              <a:ext uri="{FF2B5EF4-FFF2-40B4-BE49-F238E27FC236}">
                <a16:creationId xmlns:a16="http://schemas.microsoft.com/office/drawing/2014/main" id="{E1C25E2F-0CA3-68C7-F1D3-11F465690CDF}"/>
              </a:ext>
            </a:extLst>
          </p:cNvPr>
          <p:cNvSpPr txBox="1"/>
          <p:nvPr/>
        </p:nvSpPr>
        <p:spPr>
          <a:xfrm>
            <a:off x="3901215" y="4473242"/>
            <a:ext cx="530915" cy="369332"/>
          </a:xfrm>
          <a:prstGeom prst="rect">
            <a:avLst/>
          </a:prstGeom>
          <a:noFill/>
        </p:spPr>
        <p:txBody>
          <a:bodyPr wrap="none" lIns="0" tIns="0" rIns="182880" bIns="0" rtlCol="0">
            <a:spAutoFit/>
          </a:bodyPr>
          <a:lstStyle/>
          <a:p>
            <a:r>
              <a:rPr lang="en-US" dirty="0"/>
              <a:t>++</a:t>
            </a:r>
          </a:p>
        </p:txBody>
      </p:sp>
      <p:sp>
        <p:nvSpPr>
          <p:cNvPr id="84" name="TextBox 83">
            <a:extLst>
              <a:ext uri="{FF2B5EF4-FFF2-40B4-BE49-F238E27FC236}">
                <a16:creationId xmlns:a16="http://schemas.microsoft.com/office/drawing/2014/main" id="{DF9500FA-DB2A-FE32-3B05-1D92B7C97699}"/>
              </a:ext>
            </a:extLst>
          </p:cNvPr>
          <p:cNvSpPr txBox="1"/>
          <p:nvPr/>
        </p:nvSpPr>
        <p:spPr>
          <a:xfrm>
            <a:off x="3911607" y="3153594"/>
            <a:ext cx="338554" cy="369332"/>
          </a:xfrm>
          <a:prstGeom prst="rect">
            <a:avLst/>
          </a:prstGeom>
          <a:noFill/>
        </p:spPr>
        <p:txBody>
          <a:bodyPr wrap="none" lIns="0" tIns="0" rIns="182880" bIns="0" rtlCol="0">
            <a:spAutoFit/>
          </a:bodyPr>
          <a:lstStyle/>
          <a:p>
            <a:r>
              <a:rPr lang="en-US" dirty="0"/>
              <a:t>0</a:t>
            </a:r>
          </a:p>
        </p:txBody>
      </p:sp>
      <p:sp>
        <p:nvSpPr>
          <p:cNvPr id="85" name="TextBox 84">
            <a:extLst>
              <a:ext uri="{FF2B5EF4-FFF2-40B4-BE49-F238E27FC236}">
                <a16:creationId xmlns:a16="http://schemas.microsoft.com/office/drawing/2014/main" id="{921B5CAC-2296-F027-58DF-04C30D9E2BC4}"/>
              </a:ext>
            </a:extLst>
          </p:cNvPr>
          <p:cNvSpPr txBox="1"/>
          <p:nvPr/>
        </p:nvSpPr>
        <p:spPr>
          <a:xfrm>
            <a:off x="1589809" y="4425658"/>
            <a:ext cx="338554" cy="369332"/>
          </a:xfrm>
          <a:prstGeom prst="rect">
            <a:avLst/>
          </a:prstGeom>
          <a:noFill/>
        </p:spPr>
        <p:txBody>
          <a:bodyPr wrap="none" lIns="0" tIns="0" rIns="182880" bIns="0" rtlCol="0">
            <a:spAutoFit/>
          </a:bodyPr>
          <a:lstStyle/>
          <a:p>
            <a:r>
              <a:rPr lang="en-US" dirty="0"/>
              <a:t>0</a:t>
            </a:r>
          </a:p>
        </p:txBody>
      </p:sp>
    </p:spTree>
    <p:extLst>
      <p:ext uri="{BB962C8B-B14F-4D97-AF65-F5344CB8AC3E}">
        <p14:creationId xmlns:p14="http://schemas.microsoft.com/office/powerpoint/2010/main" val="419633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7"/>
                                        </p:tgtEl>
                                        <p:attrNameLst>
                                          <p:attrName>style.visibility</p:attrName>
                                        </p:attrNameLst>
                                      </p:cBhvr>
                                      <p:to>
                                        <p:strVal val="visible"/>
                                      </p:to>
                                    </p:set>
                                    <p:animEffect transition="in" filter="fade">
                                      <p:cBhvr>
                                        <p:cTn id="17" dur="500"/>
                                        <p:tgtEl>
                                          <p:spTgt spid="7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4"/>
                                        </p:tgtEl>
                                        <p:attrNameLst>
                                          <p:attrName>style.visibility</p:attrName>
                                        </p:attrNameLst>
                                      </p:cBhvr>
                                      <p:to>
                                        <p:strVal val="visible"/>
                                      </p:to>
                                    </p:set>
                                    <p:animEffect transition="in" filter="fade">
                                      <p:cBhvr>
                                        <p:cTn id="27" dur="500"/>
                                        <p:tgtEl>
                                          <p:spTgt spid="8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5"/>
                                        </p:tgtEl>
                                        <p:attrNameLst>
                                          <p:attrName>style.visibility</p:attrName>
                                        </p:attrNameLst>
                                      </p:cBhvr>
                                      <p:to>
                                        <p:strVal val="visible"/>
                                      </p:to>
                                    </p:set>
                                    <p:animEffect transition="in" filter="fade">
                                      <p:cBhvr>
                                        <p:cTn id="32" dur="500"/>
                                        <p:tgtEl>
                                          <p:spTgt spid="8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5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5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4"/>
                                        </p:tgtEl>
                                        <p:attrNameLst>
                                          <p:attrName>style.visibility</p:attrName>
                                        </p:attrNameLst>
                                      </p:cBhvr>
                                      <p:to>
                                        <p:strVal val="visible"/>
                                      </p:to>
                                    </p:set>
                                    <p:animEffect transition="in" filter="fade">
                                      <p:cBhvr>
                                        <p:cTn id="47" dur="500"/>
                                        <p:tgtEl>
                                          <p:spTgt spid="7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75"/>
                                        </p:tgtEl>
                                        <p:attrNameLst>
                                          <p:attrName>style.visibility</p:attrName>
                                        </p:attrNameLst>
                                      </p:cBhvr>
                                      <p:to>
                                        <p:strVal val="visible"/>
                                      </p:to>
                                    </p:set>
                                    <p:animEffect transition="in" filter="fade">
                                      <p:cBhvr>
                                        <p:cTn id="50" dur="500"/>
                                        <p:tgtEl>
                                          <p:spTgt spid="7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78"/>
                                        </p:tgtEl>
                                        <p:attrNameLst>
                                          <p:attrName>style.visibility</p:attrName>
                                        </p:attrNameLst>
                                      </p:cBhvr>
                                      <p:to>
                                        <p:strVal val="visible"/>
                                      </p:to>
                                    </p:set>
                                    <p:animEffect transition="in" filter="fade">
                                      <p:cBhvr>
                                        <p:cTn id="55" dur="500"/>
                                        <p:tgtEl>
                                          <p:spTgt spid="7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79"/>
                                        </p:tgtEl>
                                        <p:attrNameLst>
                                          <p:attrName>style.visibility</p:attrName>
                                        </p:attrNameLst>
                                      </p:cBhvr>
                                      <p:to>
                                        <p:strVal val="visible"/>
                                      </p:to>
                                    </p:set>
                                    <p:animEffect transition="in" filter="fade">
                                      <p:cBhvr>
                                        <p:cTn id="58" dur="500"/>
                                        <p:tgtEl>
                                          <p:spTgt spid="7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80"/>
                                        </p:tgtEl>
                                        <p:attrNameLst>
                                          <p:attrName>style.visibility</p:attrName>
                                        </p:attrNameLst>
                                      </p:cBhvr>
                                      <p:to>
                                        <p:strVal val="visible"/>
                                      </p:to>
                                    </p:set>
                                    <p:animEffect transition="in" filter="fade">
                                      <p:cBhvr>
                                        <p:cTn id="63" dur="500"/>
                                        <p:tgtEl>
                                          <p:spTgt spid="8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81"/>
                                        </p:tgtEl>
                                        <p:attrNameLst>
                                          <p:attrName>style.visibility</p:attrName>
                                        </p:attrNameLst>
                                      </p:cBhvr>
                                      <p:to>
                                        <p:strVal val="visible"/>
                                      </p:to>
                                    </p:set>
                                    <p:animEffect transition="in" filter="fade">
                                      <p:cBhvr>
                                        <p:cTn id="66" dur="500"/>
                                        <p:tgtEl>
                                          <p:spTgt spid="81"/>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3">
                                            <p:txEl>
                                              <p:pRg st="5" end="5"/>
                                            </p:txEl>
                                          </p:spTgt>
                                        </p:tgtEl>
                                        <p:attrNameLst>
                                          <p:attrName>style.visibility</p:attrName>
                                        </p:attrNameLst>
                                      </p:cBhvr>
                                      <p:to>
                                        <p:strVal val="visible"/>
                                      </p:to>
                                    </p:set>
                                    <p:animEffect transition="in" filter="fade">
                                      <p:cBhvr>
                                        <p:cTn id="71" dur="500"/>
                                        <p:tgtEl>
                                          <p:spTgt spid="3">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82"/>
                                        </p:tgtEl>
                                        <p:attrNameLst>
                                          <p:attrName>style.visibility</p:attrName>
                                        </p:attrNameLst>
                                      </p:cBhvr>
                                      <p:to>
                                        <p:strVal val="visible"/>
                                      </p:to>
                                    </p:set>
                                    <p:animEffect transition="in" filter="fade">
                                      <p:cBhvr>
                                        <p:cTn id="76" dur="500"/>
                                        <p:tgtEl>
                                          <p:spTgt spid="8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83"/>
                                        </p:tgtEl>
                                        <p:attrNameLst>
                                          <p:attrName>style.visibility</p:attrName>
                                        </p:attrNameLst>
                                      </p:cBhvr>
                                      <p:to>
                                        <p:strVal val="visible"/>
                                      </p:to>
                                    </p:set>
                                    <p:animEffect transition="in" filter="fade">
                                      <p:cBhvr>
                                        <p:cTn id="79" dur="500"/>
                                        <p:tgtEl>
                                          <p:spTgt spid="83"/>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3">
                                            <p:txEl>
                                              <p:pRg st="6" end="6"/>
                                            </p:txEl>
                                          </p:spTgt>
                                        </p:tgtEl>
                                        <p:attrNameLst>
                                          <p:attrName>style.visibility</p:attrName>
                                        </p:attrNameLst>
                                      </p:cBhvr>
                                      <p:to>
                                        <p:strVal val="visible"/>
                                      </p:to>
                                    </p:set>
                                    <p:animEffect transition="in" filter="fade">
                                      <p:cBhvr>
                                        <p:cTn id="84" dur="500"/>
                                        <p:tgtEl>
                                          <p:spTgt spid="3">
                                            <p:txEl>
                                              <p:pRg st="6" end="6"/>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3">
                                            <p:txEl>
                                              <p:pRg st="7" end="7"/>
                                            </p:txEl>
                                          </p:spTgt>
                                        </p:tgtEl>
                                        <p:attrNameLst>
                                          <p:attrName>style.visibility</p:attrName>
                                        </p:attrNameLst>
                                      </p:cBhvr>
                                      <p:to>
                                        <p:strVal val="visible"/>
                                      </p:to>
                                    </p:set>
                                    <p:animEffect transition="in" filter="fade">
                                      <p:cBhvr>
                                        <p:cTn id="89" dur="500"/>
                                        <p:tgtEl>
                                          <p:spTgt spid="3">
                                            <p:txEl>
                                              <p:pRg st="7" end="7"/>
                                            </p:txEl>
                                          </p:spTgt>
                                        </p:tgtEl>
                                      </p:cBhvr>
                                    </p:animEffect>
                                  </p:childTnLst>
                                </p:cTn>
                              </p:par>
                              <p:par>
                                <p:cTn id="90" presetID="10" presetClass="entr" presetSubtype="0" fill="hold" nodeType="withEffect">
                                  <p:stCondLst>
                                    <p:cond delay="0"/>
                                  </p:stCondLst>
                                  <p:childTnLst>
                                    <p:set>
                                      <p:cBhvr>
                                        <p:cTn id="91" dur="1" fill="hold">
                                          <p:stCondLst>
                                            <p:cond delay="0"/>
                                          </p:stCondLst>
                                        </p:cTn>
                                        <p:tgtEl>
                                          <p:spTgt spid="3">
                                            <p:txEl>
                                              <p:pRg st="8" end="8"/>
                                            </p:txEl>
                                          </p:spTgt>
                                        </p:tgtEl>
                                        <p:attrNameLst>
                                          <p:attrName>style.visibility</p:attrName>
                                        </p:attrNameLst>
                                      </p:cBhvr>
                                      <p:to>
                                        <p:strVal val="visible"/>
                                      </p:to>
                                    </p:set>
                                    <p:animEffect transition="in" filter="fade">
                                      <p:cBhvr>
                                        <p:cTn id="92" dur="500"/>
                                        <p:tgtEl>
                                          <p:spTgt spid="3">
                                            <p:txEl>
                                              <p:pRg st="8" end="8"/>
                                            </p:txEl>
                                          </p:spTgt>
                                        </p:tgtEl>
                                      </p:cBhvr>
                                    </p:animEffect>
                                  </p:childTnLst>
                                </p:cTn>
                              </p:par>
                              <p:par>
                                <p:cTn id="93" presetID="10" presetClass="entr" presetSubtype="0" fill="hold" nodeType="withEffect">
                                  <p:stCondLst>
                                    <p:cond delay="0"/>
                                  </p:stCondLst>
                                  <p:childTnLst>
                                    <p:set>
                                      <p:cBhvr>
                                        <p:cTn id="94" dur="1" fill="hold">
                                          <p:stCondLst>
                                            <p:cond delay="0"/>
                                          </p:stCondLst>
                                        </p:cTn>
                                        <p:tgtEl>
                                          <p:spTgt spid="3">
                                            <p:txEl>
                                              <p:pRg st="9" end="9"/>
                                            </p:txEl>
                                          </p:spTgt>
                                        </p:tgtEl>
                                        <p:attrNameLst>
                                          <p:attrName>style.visibility</p:attrName>
                                        </p:attrNameLst>
                                      </p:cBhvr>
                                      <p:to>
                                        <p:strVal val="visible"/>
                                      </p:to>
                                    </p:set>
                                    <p:animEffect transition="in" filter="fade">
                                      <p:cBhvr>
                                        <p:cTn id="9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5" grpId="0"/>
      <p:bldP spid="76" grpId="0"/>
      <p:bldP spid="77" grpId="0"/>
      <p:bldP spid="78" grpId="0"/>
      <p:bldP spid="79" grpId="0"/>
      <p:bldP spid="80" grpId="0"/>
      <p:bldP spid="81" grpId="0"/>
      <p:bldP spid="82" grpId="0"/>
      <p:bldP spid="83" grpId="0"/>
      <p:bldP spid="84" grpId="0"/>
      <p:bldP spid="8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14A92-0AE1-418F-98C6-8738AD0D48CE}"/>
              </a:ext>
            </a:extLst>
          </p:cNvPr>
          <p:cNvSpPr>
            <a:spLocks noGrp="1"/>
          </p:cNvSpPr>
          <p:nvPr>
            <p:ph type="title"/>
          </p:nvPr>
        </p:nvSpPr>
        <p:spPr/>
        <p:txBody>
          <a:bodyPr/>
          <a:lstStyle/>
          <a:p>
            <a:r>
              <a:rPr lang="en-US" dirty="0"/>
              <a:t>Table of contents – this unit</a:t>
            </a:r>
          </a:p>
        </p:txBody>
      </p:sp>
      <p:sp>
        <p:nvSpPr>
          <p:cNvPr id="3" name="Content Placeholder 2">
            <a:extLst>
              <a:ext uri="{FF2B5EF4-FFF2-40B4-BE49-F238E27FC236}">
                <a16:creationId xmlns:a16="http://schemas.microsoft.com/office/drawing/2014/main" id="{0E944ED5-3D23-45D1-ACC3-736ECD603F53}"/>
              </a:ext>
            </a:extLst>
          </p:cNvPr>
          <p:cNvSpPr>
            <a:spLocks noGrp="1"/>
          </p:cNvSpPr>
          <p:nvPr>
            <p:ph idx="1"/>
          </p:nvPr>
        </p:nvSpPr>
        <p:spPr/>
        <p:txBody>
          <a:bodyPr/>
          <a:lstStyle/>
          <a:p>
            <a:r>
              <a:rPr lang="en-US" dirty="0"/>
              <a:t>Cool cardiac facts &amp; why we care</a:t>
            </a:r>
          </a:p>
          <a:p>
            <a:r>
              <a:rPr lang="en-US" dirty="0"/>
              <a:t>Cardiac basic operation</a:t>
            </a:r>
          </a:p>
          <a:p>
            <a:r>
              <a:rPr lang="en-US" dirty="0"/>
              <a:t>Electrocardiograms</a:t>
            </a:r>
          </a:p>
          <a:p>
            <a:r>
              <a:rPr lang="en-US" dirty="0">
                <a:highlight>
                  <a:srgbClr val="FFFF00"/>
                </a:highlight>
              </a:rPr>
              <a:t>Arrhythmias</a:t>
            </a:r>
            <a:endParaRPr lang="en-US" dirty="0"/>
          </a:p>
          <a:p>
            <a:pPr lvl="1">
              <a:spcBef>
                <a:spcPts val="0"/>
              </a:spcBef>
            </a:pPr>
            <a:r>
              <a:rPr lang="en-US" dirty="0"/>
              <a:t>so many things can go wrong </a:t>
            </a:r>
            <a:r>
              <a:rPr lang="en-US" dirty="0">
                <a:sym typeface="Wingdings" panose="05000000000000000000" pitchFamily="2" charset="2"/>
              </a:rPr>
              <a:t></a:t>
            </a:r>
            <a:endParaRPr lang="en-US" dirty="0">
              <a:highlight>
                <a:srgbClr val="FFFF00"/>
              </a:highlight>
            </a:endParaRPr>
          </a:p>
          <a:p>
            <a:r>
              <a:rPr lang="en-US" dirty="0"/>
              <a:t>Backup-system engineering</a:t>
            </a:r>
          </a:p>
        </p:txBody>
      </p:sp>
      <p:sp>
        <p:nvSpPr>
          <p:cNvPr id="4" name="Footer Placeholder 3">
            <a:extLst>
              <a:ext uri="{FF2B5EF4-FFF2-40B4-BE49-F238E27FC236}">
                <a16:creationId xmlns:a16="http://schemas.microsoft.com/office/drawing/2014/main" id="{E374EE35-380B-4ECA-A2BB-ED4C3312E805}"/>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028076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61A74-61F1-43A1-B0C8-D48FBC9A4946}"/>
              </a:ext>
            </a:extLst>
          </p:cNvPr>
          <p:cNvSpPr>
            <a:spLocks noGrp="1"/>
          </p:cNvSpPr>
          <p:nvPr>
            <p:ph type="title"/>
          </p:nvPr>
        </p:nvSpPr>
        <p:spPr/>
        <p:txBody>
          <a:bodyPr/>
          <a:lstStyle/>
          <a:p>
            <a:r>
              <a:rPr lang="en-US" dirty="0"/>
              <a:t>AV node blocks</a:t>
            </a:r>
          </a:p>
        </p:txBody>
      </p:sp>
      <p:sp>
        <p:nvSpPr>
          <p:cNvPr id="3" name="Content Placeholder 2">
            <a:extLst>
              <a:ext uri="{FF2B5EF4-FFF2-40B4-BE49-F238E27FC236}">
                <a16:creationId xmlns:a16="http://schemas.microsoft.com/office/drawing/2014/main" id="{E9E30398-CE59-40F3-8E99-B278FB578C31}"/>
              </a:ext>
            </a:extLst>
          </p:cNvPr>
          <p:cNvSpPr>
            <a:spLocks noGrp="1"/>
          </p:cNvSpPr>
          <p:nvPr>
            <p:ph idx="1"/>
          </p:nvPr>
        </p:nvSpPr>
        <p:spPr>
          <a:xfrm>
            <a:off x="228600" y="1447800"/>
            <a:ext cx="8305800" cy="4648200"/>
          </a:xfrm>
        </p:spPr>
        <p:txBody>
          <a:bodyPr/>
          <a:lstStyle/>
          <a:p>
            <a:r>
              <a:rPr lang="en-US" dirty="0"/>
              <a:t>Remember what the atrioventricular node was?</a:t>
            </a:r>
          </a:p>
          <a:p>
            <a:pPr lvl="1">
              <a:spcBef>
                <a:spcPts val="0"/>
              </a:spcBef>
            </a:pPr>
            <a:r>
              <a:rPr lang="en-US" dirty="0"/>
              <a:t>Electrical connection from atria to ventricles</a:t>
            </a:r>
          </a:p>
          <a:p>
            <a:r>
              <a:rPr lang="en-US" dirty="0"/>
              <a:t>AV node propagation is purposely quite slow</a:t>
            </a:r>
          </a:p>
          <a:p>
            <a:pPr lvl="1">
              <a:spcBef>
                <a:spcPts val="0"/>
              </a:spcBef>
            </a:pPr>
            <a:r>
              <a:rPr lang="en-US" dirty="0"/>
              <a:t>Why?</a:t>
            </a:r>
          </a:p>
          <a:p>
            <a:pPr lvl="1"/>
            <a:r>
              <a:rPr lang="en-US" dirty="0"/>
              <a:t>How?</a:t>
            </a:r>
          </a:p>
          <a:p>
            <a:r>
              <a:rPr lang="en-US" dirty="0"/>
              <a:t>Issue with purposely-slow conduction</a:t>
            </a:r>
          </a:p>
          <a:p>
            <a:pPr lvl="1">
              <a:spcBef>
                <a:spcPts val="0"/>
              </a:spcBef>
            </a:pPr>
            <a:r>
              <a:rPr lang="en-US" dirty="0"/>
              <a:t>increased likelihood of conduction failure </a:t>
            </a:r>
            <a:r>
              <a:rPr lang="en-US" dirty="0">
                <a:sym typeface="Wingdings" panose="05000000000000000000" pitchFamily="2" charset="2"/>
              </a:rPr>
              <a:t></a:t>
            </a:r>
            <a:endParaRPr lang="en-US" dirty="0"/>
          </a:p>
          <a:p>
            <a:r>
              <a:rPr lang="en-US" dirty="0"/>
              <a:t>Why don’t they kill you?</a:t>
            </a:r>
          </a:p>
          <a:p>
            <a:r>
              <a:rPr lang="en-US" dirty="0"/>
              <a:t>Backup system in place</a:t>
            </a:r>
          </a:p>
          <a:p>
            <a:pPr lvl="1">
              <a:spcBef>
                <a:spcPts val="0"/>
              </a:spcBef>
            </a:pPr>
            <a:r>
              <a:rPr lang="en-US" dirty="0"/>
              <a:t>to be discussed</a:t>
            </a:r>
          </a:p>
        </p:txBody>
      </p:sp>
      <p:sp>
        <p:nvSpPr>
          <p:cNvPr id="4" name="Footer Placeholder 3">
            <a:extLst>
              <a:ext uri="{FF2B5EF4-FFF2-40B4-BE49-F238E27FC236}">
                <a16:creationId xmlns:a16="http://schemas.microsoft.com/office/drawing/2014/main" id="{E2565582-AC88-425E-AB7F-4C34EB656DCE}"/>
              </a:ext>
            </a:extLst>
          </p:cNvPr>
          <p:cNvSpPr>
            <a:spLocks noGrp="1"/>
          </p:cNvSpPr>
          <p:nvPr>
            <p:ph type="ftr" sz="quarter" idx="11"/>
          </p:nvPr>
        </p:nvSpPr>
        <p:spPr/>
        <p:txBody>
          <a:bodyPr/>
          <a:lstStyle/>
          <a:p>
            <a:pPr>
              <a:defRPr/>
            </a:pPr>
            <a:r>
              <a:rPr lang="en-US" dirty="0"/>
              <a:t>EE 123 -- Bioelectricity</a:t>
            </a:r>
          </a:p>
        </p:txBody>
      </p:sp>
      <p:sp>
        <p:nvSpPr>
          <p:cNvPr id="5" name="TextBox 4">
            <a:extLst>
              <a:ext uri="{FF2B5EF4-FFF2-40B4-BE49-F238E27FC236}">
                <a16:creationId xmlns:a16="http://schemas.microsoft.com/office/drawing/2014/main" id="{E67533E3-DF13-488A-BC54-C82894AFE88C}"/>
              </a:ext>
            </a:extLst>
          </p:cNvPr>
          <p:cNvSpPr txBox="1"/>
          <p:nvPr/>
        </p:nvSpPr>
        <p:spPr>
          <a:xfrm>
            <a:off x="1905000" y="2771775"/>
            <a:ext cx="5257800" cy="461665"/>
          </a:xfrm>
          <a:prstGeom prst="rect">
            <a:avLst/>
          </a:prstGeom>
          <a:noFill/>
        </p:spPr>
        <p:txBody>
          <a:bodyPr wrap="square" rtlCol="0">
            <a:spAutoFit/>
          </a:bodyPr>
          <a:lstStyle/>
          <a:p>
            <a:r>
              <a:rPr lang="en-US" dirty="0"/>
              <a:t>Let the ventricles fill before they pump</a:t>
            </a:r>
          </a:p>
        </p:txBody>
      </p:sp>
      <p:sp>
        <p:nvSpPr>
          <p:cNvPr id="6" name="TextBox 5">
            <a:extLst>
              <a:ext uri="{FF2B5EF4-FFF2-40B4-BE49-F238E27FC236}">
                <a16:creationId xmlns:a16="http://schemas.microsoft.com/office/drawing/2014/main" id="{6DBF6CF2-039B-42F0-A1F5-AFFA45CDB1AA}"/>
              </a:ext>
            </a:extLst>
          </p:cNvPr>
          <p:cNvSpPr txBox="1"/>
          <p:nvPr/>
        </p:nvSpPr>
        <p:spPr>
          <a:xfrm>
            <a:off x="1828800" y="3124200"/>
            <a:ext cx="6400800" cy="656590"/>
          </a:xfrm>
          <a:prstGeom prst="rect">
            <a:avLst/>
          </a:prstGeom>
          <a:noFill/>
        </p:spPr>
        <p:txBody>
          <a:bodyPr wrap="square" rtlCol="0">
            <a:spAutoFit/>
          </a:bodyPr>
          <a:lstStyle/>
          <a:p>
            <a:pPr marL="342900" indent="-342900">
              <a:buFont typeface="Arial" panose="020B0604020202020204" pitchFamily="34" charset="0"/>
              <a:buChar char="•"/>
            </a:pPr>
            <a:r>
              <a:rPr lang="en-US" sz="2000" dirty="0"/>
              <a:t>decreased density of Na+ channels; slows down phase 0</a:t>
            </a:r>
          </a:p>
          <a:p>
            <a:pPr marL="342900" indent="-342900">
              <a:lnSpc>
                <a:spcPts val="2000"/>
              </a:lnSpc>
              <a:buFont typeface="Arial" panose="020B0604020202020204" pitchFamily="34" charset="0"/>
              <a:buChar char="•"/>
            </a:pPr>
            <a:r>
              <a:rPr lang="en-US" sz="2000" dirty="0"/>
              <a:t>lower GJ density</a:t>
            </a:r>
          </a:p>
        </p:txBody>
      </p:sp>
      <p:pic>
        <p:nvPicPr>
          <p:cNvPr id="9" name="Picture 8">
            <a:extLst>
              <a:ext uri="{FF2B5EF4-FFF2-40B4-BE49-F238E27FC236}">
                <a16:creationId xmlns:a16="http://schemas.microsoft.com/office/drawing/2014/main" id="{286592F2-746F-1EC0-1881-482AB066AF90}"/>
              </a:ext>
            </a:extLst>
          </p:cNvPr>
          <p:cNvPicPr>
            <a:picLocks noChangeAspect="1"/>
          </p:cNvPicPr>
          <p:nvPr/>
        </p:nvPicPr>
        <p:blipFill>
          <a:blip r:embed="rId3"/>
          <a:stretch>
            <a:fillRect/>
          </a:stretch>
        </p:blipFill>
        <p:spPr>
          <a:xfrm>
            <a:off x="4876800" y="4495800"/>
            <a:ext cx="3371182" cy="1795760"/>
          </a:xfrm>
          <a:prstGeom prst="rect">
            <a:avLst/>
          </a:prstGeom>
        </p:spPr>
      </p:pic>
    </p:spTree>
    <p:extLst>
      <p:ext uri="{BB962C8B-B14F-4D97-AF65-F5344CB8AC3E}">
        <p14:creationId xmlns:p14="http://schemas.microsoft.com/office/powerpoint/2010/main" val="225661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500"/>
                                        <p:tgtEl>
                                          <p:spTgt spid="3">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500"/>
                                        <p:tgtEl>
                                          <p:spTgt spid="3">
                                            <p:txEl>
                                              <p:pRg st="7" end="7"/>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8E047-D449-C04B-F255-AE1C9ED35123}"/>
              </a:ext>
            </a:extLst>
          </p:cNvPr>
          <p:cNvSpPr>
            <a:spLocks noGrp="1"/>
          </p:cNvSpPr>
          <p:nvPr>
            <p:ph type="title"/>
          </p:nvPr>
        </p:nvSpPr>
        <p:spPr/>
        <p:txBody>
          <a:bodyPr/>
          <a:lstStyle/>
          <a:p>
            <a:r>
              <a:rPr lang="en-US" dirty="0"/>
              <a:t>AV-block ECG</a:t>
            </a:r>
          </a:p>
        </p:txBody>
      </p:sp>
      <p:sp>
        <p:nvSpPr>
          <p:cNvPr id="3" name="Content Placeholder 2">
            <a:extLst>
              <a:ext uri="{FF2B5EF4-FFF2-40B4-BE49-F238E27FC236}">
                <a16:creationId xmlns:a16="http://schemas.microsoft.com/office/drawing/2014/main" id="{46D795BF-64F4-F165-1295-F5C34D5F33CD}"/>
              </a:ext>
            </a:extLst>
          </p:cNvPr>
          <p:cNvSpPr>
            <a:spLocks noGrp="1"/>
          </p:cNvSpPr>
          <p:nvPr>
            <p:ph idx="1"/>
          </p:nvPr>
        </p:nvSpPr>
        <p:spPr>
          <a:xfrm>
            <a:off x="685800" y="1676400"/>
            <a:ext cx="7772400" cy="1447800"/>
          </a:xfrm>
        </p:spPr>
        <p:txBody>
          <a:bodyPr/>
          <a:lstStyle/>
          <a:p>
            <a:r>
              <a:rPr lang="en-US" dirty="0"/>
              <a:t>What would an AV-block ECG look like?</a:t>
            </a:r>
          </a:p>
          <a:p>
            <a:pPr lvl="1"/>
            <a:r>
              <a:rPr lang="en-US" dirty="0"/>
              <a:t>Would P waves exist? Would they look normal?</a:t>
            </a:r>
          </a:p>
          <a:p>
            <a:pPr lvl="1"/>
            <a:r>
              <a:rPr lang="en-US" dirty="0"/>
              <a:t>QRS? T?</a:t>
            </a:r>
          </a:p>
        </p:txBody>
      </p:sp>
      <p:sp>
        <p:nvSpPr>
          <p:cNvPr id="4" name="Footer Placeholder 3">
            <a:extLst>
              <a:ext uri="{FF2B5EF4-FFF2-40B4-BE49-F238E27FC236}">
                <a16:creationId xmlns:a16="http://schemas.microsoft.com/office/drawing/2014/main" id="{88552676-70DC-AC6C-73DD-CC93F6321187}"/>
              </a:ext>
            </a:extLst>
          </p:cNvPr>
          <p:cNvSpPr>
            <a:spLocks noGrp="1"/>
          </p:cNvSpPr>
          <p:nvPr>
            <p:ph type="ftr" sz="quarter" idx="11"/>
          </p:nvPr>
        </p:nvSpPr>
        <p:spPr/>
        <p:txBody>
          <a:bodyPr/>
          <a:lstStyle/>
          <a:p>
            <a:pPr>
              <a:defRPr/>
            </a:pPr>
            <a:r>
              <a:rPr lang="en-US" dirty="0"/>
              <a:t>EE 123 -- Bioelectricity</a:t>
            </a:r>
          </a:p>
        </p:txBody>
      </p:sp>
      <p:pic>
        <p:nvPicPr>
          <p:cNvPr id="6" name="Picture 5">
            <a:extLst>
              <a:ext uri="{FF2B5EF4-FFF2-40B4-BE49-F238E27FC236}">
                <a16:creationId xmlns:a16="http://schemas.microsoft.com/office/drawing/2014/main" id="{1EC87286-F3BB-11E2-627C-BAC047C41CD5}"/>
              </a:ext>
            </a:extLst>
          </p:cNvPr>
          <p:cNvPicPr>
            <a:picLocks noChangeAspect="1"/>
          </p:cNvPicPr>
          <p:nvPr/>
        </p:nvPicPr>
        <p:blipFill>
          <a:blip r:embed="rId3"/>
          <a:stretch>
            <a:fillRect/>
          </a:stretch>
        </p:blipFill>
        <p:spPr>
          <a:xfrm>
            <a:off x="209866" y="3352800"/>
            <a:ext cx="8705534" cy="1358859"/>
          </a:xfrm>
          <a:prstGeom prst="rect">
            <a:avLst/>
          </a:prstGeom>
        </p:spPr>
      </p:pic>
      <p:cxnSp>
        <p:nvCxnSpPr>
          <p:cNvPr id="7" name="Straight Arrow Connector 6">
            <a:extLst>
              <a:ext uri="{FF2B5EF4-FFF2-40B4-BE49-F238E27FC236}">
                <a16:creationId xmlns:a16="http://schemas.microsoft.com/office/drawing/2014/main" id="{11E046C7-72CE-7C20-23B7-BE5BAAAB3FED}"/>
              </a:ext>
            </a:extLst>
          </p:cNvPr>
          <p:cNvCxnSpPr>
            <a:cxnSpLocks/>
          </p:cNvCxnSpPr>
          <p:nvPr/>
        </p:nvCxnSpPr>
        <p:spPr>
          <a:xfrm>
            <a:off x="4680474" y="3619500"/>
            <a:ext cx="0" cy="609600"/>
          </a:xfrm>
          <a:prstGeom prst="straightConnector1">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57514EF-AD65-FFD1-D01F-35794CF58A75}"/>
              </a:ext>
            </a:extLst>
          </p:cNvPr>
          <p:cNvCxnSpPr>
            <a:cxnSpLocks/>
          </p:cNvCxnSpPr>
          <p:nvPr/>
        </p:nvCxnSpPr>
        <p:spPr>
          <a:xfrm>
            <a:off x="5431716" y="3619500"/>
            <a:ext cx="0" cy="609600"/>
          </a:xfrm>
          <a:prstGeom prst="straightConnector1">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ED27D82-CA88-B62D-35A3-700EB91E520A}"/>
              </a:ext>
            </a:extLst>
          </p:cNvPr>
          <p:cNvCxnSpPr>
            <a:cxnSpLocks/>
          </p:cNvCxnSpPr>
          <p:nvPr/>
        </p:nvCxnSpPr>
        <p:spPr>
          <a:xfrm>
            <a:off x="6226884" y="3619500"/>
            <a:ext cx="0" cy="609600"/>
          </a:xfrm>
          <a:prstGeom prst="straightConnector1">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5E0B339-A33A-7229-0403-8C4A5DECF8E9}"/>
              </a:ext>
            </a:extLst>
          </p:cNvPr>
          <p:cNvCxnSpPr>
            <a:cxnSpLocks/>
          </p:cNvCxnSpPr>
          <p:nvPr/>
        </p:nvCxnSpPr>
        <p:spPr>
          <a:xfrm>
            <a:off x="7010400" y="3619500"/>
            <a:ext cx="0" cy="609600"/>
          </a:xfrm>
          <a:prstGeom prst="straightConnector1">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7CF9BD0-F7D9-9526-4C97-781F7818F5B2}"/>
              </a:ext>
            </a:extLst>
          </p:cNvPr>
          <p:cNvCxnSpPr>
            <a:cxnSpLocks/>
          </p:cNvCxnSpPr>
          <p:nvPr/>
        </p:nvCxnSpPr>
        <p:spPr>
          <a:xfrm>
            <a:off x="762000" y="3581400"/>
            <a:ext cx="0" cy="609600"/>
          </a:xfrm>
          <a:prstGeom prst="straightConnector1">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4B45CC6-2ABA-6941-FFBC-833ADEEB52F5}"/>
              </a:ext>
            </a:extLst>
          </p:cNvPr>
          <p:cNvCxnSpPr>
            <a:cxnSpLocks/>
          </p:cNvCxnSpPr>
          <p:nvPr/>
        </p:nvCxnSpPr>
        <p:spPr>
          <a:xfrm>
            <a:off x="1563075" y="3657600"/>
            <a:ext cx="0" cy="609600"/>
          </a:xfrm>
          <a:prstGeom prst="straightConnector1">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ACD1317-6A5D-EC44-B9C8-AA11B596E317}"/>
              </a:ext>
            </a:extLst>
          </p:cNvPr>
          <p:cNvCxnSpPr>
            <a:cxnSpLocks/>
          </p:cNvCxnSpPr>
          <p:nvPr/>
        </p:nvCxnSpPr>
        <p:spPr>
          <a:xfrm>
            <a:off x="2362200" y="3636084"/>
            <a:ext cx="0" cy="609600"/>
          </a:xfrm>
          <a:prstGeom prst="straightConnector1">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88AF861-650D-A2B0-1BA8-D64716E05322}"/>
              </a:ext>
            </a:extLst>
          </p:cNvPr>
          <p:cNvCxnSpPr/>
          <p:nvPr/>
        </p:nvCxnSpPr>
        <p:spPr>
          <a:xfrm>
            <a:off x="6226884" y="4191000"/>
            <a:ext cx="786384" cy="0"/>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882FD6D-FE3F-AF3B-4879-EC133D5A8FC2}"/>
              </a:ext>
            </a:extLst>
          </p:cNvPr>
          <p:cNvCxnSpPr/>
          <p:nvPr/>
        </p:nvCxnSpPr>
        <p:spPr>
          <a:xfrm>
            <a:off x="5439606" y="4191000"/>
            <a:ext cx="786384" cy="0"/>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6C89ED4-B277-C826-FB40-F2D05840C2A0}"/>
              </a:ext>
            </a:extLst>
          </p:cNvPr>
          <p:cNvCxnSpPr/>
          <p:nvPr/>
        </p:nvCxnSpPr>
        <p:spPr>
          <a:xfrm>
            <a:off x="4646226" y="4191000"/>
            <a:ext cx="786384" cy="0"/>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5465C1D-E9B7-F17F-152B-D30D07A92749}"/>
              </a:ext>
            </a:extLst>
          </p:cNvPr>
          <p:cNvCxnSpPr/>
          <p:nvPr/>
        </p:nvCxnSpPr>
        <p:spPr>
          <a:xfrm>
            <a:off x="3886200" y="4191000"/>
            <a:ext cx="786384" cy="0"/>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9ABD55-E81E-4C3C-F8F4-F08553715B6D}"/>
              </a:ext>
            </a:extLst>
          </p:cNvPr>
          <p:cNvCxnSpPr/>
          <p:nvPr/>
        </p:nvCxnSpPr>
        <p:spPr>
          <a:xfrm>
            <a:off x="3124200" y="4191000"/>
            <a:ext cx="786384" cy="0"/>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C6F07D8-3733-D115-8779-6100E9CD451A}"/>
              </a:ext>
            </a:extLst>
          </p:cNvPr>
          <p:cNvCxnSpPr/>
          <p:nvPr/>
        </p:nvCxnSpPr>
        <p:spPr>
          <a:xfrm>
            <a:off x="2370090" y="4191000"/>
            <a:ext cx="786384" cy="0"/>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99ED964-890F-4DF8-B88A-C98E8931B5C4}"/>
              </a:ext>
            </a:extLst>
          </p:cNvPr>
          <p:cNvCxnSpPr/>
          <p:nvPr/>
        </p:nvCxnSpPr>
        <p:spPr>
          <a:xfrm>
            <a:off x="1563075" y="4191000"/>
            <a:ext cx="786384" cy="0"/>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77C0D85-F4F0-463D-A4E9-1575A3ABB418}"/>
              </a:ext>
            </a:extLst>
          </p:cNvPr>
          <p:cNvCxnSpPr/>
          <p:nvPr/>
        </p:nvCxnSpPr>
        <p:spPr>
          <a:xfrm>
            <a:off x="762000" y="4191000"/>
            <a:ext cx="786384" cy="0"/>
          </a:xfrm>
          <a:prstGeom prst="straightConnector1">
            <a:avLst/>
          </a:prstGeom>
          <a:ln w="28575">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2214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heart&#10;&#10;AI-generated content may be incorrect.">
            <a:extLst>
              <a:ext uri="{FF2B5EF4-FFF2-40B4-BE49-F238E27FC236}">
                <a16:creationId xmlns:a16="http://schemas.microsoft.com/office/drawing/2014/main" id="{AC3C7014-64A2-761E-7B68-51CD457234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Atrial conduction – review</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36675" y="1219200"/>
            <a:ext cx="4811650" cy="995064"/>
          </a:xfrm>
        </p:spPr>
        <p:txBody>
          <a:bodyPr/>
          <a:lstStyle/>
          <a:p>
            <a:r>
              <a:rPr lang="en-US" sz="2400" dirty="0"/>
              <a:t>Sinoatrial (SA) node is the oscillator</a:t>
            </a:r>
          </a:p>
          <a:p>
            <a:r>
              <a:rPr lang="en-US" sz="2400" dirty="0"/>
              <a:t>Signal spreads over the atria at 1 m/s (100ms total)</a:t>
            </a:r>
          </a:p>
          <a:p>
            <a:pPr lvl="1">
              <a:spcBef>
                <a:spcPts val="0"/>
              </a:spcBef>
            </a:pPr>
            <a:r>
              <a:rPr lang="en-US" sz="2000" dirty="0"/>
              <a:t>Atrial muscles contract</a:t>
            </a:r>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a:t>EE 123 -- Bioelectricity</a:t>
            </a:r>
            <a:endParaRPr lang="en-US" dirty="0"/>
          </a:p>
        </p:txBody>
      </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15" name="Straight Arrow Connector 14">
            <a:extLst>
              <a:ext uri="{FF2B5EF4-FFF2-40B4-BE49-F238E27FC236}">
                <a16:creationId xmlns:a16="http://schemas.microsoft.com/office/drawing/2014/main" id="{6F6B7238-6C9D-4B5C-8179-E59CC3828588}"/>
              </a:ext>
            </a:extLst>
          </p:cNvPr>
          <p:cNvCxnSpPr>
            <a:cxnSpLocks/>
            <a:stCxn id="14" idx="6"/>
          </p:cNvCxnSpPr>
          <p:nvPr/>
        </p:nvCxnSpPr>
        <p:spPr>
          <a:xfrm flipV="1">
            <a:off x="1219200" y="3073399"/>
            <a:ext cx="7620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AEC175F-A66F-4AE7-A729-0404CBE0EEEC}"/>
              </a:ext>
            </a:extLst>
          </p:cNvPr>
          <p:cNvCxnSpPr>
            <a:cxnSpLocks/>
          </p:cNvCxnSpPr>
          <p:nvPr/>
        </p:nvCxnSpPr>
        <p:spPr>
          <a:xfrm>
            <a:off x="2082798"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6C2190E-9B61-4EDD-A390-784E67B02F6D}"/>
              </a:ext>
            </a:extLst>
          </p:cNvPr>
          <p:cNvCxnSpPr>
            <a:cxnSpLocks/>
            <a:stCxn id="14" idx="6"/>
          </p:cNvCxnSpPr>
          <p:nvPr/>
        </p:nvCxnSpPr>
        <p:spPr>
          <a:xfrm flipH="1">
            <a:off x="533400" y="3263899"/>
            <a:ext cx="685800" cy="6223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DBE62C6-DB88-4B74-A590-012251EC7164}"/>
              </a:ext>
            </a:extLst>
          </p:cNvPr>
          <p:cNvCxnSpPr>
            <a:cxnSpLocks/>
          </p:cNvCxnSpPr>
          <p:nvPr/>
        </p:nvCxnSpPr>
        <p:spPr>
          <a:xfrm flipV="1">
            <a:off x="1219200" y="3352800"/>
            <a:ext cx="762000" cy="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5EB2F5D-164A-43A9-95BF-257270CC3736}"/>
              </a:ext>
            </a:extLst>
          </p:cNvPr>
          <p:cNvCxnSpPr>
            <a:cxnSpLocks/>
          </p:cNvCxnSpPr>
          <p:nvPr/>
        </p:nvCxnSpPr>
        <p:spPr>
          <a:xfrm flipH="1">
            <a:off x="685800" y="3454399"/>
            <a:ext cx="459697" cy="5842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388F061-7419-4F42-94E4-A3CA17846261}"/>
              </a:ext>
            </a:extLst>
          </p:cNvPr>
          <p:cNvCxnSpPr>
            <a:cxnSpLocks/>
          </p:cNvCxnSpPr>
          <p:nvPr/>
        </p:nvCxnSpPr>
        <p:spPr>
          <a:xfrm flipV="1">
            <a:off x="2110666" y="3200400"/>
            <a:ext cx="503770" cy="1015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B3CB1D5-E6D3-401E-A2C6-9EFE55669FFA}"/>
              </a:ext>
            </a:extLst>
          </p:cNvPr>
          <p:cNvCxnSpPr>
            <a:cxnSpLocks/>
            <a:endCxn id="17" idx="1"/>
          </p:cNvCxnSpPr>
          <p:nvPr/>
        </p:nvCxnSpPr>
        <p:spPr>
          <a:xfrm>
            <a:off x="1219200" y="3441702"/>
            <a:ext cx="538394" cy="11929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D2C7338-58B5-4F82-84C2-520E9063A4E8}"/>
              </a:ext>
            </a:extLst>
          </p:cNvPr>
          <p:cNvCxnSpPr>
            <a:cxnSpLocks/>
          </p:cNvCxnSpPr>
          <p:nvPr/>
        </p:nvCxnSpPr>
        <p:spPr>
          <a:xfrm>
            <a:off x="2667000"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862F42F-1045-4DD1-9992-7A2792451EE6}"/>
              </a:ext>
            </a:extLst>
          </p:cNvPr>
          <p:cNvCxnSpPr>
            <a:cxnSpLocks/>
          </p:cNvCxnSpPr>
          <p:nvPr/>
        </p:nvCxnSpPr>
        <p:spPr>
          <a:xfrm>
            <a:off x="2668762" y="32766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160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500"/>
                                        <p:tgtEl>
                                          <p:spTgt spid="41"/>
                                        </p:tgtEl>
                                      </p:cBhvr>
                                    </p:animEffect>
                                  </p:childTnLst>
                                </p:cTn>
                              </p:par>
                              <p:par>
                                <p:cTn id="31" presetID="10"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500"/>
                                        <p:tgtEl>
                                          <p:spTgt spid="42"/>
                                        </p:tgtEl>
                                      </p:cBhvr>
                                    </p:animEffect>
                                  </p:childTnLst>
                                </p:cTn>
                              </p:par>
                            </p:childTnLst>
                          </p:cTn>
                        </p:par>
                        <p:par>
                          <p:cTn id="34" fill="hold">
                            <p:stCondLst>
                              <p:cond delay="1500"/>
                            </p:stCondLst>
                            <p:childTnLst>
                              <p:par>
                                <p:cTn id="35" presetID="10" presetClass="exit" presetSubtype="0" fill="hold" nodeType="afterEffect">
                                  <p:stCondLst>
                                    <p:cond delay="0"/>
                                  </p:stCondLst>
                                  <p:childTnLst>
                                    <p:animEffect transition="out" filter="fade">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27"/>
                                        </p:tgtEl>
                                      </p:cBhvr>
                                    </p:animEffect>
                                    <p:set>
                                      <p:cBhvr>
                                        <p:cTn id="40" dur="1" fill="hold">
                                          <p:stCondLst>
                                            <p:cond delay="499"/>
                                          </p:stCondLst>
                                        </p:cTn>
                                        <p:tgtEl>
                                          <p:spTgt spid="27"/>
                                        </p:tgtEl>
                                        <p:attrNameLst>
                                          <p:attrName>style.visibility</p:attrName>
                                        </p:attrNameLst>
                                      </p:cBhvr>
                                      <p:to>
                                        <p:strVal val="hidden"/>
                                      </p:to>
                                    </p:set>
                                  </p:childTnLst>
                                </p:cTn>
                              </p:par>
                              <p:par>
                                <p:cTn id="41" presetID="10" presetClass="exit" presetSubtype="0" fill="hold" nodeType="withEffect">
                                  <p:stCondLst>
                                    <p:cond delay="0"/>
                                  </p:stCondLst>
                                  <p:childTnLst>
                                    <p:animEffect transition="out" filter="fade">
                                      <p:cBhvr>
                                        <p:cTn id="42" dur="500"/>
                                        <p:tgtEl>
                                          <p:spTgt spid="30"/>
                                        </p:tgtEl>
                                      </p:cBhvr>
                                    </p:animEffect>
                                    <p:set>
                                      <p:cBhvr>
                                        <p:cTn id="43" dur="1" fill="hold">
                                          <p:stCondLst>
                                            <p:cond delay="499"/>
                                          </p:stCondLst>
                                        </p:cTn>
                                        <p:tgtEl>
                                          <p:spTgt spid="30"/>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500"/>
                                        <p:tgtEl>
                                          <p:spTgt spid="33"/>
                                        </p:tgtEl>
                                      </p:cBhvr>
                                    </p:animEffect>
                                    <p:set>
                                      <p:cBhvr>
                                        <p:cTn id="46" dur="1" fill="hold">
                                          <p:stCondLst>
                                            <p:cond delay="499"/>
                                          </p:stCondLst>
                                        </p:cTn>
                                        <p:tgtEl>
                                          <p:spTgt spid="33"/>
                                        </p:tgtEl>
                                        <p:attrNameLst>
                                          <p:attrName>style.visibility</p:attrName>
                                        </p:attrNameLst>
                                      </p:cBhvr>
                                      <p:to>
                                        <p:strVal val="hidden"/>
                                      </p:to>
                                    </p:set>
                                  </p:childTnLst>
                                </p:cTn>
                              </p:par>
                              <p:par>
                                <p:cTn id="47" presetID="10" presetClass="exit" presetSubtype="0" fill="hold" nodeType="withEffect">
                                  <p:stCondLst>
                                    <p:cond delay="0"/>
                                  </p:stCondLst>
                                  <p:childTnLst>
                                    <p:animEffect transition="out" filter="fade">
                                      <p:cBhvr>
                                        <p:cTn id="48" dur="500"/>
                                        <p:tgtEl>
                                          <p:spTgt spid="35"/>
                                        </p:tgtEl>
                                      </p:cBhvr>
                                    </p:animEffect>
                                    <p:set>
                                      <p:cBhvr>
                                        <p:cTn id="49" dur="1" fill="hold">
                                          <p:stCondLst>
                                            <p:cond delay="499"/>
                                          </p:stCondLst>
                                        </p:cTn>
                                        <p:tgtEl>
                                          <p:spTgt spid="35"/>
                                        </p:tgtEl>
                                        <p:attrNameLst>
                                          <p:attrName>style.visibility</p:attrName>
                                        </p:attrNameLst>
                                      </p:cBhvr>
                                      <p:to>
                                        <p:strVal val="hidden"/>
                                      </p:to>
                                    </p:set>
                                  </p:childTnLst>
                                </p:cTn>
                              </p:par>
                            </p:childTnLst>
                          </p:cTn>
                        </p:par>
                        <p:par>
                          <p:cTn id="50" fill="hold">
                            <p:stCondLst>
                              <p:cond delay="2000"/>
                            </p:stCondLst>
                            <p:childTnLst>
                              <p:par>
                                <p:cTn id="51" presetID="10" presetClass="exit" presetSubtype="0" fill="hold" nodeType="afterEffect">
                                  <p:stCondLst>
                                    <p:cond delay="0"/>
                                  </p:stCondLst>
                                  <p:childTnLst>
                                    <p:animEffect transition="out" filter="fade">
                                      <p:cBhvr>
                                        <p:cTn id="52" dur="500"/>
                                        <p:tgtEl>
                                          <p:spTgt spid="34"/>
                                        </p:tgtEl>
                                      </p:cBhvr>
                                    </p:animEffect>
                                    <p:set>
                                      <p:cBhvr>
                                        <p:cTn id="53" dur="1" fill="hold">
                                          <p:stCondLst>
                                            <p:cond delay="499"/>
                                          </p:stCondLst>
                                        </p:cTn>
                                        <p:tgtEl>
                                          <p:spTgt spid="34"/>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500"/>
                                        <p:tgtEl>
                                          <p:spTgt spid="26"/>
                                        </p:tgtEl>
                                      </p:cBhvr>
                                    </p:animEffect>
                                    <p:set>
                                      <p:cBhvr>
                                        <p:cTn id="56" dur="1" fill="hold">
                                          <p:stCondLst>
                                            <p:cond delay="499"/>
                                          </p:stCondLst>
                                        </p:cTn>
                                        <p:tgtEl>
                                          <p:spTgt spid="26"/>
                                        </p:tgtEl>
                                        <p:attrNameLst>
                                          <p:attrName>style.visibility</p:attrName>
                                        </p:attrNameLst>
                                      </p:cBhvr>
                                      <p:to>
                                        <p:strVal val="hidden"/>
                                      </p:to>
                                    </p:set>
                                  </p:childTnLst>
                                </p:cTn>
                              </p:par>
                            </p:childTnLst>
                          </p:cTn>
                        </p:par>
                        <p:par>
                          <p:cTn id="57" fill="hold">
                            <p:stCondLst>
                              <p:cond delay="2500"/>
                            </p:stCondLst>
                            <p:childTnLst>
                              <p:par>
                                <p:cTn id="58" presetID="10" presetClass="exit" presetSubtype="0" fill="hold" nodeType="afterEffect">
                                  <p:stCondLst>
                                    <p:cond delay="0"/>
                                  </p:stCondLst>
                                  <p:childTnLst>
                                    <p:animEffect transition="out" filter="fade">
                                      <p:cBhvr>
                                        <p:cTn id="59" dur="500"/>
                                        <p:tgtEl>
                                          <p:spTgt spid="41"/>
                                        </p:tgtEl>
                                      </p:cBhvr>
                                    </p:animEffect>
                                    <p:set>
                                      <p:cBhvr>
                                        <p:cTn id="60" dur="1" fill="hold">
                                          <p:stCondLst>
                                            <p:cond delay="499"/>
                                          </p:stCondLst>
                                        </p:cTn>
                                        <p:tgtEl>
                                          <p:spTgt spid="41"/>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500"/>
                                        <p:tgtEl>
                                          <p:spTgt spid="42"/>
                                        </p:tgtEl>
                                      </p:cBhvr>
                                    </p:animEffect>
                                    <p:set>
                                      <p:cBhvr>
                                        <p:cTn id="63" dur="1" fill="hold">
                                          <p:stCondLst>
                                            <p:cond delay="499"/>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heart&#10;&#10;AI-generated content may be incorrect.">
            <a:extLst>
              <a:ext uri="{FF2B5EF4-FFF2-40B4-BE49-F238E27FC236}">
                <a16:creationId xmlns:a16="http://schemas.microsoft.com/office/drawing/2014/main" id="{FD1E7695-AEF1-8B8A-E880-2A8EFE8982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Your heart, on </a:t>
            </a:r>
            <a:r>
              <a:rPr lang="en-US" dirty="0" err="1"/>
              <a:t>AFib</a:t>
            </a:r>
            <a:endParaRPr lang="en-US" dirty="0"/>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038600" y="1600200"/>
            <a:ext cx="4930999" cy="4233543"/>
          </a:xfrm>
        </p:spPr>
        <p:txBody>
          <a:bodyPr/>
          <a:lstStyle/>
          <a:p>
            <a:r>
              <a:rPr lang="en-US" sz="2400" dirty="0"/>
              <a:t>Loop starts at an </a:t>
            </a:r>
            <a:r>
              <a:rPr lang="en-US" sz="2400" i="1" dirty="0"/>
              <a:t>ectopic pacemaker</a:t>
            </a:r>
          </a:p>
          <a:p>
            <a:r>
              <a:rPr lang="en-US" sz="2400" dirty="0"/>
              <a:t>Goes round and round (</a:t>
            </a:r>
            <a:r>
              <a:rPr lang="en-US" sz="2400" dirty="0">
                <a:sym typeface="Symbol" panose="05050102010706020507" pitchFamily="18" charset="2"/>
              </a:rPr>
              <a:t></a:t>
            </a:r>
            <a:r>
              <a:rPr lang="en-US" sz="2400" dirty="0"/>
              <a:t>300 bpm) with no input from SA node</a:t>
            </a:r>
          </a:p>
          <a:p>
            <a:pPr lvl="1">
              <a:spcBef>
                <a:spcPts val="0"/>
              </a:spcBef>
            </a:pPr>
            <a:r>
              <a:rPr lang="en-US" dirty="0"/>
              <a:t>Called a </a:t>
            </a:r>
            <a:r>
              <a:rPr lang="en-US" i="1" dirty="0"/>
              <a:t>reentrant</a:t>
            </a:r>
            <a:r>
              <a:rPr lang="en-US" dirty="0"/>
              <a:t> arrhythmia</a:t>
            </a:r>
          </a:p>
          <a:p>
            <a:pPr lvl="1">
              <a:spcBef>
                <a:spcPts val="0"/>
              </a:spcBef>
            </a:pPr>
            <a:r>
              <a:rPr lang="en-US" dirty="0"/>
              <a:t>Takes a slightly different path each time</a:t>
            </a:r>
          </a:p>
          <a:p>
            <a:pPr lvl="1">
              <a:spcBef>
                <a:spcPts val="0"/>
              </a:spcBef>
            </a:pPr>
            <a:r>
              <a:rPr lang="en-US" dirty="0"/>
              <a:t>Waves spread out from the loop</a:t>
            </a:r>
          </a:p>
          <a:p>
            <a:pPr lvl="1">
              <a:spcBef>
                <a:spcPts val="0"/>
              </a:spcBef>
            </a:pPr>
            <a:r>
              <a:rPr lang="en-US" dirty="0"/>
              <a:t>AV node fires almost as soon as it’s not refractory</a:t>
            </a:r>
          </a:p>
          <a:p>
            <a:pPr lvl="1">
              <a:spcBef>
                <a:spcPts val="0"/>
              </a:spcBef>
            </a:pPr>
            <a:r>
              <a:rPr lang="en-US" dirty="0"/>
              <a:t>His-Purkinje-ventricles run as usual</a:t>
            </a:r>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a:t>EE 123 -- Bioelectricity</a:t>
            </a:r>
            <a:endParaRPr lang="en-US" dirty="0"/>
          </a:p>
        </p:txBody>
      </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15" name="Straight Arrow Connector 14">
            <a:extLst>
              <a:ext uri="{FF2B5EF4-FFF2-40B4-BE49-F238E27FC236}">
                <a16:creationId xmlns:a16="http://schemas.microsoft.com/office/drawing/2014/main" id="{6F6B7238-6C9D-4B5C-8179-E59CC3828588}"/>
              </a:ext>
            </a:extLst>
          </p:cNvPr>
          <p:cNvCxnSpPr>
            <a:cxnSpLocks/>
          </p:cNvCxnSpPr>
          <p:nvPr/>
        </p:nvCxnSpPr>
        <p:spPr>
          <a:xfrm flipV="1">
            <a:off x="2057400" y="3073399"/>
            <a:ext cx="6096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B3F5BD-EC04-45C3-B2C3-C522768BFAF8}"/>
              </a:ext>
            </a:extLst>
          </p:cNvPr>
          <p:cNvCxnSpPr>
            <a:cxnSpLocks/>
          </p:cNvCxnSpPr>
          <p:nvPr/>
        </p:nvCxnSpPr>
        <p:spPr>
          <a:xfrm flipV="1">
            <a:off x="2667000" y="2880990"/>
            <a:ext cx="457200" cy="16701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A9F81C-4851-4908-B81B-19E558CAD1B6}"/>
              </a:ext>
            </a:extLst>
          </p:cNvPr>
          <p:cNvCxnSpPr>
            <a:cxnSpLocks/>
          </p:cNvCxnSpPr>
          <p:nvPr/>
        </p:nvCxnSpPr>
        <p:spPr>
          <a:xfrm flipH="1">
            <a:off x="2252949" y="2852451"/>
            <a:ext cx="860075" cy="2349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96F06D6-E376-4E19-B353-808217CD69DE}"/>
              </a:ext>
            </a:extLst>
          </p:cNvPr>
          <p:cNvCxnSpPr>
            <a:cxnSpLocks/>
          </p:cNvCxnSpPr>
          <p:nvPr/>
        </p:nvCxnSpPr>
        <p:spPr>
          <a:xfrm flipH="1">
            <a:off x="1469675" y="2895600"/>
            <a:ext cx="609601" cy="3682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3A6089B-51E9-4A03-BAF5-B523E295CC7F}"/>
              </a:ext>
            </a:extLst>
          </p:cNvPr>
          <p:cNvCxnSpPr>
            <a:cxnSpLocks/>
          </p:cNvCxnSpPr>
          <p:nvPr/>
        </p:nvCxnSpPr>
        <p:spPr>
          <a:xfrm flipH="1">
            <a:off x="533400" y="3213101"/>
            <a:ext cx="914402" cy="3810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49C68D-1549-4C6B-983A-2F61A403E48C}"/>
              </a:ext>
            </a:extLst>
          </p:cNvPr>
          <p:cNvCxnSpPr>
            <a:cxnSpLocks/>
          </p:cNvCxnSpPr>
          <p:nvPr/>
        </p:nvCxnSpPr>
        <p:spPr>
          <a:xfrm flipV="1">
            <a:off x="610681" y="3263899"/>
            <a:ext cx="1446719" cy="36830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74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xit" presetSubtype="0" fill="hold" nodeType="afterEffect">
                                  <p:stCondLst>
                                    <p:cond delay="0"/>
                                  </p:stCondLst>
                                  <p:childTnLst>
                                    <p:animEffect transition="out" filter="fade">
                                      <p:cBhvr>
                                        <p:cTn id="10" dur="500"/>
                                        <p:tgtEl>
                                          <p:spTgt spid="15"/>
                                        </p:tgtEl>
                                      </p:cBhvr>
                                    </p:animEffect>
                                    <p:set>
                                      <p:cBhvr>
                                        <p:cTn id="11" dur="1" fill="hold">
                                          <p:stCondLst>
                                            <p:cond delay="499"/>
                                          </p:stCondLst>
                                        </p:cTn>
                                        <p:tgtEl>
                                          <p:spTgt spid="15"/>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childTnLst>
                          </p:cTn>
                        </p:par>
                        <p:par>
                          <p:cTn id="15" fill="hold">
                            <p:stCondLst>
                              <p:cond delay="1000"/>
                            </p:stCondLst>
                            <p:childTnLst>
                              <p:par>
                                <p:cTn id="16" presetID="10" presetClass="exit" presetSubtype="0" fill="hold" nodeType="afterEffect">
                                  <p:stCondLst>
                                    <p:cond delay="0"/>
                                  </p:stCondLst>
                                  <p:childTnLst>
                                    <p:animEffect transition="out" filter="fade">
                                      <p:cBhvr>
                                        <p:cTn id="17" dur="500"/>
                                        <p:tgtEl>
                                          <p:spTgt spid="18"/>
                                        </p:tgtEl>
                                      </p:cBhvr>
                                    </p:animEffect>
                                    <p:set>
                                      <p:cBhvr>
                                        <p:cTn id="18" dur="1" fill="hold">
                                          <p:stCondLst>
                                            <p:cond delay="499"/>
                                          </p:stCondLst>
                                        </p:cTn>
                                        <p:tgtEl>
                                          <p:spTgt spid="18"/>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1500"/>
                            </p:stCondLst>
                            <p:childTnLst>
                              <p:par>
                                <p:cTn id="23" presetID="10" presetClass="exit" presetSubtype="0" fill="hold" nodeType="afterEffect">
                                  <p:stCondLst>
                                    <p:cond delay="0"/>
                                  </p:stCondLst>
                                  <p:childTnLst>
                                    <p:animEffect transition="out" filter="fade">
                                      <p:cBhvr>
                                        <p:cTn id="24" dur="500"/>
                                        <p:tgtEl>
                                          <p:spTgt spid="20"/>
                                        </p:tgtEl>
                                      </p:cBhvr>
                                    </p:animEffect>
                                    <p:set>
                                      <p:cBhvr>
                                        <p:cTn id="25" dur="1" fill="hold">
                                          <p:stCondLst>
                                            <p:cond delay="499"/>
                                          </p:stCondLst>
                                        </p:cTn>
                                        <p:tgtEl>
                                          <p:spTgt spid="20"/>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par>
                          <p:cTn id="36" fill="hold">
                            <p:stCondLst>
                              <p:cond delay="2500"/>
                            </p:stCondLst>
                            <p:childTnLst>
                              <p:par>
                                <p:cTn id="37" presetID="10" presetClass="exit" presetSubtype="0" fill="hold" nodeType="afterEffect">
                                  <p:stCondLst>
                                    <p:cond delay="0"/>
                                  </p:stCondLst>
                                  <p:childTnLst>
                                    <p:animEffect transition="out" filter="fade">
                                      <p:cBhvr>
                                        <p:cTn id="38" dur="500"/>
                                        <p:tgtEl>
                                          <p:spTgt spid="24"/>
                                        </p:tgtEl>
                                      </p:cBhvr>
                                    </p:animEffect>
                                    <p:set>
                                      <p:cBhvr>
                                        <p:cTn id="39" dur="1" fill="hold">
                                          <p:stCondLst>
                                            <p:cond delay="499"/>
                                          </p:stCondLst>
                                        </p:cTn>
                                        <p:tgtEl>
                                          <p:spTgt spid="24"/>
                                        </p:tgtEl>
                                        <p:attrNameLst>
                                          <p:attrName>style.visibility</p:attrName>
                                        </p:attrNameLst>
                                      </p:cBhvr>
                                      <p:to>
                                        <p:strVal val="hidden"/>
                                      </p:to>
                                    </p:se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3000"/>
                            </p:stCondLst>
                            <p:childTnLst>
                              <p:par>
                                <p:cTn id="44" presetID="10" presetClass="exit" presetSubtype="0" fill="hold" nodeType="afterEffect">
                                  <p:stCondLst>
                                    <p:cond delay="0"/>
                                  </p:stCondLst>
                                  <p:childTnLst>
                                    <p:animEffect transition="out" filter="fade">
                                      <p:cBhvr>
                                        <p:cTn id="45" dur="500"/>
                                        <p:tgtEl>
                                          <p:spTgt spid="28"/>
                                        </p:tgtEl>
                                      </p:cBhvr>
                                    </p:animEffect>
                                    <p:set>
                                      <p:cBhvr>
                                        <p:cTn id="46"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heart&#10;&#10;AI-generated content may be incorrect.">
            <a:extLst>
              <a:ext uri="{FF2B5EF4-FFF2-40B4-BE49-F238E27FC236}">
                <a16:creationId xmlns:a16="http://schemas.microsoft.com/office/drawing/2014/main" id="{9F1FA324-E4D3-0017-849A-CB3D80E7EC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Your heart, on </a:t>
            </a:r>
            <a:r>
              <a:rPr lang="en-US" dirty="0" err="1"/>
              <a:t>AFib</a:t>
            </a:r>
            <a:endParaRPr lang="en-US" dirty="0"/>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57948" y="1447800"/>
            <a:ext cx="4986052" cy="4349752"/>
          </a:xfrm>
        </p:spPr>
        <p:txBody>
          <a:bodyPr/>
          <a:lstStyle/>
          <a:p>
            <a:r>
              <a:rPr lang="en-US" sz="2400" dirty="0"/>
              <a:t>Ventricles run at </a:t>
            </a:r>
            <a:r>
              <a:rPr lang="en-US" sz="2400" dirty="0">
                <a:sym typeface="Symbol" panose="05050102010706020507" pitchFamily="18" charset="2"/>
              </a:rPr>
              <a:t></a:t>
            </a:r>
            <a:r>
              <a:rPr lang="en-US" sz="2400" dirty="0"/>
              <a:t>150 bpm!</a:t>
            </a:r>
            <a:endParaRPr lang="en-US" sz="2400" i="1" dirty="0"/>
          </a:p>
          <a:p>
            <a:r>
              <a:rPr lang="en-US" sz="2400" dirty="0"/>
              <a:t>No single clear signal presents to AV node; ventricles pump fast but irregularly</a:t>
            </a:r>
          </a:p>
          <a:p>
            <a:r>
              <a:rPr lang="en-US" sz="2400" dirty="0"/>
              <a:t>Coordinated muscle pumping is lost</a:t>
            </a:r>
          </a:p>
          <a:p>
            <a:r>
              <a:rPr lang="en-US" sz="2400" dirty="0"/>
              <a:t>Consequences:</a:t>
            </a:r>
          </a:p>
          <a:p>
            <a:pPr lvl="1">
              <a:spcBef>
                <a:spcPts val="0"/>
              </a:spcBef>
            </a:pPr>
            <a:r>
              <a:rPr lang="en-US" sz="2000" dirty="0"/>
              <a:t>You can limp to the phone to call 911</a:t>
            </a:r>
          </a:p>
          <a:p>
            <a:pPr lvl="1">
              <a:spcBef>
                <a:spcPts val="0"/>
              </a:spcBef>
            </a:pPr>
            <a:r>
              <a:rPr lang="en-US" sz="2000" dirty="0"/>
              <a:t>Long-term risk of stroke – why?</a:t>
            </a:r>
          </a:p>
          <a:p>
            <a:pPr lvl="1">
              <a:spcBef>
                <a:spcPts val="0"/>
              </a:spcBef>
            </a:pPr>
            <a:r>
              <a:rPr lang="en-US" sz="2000" dirty="0"/>
              <a:t>See </a:t>
            </a:r>
            <a:r>
              <a:rPr lang="en-US" sz="2000" dirty="0">
                <a:hlinkClick r:id="rId4"/>
              </a:rPr>
              <a:t>heart.org/</a:t>
            </a:r>
            <a:r>
              <a:rPr lang="en-US" sz="2000" dirty="0" err="1">
                <a:hlinkClick r:id="rId4"/>
              </a:rPr>
              <a:t>en</a:t>
            </a:r>
            <a:r>
              <a:rPr lang="en-US" sz="2000" dirty="0">
                <a:hlinkClick r:id="rId4"/>
              </a:rPr>
              <a:t>/health-topics/atrial-fibrillation/why-atrial-fibrillation-</a:t>
            </a:r>
            <a:r>
              <a:rPr lang="en-US" sz="2000" dirty="0" err="1">
                <a:hlinkClick r:id="rId4"/>
              </a:rPr>
              <a:t>af</a:t>
            </a:r>
            <a:r>
              <a:rPr lang="en-US" sz="2000" dirty="0">
                <a:hlinkClick r:id="rId4"/>
              </a:rPr>
              <a:t>-or-</a:t>
            </a:r>
            <a:r>
              <a:rPr lang="en-US" sz="2000" dirty="0" err="1">
                <a:hlinkClick r:id="rId4"/>
              </a:rPr>
              <a:t>afib</a:t>
            </a:r>
            <a:r>
              <a:rPr lang="en-US" sz="2000" dirty="0">
                <a:hlinkClick r:id="rId4"/>
              </a:rPr>
              <a:t>-matters</a:t>
            </a:r>
            <a:r>
              <a:rPr lang="en-US" sz="2000" dirty="0"/>
              <a:t> </a:t>
            </a:r>
          </a:p>
          <a:p>
            <a:endParaRPr lang="en-US" sz="2400" dirty="0"/>
          </a:p>
          <a:p>
            <a:pPr marL="457200" lvl="1" indent="0">
              <a:spcBef>
                <a:spcPts val="0"/>
              </a:spcBef>
              <a:buNone/>
            </a:pPr>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a:t>EE 123 -- Bioelectricity</a:t>
            </a:r>
            <a:endParaRPr lang="en-US" dirty="0"/>
          </a:p>
        </p:txBody>
      </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15" name="Straight Arrow Connector 14">
            <a:extLst>
              <a:ext uri="{FF2B5EF4-FFF2-40B4-BE49-F238E27FC236}">
                <a16:creationId xmlns:a16="http://schemas.microsoft.com/office/drawing/2014/main" id="{6F6B7238-6C9D-4B5C-8179-E59CC3828588}"/>
              </a:ext>
            </a:extLst>
          </p:cNvPr>
          <p:cNvCxnSpPr>
            <a:cxnSpLocks/>
          </p:cNvCxnSpPr>
          <p:nvPr/>
        </p:nvCxnSpPr>
        <p:spPr>
          <a:xfrm flipV="1">
            <a:off x="2057400" y="3073399"/>
            <a:ext cx="6096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B3F5BD-EC04-45C3-B2C3-C522768BFAF8}"/>
              </a:ext>
            </a:extLst>
          </p:cNvPr>
          <p:cNvCxnSpPr>
            <a:cxnSpLocks/>
          </p:cNvCxnSpPr>
          <p:nvPr/>
        </p:nvCxnSpPr>
        <p:spPr>
          <a:xfrm flipV="1">
            <a:off x="2667000" y="2880990"/>
            <a:ext cx="457200" cy="16701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A9F81C-4851-4908-B81B-19E558CAD1B6}"/>
              </a:ext>
            </a:extLst>
          </p:cNvPr>
          <p:cNvCxnSpPr>
            <a:cxnSpLocks/>
          </p:cNvCxnSpPr>
          <p:nvPr/>
        </p:nvCxnSpPr>
        <p:spPr>
          <a:xfrm flipH="1">
            <a:off x="2252949" y="2852451"/>
            <a:ext cx="860075" cy="2349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96F06D6-E376-4E19-B353-808217CD69DE}"/>
              </a:ext>
            </a:extLst>
          </p:cNvPr>
          <p:cNvCxnSpPr>
            <a:cxnSpLocks/>
          </p:cNvCxnSpPr>
          <p:nvPr/>
        </p:nvCxnSpPr>
        <p:spPr>
          <a:xfrm flipH="1">
            <a:off x="1469675" y="2895600"/>
            <a:ext cx="609601" cy="3682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3A6089B-51E9-4A03-BAF5-B523E295CC7F}"/>
              </a:ext>
            </a:extLst>
          </p:cNvPr>
          <p:cNvCxnSpPr>
            <a:cxnSpLocks/>
          </p:cNvCxnSpPr>
          <p:nvPr/>
        </p:nvCxnSpPr>
        <p:spPr>
          <a:xfrm flipH="1">
            <a:off x="533400" y="3213101"/>
            <a:ext cx="914402" cy="3810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49C68D-1549-4C6B-983A-2F61A403E48C}"/>
              </a:ext>
            </a:extLst>
          </p:cNvPr>
          <p:cNvCxnSpPr>
            <a:cxnSpLocks/>
          </p:cNvCxnSpPr>
          <p:nvPr/>
        </p:nvCxnSpPr>
        <p:spPr>
          <a:xfrm flipV="1">
            <a:off x="610681" y="3263899"/>
            <a:ext cx="1446719" cy="36830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4790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xit" presetSubtype="0" fill="hold" nodeType="afterEffect">
                                  <p:stCondLst>
                                    <p:cond delay="0"/>
                                  </p:stCondLst>
                                  <p:childTnLst>
                                    <p:animEffect transition="out" filter="fade">
                                      <p:cBhvr>
                                        <p:cTn id="10" dur="500"/>
                                        <p:tgtEl>
                                          <p:spTgt spid="15"/>
                                        </p:tgtEl>
                                      </p:cBhvr>
                                    </p:animEffect>
                                    <p:set>
                                      <p:cBhvr>
                                        <p:cTn id="11" dur="1" fill="hold">
                                          <p:stCondLst>
                                            <p:cond delay="499"/>
                                          </p:stCondLst>
                                        </p:cTn>
                                        <p:tgtEl>
                                          <p:spTgt spid="15"/>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childTnLst>
                          </p:cTn>
                        </p:par>
                        <p:par>
                          <p:cTn id="15" fill="hold">
                            <p:stCondLst>
                              <p:cond delay="1000"/>
                            </p:stCondLst>
                            <p:childTnLst>
                              <p:par>
                                <p:cTn id="16" presetID="10" presetClass="exit" presetSubtype="0" fill="hold" nodeType="afterEffect">
                                  <p:stCondLst>
                                    <p:cond delay="0"/>
                                  </p:stCondLst>
                                  <p:childTnLst>
                                    <p:animEffect transition="out" filter="fade">
                                      <p:cBhvr>
                                        <p:cTn id="17" dur="500"/>
                                        <p:tgtEl>
                                          <p:spTgt spid="18"/>
                                        </p:tgtEl>
                                      </p:cBhvr>
                                    </p:animEffect>
                                    <p:set>
                                      <p:cBhvr>
                                        <p:cTn id="18" dur="1" fill="hold">
                                          <p:stCondLst>
                                            <p:cond delay="499"/>
                                          </p:stCondLst>
                                        </p:cTn>
                                        <p:tgtEl>
                                          <p:spTgt spid="18"/>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1500"/>
                            </p:stCondLst>
                            <p:childTnLst>
                              <p:par>
                                <p:cTn id="23" presetID="10" presetClass="exit" presetSubtype="0" fill="hold" nodeType="afterEffect">
                                  <p:stCondLst>
                                    <p:cond delay="0"/>
                                  </p:stCondLst>
                                  <p:childTnLst>
                                    <p:animEffect transition="out" filter="fade">
                                      <p:cBhvr>
                                        <p:cTn id="24" dur="500"/>
                                        <p:tgtEl>
                                          <p:spTgt spid="20"/>
                                        </p:tgtEl>
                                      </p:cBhvr>
                                    </p:animEffect>
                                    <p:set>
                                      <p:cBhvr>
                                        <p:cTn id="25" dur="1" fill="hold">
                                          <p:stCondLst>
                                            <p:cond delay="499"/>
                                          </p:stCondLst>
                                        </p:cTn>
                                        <p:tgtEl>
                                          <p:spTgt spid="20"/>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par>
                          <p:cTn id="36" fill="hold">
                            <p:stCondLst>
                              <p:cond delay="2500"/>
                            </p:stCondLst>
                            <p:childTnLst>
                              <p:par>
                                <p:cTn id="37" presetID="10" presetClass="exit" presetSubtype="0" fill="hold" nodeType="afterEffect">
                                  <p:stCondLst>
                                    <p:cond delay="0"/>
                                  </p:stCondLst>
                                  <p:childTnLst>
                                    <p:animEffect transition="out" filter="fade">
                                      <p:cBhvr>
                                        <p:cTn id="38" dur="500"/>
                                        <p:tgtEl>
                                          <p:spTgt spid="24"/>
                                        </p:tgtEl>
                                      </p:cBhvr>
                                    </p:animEffect>
                                    <p:set>
                                      <p:cBhvr>
                                        <p:cTn id="39" dur="1" fill="hold">
                                          <p:stCondLst>
                                            <p:cond delay="499"/>
                                          </p:stCondLst>
                                        </p:cTn>
                                        <p:tgtEl>
                                          <p:spTgt spid="24"/>
                                        </p:tgtEl>
                                        <p:attrNameLst>
                                          <p:attrName>style.visibility</p:attrName>
                                        </p:attrNameLst>
                                      </p:cBhvr>
                                      <p:to>
                                        <p:strVal val="hidden"/>
                                      </p:to>
                                    </p:se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3000"/>
                            </p:stCondLst>
                            <p:childTnLst>
                              <p:par>
                                <p:cTn id="44" presetID="10" presetClass="exit" presetSubtype="0" fill="hold" nodeType="afterEffect">
                                  <p:stCondLst>
                                    <p:cond delay="0"/>
                                  </p:stCondLst>
                                  <p:childTnLst>
                                    <p:animEffect transition="out" filter="fade">
                                      <p:cBhvr>
                                        <p:cTn id="45" dur="500"/>
                                        <p:tgtEl>
                                          <p:spTgt spid="28"/>
                                        </p:tgtEl>
                                      </p:cBhvr>
                                    </p:animEffect>
                                    <p:set>
                                      <p:cBhvr>
                                        <p:cTn id="46"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DF640-0000-4C30-80F1-366C6BA0C05F}"/>
              </a:ext>
            </a:extLst>
          </p:cNvPr>
          <p:cNvSpPr>
            <a:spLocks noGrp="1"/>
          </p:cNvSpPr>
          <p:nvPr>
            <p:ph type="title"/>
          </p:nvPr>
        </p:nvSpPr>
        <p:spPr/>
        <p:txBody>
          <a:bodyPr/>
          <a:lstStyle/>
          <a:p>
            <a:r>
              <a:rPr lang="en-US" dirty="0"/>
              <a:t>Atrial fibrillation</a:t>
            </a:r>
          </a:p>
        </p:txBody>
      </p:sp>
      <p:sp>
        <p:nvSpPr>
          <p:cNvPr id="3" name="Content Placeholder 2">
            <a:extLst>
              <a:ext uri="{FF2B5EF4-FFF2-40B4-BE49-F238E27FC236}">
                <a16:creationId xmlns:a16="http://schemas.microsoft.com/office/drawing/2014/main" id="{F731FDAC-049E-4FB0-89A1-CC0AF37ECAA1}"/>
              </a:ext>
            </a:extLst>
          </p:cNvPr>
          <p:cNvSpPr>
            <a:spLocks noGrp="1"/>
          </p:cNvSpPr>
          <p:nvPr>
            <p:ph idx="1"/>
          </p:nvPr>
        </p:nvSpPr>
        <p:spPr>
          <a:xfrm>
            <a:off x="685800" y="3505200"/>
            <a:ext cx="7772400" cy="2727432"/>
          </a:xfrm>
        </p:spPr>
        <p:txBody>
          <a:bodyPr/>
          <a:lstStyle/>
          <a:p>
            <a:r>
              <a:rPr lang="en-US" sz="2400" dirty="0"/>
              <a:t>No P wave – why?</a:t>
            </a:r>
          </a:p>
          <a:p>
            <a:r>
              <a:rPr lang="en-US" sz="2400" dirty="0"/>
              <a:t>HR is irregular – why?</a:t>
            </a:r>
          </a:p>
          <a:p>
            <a:r>
              <a:rPr lang="en-US" sz="2400" dirty="0"/>
              <a:t>QRS is normally shaped – why?</a:t>
            </a:r>
          </a:p>
        </p:txBody>
      </p:sp>
      <p:sp>
        <p:nvSpPr>
          <p:cNvPr id="4" name="Footer Placeholder 3">
            <a:extLst>
              <a:ext uri="{FF2B5EF4-FFF2-40B4-BE49-F238E27FC236}">
                <a16:creationId xmlns:a16="http://schemas.microsoft.com/office/drawing/2014/main" id="{54F1D98E-FCDB-49FC-AA10-526151C1F6D4}"/>
              </a:ext>
            </a:extLst>
          </p:cNvPr>
          <p:cNvSpPr>
            <a:spLocks noGrp="1"/>
          </p:cNvSpPr>
          <p:nvPr>
            <p:ph type="ftr" sz="quarter" idx="11"/>
          </p:nvPr>
        </p:nvSpPr>
        <p:spPr/>
        <p:txBody>
          <a:bodyPr/>
          <a:lstStyle/>
          <a:p>
            <a:pPr>
              <a:defRPr/>
            </a:pPr>
            <a:r>
              <a:rPr lang="en-US"/>
              <a:t>EE 123 -- Bioelectricity</a:t>
            </a:r>
            <a:endParaRPr lang="en-US" dirty="0"/>
          </a:p>
        </p:txBody>
      </p:sp>
      <p:sp>
        <p:nvSpPr>
          <p:cNvPr id="9" name="Freeform: Shape 8">
            <a:extLst>
              <a:ext uri="{FF2B5EF4-FFF2-40B4-BE49-F238E27FC236}">
                <a16:creationId xmlns:a16="http://schemas.microsoft.com/office/drawing/2014/main" id="{B359908D-B449-4290-A9B1-DC490982919E}"/>
              </a:ext>
            </a:extLst>
          </p:cNvPr>
          <p:cNvSpPr/>
          <p:nvPr/>
        </p:nvSpPr>
        <p:spPr>
          <a:xfrm>
            <a:off x="914401" y="2736212"/>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796025D-0DF7-4162-AC47-6E37B92ADD5C}"/>
              </a:ext>
            </a:extLst>
          </p:cNvPr>
          <p:cNvSpPr/>
          <p:nvPr/>
        </p:nvSpPr>
        <p:spPr>
          <a:xfrm>
            <a:off x="2659667" y="2645491"/>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CFFBBBC-1F73-4B7D-8714-4D1C3A2E5E57}"/>
              </a:ext>
            </a:extLst>
          </p:cNvPr>
          <p:cNvSpPr/>
          <p:nvPr/>
        </p:nvSpPr>
        <p:spPr>
          <a:xfrm>
            <a:off x="1455135" y="1373833"/>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56558A4-1546-47C8-9B8B-73AED6E58052}"/>
              </a:ext>
            </a:extLst>
          </p:cNvPr>
          <p:cNvSpPr/>
          <p:nvPr/>
        </p:nvSpPr>
        <p:spPr>
          <a:xfrm>
            <a:off x="4089399" y="2753146"/>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8D53B2E-4805-4026-8B9E-53761C2C5047}"/>
              </a:ext>
            </a:extLst>
          </p:cNvPr>
          <p:cNvSpPr/>
          <p:nvPr/>
        </p:nvSpPr>
        <p:spPr>
          <a:xfrm>
            <a:off x="5834665" y="2662425"/>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89DE1FF-1F7C-477B-A2CE-615897BE124F}"/>
              </a:ext>
            </a:extLst>
          </p:cNvPr>
          <p:cNvSpPr/>
          <p:nvPr/>
        </p:nvSpPr>
        <p:spPr>
          <a:xfrm>
            <a:off x="4630133" y="1390767"/>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3E0AB5A9-9DD0-425A-978B-EC0D6F322C21}"/>
              </a:ext>
            </a:extLst>
          </p:cNvPr>
          <p:cNvCxnSpPr/>
          <p:nvPr/>
        </p:nvCxnSpPr>
        <p:spPr>
          <a:xfrm>
            <a:off x="3200400" y="2935620"/>
            <a:ext cx="9144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A681A71-9037-4827-B9B1-5460C11606A2}"/>
              </a:ext>
            </a:extLst>
          </p:cNvPr>
          <p:cNvSpPr txBox="1"/>
          <p:nvPr/>
        </p:nvSpPr>
        <p:spPr>
          <a:xfrm>
            <a:off x="1011202" y="2778546"/>
            <a:ext cx="304800" cy="461665"/>
          </a:xfrm>
          <a:prstGeom prst="rect">
            <a:avLst/>
          </a:prstGeom>
          <a:noFill/>
        </p:spPr>
        <p:txBody>
          <a:bodyPr wrap="square" rtlCol="0">
            <a:spAutoFit/>
          </a:bodyPr>
          <a:lstStyle/>
          <a:p>
            <a:r>
              <a:rPr lang="en-US" dirty="0">
                <a:solidFill>
                  <a:schemeClr val="accent2"/>
                </a:solidFill>
              </a:rPr>
              <a:t>P</a:t>
            </a:r>
          </a:p>
        </p:txBody>
      </p:sp>
      <p:sp>
        <p:nvSpPr>
          <p:cNvPr id="18" name="TextBox 17">
            <a:extLst>
              <a:ext uri="{FF2B5EF4-FFF2-40B4-BE49-F238E27FC236}">
                <a16:creationId xmlns:a16="http://schemas.microsoft.com/office/drawing/2014/main" id="{9EFBBC4E-C401-43C7-9C1A-C619CCFCCB63}"/>
              </a:ext>
            </a:extLst>
          </p:cNvPr>
          <p:cNvSpPr txBox="1"/>
          <p:nvPr/>
        </p:nvSpPr>
        <p:spPr>
          <a:xfrm>
            <a:off x="1718732" y="2978035"/>
            <a:ext cx="304800" cy="461665"/>
          </a:xfrm>
          <a:prstGeom prst="rect">
            <a:avLst/>
          </a:prstGeom>
          <a:noFill/>
        </p:spPr>
        <p:txBody>
          <a:bodyPr wrap="square" rtlCol="0">
            <a:spAutoFit/>
          </a:bodyPr>
          <a:lstStyle/>
          <a:p>
            <a:r>
              <a:rPr lang="en-US" dirty="0">
                <a:solidFill>
                  <a:schemeClr val="accent2"/>
                </a:solidFill>
              </a:rPr>
              <a:t>Q</a:t>
            </a:r>
          </a:p>
        </p:txBody>
      </p:sp>
      <p:sp>
        <p:nvSpPr>
          <p:cNvPr id="19" name="TextBox 18">
            <a:extLst>
              <a:ext uri="{FF2B5EF4-FFF2-40B4-BE49-F238E27FC236}">
                <a16:creationId xmlns:a16="http://schemas.microsoft.com/office/drawing/2014/main" id="{F6949310-039A-409E-9F1F-DD1279C7AB50}"/>
              </a:ext>
            </a:extLst>
          </p:cNvPr>
          <p:cNvSpPr txBox="1"/>
          <p:nvPr/>
        </p:nvSpPr>
        <p:spPr>
          <a:xfrm>
            <a:off x="1934131" y="1143000"/>
            <a:ext cx="304800" cy="461665"/>
          </a:xfrm>
          <a:prstGeom prst="rect">
            <a:avLst/>
          </a:prstGeom>
          <a:noFill/>
        </p:spPr>
        <p:txBody>
          <a:bodyPr wrap="square" rtlCol="0">
            <a:spAutoFit/>
          </a:bodyPr>
          <a:lstStyle/>
          <a:p>
            <a:r>
              <a:rPr lang="en-US" dirty="0">
                <a:solidFill>
                  <a:schemeClr val="accent2"/>
                </a:solidFill>
              </a:rPr>
              <a:t>R</a:t>
            </a:r>
          </a:p>
        </p:txBody>
      </p:sp>
      <p:sp>
        <p:nvSpPr>
          <p:cNvPr id="20" name="TextBox 19">
            <a:extLst>
              <a:ext uri="{FF2B5EF4-FFF2-40B4-BE49-F238E27FC236}">
                <a16:creationId xmlns:a16="http://schemas.microsoft.com/office/drawing/2014/main" id="{BB21C198-802F-4BFB-BD20-3E4BA029D540}"/>
              </a:ext>
            </a:extLst>
          </p:cNvPr>
          <p:cNvSpPr txBox="1"/>
          <p:nvPr/>
        </p:nvSpPr>
        <p:spPr>
          <a:xfrm>
            <a:off x="1972730" y="3189701"/>
            <a:ext cx="304800" cy="461665"/>
          </a:xfrm>
          <a:prstGeom prst="rect">
            <a:avLst/>
          </a:prstGeom>
          <a:noFill/>
        </p:spPr>
        <p:txBody>
          <a:bodyPr wrap="square" rtlCol="0">
            <a:spAutoFit/>
          </a:bodyPr>
          <a:lstStyle/>
          <a:p>
            <a:r>
              <a:rPr lang="en-US" dirty="0">
                <a:solidFill>
                  <a:schemeClr val="accent2"/>
                </a:solidFill>
              </a:rPr>
              <a:t>S</a:t>
            </a:r>
          </a:p>
        </p:txBody>
      </p:sp>
      <p:sp>
        <p:nvSpPr>
          <p:cNvPr id="21" name="TextBox 20">
            <a:extLst>
              <a:ext uri="{FF2B5EF4-FFF2-40B4-BE49-F238E27FC236}">
                <a16:creationId xmlns:a16="http://schemas.microsoft.com/office/drawing/2014/main" id="{EB077E3C-F17A-4A34-8CF1-E27E9990BD80}"/>
              </a:ext>
            </a:extLst>
          </p:cNvPr>
          <p:cNvSpPr txBox="1"/>
          <p:nvPr/>
        </p:nvSpPr>
        <p:spPr>
          <a:xfrm>
            <a:off x="2819400" y="2669233"/>
            <a:ext cx="304800" cy="461665"/>
          </a:xfrm>
          <a:prstGeom prst="rect">
            <a:avLst/>
          </a:prstGeom>
          <a:noFill/>
        </p:spPr>
        <p:txBody>
          <a:bodyPr wrap="square" rtlCol="0">
            <a:spAutoFit/>
          </a:bodyPr>
          <a:lstStyle/>
          <a:p>
            <a:r>
              <a:rPr lang="en-US" dirty="0">
                <a:solidFill>
                  <a:schemeClr val="accent2"/>
                </a:solidFill>
              </a:rPr>
              <a:t>T</a:t>
            </a:r>
          </a:p>
        </p:txBody>
      </p:sp>
      <p:sp>
        <p:nvSpPr>
          <p:cNvPr id="23" name="Freeform: Shape 22">
            <a:extLst>
              <a:ext uri="{FF2B5EF4-FFF2-40B4-BE49-F238E27FC236}">
                <a16:creationId xmlns:a16="http://schemas.microsoft.com/office/drawing/2014/main" id="{D2D95718-D10C-4FC5-B17F-294F1108F5B2}"/>
              </a:ext>
            </a:extLst>
          </p:cNvPr>
          <p:cNvSpPr/>
          <p:nvPr/>
        </p:nvSpPr>
        <p:spPr>
          <a:xfrm>
            <a:off x="6363876" y="2762260"/>
            <a:ext cx="537005" cy="177781"/>
          </a:xfrm>
          <a:custGeom>
            <a:avLst/>
            <a:gdLst>
              <a:gd name="connsiteX0" fmla="*/ 0 w 1219200"/>
              <a:gd name="connsiteY0" fmla="*/ 403629 h 403629"/>
              <a:gd name="connsiteX1" fmla="*/ 321733 w 1219200"/>
              <a:gd name="connsiteY1" fmla="*/ 158096 h 403629"/>
              <a:gd name="connsiteX2" fmla="*/ 567266 w 1219200"/>
              <a:gd name="connsiteY2" fmla="*/ 56496 h 403629"/>
              <a:gd name="connsiteX3" fmla="*/ 685800 w 1219200"/>
              <a:gd name="connsiteY3" fmla="*/ 22629 h 403629"/>
              <a:gd name="connsiteX4" fmla="*/ 804333 w 1219200"/>
              <a:gd name="connsiteY4" fmla="*/ 5696 h 403629"/>
              <a:gd name="connsiteX5" fmla="*/ 965200 w 1219200"/>
              <a:gd name="connsiteY5" fmla="*/ 124229 h 403629"/>
              <a:gd name="connsiteX6" fmla="*/ 1219200 w 1219200"/>
              <a:gd name="connsiteY6" fmla="*/ 403629 h 403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 h="403629">
                <a:moveTo>
                  <a:pt x="0" y="403629"/>
                </a:moveTo>
                <a:cubicBezTo>
                  <a:pt x="113594" y="309790"/>
                  <a:pt x="227189" y="215951"/>
                  <a:pt x="321733" y="158096"/>
                </a:cubicBezTo>
                <a:cubicBezTo>
                  <a:pt x="416277" y="100240"/>
                  <a:pt x="506588" y="79074"/>
                  <a:pt x="567266" y="56496"/>
                </a:cubicBezTo>
                <a:cubicBezTo>
                  <a:pt x="627944" y="33918"/>
                  <a:pt x="646289" y="31096"/>
                  <a:pt x="685800" y="22629"/>
                </a:cubicBezTo>
                <a:cubicBezTo>
                  <a:pt x="725311" y="14162"/>
                  <a:pt x="757766" y="-11237"/>
                  <a:pt x="804333" y="5696"/>
                </a:cubicBezTo>
                <a:cubicBezTo>
                  <a:pt x="850900" y="22629"/>
                  <a:pt x="896056" y="57907"/>
                  <a:pt x="965200" y="124229"/>
                </a:cubicBezTo>
                <a:cubicBezTo>
                  <a:pt x="1034344" y="190551"/>
                  <a:pt x="1126772" y="297090"/>
                  <a:pt x="1219200" y="403629"/>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DE4C5F88-DBBA-45E8-AFE2-38B1ABE4DEAF}"/>
              </a:ext>
            </a:extLst>
          </p:cNvPr>
          <p:cNvSpPr/>
          <p:nvPr/>
        </p:nvSpPr>
        <p:spPr>
          <a:xfrm>
            <a:off x="8109142" y="2671539"/>
            <a:ext cx="540734" cy="291193"/>
          </a:xfrm>
          <a:custGeom>
            <a:avLst/>
            <a:gdLst>
              <a:gd name="connsiteX0" fmla="*/ 0 w 1227666"/>
              <a:gd name="connsiteY0" fmla="*/ 661116 h 661116"/>
              <a:gd name="connsiteX1" fmla="*/ 533400 w 1227666"/>
              <a:gd name="connsiteY1" fmla="*/ 102316 h 661116"/>
              <a:gd name="connsiteX2" fmla="*/ 694266 w 1227666"/>
              <a:gd name="connsiteY2" fmla="*/ 9182 h 661116"/>
              <a:gd name="connsiteX3" fmla="*/ 762000 w 1227666"/>
              <a:gd name="connsiteY3" fmla="*/ 9182 h 661116"/>
              <a:gd name="connsiteX4" fmla="*/ 872066 w 1227666"/>
              <a:gd name="connsiteY4" fmla="*/ 59982 h 661116"/>
              <a:gd name="connsiteX5" fmla="*/ 1041400 w 1227666"/>
              <a:gd name="connsiteY5" fmla="*/ 297049 h 661116"/>
              <a:gd name="connsiteX6" fmla="*/ 1227666 w 1227666"/>
              <a:gd name="connsiteY6" fmla="*/ 644182 h 661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7666" h="661116">
                <a:moveTo>
                  <a:pt x="0" y="661116"/>
                </a:moveTo>
                <a:cubicBezTo>
                  <a:pt x="208844" y="436044"/>
                  <a:pt x="417689" y="210972"/>
                  <a:pt x="533400" y="102316"/>
                </a:cubicBezTo>
                <a:cubicBezTo>
                  <a:pt x="649111" y="-6340"/>
                  <a:pt x="656166" y="24704"/>
                  <a:pt x="694266" y="9182"/>
                </a:cubicBezTo>
                <a:cubicBezTo>
                  <a:pt x="732366" y="-6340"/>
                  <a:pt x="732367" y="715"/>
                  <a:pt x="762000" y="9182"/>
                </a:cubicBezTo>
                <a:cubicBezTo>
                  <a:pt x="791633" y="17649"/>
                  <a:pt x="825499" y="12004"/>
                  <a:pt x="872066" y="59982"/>
                </a:cubicBezTo>
                <a:cubicBezTo>
                  <a:pt x="918633" y="107960"/>
                  <a:pt x="982133" y="199682"/>
                  <a:pt x="1041400" y="297049"/>
                </a:cubicBezTo>
                <a:cubicBezTo>
                  <a:pt x="1100667" y="394416"/>
                  <a:pt x="1164166" y="519299"/>
                  <a:pt x="1227666" y="644182"/>
                </a:cubicBez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C220B51B-DAB6-4735-9770-B05F3B40AB6A}"/>
              </a:ext>
            </a:extLst>
          </p:cNvPr>
          <p:cNvSpPr/>
          <p:nvPr/>
        </p:nvSpPr>
        <p:spPr>
          <a:xfrm>
            <a:off x="6904610" y="1399881"/>
            <a:ext cx="1211991" cy="1942914"/>
          </a:xfrm>
          <a:custGeom>
            <a:avLst/>
            <a:gdLst>
              <a:gd name="connsiteX0" fmla="*/ 0 w 2751667"/>
              <a:gd name="connsiteY0" fmla="*/ 3513666 h 4411133"/>
              <a:gd name="connsiteX1" fmla="*/ 753534 w 2751667"/>
              <a:gd name="connsiteY1" fmla="*/ 3513666 h 4411133"/>
              <a:gd name="connsiteX2" fmla="*/ 982134 w 2751667"/>
              <a:gd name="connsiteY2" fmla="*/ 3937000 h 4411133"/>
              <a:gd name="connsiteX3" fmla="*/ 1236134 w 2751667"/>
              <a:gd name="connsiteY3" fmla="*/ 0 h 4411133"/>
              <a:gd name="connsiteX4" fmla="*/ 1481667 w 2751667"/>
              <a:gd name="connsiteY4" fmla="*/ 4411133 h 4411133"/>
              <a:gd name="connsiteX5" fmla="*/ 1744134 w 2751667"/>
              <a:gd name="connsiteY5" fmla="*/ 3496733 h 4411133"/>
              <a:gd name="connsiteX6" fmla="*/ 2751667 w 2751667"/>
              <a:gd name="connsiteY6" fmla="*/ 3496733 h 441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51667" h="4411133">
                <a:moveTo>
                  <a:pt x="0" y="3513666"/>
                </a:moveTo>
                <a:lnTo>
                  <a:pt x="753534" y="3513666"/>
                </a:lnTo>
                <a:lnTo>
                  <a:pt x="982134" y="3937000"/>
                </a:lnTo>
                <a:lnTo>
                  <a:pt x="1236134" y="0"/>
                </a:lnTo>
                <a:lnTo>
                  <a:pt x="1481667" y="4411133"/>
                </a:lnTo>
                <a:lnTo>
                  <a:pt x="1744134" y="3496733"/>
                </a:lnTo>
                <a:lnTo>
                  <a:pt x="2751667" y="349673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50E8F5FB-BDAC-4788-9800-F9E0842F920D}"/>
              </a:ext>
            </a:extLst>
          </p:cNvPr>
          <p:cNvCxnSpPr/>
          <p:nvPr/>
        </p:nvCxnSpPr>
        <p:spPr>
          <a:xfrm>
            <a:off x="914400" y="2923881"/>
            <a:ext cx="613206"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854EFC2-A43D-43F7-A4E4-48656A52A9F0}"/>
              </a:ext>
            </a:extLst>
          </p:cNvPr>
          <p:cNvCxnSpPr/>
          <p:nvPr/>
        </p:nvCxnSpPr>
        <p:spPr>
          <a:xfrm>
            <a:off x="6377556" y="2942735"/>
            <a:ext cx="613206"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E874CFC-3C8D-43D7-8217-6EB8CD45945F}"/>
              </a:ext>
            </a:extLst>
          </p:cNvPr>
          <p:cNvCxnSpPr/>
          <p:nvPr/>
        </p:nvCxnSpPr>
        <p:spPr>
          <a:xfrm>
            <a:off x="4048027" y="2933308"/>
            <a:ext cx="613206"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840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3"/>
                                        </p:tgtEl>
                                      </p:cBhvr>
                                    </p:animEffect>
                                    <p:set>
                                      <p:cBhvr>
                                        <p:cTn id="10" dur="1" fill="hold">
                                          <p:stCondLst>
                                            <p:cond delay="499"/>
                                          </p:stCondLst>
                                        </p:cTn>
                                        <p:tgtEl>
                                          <p:spTgt spid="13"/>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23"/>
                                        </p:tgtEl>
                                      </p:cBhvr>
                                    </p:animEffect>
                                    <p:set>
                                      <p:cBhvr>
                                        <p:cTn id="13" dur="1" fill="hold">
                                          <p:stCondLst>
                                            <p:cond delay="499"/>
                                          </p:stCondLst>
                                        </p:cTn>
                                        <p:tgtEl>
                                          <p:spTgt spid="23"/>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xit" presetSubtype="0" fill="hold" grpId="0" nodeType="withEffect">
                                  <p:stCondLst>
                                    <p:cond delay="0"/>
                                  </p:stCondLst>
                                  <p:childTnLst>
                                    <p:animEffect transition="out" filter="fade">
                                      <p:cBhvr>
                                        <p:cTn id="24" dur="500"/>
                                        <p:tgtEl>
                                          <p:spTgt spid="17"/>
                                        </p:tgtEl>
                                      </p:cBhvr>
                                    </p:animEffect>
                                    <p:set>
                                      <p:cBhvr>
                                        <p:cTn id="25"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p:bldP spid="2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heart&#10;&#10;AI-generated content may be incorrect.">
            <a:extLst>
              <a:ext uri="{FF2B5EF4-FFF2-40B4-BE49-F238E27FC236}">
                <a16:creationId xmlns:a16="http://schemas.microsoft.com/office/drawing/2014/main" id="{DFD6C30C-60D8-163C-D205-95982632ED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D7590C23-7906-4FC0-BEEA-2CDD89897A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3E9989-7C88-424C-87BC-3E667569C0C6}"/>
              </a:ext>
            </a:extLst>
          </p:cNvPr>
          <p:cNvSpPr>
            <a:spLocks noGrp="1"/>
          </p:cNvSpPr>
          <p:nvPr>
            <p:ph idx="1"/>
          </p:nvPr>
        </p:nvSpPr>
        <p:spPr>
          <a:xfrm>
            <a:off x="3733800" y="1981200"/>
            <a:ext cx="5181600" cy="2133600"/>
          </a:xfrm>
        </p:spPr>
        <p:txBody>
          <a:bodyPr/>
          <a:lstStyle/>
          <a:p>
            <a:r>
              <a:rPr lang="en-US" dirty="0">
                <a:hlinkClick r:id="rId4"/>
              </a:rPr>
              <a:t>https://watchlearnlive.heart.org/index.php?moduleSelect=atrfib</a:t>
            </a:r>
            <a:endParaRPr lang="en-US" dirty="0"/>
          </a:p>
          <a:p>
            <a:r>
              <a:rPr lang="en-US" dirty="0"/>
              <a:t>Traditionally requires a one-way path</a:t>
            </a:r>
          </a:p>
        </p:txBody>
      </p:sp>
      <p:sp>
        <p:nvSpPr>
          <p:cNvPr id="4" name="Footer Placeholder 3">
            <a:extLst>
              <a:ext uri="{FF2B5EF4-FFF2-40B4-BE49-F238E27FC236}">
                <a16:creationId xmlns:a16="http://schemas.microsoft.com/office/drawing/2014/main" id="{862954D8-786E-4347-9A64-EC213F87499F}"/>
              </a:ext>
            </a:extLst>
          </p:cNvPr>
          <p:cNvSpPr>
            <a:spLocks noGrp="1"/>
          </p:cNvSpPr>
          <p:nvPr>
            <p:ph type="ftr" sz="quarter" idx="11"/>
          </p:nvPr>
        </p:nvSpPr>
        <p:spPr/>
        <p:txBody>
          <a:bodyPr/>
          <a:lstStyle/>
          <a:p>
            <a:pPr>
              <a:defRPr/>
            </a:pPr>
            <a:r>
              <a:rPr lang="en-US"/>
              <a:t>EE 123 -- Bioelectricity</a:t>
            </a:r>
            <a:endParaRPr lang="en-US" dirty="0"/>
          </a:p>
        </p:txBody>
      </p:sp>
      <p:sp>
        <p:nvSpPr>
          <p:cNvPr id="7" name="Oval 6">
            <a:extLst>
              <a:ext uri="{FF2B5EF4-FFF2-40B4-BE49-F238E27FC236}">
                <a16:creationId xmlns:a16="http://schemas.microsoft.com/office/drawing/2014/main" id="{2F1B1936-3F91-410F-B014-C1110AF03053}"/>
              </a:ext>
            </a:extLst>
          </p:cNvPr>
          <p:cNvSpPr/>
          <p:nvPr/>
        </p:nvSpPr>
        <p:spPr>
          <a:xfrm>
            <a:off x="1447800" y="3657600"/>
            <a:ext cx="152400" cy="1524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670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3000" fill="hold" grpId="0" nodeType="clickEffect">
                                  <p:stCondLst>
                                    <p:cond delay="0"/>
                                  </p:stCondLst>
                                  <p:childTnLst>
                                    <p:animMotion origin="layout" path="M 0.00139 -0.00092 C 0.021 -0.0155 0.04253 -0.01342 0.04965 0.00325 C 0.0559 0.01875 0.04548 0.04399 0.02639 0.0588 C 0.00659 0.07315 -0.01493 0.0713 -0.02153 0.05533 C -0.02813 0.03936 -0.01806 0.01436 0.00139 -0.00092 Z " pathEditMode="relative" rAng="19860000" ptsTypes="AAAAA">
                                      <p:cBhvr>
                                        <p:cTn id="6" dur="2000" fill="hold"/>
                                        <p:tgtEl>
                                          <p:spTgt spid="7"/>
                                        </p:tgtEl>
                                        <p:attrNameLst>
                                          <p:attrName>ppt_x</p:attrName>
                                          <p:attrName>ppt_y</p:attrName>
                                        </p:attrNameLst>
                                      </p:cBhvr>
                                      <p:rCtr x="1250" y="298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2A18D-69D1-48F8-9E6C-F12413F6E084}"/>
              </a:ext>
            </a:extLst>
          </p:cNvPr>
          <p:cNvSpPr>
            <a:spLocks noGrp="1"/>
          </p:cNvSpPr>
          <p:nvPr>
            <p:ph type="title"/>
          </p:nvPr>
        </p:nvSpPr>
        <p:spPr/>
        <p:txBody>
          <a:bodyPr/>
          <a:lstStyle/>
          <a:p>
            <a:r>
              <a:rPr lang="en-US" dirty="0"/>
              <a:t>Atrial fib causes</a:t>
            </a:r>
          </a:p>
        </p:txBody>
      </p:sp>
      <p:sp>
        <p:nvSpPr>
          <p:cNvPr id="3" name="Content Placeholder 2">
            <a:extLst>
              <a:ext uri="{FF2B5EF4-FFF2-40B4-BE49-F238E27FC236}">
                <a16:creationId xmlns:a16="http://schemas.microsoft.com/office/drawing/2014/main" id="{CACF3809-8EDA-49AD-A0A5-00EA391A595B}"/>
              </a:ext>
            </a:extLst>
          </p:cNvPr>
          <p:cNvSpPr>
            <a:spLocks noGrp="1"/>
          </p:cNvSpPr>
          <p:nvPr>
            <p:ph idx="1"/>
          </p:nvPr>
        </p:nvSpPr>
        <p:spPr/>
        <p:txBody>
          <a:bodyPr/>
          <a:lstStyle/>
          <a:p>
            <a:r>
              <a:rPr lang="en-US" dirty="0"/>
              <a:t>Causes:</a:t>
            </a:r>
          </a:p>
          <a:p>
            <a:pPr lvl="1">
              <a:spcBef>
                <a:spcPts val="0"/>
              </a:spcBef>
            </a:pPr>
            <a:r>
              <a:rPr lang="en-US" dirty="0"/>
              <a:t>Congenital heart disease of many types</a:t>
            </a:r>
          </a:p>
          <a:p>
            <a:pPr lvl="1">
              <a:spcBef>
                <a:spcPts val="0"/>
              </a:spcBef>
            </a:pPr>
            <a:r>
              <a:rPr lang="en-US" dirty="0"/>
              <a:t>Sedentary lifestyle (via diabetes, high blood pressure,  obesity)</a:t>
            </a:r>
          </a:p>
          <a:p>
            <a:pPr lvl="1">
              <a:spcBef>
                <a:spcPts val="0"/>
              </a:spcBef>
            </a:pPr>
            <a:r>
              <a:rPr lang="en-US" dirty="0"/>
              <a:t>“Excessive” endurance exercise!</a:t>
            </a:r>
          </a:p>
          <a:p>
            <a:pPr lvl="1">
              <a:spcBef>
                <a:spcPts val="0"/>
              </a:spcBef>
            </a:pPr>
            <a:r>
              <a:rPr lang="en-US" dirty="0"/>
              <a:t>Exercise is a powerful drug, with a dose/response curve</a:t>
            </a:r>
          </a:p>
          <a:p>
            <a:r>
              <a:rPr lang="en-US" dirty="0"/>
              <a:t>“Cures”</a:t>
            </a:r>
          </a:p>
          <a:p>
            <a:pPr lvl="1">
              <a:spcBef>
                <a:spcPts val="0"/>
              </a:spcBef>
            </a:pPr>
            <a:r>
              <a:rPr lang="en-US" dirty="0"/>
              <a:t>Various drugs (</a:t>
            </a:r>
            <a:r>
              <a:rPr lang="en-US" dirty="0" err="1"/>
              <a:t>flecanaide</a:t>
            </a:r>
            <a:r>
              <a:rPr lang="en-US" dirty="0"/>
              <a:t> + other)</a:t>
            </a:r>
          </a:p>
          <a:p>
            <a:pPr lvl="1">
              <a:spcBef>
                <a:spcPts val="0"/>
              </a:spcBef>
            </a:pPr>
            <a:r>
              <a:rPr lang="en-US" dirty="0"/>
              <a:t>Ablation</a:t>
            </a:r>
          </a:p>
          <a:p>
            <a:pPr lvl="1">
              <a:spcBef>
                <a:spcPts val="0"/>
              </a:spcBef>
            </a:pPr>
            <a:r>
              <a:rPr lang="en-US" dirty="0"/>
              <a:t>Rest, sleep or time</a:t>
            </a:r>
          </a:p>
        </p:txBody>
      </p:sp>
      <p:sp>
        <p:nvSpPr>
          <p:cNvPr id="4" name="Footer Placeholder 3">
            <a:extLst>
              <a:ext uri="{FF2B5EF4-FFF2-40B4-BE49-F238E27FC236}">
                <a16:creationId xmlns:a16="http://schemas.microsoft.com/office/drawing/2014/main" id="{A5DF113E-1DB3-4260-A448-EEADF1F5447C}"/>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109271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fade">
                                      <p:cBhvr>
                                        <p:cTn id="20" dur="500"/>
                                        <p:tgtEl>
                                          <p:spTgt spid="3">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heart&#10;&#10;AI-generated content may be incorrect.">
            <a:extLst>
              <a:ext uri="{FF2B5EF4-FFF2-40B4-BE49-F238E27FC236}">
                <a16:creationId xmlns:a16="http://schemas.microsoft.com/office/drawing/2014/main" id="{A4CF80AF-D350-5401-4281-CC524C6943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Ablation</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57949" y="1974848"/>
            <a:ext cx="4811650" cy="2151413"/>
          </a:xfrm>
        </p:spPr>
        <p:txBody>
          <a:bodyPr/>
          <a:lstStyle/>
          <a:p>
            <a:r>
              <a:rPr lang="en-US" sz="2400"/>
              <a:t>“Guess” </a:t>
            </a:r>
            <a:r>
              <a:rPr lang="en-US" sz="2400" dirty="0"/>
              <a:t>that the loop goes near the pulmonary vein</a:t>
            </a:r>
          </a:p>
          <a:p>
            <a:r>
              <a:rPr lang="en-US" sz="2400" dirty="0"/>
              <a:t>Surgically isolate the pulmonary vein</a:t>
            </a:r>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a:t>EE 123 -- Bioelectricity</a:t>
            </a:r>
            <a:endParaRPr lang="en-US" dirty="0"/>
          </a:p>
        </p:txBody>
      </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15" name="Straight Arrow Connector 14">
            <a:extLst>
              <a:ext uri="{FF2B5EF4-FFF2-40B4-BE49-F238E27FC236}">
                <a16:creationId xmlns:a16="http://schemas.microsoft.com/office/drawing/2014/main" id="{6F6B7238-6C9D-4B5C-8179-E59CC3828588}"/>
              </a:ext>
            </a:extLst>
          </p:cNvPr>
          <p:cNvCxnSpPr>
            <a:cxnSpLocks/>
          </p:cNvCxnSpPr>
          <p:nvPr/>
        </p:nvCxnSpPr>
        <p:spPr>
          <a:xfrm flipV="1">
            <a:off x="2057400" y="3073399"/>
            <a:ext cx="6096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B3F5BD-EC04-45C3-B2C3-C522768BFAF8}"/>
              </a:ext>
            </a:extLst>
          </p:cNvPr>
          <p:cNvCxnSpPr>
            <a:cxnSpLocks/>
          </p:cNvCxnSpPr>
          <p:nvPr/>
        </p:nvCxnSpPr>
        <p:spPr>
          <a:xfrm flipV="1">
            <a:off x="2667000" y="2880990"/>
            <a:ext cx="457200" cy="16701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A9F81C-4851-4908-B81B-19E558CAD1B6}"/>
              </a:ext>
            </a:extLst>
          </p:cNvPr>
          <p:cNvCxnSpPr>
            <a:cxnSpLocks/>
          </p:cNvCxnSpPr>
          <p:nvPr/>
        </p:nvCxnSpPr>
        <p:spPr>
          <a:xfrm flipH="1">
            <a:off x="2252949" y="2852451"/>
            <a:ext cx="860075" cy="2349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96F06D6-E376-4E19-B353-808217CD69DE}"/>
              </a:ext>
            </a:extLst>
          </p:cNvPr>
          <p:cNvCxnSpPr>
            <a:cxnSpLocks/>
          </p:cNvCxnSpPr>
          <p:nvPr/>
        </p:nvCxnSpPr>
        <p:spPr>
          <a:xfrm flipH="1">
            <a:off x="1469675" y="2895600"/>
            <a:ext cx="609601" cy="3682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3A6089B-51E9-4A03-BAF5-B523E295CC7F}"/>
              </a:ext>
            </a:extLst>
          </p:cNvPr>
          <p:cNvCxnSpPr>
            <a:cxnSpLocks/>
          </p:cNvCxnSpPr>
          <p:nvPr/>
        </p:nvCxnSpPr>
        <p:spPr>
          <a:xfrm flipH="1">
            <a:off x="533400" y="3213101"/>
            <a:ext cx="914402" cy="3810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49C68D-1549-4C6B-983A-2F61A403E48C}"/>
              </a:ext>
            </a:extLst>
          </p:cNvPr>
          <p:cNvCxnSpPr>
            <a:cxnSpLocks/>
          </p:cNvCxnSpPr>
          <p:nvPr/>
        </p:nvCxnSpPr>
        <p:spPr>
          <a:xfrm flipV="1">
            <a:off x="610681" y="3263899"/>
            <a:ext cx="1446719" cy="36830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04DEA667-5EB1-53A7-F409-3923F6291052}"/>
              </a:ext>
            </a:extLst>
          </p:cNvPr>
          <p:cNvSpPr/>
          <p:nvPr/>
        </p:nvSpPr>
        <p:spPr>
          <a:xfrm rot="1204649">
            <a:off x="2451100" y="2827051"/>
            <a:ext cx="457200" cy="220948"/>
          </a:xfrm>
          <a:prstGeom prst="ellipse">
            <a:avLst/>
          </a:prstGeom>
          <a:noFill/>
          <a:ln>
            <a:solidFill>
              <a:srgbClr val="FFFF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375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xit" presetSubtype="0" fill="hold" nodeType="afterEffect">
                                  <p:stCondLst>
                                    <p:cond delay="0"/>
                                  </p:stCondLst>
                                  <p:childTnLst>
                                    <p:animEffect transition="out" filter="fade">
                                      <p:cBhvr>
                                        <p:cTn id="10" dur="500"/>
                                        <p:tgtEl>
                                          <p:spTgt spid="15"/>
                                        </p:tgtEl>
                                      </p:cBhvr>
                                    </p:animEffect>
                                    <p:set>
                                      <p:cBhvr>
                                        <p:cTn id="11" dur="1" fill="hold">
                                          <p:stCondLst>
                                            <p:cond delay="499"/>
                                          </p:stCondLst>
                                        </p:cTn>
                                        <p:tgtEl>
                                          <p:spTgt spid="15"/>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childTnLst>
                          </p:cTn>
                        </p:par>
                        <p:par>
                          <p:cTn id="15" fill="hold">
                            <p:stCondLst>
                              <p:cond delay="1000"/>
                            </p:stCondLst>
                            <p:childTnLst>
                              <p:par>
                                <p:cTn id="16" presetID="10" presetClass="exit" presetSubtype="0" fill="hold" nodeType="afterEffect">
                                  <p:stCondLst>
                                    <p:cond delay="0"/>
                                  </p:stCondLst>
                                  <p:childTnLst>
                                    <p:animEffect transition="out" filter="fade">
                                      <p:cBhvr>
                                        <p:cTn id="17" dur="500"/>
                                        <p:tgtEl>
                                          <p:spTgt spid="18"/>
                                        </p:tgtEl>
                                      </p:cBhvr>
                                    </p:animEffect>
                                    <p:set>
                                      <p:cBhvr>
                                        <p:cTn id="18" dur="1" fill="hold">
                                          <p:stCondLst>
                                            <p:cond delay="499"/>
                                          </p:stCondLst>
                                        </p:cTn>
                                        <p:tgtEl>
                                          <p:spTgt spid="18"/>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1500"/>
                            </p:stCondLst>
                            <p:childTnLst>
                              <p:par>
                                <p:cTn id="23" presetID="10" presetClass="exit" presetSubtype="0" fill="hold" nodeType="afterEffect">
                                  <p:stCondLst>
                                    <p:cond delay="0"/>
                                  </p:stCondLst>
                                  <p:childTnLst>
                                    <p:animEffect transition="out" filter="fade">
                                      <p:cBhvr>
                                        <p:cTn id="24" dur="500"/>
                                        <p:tgtEl>
                                          <p:spTgt spid="20"/>
                                        </p:tgtEl>
                                      </p:cBhvr>
                                    </p:animEffect>
                                    <p:set>
                                      <p:cBhvr>
                                        <p:cTn id="25" dur="1" fill="hold">
                                          <p:stCondLst>
                                            <p:cond delay="499"/>
                                          </p:stCondLst>
                                        </p:cTn>
                                        <p:tgtEl>
                                          <p:spTgt spid="20"/>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par>
                          <p:cTn id="36" fill="hold">
                            <p:stCondLst>
                              <p:cond delay="2500"/>
                            </p:stCondLst>
                            <p:childTnLst>
                              <p:par>
                                <p:cTn id="37" presetID="10" presetClass="exit" presetSubtype="0" fill="hold" nodeType="afterEffect">
                                  <p:stCondLst>
                                    <p:cond delay="0"/>
                                  </p:stCondLst>
                                  <p:childTnLst>
                                    <p:animEffect transition="out" filter="fade">
                                      <p:cBhvr>
                                        <p:cTn id="38" dur="500"/>
                                        <p:tgtEl>
                                          <p:spTgt spid="24"/>
                                        </p:tgtEl>
                                      </p:cBhvr>
                                    </p:animEffect>
                                    <p:set>
                                      <p:cBhvr>
                                        <p:cTn id="39" dur="1" fill="hold">
                                          <p:stCondLst>
                                            <p:cond delay="499"/>
                                          </p:stCondLst>
                                        </p:cTn>
                                        <p:tgtEl>
                                          <p:spTgt spid="24"/>
                                        </p:tgtEl>
                                        <p:attrNameLst>
                                          <p:attrName>style.visibility</p:attrName>
                                        </p:attrNameLst>
                                      </p:cBhvr>
                                      <p:to>
                                        <p:strVal val="hidden"/>
                                      </p:to>
                                    </p:se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3000"/>
                            </p:stCondLst>
                            <p:childTnLst>
                              <p:par>
                                <p:cTn id="44" presetID="10" presetClass="exit" presetSubtype="0" fill="hold" nodeType="afterEffect">
                                  <p:stCondLst>
                                    <p:cond delay="0"/>
                                  </p:stCondLst>
                                  <p:childTnLst>
                                    <p:animEffect transition="out" filter="fade">
                                      <p:cBhvr>
                                        <p:cTn id="45" dur="500"/>
                                        <p:tgtEl>
                                          <p:spTgt spid="28"/>
                                        </p:tgtEl>
                                      </p:cBhvr>
                                    </p:animEffect>
                                    <p:set>
                                      <p:cBhvr>
                                        <p:cTn id="46" dur="1" fill="hold">
                                          <p:stCondLst>
                                            <p:cond delay="499"/>
                                          </p:stCondLst>
                                        </p:cTn>
                                        <p:tgtEl>
                                          <p:spTgt spid="2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animEffect transition="in" filter="fade">
                                      <p:cBhvr>
                                        <p:cTn id="51" dur="500"/>
                                        <p:tgtEl>
                                          <p:spTgt spid="3">
                                            <p:txEl>
                                              <p:pRg st="0" end="0"/>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
                                            <p:txEl>
                                              <p:pRg st="1" end="1"/>
                                            </p:txEl>
                                          </p:spTgt>
                                        </p:tgtEl>
                                        <p:attrNameLst>
                                          <p:attrName>style.visibility</p:attrName>
                                        </p:attrNameLst>
                                      </p:cBhvr>
                                      <p:to>
                                        <p:strVal val="visible"/>
                                      </p:to>
                                    </p:set>
                                    <p:animEffect transition="in" filter="fade">
                                      <p:cBhvr>
                                        <p:cTn id="54" dur="500"/>
                                        <p:tgtEl>
                                          <p:spTgt spid="3">
                                            <p:txEl>
                                              <p:pRg st="1" end="1"/>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fade">
                                      <p:cBhvr>
                                        <p:cTn id="5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iagram of a heart&#10;&#10;AI-generated content may be incorrect.">
            <a:extLst>
              <a:ext uri="{FF2B5EF4-FFF2-40B4-BE49-F238E27FC236}">
                <a16:creationId xmlns:a16="http://schemas.microsoft.com/office/drawing/2014/main" id="{FA7B04EF-114E-B17B-B860-551D9EFC5A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Ablation</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57949" y="1676400"/>
            <a:ext cx="4811650" cy="1860939"/>
          </a:xfrm>
        </p:spPr>
        <p:txBody>
          <a:bodyPr/>
          <a:lstStyle/>
          <a:p>
            <a:r>
              <a:rPr lang="en-US" sz="2400" dirty="0"/>
              <a:t>Surgically break the loop</a:t>
            </a:r>
          </a:p>
          <a:p>
            <a:pPr lvl="1">
              <a:spcBef>
                <a:spcPts val="0"/>
              </a:spcBef>
            </a:pPr>
            <a:r>
              <a:rPr lang="en-US" sz="2000" dirty="0"/>
              <a:t>Previously, either burn or freeze the relevant heart tissue</a:t>
            </a:r>
          </a:p>
          <a:p>
            <a:pPr lvl="1">
              <a:spcBef>
                <a:spcPts val="0"/>
              </a:spcBef>
            </a:pPr>
            <a:r>
              <a:rPr lang="en-US" sz="2000" dirty="0"/>
              <a:t>More recently: electroporation</a:t>
            </a:r>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a:t>EE 123 -- Bioelectricity</a:t>
            </a:r>
            <a:endParaRPr lang="en-US" dirty="0"/>
          </a:p>
        </p:txBody>
      </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15" name="Straight Arrow Connector 14">
            <a:extLst>
              <a:ext uri="{FF2B5EF4-FFF2-40B4-BE49-F238E27FC236}">
                <a16:creationId xmlns:a16="http://schemas.microsoft.com/office/drawing/2014/main" id="{6F6B7238-6C9D-4B5C-8179-E59CC3828588}"/>
              </a:ext>
            </a:extLst>
          </p:cNvPr>
          <p:cNvCxnSpPr>
            <a:cxnSpLocks/>
          </p:cNvCxnSpPr>
          <p:nvPr/>
        </p:nvCxnSpPr>
        <p:spPr>
          <a:xfrm flipV="1">
            <a:off x="2057400" y="3073399"/>
            <a:ext cx="6096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B3F5BD-EC04-45C3-B2C3-C522768BFAF8}"/>
              </a:ext>
            </a:extLst>
          </p:cNvPr>
          <p:cNvCxnSpPr>
            <a:cxnSpLocks/>
          </p:cNvCxnSpPr>
          <p:nvPr/>
        </p:nvCxnSpPr>
        <p:spPr>
          <a:xfrm flipV="1">
            <a:off x="2667000" y="2880990"/>
            <a:ext cx="457200" cy="16701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A9F81C-4851-4908-B81B-19E558CAD1B6}"/>
              </a:ext>
            </a:extLst>
          </p:cNvPr>
          <p:cNvCxnSpPr>
            <a:cxnSpLocks/>
          </p:cNvCxnSpPr>
          <p:nvPr/>
        </p:nvCxnSpPr>
        <p:spPr>
          <a:xfrm flipH="1">
            <a:off x="2252949" y="2852451"/>
            <a:ext cx="860075" cy="2349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96F06D6-E376-4E19-B353-808217CD69DE}"/>
              </a:ext>
            </a:extLst>
          </p:cNvPr>
          <p:cNvCxnSpPr>
            <a:cxnSpLocks/>
          </p:cNvCxnSpPr>
          <p:nvPr/>
        </p:nvCxnSpPr>
        <p:spPr>
          <a:xfrm flipH="1">
            <a:off x="1469675" y="2895600"/>
            <a:ext cx="609601" cy="3682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3A6089B-51E9-4A03-BAF5-B523E295CC7F}"/>
              </a:ext>
            </a:extLst>
          </p:cNvPr>
          <p:cNvCxnSpPr>
            <a:cxnSpLocks/>
          </p:cNvCxnSpPr>
          <p:nvPr/>
        </p:nvCxnSpPr>
        <p:spPr>
          <a:xfrm flipH="1">
            <a:off x="533400" y="3213101"/>
            <a:ext cx="914402" cy="3810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49C68D-1549-4C6B-983A-2F61A403E48C}"/>
              </a:ext>
            </a:extLst>
          </p:cNvPr>
          <p:cNvCxnSpPr>
            <a:cxnSpLocks/>
          </p:cNvCxnSpPr>
          <p:nvPr/>
        </p:nvCxnSpPr>
        <p:spPr>
          <a:xfrm flipV="1">
            <a:off x="610681" y="3263899"/>
            <a:ext cx="1446719" cy="36830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80D4E3A4-5975-43C5-A698-F2FD9F0425C1}"/>
              </a:ext>
            </a:extLst>
          </p:cNvPr>
          <p:cNvSpPr/>
          <p:nvPr/>
        </p:nvSpPr>
        <p:spPr>
          <a:xfrm>
            <a:off x="1172205" y="3367126"/>
            <a:ext cx="136468" cy="14093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453ADD6-46B6-4F77-8A1A-32DEE08FB95A}"/>
              </a:ext>
            </a:extLst>
          </p:cNvPr>
          <p:cNvSpPr/>
          <p:nvPr/>
        </p:nvSpPr>
        <p:spPr>
          <a:xfrm>
            <a:off x="1336190" y="3483469"/>
            <a:ext cx="136468" cy="14093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277297C-6AF9-4E87-BFD5-6D9B60CD7F17}"/>
              </a:ext>
            </a:extLst>
          </p:cNvPr>
          <p:cNvSpPr/>
          <p:nvPr/>
        </p:nvSpPr>
        <p:spPr>
          <a:xfrm>
            <a:off x="1164766" y="3561731"/>
            <a:ext cx="136468" cy="14093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3E136AF-FEA5-06A9-ED09-A371186B961A}"/>
              </a:ext>
            </a:extLst>
          </p:cNvPr>
          <p:cNvSpPr/>
          <p:nvPr/>
        </p:nvSpPr>
        <p:spPr>
          <a:xfrm rot="1204649">
            <a:off x="2451100" y="2827051"/>
            <a:ext cx="457200" cy="220948"/>
          </a:xfrm>
          <a:prstGeom prst="ellipse">
            <a:avLst/>
          </a:prstGeom>
          <a:noFill/>
          <a:ln>
            <a:solidFill>
              <a:srgbClr val="FFFF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5390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heart&#10;&#10;AI-generated content may be incorrect.">
            <a:extLst>
              <a:ext uri="{FF2B5EF4-FFF2-40B4-BE49-F238E27FC236}">
                <a16:creationId xmlns:a16="http://schemas.microsoft.com/office/drawing/2014/main" id="{16485621-B251-E445-C240-062DE22B98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Ablation</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57949" y="1676400"/>
            <a:ext cx="4811650" cy="4724400"/>
          </a:xfrm>
        </p:spPr>
        <p:txBody>
          <a:bodyPr/>
          <a:lstStyle/>
          <a:p>
            <a:r>
              <a:rPr lang="en-US" sz="2400" dirty="0"/>
              <a:t>Surgically break the loop</a:t>
            </a:r>
          </a:p>
          <a:p>
            <a:pPr lvl="1">
              <a:spcBef>
                <a:spcPts val="0"/>
              </a:spcBef>
            </a:pPr>
            <a:r>
              <a:rPr lang="en-US" sz="2000" dirty="0"/>
              <a:t>Kill the relevant heart tissue</a:t>
            </a:r>
          </a:p>
          <a:p>
            <a:pPr lvl="1">
              <a:spcBef>
                <a:spcPts val="0"/>
              </a:spcBef>
            </a:pPr>
            <a:r>
              <a:rPr lang="en-US" sz="2000" dirty="0"/>
              <a:t>Like any procedure, it’s not risk free</a:t>
            </a:r>
          </a:p>
          <a:p>
            <a:r>
              <a:rPr lang="en-US" sz="2400" dirty="0"/>
              <a:t>Atrial fib: surgery or not?</a:t>
            </a:r>
            <a:endParaRPr lang="en-US" sz="2400" dirty="0">
              <a:hlinkClick r:id="rId4"/>
            </a:endParaRPr>
          </a:p>
          <a:p>
            <a:pPr lvl="1">
              <a:spcBef>
                <a:spcPts val="0"/>
              </a:spcBef>
            </a:pPr>
            <a:r>
              <a:rPr lang="en-US" sz="2000" dirty="0">
                <a:hlinkClick r:id="rId4"/>
              </a:rPr>
              <a:t>https://www.drjohnm.org/2019/02/af-ablation-update-2019/ </a:t>
            </a:r>
          </a:p>
          <a:p>
            <a:pPr lvl="1">
              <a:spcBef>
                <a:spcPts val="0"/>
              </a:spcBef>
            </a:pPr>
            <a:r>
              <a:rPr lang="en-US" sz="2000" dirty="0">
                <a:hlinkClick r:id="rId5"/>
              </a:rPr>
              <a:t>https://www.medscape.com/viewarticle/af-ablation-works-positive-sham-pvi-trial-2024a1000gzl</a:t>
            </a:r>
            <a:r>
              <a:rPr lang="en-US" sz="2000" dirty="0"/>
              <a:t> </a:t>
            </a:r>
            <a:endParaRPr lang="en-US" sz="2000" dirty="0">
              <a:hlinkClick r:id="rId4"/>
            </a:endParaRPr>
          </a:p>
          <a:p>
            <a:pPr lvl="1">
              <a:spcBef>
                <a:spcPts val="0"/>
              </a:spcBef>
            </a:pPr>
            <a:r>
              <a:rPr lang="en-US" sz="2000" dirty="0">
                <a:hlinkClick r:id="rId4"/>
              </a:rPr>
              <a:t>https://www.medscape.com/viewarticle/919228 </a:t>
            </a:r>
          </a:p>
          <a:p>
            <a:pPr lvl="1">
              <a:spcBef>
                <a:spcPts val="0"/>
              </a:spcBef>
            </a:pPr>
            <a:r>
              <a:rPr lang="en-US" sz="2000" dirty="0">
                <a:hlinkClick r:id="rId4"/>
              </a:rPr>
              <a:t>https://www.drjohnm.org/2011/03/the-best-tool-for-treating-atrial-fibrillation</a:t>
            </a:r>
            <a:r>
              <a:rPr lang="en-US" sz="2000" dirty="0"/>
              <a:t> </a:t>
            </a:r>
          </a:p>
          <a:p>
            <a:pPr>
              <a:spcBef>
                <a:spcPts val="0"/>
              </a:spcBef>
            </a:pPr>
            <a:endParaRPr lang="en-US" sz="2400"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a:t>EE 123 -- Bioelectricity</a:t>
            </a:r>
            <a:endParaRPr lang="en-US" dirty="0"/>
          </a:p>
        </p:txBody>
      </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cxnSp>
        <p:nvCxnSpPr>
          <p:cNvPr id="15" name="Straight Arrow Connector 14">
            <a:extLst>
              <a:ext uri="{FF2B5EF4-FFF2-40B4-BE49-F238E27FC236}">
                <a16:creationId xmlns:a16="http://schemas.microsoft.com/office/drawing/2014/main" id="{6F6B7238-6C9D-4B5C-8179-E59CC3828588}"/>
              </a:ext>
            </a:extLst>
          </p:cNvPr>
          <p:cNvCxnSpPr>
            <a:cxnSpLocks/>
          </p:cNvCxnSpPr>
          <p:nvPr/>
        </p:nvCxnSpPr>
        <p:spPr>
          <a:xfrm flipV="1">
            <a:off x="2057400" y="3073399"/>
            <a:ext cx="6096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B3F5BD-EC04-45C3-B2C3-C522768BFAF8}"/>
              </a:ext>
            </a:extLst>
          </p:cNvPr>
          <p:cNvCxnSpPr>
            <a:cxnSpLocks/>
          </p:cNvCxnSpPr>
          <p:nvPr/>
        </p:nvCxnSpPr>
        <p:spPr>
          <a:xfrm flipV="1">
            <a:off x="2667000" y="2880990"/>
            <a:ext cx="457200" cy="16701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A9F81C-4851-4908-B81B-19E558CAD1B6}"/>
              </a:ext>
            </a:extLst>
          </p:cNvPr>
          <p:cNvCxnSpPr>
            <a:cxnSpLocks/>
          </p:cNvCxnSpPr>
          <p:nvPr/>
        </p:nvCxnSpPr>
        <p:spPr>
          <a:xfrm flipH="1">
            <a:off x="2252949" y="2852451"/>
            <a:ext cx="860075" cy="2349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96F06D6-E376-4E19-B353-808217CD69DE}"/>
              </a:ext>
            </a:extLst>
          </p:cNvPr>
          <p:cNvCxnSpPr>
            <a:cxnSpLocks/>
          </p:cNvCxnSpPr>
          <p:nvPr/>
        </p:nvCxnSpPr>
        <p:spPr>
          <a:xfrm flipH="1">
            <a:off x="1469675" y="2895600"/>
            <a:ext cx="609601" cy="3682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3A6089B-51E9-4A03-BAF5-B523E295CC7F}"/>
              </a:ext>
            </a:extLst>
          </p:cNvPr>
          <p:cNvCxnSpPr>
            <a:cxnSpLocks/>
          </p:cNvCxnSpPr>
          <p:nvPr/>
        </p:nvCxnSpPr>
        <p:spPr>
          <a:xfrm flipH="1">
            <a:off x="533400" y="3213101"/>
            <a:ext cx="914402" cy="3810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49C68D-1549-4C6B-983A-2F61A403E48C}"/>
              </a:ext>
            </a:extLst>
          </p:cNvPr>
          <p:cNvCxnSpPr>
            <a:cxnSpLocks/>
          </p:cNvCxnSpPr>
          <p:nvPr/>
        </p:nvCxnSpPr>
        <p:spPr>
          <a:xfrm flipV="1">
            <a:off x="610681" y="3505200"/>
            <a:ext cx="554085" cy="12700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80D4E3A4-5975-43C5-A698-F2FD9F0425C1}"/>
              </a:ext>
            </a:extLst>
          </p:cNvPr>
          <p:cNvSpPr/>
          <p:nvPr/>
        </p:nvSpPr>
        <p:spPr>
          <a:xfrm>
            <a:off x="1172205" y="3367126"/>
            <a:ext cx="136468" cy="14093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453ADD6-46B6-4F77-8A1A-32DEE08FB95A}"/>
              </a:ext>
            </a:extLst>
          </p:cNvPr>
          <p:cNvSpPr/>
          <p:nvPr/>
        </p:nvSpPr>
        <p:spPr>
          <a:xfrm>
            <a:off x="1336190" y="3483469"/>
            <a:ext cx="136468" cy="14093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277297C-6AF9-4E87-BFD5-6D9B60CD7F17}"/>
              </a:ext>
            </a:extLst>
          </p:cNvPr>
          <p:cNvSpPr/>
          <p:nvPr/>
        </p:nvSpPr>
        <p:spPr>
          <a:xfrm>
            <a:off x="1164766" y="3561731"/>
            <a:ext cx="136468" cy="14093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572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xit" presetSubtype="0" fill="hold" nodeType="afterEffect">
                                  <p:stCondLst>
                                    <p:cond delay="0"/>
                                  </p:stCondLst>
                                  <p:childTnLst>
                                    <p:animEffect transition="out" filter="fade">
                                      <p:cBhvr>
                                        <p:cTn id="10" dur="500"/>
                                        <p:tgtEl>
                                          <p:spTgt spid="15"/>
                                        </p:tgtEl>
                                      </p:cBhvr>
                                    </p:animEffect>
                                    <p:set>
                                      <p:cBhvr>
                                        <p:cTn id="11" dur="1" fill="hold">
                                          <p:stCondLst>
                                            <p:cond delay="499"/>
                                          </p:stCondLst>
                                        </p:cTn>
                                        <p:tgtEl>
                                          <p:spTgt spid="15"/>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childTnLst>
                          </p:cTn>
                        </p:par>
                        <p:par>
                          <p:cTn id="15" fill="hold">
                            <p:stCondLst>
                              <p:cond delay="1000"/>
                            </p:stCondLst>
                            <p:childTnLst>
                              <p:par>
                                <p:cTn id="16" presetID="10" presetClass="exit" presetSubtype="0" fill="hold" nodeType="afterEffect">
                                  <p:stCondLst>
                                    <p:cond delay="0"/>
                                  </p:stCondLst>
                                  <p:childTnLst>
                                    <p:animEffect transition="out" filter="fade">
                                      <p:cBhvr>
                                        <p:cTn id="17" dur="500"/>
                                        <p:tgtEl>
                                          <p:spTgt spid="18"/>
                                        </p:tgtEl>
                                      </p:cBhvr>
                                    </p:animEffect>
                                    <p:set>
                                      <p:cBhvr>
                                        <p:cTn id="18" dur="1" fill="hold">
                                          <p:stCondLst>
                                            <p:cond delay="499"/>
                                          </p:stCondLst>
                                        </p:cTn>
                                        <p:tgtEl>
                                          <p:spTgt spid="18"/>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1500"/>
                            </p:stCondLst>
                            <p:childTnLst>
                              <p:par>
                                <p:cTn id="23" presetID="10" presetClass="exit" presetSubtype="0" fill="hold" nodeType="afterEffect">
                                  <p:stCondLst>
                                    <p:cond delay="0"/>
                                  </p:stCondLst>
                                  <p:childTnLst>
                                    <p:animEffect transition="out" filter="fade">
                                      <p:cBhvr>
                                        <p:cTn id="24" dur="500"/>
                                        <p:tgtEl>
                                          <p:spTgt spid="20"/>
                                        </p:tgtEl>
                                      </p:cBhvr>
                                    </p:animEffect>
                                    <p:set>
                                      <p:cBhvr>
                                        <p:cTn id="25" dur="1" fill="hold">
                                          <p:stCondLst>
                                            <p:cond delay="499"/>
                                          </p:stCondLst>
                                        </p:cTn>
                                        <p:tgtEl>
                                          <p:spTgt spid="20"/>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par>
                          <p:cTn id="36" fill="hold">
                            <p:stCondLst>
                              <p:cond delay="2500"/>
                            </p:stCondLst>
                            <p:childTnLst>
                              <p:par>
                                <p:cTn id="37" presetID="10" presetClass="exit" presetSubtype="0" fill="hold" nodeType="afterEffect">
                                  <p:stCondLst>
                                    <p:cond delay="0"/>
                                  </p:stCondLst>
                                  <p:childTnLst>
                                    <p:animEffect transition="out" filter="fade">
                                      <p:cBhvr>
                                        <p:cTn id="38" dur="500"/>
                                        <p:tgtEl>
                                          <p:spTgt spid="24"/>
                                        </p:tgtEl>
                                      </p:cBhvr>
                                    </p:animEffect>
                                    <p:set>
                                      <p:cBhvr>
                                        <p:cTn id="39" dur="1" fill="hold">
                                          <p:stCondLst>
                                            <p:cond delay="499"/>
                                          </p:stCondLst>
                                        </p:cTn>
                                        <p:tgtEl>
                                          <p:spTgt spid="24"/>
                                        </p:tgtEl>
                                        <p:attrNameLst>
                                          <p:attrName>style.visibility</p:attrName>
                                        </p:attrNameLst>
                                      </p:cBhvr>
                                      <p:to>
                                        <p:strVal val="hidden"/>
                                      </p:to>
                                    </p:se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3000"/>
                            </p:stCondLst>
                            <p:childTnLst>
                              <p:par>
                                <p:cTn id="44" presetID="10" presetClass="exit" presetSubtype="0" fill="hold" nodeType="afterEffect">
                                  <p:stCondLst>
                                    <p:cond delay="0"/>
                                  </p:stCondLst>
                                  <p:childTnLst>
                                    <p:animEffect transition="out" filter="fade">
                                      <p:cBhvr>
                                        <p:cTn id="45" dur="500"/>
                                        <p:tgtEl>
                                          <p:spTgt spid="28"/>
                                        </p:tgtEl>
                                      </p:cBhvr>
                                    </p:animEffect>
                                    <p:set>
                                      <p:cBhvr>
                                        <p:cTn id="46" dur="1" fill="hold">
                                          <p:stCondLst>
                                            <p:cond delay="499"/>
                                          </p:stCondLst>
                                        </p:cTn>
                                        <p:tgtEl>
                                          <p:spTgt spid="2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2" end="2"/>
                                            </p:txEl>
                                          </p:spTgt>
                                        </p:tgtEl>
                                        <p:attrNameLst>
                                          <p:attrName>style.visibility</p:attrName>
                                        </p:attrNameLst>
                                      </p:cBhvr>
                                      <p:to>
                                        <p:strVal val="visible"/>
                                      </p:to>
                                    </p:set>
                                    <p:animEffect transition="in" filter="fade">
                                      <p:cBhvr>
                                        <p:cTn id="51" dur="500"/>
                                        <p:tgtEl>
                                          <p:spTgt spid="3">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
                                            <p:txEl>
                                              <p:pRg st="3" end="3"/>
                                            </p:txEl>
                                          </p:spTgt>
                                        </p:tgtEl>
                                        <p:attrNameLst>
                                          <p:attrName>style.visibility</p:attrName>
                                        </p:attrNameLst>
                                      </p:cBhvr>
                                      <p:to>
                                        <p:strVal val="visible"/>
                                      </p:to>
                                    </p:set>
                                    <p:animEffect transition="in" filter="fade">
                                      <p:cBhvr>
                                        <p:cTn id="56" dur="500"/>
                                        <p:tgtEl>
                                          <p:spTgt spid="3">
                                            <p:txEl>
                                              <p:pRg st="3" end="3"/>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3">
                                            <p:txEl>
                                              <p:pRg st="4" end="4"/>
                                            </p:txEl>
                                          </p:spTgt>
                                        </p:tgtEl>
                                        <p:attrNameLst>
                                          <p:attrName>style.visibility</p:attrName>
                                        </p:attrNameLst>
                                      </p:cBhvr>
                                      <p:to>
                                        <p:strVal val="visible"/>
                                      </p:to>
                                    </p:set>
                                    <p:animEffect transition="in" filter="fade">
                                      <p:cBhvr>
                                        <p:cTn id="59" dur="500"/>
                                        <p:tgtEl>
                                          <p:spTgt spid="3">
                                            <p:txEl>
                                              <p:pRg st="4" end="4"/>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3">
                                            <p:txEl>
                                              <p:pRg st="5" end="5"/>
                                            </p:txEl>
                                          </p:spTgt>
                                        </p:tgtEl>
                                        <p:attrNameLst>
                                          <p:attrName>style.visibility</p:attrName>
                                        </p:attrNameLst>
                                      </p:cBhvr>
                                      <p:to>
                                        <p:strVal val="visible"/>
                                      </p:to>
                                    </p:set>
                                    <p:animEffect transition="in" filter="fade">
                                      <p:cBhvr>
                                        <p:cTn id="62" dur="500"/>
                                        <p:tgtEl>
                                          <p:spTgt spid="3">
                                            <p:txEl>
                                              <p:pRg st="5" end="5"/>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3">
                                            <p:txEl>
                                              <p:pRg st="6" end="6"/>
                                            </p:txEl>
                                          </p:spTgt>
                                        </p:tgtEl>
                                        <p:attrNameLst>
                                          <p:attrName>style.visibility</p:attrName>
                                        </p:attrNameLst>
                                      </p:cBhvr>
                                      <p:to>
                                        <p:strVal val="visible"/>
                                      </p:to>
                                    </p:set>
                                    <p:animEffect transition="in" filter="fade">
                                      <p:cBhvr>
                                        <p:cTn id="65" dur="500"/>
                                        <p:tgtEl>
                                          <p:spTgt spid="3">
                                            <p:txEl>
                                              <p:pRg st="6" end="6"/>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3">
                                            <p:txEl>
                                              <p:pRg st="7" end="7"/>
                                            </p:txEl>
                                          </p:spTgt>
                                        </p:tgtEl>
                                        <p:attrNameLst>
                                          <p:attrName>style.visibility</p:attrName>
                                        </p:attrNameLst>
                                      </p:cBhvr>
                                      <p:to>
                                        <p:strVal val="visible"/>
                                      </p:to>
                                    </p:set>
                                    <p:animEffect transition="in" filter="fade">
                                      <p:cBhvr>
                                        <p:cTn id="6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01F645-4168-ADED-5D88-B78666CFFCA8}"/>
              </a:ext>
            </a:extLst>
          </p:cNvPr>
          <p:cNvSpPr>
            <a:spLocks noGrp="1"/>
          </p:cNvSpPr>
          <p:nvPr>
            <p:ph idx="1"/>
          </p:nvPr>
        </p:nvSpPr>
        <p:spPr>
          <a:xfrm>
            <a:off x="381000" y="1981200"/>
            <a:ext cx="5334000" cy="4114800"/>
          </a:xfrm>
        </p:spPr>
        <p:txBody>
          <a:bodyPr/>
          <a:lstStyle/>
          <a:p>
            <a:r>
              <a:rPr lang="en-US" dirty="0"/>
              <a:t>Structural damage (e.g., heart attack) often causes electrical damage</a:t>
            </a:r>
          </a:p>
          <a:p>
            <a:pPr lvl="1">
              <a:spcBef>
                <a:spcPts val="0"/>
              </a:spcBef>
            </a:pPr>
            <a:r>
              <a:rPr lang="en-US" dirty="0"/>
              <a:t>Heart attack; damaged cells can cause a one-way conduction path</a:t>
            </a:r>
          </a:p>
          <a:p>
            <a:pPr lvl="1">
              <a:spcBef>
                <a:spcPts val="0"/>
              </a:spcBef>
            </a:pPr>
            <a:r>
              <a:rPr lang="en-US" dirty="0"/>
              <a:t>Heart attack: dead cells don’t create AP, alters R axis</a:t>
            </a:r>
          </a:p>
          <a:p>
            <a:pPr lvl="1">
              <a:spcBef>
                <a:spcPts val="0"/>
              </a:spcBef>
            </a:pPr>
            <a:r>
              <a:rPr lang="en-US" dirty="0"/>
              <a:t>Left-ventricular hypertrophy alters R axis &amp; voltage</a:t>
            </a:r>
          </a:p>
        </p:txBody>
      </p:sp>
      <p:sp>
        <p:nvSpPr>
          <p:cNvPr id="4" name="Footer Placeholder 3">
            <a:extLst>
              <a:ext uri="{FF2B5EF4-FFF2-40B4-BE49-F238E27FC236}">
                <a16:creationId xmlns:a16="http://schemas.microsoft.com/office/drawing/2014/main" id="{CC650CA2-E67C-C1E9-6B5C-A27A8A169778}"/>
              </a:ext>
            </a:extLst>
          </p:cNvPr>
          <p:cNvSpPr>
            <a:spLocks noGrp="1"/>
          </p:cNvSpPr>
          <p:nvPr>
            <p:ph type="ftr" sz="quarter" idx="11"/>
          </p:nvPr>
        </p:nvSpPr>
        <p:spPr/>
        <p:txBody>
          <a:bodyPr/>
          <a:lstStyle/>
          <a:p>
            <a:pPr>
              <a:defRPr/>
            </a:pPr>
            <a:r>
              <a:rPr lang="en-US"/>
              <a:t>EE 123 -- Bioelectricity</a:t>
            </a:r>
            <a:endParaRPr lang="en-US" dirty="0"/>
          </a:p>
        </p:txBody>
      </p:sp>
      <p:pic>
        <p:nvPicPr>
          <p:cNvPr id="5" name="Picture 4">
            <a:extLst>
              <a:ext uri="{FF2B5EF4-FFF2-40B4-BE49-F238E27FC236}">
                <a16:creationId xmlns:a16="http://schemas.microsoft.com/office/drawing/2014/main" id="{28FAA711-8B9C-8793-6CB2-5C4E51827B94}"/>
              </a:ext>
            </a:extLst>
          </p:cNvPr>
          <p:cNvPicPr>
            <a:picLocks noChangeAspect="1"/>
          </p:cNvPicPr>
          <p:nvPr/>
        </p:nvPicPr>
        <p:blipFill>
          <a:blip r:embed="rId2"/>
          <a:stretch>
            <a:fillRect/>
          </a:stretch>
        </p:blipFill>
        <p:spPr>
          <a:xfrm>
            <a:off x="6632740" y="228600"/>
            <a:ext cx="2196068" cy="2017487"/>
          </a:xfrm>
          <a:prstGeom prst="rect">
            <a:avLst/>
          </a:prstGeom>
        </p:spPr>
      </p:pic>
      <p:pic>
        <p:nvPicPr>
          <p:cNvPr id="6" name="Picture 5">
            <a:extLst>
              <a:ext uri="{FF2B5EF4-FFF2-40B4-BE49-F238E27FC236}">
                <a16:creationId xmlns:a16="http://schemas.microsoft.com/office/drawing/2014/main" id="{8A3B3A5D-B043-6CA7-0690-A19B279A808B}"/>
              </a:ext>
            </a:extLst>
          </p:cNvPr>
          <p:cNvPicPr>
            <a:picLocks noChangeAspect="1"/>
          </p:cNvPicPr>
          <p:nvPr/>
        </p:nvPicPr>
        <p:blipFill>
          <a:blip r:embed="rId3"/>
          <a:stretch>
            <a:fillRect/>
          </a:stretch>
        </p:blipFill>
        <p:spPr>
          <a:xfrm>
            <a:off x="6598452" y="2224955"/>
            <a:ext cx="2240748" cy="2093062"/>
          </a:xfrm>
          <a:prstGeom prst="rect">
            <a:avLst/>
          </a:prstGeom>
        </p:spPr>
      </p:pic>
      <p:pic>
        <p:nvPicPr>
          <p:cNvPr id="7" name="Picture 6">
            <a:extLst>
              <a:ext uri="{FF2B5EF4-FFF2-40B4-BE49-F238E27FC236}">
                <a16:creationId xmlns:a16="http://schemas.microsoft.com/office/drawing/2014/main" id="{3766B74F-EC15-9DCA-36F6-2C277F4676D6}"/>
              </a:ext>
            </a:extLst>
          </p:cNvPr>
          <p:cNvPicPr>
            <a:picLocks noChangeAspect="1"/>
          </p:cNvPicPr>
          <p:nvPr/>
        </p:nvPicPr>
        <p:blipFill>
          <a:blip r:embed="rId4"/>
          <a:stretch>
            <a:fillRect/>
          </a:stretch>
        </p:blipFill>
        <p:spPr>
          <a:xfrm>
            <a:off x="6522911" y="4161461"/>
            <a:ext cx="2285774" cy="2093062"/>
          </a:xfrm>
          <a:prstGeom prst="rect">
            <a:avLst/>
          </a:prstGeom>
        </p:spPr>
      </p:pic>
      <p:sp>
        <p:nvSpPr>
          <p:cNvPr id="8" name="TextBox 7">
            <a:extLst>
              <a:ext uri="{FF2B5EF4-FFF2-40B4-BE49-F238E27FC236}">
                <a16:creationId xmlns:a16="http://schemas.microsoft.com/office/drawing/2014/main" id="{0B2FEB44-3A09-C58B-D62A-677177E29090}"/>
              </a:ext>
            </a:extLst>
          </p:cNvPr>
          <p:cNvSpPr txBox="1"/>
          <p:nvPr/>
        </p:nvSpPr>
        <p:spPr>
          <a:xfrm>
            <a:off x="6294311" y="1143000"/>
            <a:ext cx="222818" cy="369332"/>
          </a:xfrm>
          <a:prstGeom prst="rect">
            <a:avLst/>
          </a:prstGeom>
          <a:noFill/>
        </p:spPr>
        <p:txBody>
          <a:bodyPr wrap="none" lIns="0" tIns="0" rIns="0" bIns="0" rtlCol="0">
            <a:spAutoFit/>
          </a:bodyPr>
          <a:lstStyle/>
          <a:p>
            <a:r>
              <a:rPr lang="en-US" dirty="0"/>
              <a:t>Q</a:t>
            </a:r>
          </a:p>
        </p:txBody>
      </p:sp>
      <p:sp>
        <p:nvSpPr>
          <p:cNvPr id="9" name="TextBox 8">
            <a:extLst>
              <a:ext uri="{FF2B5EF4-FFF2-40B4-BE49-F238E27FC236}">
                <a16:creationId xmlns:a16="http://schemas.microsoft.com/office/drawing/2014/main" id="{C187FF3A-C788-FE06-9587-8A5B7B19286D}"/>
              </a:ext>
            </a:extLst>
          </p:cNvPr>
          <p:cNvSpPr txBox="1"/>
          <p:nvPr/>
        </p:nvSpPr>
        <p:spPr>
          <a:xfrm>
            <a:off x="6300093" y="3135868"/>
            <a:ext cx="205184" cy="369332"/>
          </a:xfrm>
          <a:prstGeom prst="rect">
            <a:avLst/>
          </a:prstGeom>
          <a:noFill/>
        </p:spPr>
        <p:txBody>
          <a:bodyPr wrap="none" lIns="0" tIns="0" rIns="0" bIns="0" rtlCol="0">
            <a:spAutoFit/>
          </a:bodyPr>
          <a:lstStyle/>
          <a:p>
            <a:r>
              <a:rPr lang="en-US" dirty="0"/>
              <a:t>R</a:t>
            </a:r>
          </a:p>
        </p:txBody>
      </p:sp>
      <p:sp>
        <p:nvSpPr>
          <p:cNvPr id="10" name="TextBox 9">
            <a:extLst>
              <a:ext uri="{FF2B5EF4-FFF2-40B4-BE49-F238E27FC236}">
                <a16:creationId xmlns:a16="http://schemas.microsoft.com/office/drawing/2014/main" id="{0705BD7C-5172-D517-B063-81EC9369E0E5}"/>
              </a:ext>
            </a:extLst>
          </p:cNvPr>
          <p:cNvSpPr txBox="1"/>
          <p:nvPr/>
        </p:nvSpPr>
        <p:spPr>
          <a:xfrm>
            <a:off x="6218111" y="5181600"/>
            <a:ext cx="171522" cy="369332"/>
          </a:xfrm>
          <a:prstGeom prst="rect">
            <a:avLst/>
          </a:prstGeom>
          <a:noFill/>
        </p:spPr>
        <p:txBody>
          <a:bodyPr wrap="none" lIns="0" tIns="0" rIns="0" bIns="0" rtlCol="0">
            <a:spAutoFit/>
          </a:bodyPr>
          <a:lstStyle/>
          <a:p>
            <a:r>
              <a:rPr lang="en-US" dirty="0"/>
              <a:t>S</a:t>
            </a:r>
          </a:p>
        </p:txBody>
      </p:sp>
      <p:sp>
        <p:nvSpPr>
          <p:cNvPr id="2" name="Title 1">
            <a:extLst>
              <a:ext uri="{FF2B5EF4-FFF2-40B4-BE49-F238E27FC236}">
                <a16:creationId xmlns:a16="http://schemas.microsoft.com/office/drawing/2014/main" id="{EF0999FB-6D80-9EBF-D930-E06E9E6613D9}"/>
              </a:ext>
            </a:extLst>
          </p:cNvPr>
          <p:cNvSpPr>
            <a:spLocks noGrp="1"/>
          </p:cNvSpPr>
          <p:nvPr>
            <p:ph type="title"/>
          </p:nvPr>
        </p:nvSpPr>
        <p:spPr>
          <a:xfrm>
            <a:off x="228600" y="304800"/>
            <a:ext cx="4572000" cy="1207532"/>
          </a:xfrm>
        </p:spPr>
        <p:txBody>
          <a:bodyPr/>
          <a:lstStyle/>
          <a:p>
            <a:r>
              <a:rPr lang="en-US" dirty="0"/>
              <a:t>Structural damage </a:t>
            </a:r>
            <a:r>
              <a:rPr lang="en-US" dirty="0">
                <a:sym typeface="Symbol" panose="05050102010706020507" pitchFamily="18" charset="2"/>
              </a:rPr>
              <a:t></a:t>
            </a:r>
            <a:r>
              <a:rPr lang="en-US" dirty="0"/>
              <a:t>ECG changes</a:t>
            </a:r>
          </a:p>
        </p:txBody>
      </p:sp>
    </p:spTree>
    <p:extLst>
      <p:ext uri="{BB962C8B-B14F-4D97-AF65-F5344CB8AC3E}">
        <p14:creationId xmlns:p14="http://schemas.microsoft.com/office/powerpoint/2010/main" val="3309613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3763D-5F6F-D6DA-27BB-7DA94521D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0CF96-8B4C-2A23-ABAF-6548B36C2ABE}"/>
              </a:ext>
            </a:extLst>
          </p:cNvPr>
          <p:cNvSpPr>
            <a:spLocks noGrp="1"/>
          </p:cNvSpPr>
          <p:nvPr>
            <p:ph type="title"/>
          </p:nvPr>
        </p:nvSpPr>
        <p:spPr/>
        <p:txBody>
          <a:bodyPr/>
          <a:lstStyle/>
          <a:p>
            <a:r>
              <a:rPr lang="en-US" dirty="0"/>
              <a:t>Table of contents – this unit</a:t>
            </a:r>
          </a:p>
        </p:txBody>
      </p:sp>
      <p:sp>
        <p:nvSpPr>
          <p:cNvPr id="3" name="Content Placeholder 2">
            <a:extLst>
              <a:ext uri="{FF2B5EF4-FFF2-40B4-BE49-F238E27FC236}">
                <a16:creationId xmlns:a16="http://schemas.microsoft.com/office/drawing/2014/main" id="{991C6DBD-0182-988C-8446-FB5D47B38F48}"/>
              </a:ext>
            </a:extLst>
          </p:cNvPr>
          <p:cNvSpPr>
            <a:spLocks noGrp="1"/>
          </p:cNvSpPr>
          <p:nvPr>
            <p:ph idx="1"/>
          </p:nvPr>
        </p:nvSpPr>
        <p:spPr/>
        <p:txBody>
          <a:bodyPr/>
          <a:lstStyle/>
          <a:p>
            <a:r>
              <a:rPr lang="en-US" dirty="0"/>
              <a:t>Cool cardiac facts &amp; why we care</a:t>
            </a:r>
          </a:p>
          <a:p>
            <a:r>
              <a:rPr lang="en-US" dirty="0"/>
              <a:t>Cardiac basic operation</a:t>
            </a:r>
          </a:p>
          <a:p>
            <a:r>
              <a:rPr lang="en-US" dirty="0"/>
              <a:t>Electrocardiograms</a:t>
            </a:r>
          </a:p>
          <a:p>
            <a:r>
              <a:rPr lang="en-US" dirty="0"/>
              <a:t>Arrhythmias</a:t>
            </a:r>
          </a:p>
          <a:p>
            <a:pPr lvl="1">
              <a:spcBef>
                <a:spcPts val="0"/>
              </a:spcBef>
            </a:pPr>
            <a:r>
              <a:rPr lang="en-US" dirty="0"/>
              <a:t>so many things can go wrong </a:t>
            </a:r>
            <a:r>
              <a:rPr lang="en-US" dirty="0">
                <a:sym typeface="Wingdings" panose="05000000000000000000" pitchFamily="2" charset="2"/>
              </a:rPr>
              <a:t></a:t>
            </a:r>
            <a:endParaRPr lang="en-US" dirty="0">
              <a:highlight>
                <a:srgbClr val="FFFF00"/>
              </a:highlight>
            </a:endParaRPr>
          </a:p>
          <a:p>
            <a:r>
              <a:rPr lang="en-US" dirty="0">
                <a:highlight>
                  <a:srgbClr val="FFFF00"/>
                </a:highlight>
              </a:rPr>
              <a:t>Backup-system engineering</a:t>
            </a:r>
          </a:p>
        </p:txBody>
      </p:sp>
      <p:sp>
        <p:nvSpPr>
          <p:cNvPr id="4" name="Footer Placeholder 3">
            <a:extLst>
              <a:ext uri="{FF2B5EF4-FFF2-40B4-BE49-F238E27FC236}">
                <a16:creationId xmlns:a16="http://schemas.microsoft.com/office/drawing/2014/main" id="{94E5A352-A96A-FD77-F172-E87ECB44B655}"/>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28155455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D5190-5A70-4AE7-B8DA-6EB86CAA7FF2}"/>
              </a:ext>
            </a:extLst>
          </p:cNvPr>
          <p:cNvSpPr>
            <a:spLocks noGrp="1"/>
          </p:cNvSpPr>
          <p:nvPr>
            <p:ph type="title"/>
          </p:nvPr>
        </p:nvSpPr>
        <p:spPr/>
        <p:txBody>
          <a:bodyPr/>
          <a:lstStyle/>
          <a:p>
            <a:r>
              <a:rPr lang="en-US" dirty="0"/>
              <a:t>Why have fail-safe circuits?</a:t>
            </a:r>
          </a:p>
        </p:txBody>
      </p:sp>
      <p:sp>
        <p:nvSpPr>
          <p:cNvPr id="3" name="Content Placeholder 2">
            <a:extLst>
              <a:ext uri="{FF2B5EF4-FFF2-40B4-BE49-F238E27FC236}">
                <a16:creationId xmlns:a16="http://schemas.microsoft.com/office/drawing/2014/main" id="{5D661B78-D791-4030-A367-94647361945B}"/>
              </a:ext>
            </a:extLst>
          </p:cNvPr>
          <p:cNvSpPr>
            <a:spLocks noGrp="1"/>
          </p:cNvSpPr>
          <p:nvPr>
            <p:ph idx="1"/>
          </p:nvPr>
        </p:nvSpPr>
        <p:spPr/>
        <p:txBody>
          <a:bodyPr/>
          <a:lstStyle/>
          <a:p>
            <a:r>
              <a:rPr lang="en-US" dirty="0"/>
              <a:t>Remember our intro?</a:t>
            </a:r>
          </a:p>
          <a:p>
            <a:pPr lvl="1">
              <a:spcBef>
                <a:spcPts val="0"/>
              </a:spcBef>
            </a:pPr>
            <a:r>
              <a:rPr lang="en-US" dirty="0"/>
              <a:t>Cardiac arrest = heart stops beating</a:t>
            </a:r>
          </a:p>
          <a:p>
            <a:pPr lvl="1">
              <a:spcBef>
                <a:spcPts val="0"/>
              </a:spcBef>
            </a:pPr>
            <a:r>
              <a:rPr lang="en-US" dirty="0"/>
              <a:t>Lose consciousness in seconds; die in minutes</a:t>
            </a:r>
          </a:p>
          <a:p>
            <a:r>
              <a:rPr lang="en-US" dirty="0"/>
              <a:t>Keeping the heart beating is job #1!</a:t>
            </a:r>
          </a:p>
          <a:p>
            <a:r>
              <a:rPr lang="en-US" dirty="0"/>
              <a:t>But success seems unlikely</a:t>
            </a:r>
          </a:p>
          <a:p>
            <a:pPr lvl="1">
              <a:spcBef>
                <a:spcPts val="0"/>
              </a:spcBef>
            </a:pPr>
            <a:r>
              <a:rPr lang="en-US" dirty="0"/>
              <a:t>Cells die all the time</a:t>
            </a:r>
          </a:p>
          <a:p>
            <a:pPr lvl="1">
              <a:spcBef>
                <a:spcPts val="0"/>
              </a:spcBef>
            </a:pPr>
            <a:r>
              <a:rPr lang="en-US" dirty="0"/>
              <a:t>We just discussed </a:t>
            </a:r>
            <a:r>
              <a:rPr lang="en-US" i="1" dirty="0"/>
              <a:t>so</a:t>
            </a:r>
            <a:r>
              <a:rPr lang="en-US" dirty="0"/>
              <a:t> many things that can go wrong</a:t>
            </a:r>
          </a:p>
          <a:p>
            <a:pPr lvl="1">
              <a:spcBef>
                <a:spcPts val="0"/>
              </a:spcBef>
            </a:pPr>
            <a:r>
              <a:rPr lang="en-US" dirty="0"/>
              <a:t>Biological cells are </a:t>
            </a:r>
            <a:r>
              <a:rPr lang="en-US" i="1" dirty="0"/>
              <a:t>unreliable</a:t>
            </a:r>
          </a:p>
          <a:p>
            <a:r>
              <a:rPr lang="en-US" dirty="0"/>
              <a:t>So why are we alive?</a:t>
            </a:r>
          </a:p>
          <a:p>
            <a:pPr lvl="1">
              <a:spcBef>
                <a:spcPts val="0"/>
              </a:spcBef>
            </a:pPr>
            <a:r>
              <a:rPr lang="en-US" dirty="0"/>
              <a:t>A miracle of beautiful system-level design</a:t>
            </a:r>
          </a:p>
          <a:p>
            <a:pPr lvl="1"/>
            <a:endParaRPr lang="en-US" dirty="0"/>
          </a:p>
        </p:txBody>
      </p:sp>
      <p:sp>
        <p:nvSpPr>
          <p:cNvPr id="4" name="Footer Placeholder 3">
            <a:extLst>
              <a:ext uri="{FF2B5EF4-FFF2-40B4-BE49-F238E27FC236}">
                <a16:creationId xmlns:a16="http://schemas.microsoft.com/office/drawing/2014/main" id="{3FA9ACFE-A1D3-4278-AD81-6CD812B6D6A6}"/>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4091834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Effect transition="in" filter="fade">
                                      <p:cBhvr>
                                        <p:cTn id="29"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heart&#10;&#10;AI-generated content may be incorrect.">
            <a:extLst>
              <a:ext uri="{FF2B5EF4-FFF2-40B4-BE49-F238E27FC236}">
                <a16:creationId xmlns:a16="http://schemas.microsoft.com/office/drawing/2014/main" id="{C45DB57A-EED0-8419-5DE4-6F2866FCD4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Electrical system – review</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36675" y="1219200"/>
            <a:ext cx="4811650" cy="5257800"/>
          </a:xfrm>
        </p:spPr>
        <p:txBody>
          <a:bodyPr/>
          <a:lstStyle/>
          <a:p>
            <a:r>
              <a:rPr lang="en-US" sz="2400" dirty="0"/>
              <a:t>Sinoatrial (SA) node is the oscillator</a:t>
            </a:r>
          </a:p>
          <a:p>
            <a:r>
              <a:rPr lang="en-US" sz="2400" dirty="0"/>
              <a:t>Signal spreads over the atria at 1 m/s (100ms total)</a:t>
            </a:r>
          </a:p>
          <a:p>
            <a:pPr lvl="1">
              <a:spcBef>
                <a:spcPts val="0"/>
              </a:spcBef>
            </a:pPr>
            <a:r>
              <a:rPr lang="en-US" sz="2000" dirty="0"/>
              <a:t>Atrial muscles contract</a:t>
            </a:r>
          </a:p>
          <a:p>
            <a:r>
              <a:rPr lang="en-US" sz="2400" dirty="0"/>
              <a:t>Atrioventricular (AV) node conducts slowly to ventricles (.01-.05 m/s, 80ms total)</a:t>
            </a:r>
          </a:p>
          <a:p>
            <a:pPr lvl="1">
              <a:spcBef>
                <a:spcPts val="0"/>
              </a:spcBef>
            </a:pPr>
            <a:r>
              <a:rPr lang="en-US" sz="2000" dirty="0"/>
              <a:t>Delay is on purpose</a:t>
            </a:r>
          </a:p>
          <a:p>
            <a:r>
              <a:rPr lang="en-US" sz="2400" dirty="0"/>
              <a:t>Bundle of HIS, left/right bundle branches</a:t>
            </a:r>
          </a:p>
          <a:p>
            <a:r>
              <a:rPr lang="en-US" sz="2400" dirty="0"/>
              <a:t>Purkinje fibers (2-4 m/s)</a:t>
            </a:r>
          </a:p>
          <a:p>
            <a:pPr lvl="1">
              <a:spcBef>
                <a:spcPts val="0"/>
              </a:spcBef>
            </a:pPr>
            <a:r>
              <a:rPr lang="en-US" sz="2000" dirty="0"/>
              <a:t>Electrical highway</a:t>
            </a:r>
          </a:p>
          <a:p>
            <a:pPr lvl="1">
              <a:spcBef>
                <a:spcPts val="0"/>
              </a:spcBef>
            </a:pPr>
            <a:r>
              <a:rPr lang="en-US" sz="2000" dirty="0"/>
              <a:t>ventricular muscles contract</a:t>
            </a:r>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a:t>EE 123 -- Bioelectricity</a:t>
            </a:r>
            <a:endParaRPr lang="en-US" dirty="0"/>
          </a:p>
        </p:txBody>
      </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rgbClr val="FFFF00"/>
                </a:solidFill>
              </a:rPr>
              <a:t>SA</a:t>
            </a:r>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solidFill>
                  <a:schemeClr val="tx1"/>
                </a:solidFill>
              </a:rPr>
              <a:t>AV</a:t>
            </a:r>
          </a:p>
        </p:txBody>
      </p:sp>
      <p:sp>
        <p:nvSpPr>
          <p:cNvPr id="18" name="Arrow: Down 17">
            <a:extLst>
              <a:ext uri="{FF2B5EF4-FFF2-40B4-BE49-F238E27FC236}">
                <a16:creationId xmlns:a16="http://schemas.microsoft.com/office/drawing/2014/main" id="{97EB7340-73F6-49FC-AF08-BEF778CFE017}"/>
              </a:ext>
            </a:extLst>
          </p:cNvPr>
          <p:cNvSpPr/>
          <p:nvPr/>
        </p:nvSpPr>
        <p:spPr>
          <a:xfrm rot="20480815">
            <a:off x="1827895" y="3856920"/>
            <a:ext cx="381000"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F51D4FFB-16D8-4F17-BE91-BEF015035A26}"/>
              </a:ext>
            </a:extLst>
          </p:cNvPr>
          <p:cNvSpPr/>
          <p:nvPr/>
        </p:nvSpPr>
        <p:spPr>
          <a:xfrm>
            <a:off x="1752600" y="4343400"/>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AE7E6EF8-6562-4E00-8DBB-E7778A3F9674}"/>
              </a:ext>
            </a:extLst>
          </p:cNvPr>
          <p:cNvSpPr/>
          <p:nvPr/>
        </p:nvSpPr>
        <p:spPr>
          <a:xfrm rot="17182029">
            <a:off x="2415924" y="4109927"/>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Down 22">
            <a:extLst>
              <a:ext uri="{FF2B5EF4-FFF2-40B4-BE49-F238E27FC236}">
                <a16:creationId xmlns:a16="http://schemas.microsoft.com/office/drawing/2014/main" id="{300E2AC0-3C29-4D1C-9675-56CB95B48F6B}"/>
              </a:ext>
            </a:extLst>
          </p:cNvPr>
          <p:cNvSpPr/>
          <p:nvPr/>
        </p:nvSpPr>
        <p:spPr>
          <a:xfrm rot="17182029">
            <a:off x="2446678" y="4178443"/>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Down 23">
            <a:extLst>
              <a:ext uri="{FF2B5EF4-FFF2-40B4-BE49-F238E27FC236}">
                <a16:creationId xmlns:a16="http://schemas.microsoft.com/office/drawing/2014/main" id="{A00D32A6-D6AF-4B95-BAD1-CB2B8DB82346}"/>
              </a:ext>
            </a:extLst>
          </p:cNvPr>
          <p:cNvSpPr/>
          <p:nvPr/>
        </p:nvSpPr>
        <p:spPr>
          <a:xfrm>
            <a:off x="1219200" y="4648200"/>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A917799B-70CD-4B2C-B5BB-6192ECEAD23F}"/>
              </a:ext>
            </a:extLst>
          </p:cNvPr>
          <p:cNvCxnSpPr>
            <a:cxnSpLocks/>
          </p:cNvCxnSpPr>
          <p:nvPr/>
        </p:nvCxnSpPr>
        <p:spPr>
          <a:xfrm flipV="1">
            <a:off x="1219200" y="3073399"/>
            <a:ext cx="762000" cy="1905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5F06A47-0A82-4FBA-BBB4-2E1418B373A6}"/>
              </a:ext>
            </a:extLst>
          </p:cNvPr>
          <p:cNvCxnSpPr>
            <a:cxnSpLocks/>
          </p:cNvCxnSpPr>
          <p:nvPr/>
        </p:nvCxnSpPr>
        <p:spPr>
          <a:xfrm>
            <a:off x="2082798"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23A6AF0-1099-4A10-9B4A-BF520CA19B31}"/>
              </a:ext>
            </a:extLst>
          </p:cNvPr>
          <p:cNvCxnSpPr>
            <a:cxnSpLocks/>
          </p:cNvCxnSpPr>
          <p:nvPr/>
        </p:nvCxnSpPr>
        <p:spPr>
          <a:xfrm flipH="1">
            <a:off x="533400" y="3263899"/>
            <a:ext cx="685800" cy="62230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6243256-8002-465A-8A8F-C827F928BEF0}"/>
              </a:ext>
            </a:extLst>
          </p:cNvPr>
          <p:cNvCxnSpPr>
            <a:cxnSpLocks/>
          </p:cNvCxnSpPr>
          <p:nvPr/>
        </p:nvCxnSpPr>
        <p:spPr>
          <a:xfrm flipV="1">
            <a:off x="1219200" y="3352800"/>
            <a:ext cx="762000" cy="1"/>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4BD6255-774A-45E9-9B14-1321C6715675}"/>
              </a:ext>
            </a:extLst>
          </p:cNvPr>
          <p:cNvCxnSpPr>
            <a:cxnSpLocks/>
          </p:cNvCxnSpPr>
          <p:nvPr/>
        </p:nvCxnSpPr>
        <p:spPr>
          <a:xfrm flipV="1">
            <a:off x="2110666" y="3200400"/>
            <a:ext cx="503770" cy="101599"/>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DC9DA49-4069-432C-BECF-0EDECCC9F714}"/>
              </a:ext>
            </a:extLst>
          </p:cNvPr>
          <p:cNvCxnSpPr>
            <a:cxnSpLocks/>
          </p:cNvCxnSpPr>
          <p:nvPr/>
        </p:nvCxnSpPr>
        <p:spPr>
          <a:xfrm>
            <a:off x="1219200" y="3441702"/>
            <a:ext cx="538394" cy="11929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F6C53F6-5E5B-4362-9375-0C60861C9CD0}"/>
              </a:ext>
            </a:extLst>
          </p:cNvPr>
          <p:cNvCxnSpPr>
            <a:cxnSpLocks/>
          </p:cNvCxnSpPr>
          <p:nvPr/>
        </p:nvCxnSpPr>
        <p:spPr>
          <a:xfrm>
            <a:off x="2667000" y="29718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5B9564E-2E10-4B72-A6A4-FBEC2AE0D865}"/>
              </a:ext>
            </a:extLst>
          </p:cNvPr>
          <p:cNvCxnSpPr>
            <a:cxnSpLocks/>
          </p:cNvCxnSpPr>
          <p:nvPr/>
        </p:nvCxnSpPr>
        <p:spPr>
          <a:xfrm>
            <a:off x="2668762" y="3276600"/>
            <a:ext cx="531638" cy="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0606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par>
                                <p:cTn id="43" presetID="10" presetClass="entr" presetSubtype="0" fill="hold" nodeType="with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childTnLst>
                          </p:cTn>
                        </p:par>
                        <p:par>
                          <p:cTn id="46" fill="hold">
                            <p:stCondLst>
                              <p:cond delay="1500"/>
                            </p:stCondLst>
                            <p:childTnLst>
                              <p:par>
                                <p:cTn id="47" presetID="10" presetClass="exit" presetSubtype="0" fill="hold" nodeType="afterEffect">
                                  <p:stCondLst>
                                    <p:cond delay="0"/>
                                  </p:stCondLst>
                                  <p:childTnLst>
                                    <p:animEffect transition="out" filter="fade">
                                      <p:cBhvr>
                                        <p:cTn id="48" dur="500"/>
                                        <p:tgtEl>
                                          <p:spTgt spid="13"/>
                                        </p:tgtEl>
                                      </p:cBhvr>
                                    </p:animEffect>
                                    <p:set>
                                      <p:cBhvr>
                                        <p:cTn id="49" dur="1" fill="hold">
                                          <p:stCondLst>
                                            <p:cond delay="499"/>
                                          </p:stCondLst>
                                        </p:cTn>
                                        <p:tgtEl>
                                          <p:spTgt spid="13"/>
                                        </p:tgtEl>
                                        <p:attrNameLst>
                                          <p:attrName>style.visibility</p:attrName>
                                        </p:attrNameLst>
                                      </p:cBhvr>
                                      <p:to>
                                        <p:strVal val="hidden"/>
                                      </p:to>
                                    </p:set>
                                  </p:childTnLst>
                                </p:cTn>
                              </p:par>
                              <p:par>
                                <p:cTn id="50" presetID="10" presetClass="exit" presetSubtype="0" fill="hold" nodeType="withEffect">
                                  <p:stCondLst>
                                    <p:cond delay="0"/>
                                  </p:stCondLst>
                                  <p:childTnLst>
                                    <p:animEffect transition="out" filter="fade">
                                      <p:cBhvr>
                                        <p:cTn id="51" dur="500"/>
                                        <p:tgtEl>
                                          <p:spTgt spid="16"/>
                                        </p:tgtEl>
                                      </p:cBhvr>
                                    </p:animEffect>
                                    <p:set>
                                      <p:cBhvr>
                                        <p:cTn id="52" dur="1" fill="hold">
                                          <p:stCondLst>
                                            <p:cond delay="499"/>
                                          </p:stCondLst>
                                        </p:cTn>
                                        <p:tgtEl>
                                          <p:spTgt spid="16"/>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19"/>
                                        </p:tgtEl>
                                      </p:cBhvr>
                                    </p:animEffect>
                                    <p:set>
                                      <p:cBhvr>
                                        <p:cTn id="55" dur="1" fill="hold">
                                          <p:stCondLst>
                                            <p:cond delay="499"/>
                                          </p:stCondLst>
                                        </p:cTn>
                                        <p:tgtEl>
                                          <p:spTgt spid="19"/>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500"/>
                                        <p:tgtEl>
                                          <p:spTgt spid="25"/>
                                        </p:tgtEl>
                                      </p:cBhvr>
                                    </p:animEffect>
                                    <p:set>
                                      <p:cBhvr>
                                        <p:cTn id="58" dur="1" fill="hold">
                                          <p:stCondLst>
                                            <p:cond delay="499"/>
                                          </p:stCondLst>
                                        </p:cTn>
                                        <p:tgtEl>
                                          <p:spTgt spid="25"/>
                                        </p:tgtEl>
                                        <p:attrNameLst>
                                          <p:attrName>style.visibility</p:attrName>
                                        </p:attrNameLst>
                                      </p:cBhvr>
                                      <p:to>
                                        <p:strVal val="hidden"/>
                                      </p:to>
                                    </p:set>
                                  </p:childTnLst>
                                </p:cTn>
                              </p:par>
                            </p:childTnLst>
                          </p:cTn>
                        </p:par>
                        <p:par>
                          <p:cTn id="59" fill="hold">
                            <p:stCondLst>
                              <p:cond delay="2000"/>
                            </p:stCondLst>
                            <p:childTnLst>
                              <p:par>
                                <p:cTn id="60" presetID="10" presetClass="exit" presetSubtype="0" fill="hold" nodeType="afterEffect">
                                  <p:stCondLst>
                                    <p:cond delay="0"/>
                                  </p:stCondLst>
                                  <p:childTnLst>
                                    <p:animEffect transition="out" filter="fade">
                                      <p:cBhvr>
                                        <p:cTn id="61" dur="500"/>
                                        <p:tgtEl>
                                          <p:spTgt spid="20"/>
                                        </p:tgtEl>
                                      </p:cBhvr>
                                    </p:animEffect>
                                    <p:set>
                                      <p:cBhvr>
                                        <p:cTn id="62" dur="1" fill="hold">
                                          <p:stCondLst>
                                            <p:cond delay="499"/>
                                          </p:stCondLst>
                                        </p:cTn>
                                        <p:tgtEl>
                                          <p:spTgt spid="20"/>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500"/>
                                        <p:tgtEl>
                                          <p:spTgt spid="15"/>
                                        </p:tgtEl>
                                      </p:cBhvr>
                                    </p:animEffect>
                                    <p:set>
                                      <p:cBhvr>
                                        <p:cTn id="65" dur="1" fill="hold">
                                          <p:stCondLst>
                                            <p:cond delay="499"/>
                                          </p:stCondLst>
                                        </p:cTn>
                                        <p:tgtEl>
                                          <p:spTgt spid="15"/>
                                        </p:tgtEl>
                                        <p:attrNameLst>
                                          <p:attrName>style.visibility</p:attrName>
                                        </p:attrNameLst>
                                      </p:cBhvr>
                                      <p:to>
                                        <p:strVal val="hidden"/>
                                      </p:to>
                                    </p:set>
                                  </p:childTnLst>
                                </p:cTn>
                              </p:par>
                            </p:childTnLst>
                          </p:cTn>
                        </p:par>
                        <p:par>
                          <p:cTn id="66" fill="hold">
                            <p:stCondLst>
                              <p:cond delay="2500"/>
                            </p:stCondLst>
                            <p:childTnLst>
                              <p:par>
                                <p:cTn id="67" presetID="10" presetClass="exit" presetSubtype="0" fill="hold" nodeType="afterEffect">
                                  <p:stCondLst>
                                    <p:cond delay="0"/>
                                  </p:stCondLst>
                                  <p:childTnLst>
                                    <p:animEffect transition="out" filter="fade">
                                      <p:cBhvr>
                                        <p:cTn id="68" dur="500"/>
                                        <p:tgtEl>
                                          <p:spTgt spid="26"/>
                                        </p:tgtEl>
                                      </p:cBhvr>
                                    </p:animEffect>
                                    <p:set>
                                      <p:cBhvr>
                                        <p:cTn id="69" dur="1" fill="hold">
                                          <p:stCondLst>
                                            <p:cond delay="499"/>
                                          </p:stCondLst>
                                        </p:cTn>
                                        <p:tgtEl>
                                          <p:spTgt spid="26"/>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500"/>
                                        <p:tgtEl>
                                          <p:spTgt spid="27"/>
                                        </p:tgtEl>
                                      </p:cBhvr>
                                    </p:animEffect>
                                    <p:set>
                                      <p:cBhvr>
                                        <p:cTn id="72" dur="1" fill="hold">
                                          <p:stCondLst>
                                            <p:cond delay="499"/>
                                          </p:stCondLst>
                                        </p:cTn>
                                        <p:tgtEl>
                                          <p:spTgt spid="27"/>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
                                            <p:txEl>
                                              <p:pRg st="2" end="2"/>
                                            </p:txEl>
                                          </p:spTgt>
                                        </p:tgtEl>
                                        <p:attrNameLst>
                                          <p:attrName>style.visibility</p:attrName>
                                        </p:attrNameLst>
                                      </p:cBhvr>
                                      <p:to>
                                        <p:strVal val="visible"/>
                                      </p:to>
                                    </p:set>
                                    <p:animEffect transition="in" filter="fade">
                                      <p:cBhvr>
                                        <p:cTn id="77" dur="500"/>
                                        <p:tgtEl>
                                          <p:spTgt spid="3">
                                            <p:txEl>
                                              <p:pRg st="2" end="2"/>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
                                            <p:txEl>
                                              <p:pRg st="3" end="3"/>
                                            </p:txEl>
                                          </p:spTgt>
                                        </p:tgtEl>
                                        <p:attrNameLst>
                                          <p:attrName>style.visibility</p:attrName>
                                        </p:attrNameLst>
                                      </p:cBhvr>
                                      <p:to>
                                        <p:strVal val="visible"/>
                                      </p:to>
                                    </p:set>
                                    <p:animEffect transition="in" filter="fade">
                                      <p:cBhvr>
                                        <p:cTn id="82" dur="500"/>
                                        <p:tgtEl>
                                          <p:spTgt spid="3">
                                            <p:txEl>
                                              <p:pRg st="3" end="3"/>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3">
                                            <p:txEl>
                                              <p:pRg st="4" end="4"/>
                                            </p:txEl>
                                          </p:spTgt>
                                        </p:tgtEl>
                                        <p:attrNameLst>
                                          <p:attrName>style.visibility</p:attrName>
                                        </p:attrNameLst>
                                      </p:cBhvr>
                                      <p:to>
                                        <p:strVal val="visible"/>
                                      </p:to>
                                    </p:set>
                                    <p:animEffect transition="in" filter="fade">
                                      <p:cBhvr>
                                        <p:cTn id="85" dur="500"/>
                                        <p:tgtEl>
                                          <p:spTgt spid="3">
                                            <p:txEl>
                                              <p:pRg st="4" end="4"/>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500"/>
                                        <p:tgtEl>
                                          <p:spTgt spid="17"/>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3">
                                            <p:txEl>
                                              <p:pRg st="5" end="5"/>
                                            </p:txEl>
                                          </p:spTgt>
                                        </p:tgtEl>
                                        <p:attrNameLst>
                                          <p:attrName>style.visibility</p:attrName>
                                        </p:attrNameLst>
                                      </p:cBhvr>
                                      <p:to>
                                        <p:strVal val="visible"/>
                                      </p:to>
                                    </p:set>
                                    <p:animEffect transition="in" filter="fade">
                                      <p:cBhvr>
                                        <p:cTn id="95" dur="500"/>
                                        <p:tgtEl>
                                          <p:spTgt spid="3">
                                            <p:txEl>
                                              <p:pRg st="5" end="5"/>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18"/>
                                        </p:tgtEl>
                                        <p:attrNameLst>
                                          <p:attrName>style.visibility</p:attrName>
                                        </p:attrNameLst>
                                      </p:cBhvr>
                                      <p:to>
                                        <p:strVal val="visible"/>
                                      </p:to>
                                    </p:set>
                                    <p:animEffect transition="in" filter="fade">
                                      <p:cBhvr>
                                        <p:cTn id="100" dur="500"/>
                                        <p:tgtEl>
                                          <p:spTgt spid="18"/>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21"/>
                                        </p:tgtEl>
                                        <p:attrNameLst>
                                          <p:attrName>style.visibility</p:attrName>
                                        </p:attrNameLst>
                                      </p:cBhvr>
                                      <p:to>
                                        <p:strVal val="visible"/>
                                      </p:to>
                                    </p:set>
                                    <p:animEffect transition="in" filter="fade">
                                      <p:cBhvr>
                                        <p:cTn id="105" dur="500"/>
                                        <p:tgtEl>
                                          <p:spTgt spid="21"/>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22"/>
                                        </p:tgtEl>
                                        <p:attrNameLst>
                                          <p:attrName>style.visibility</p:attrName>
                                        </p:attrNameLst>
                                      </p:cBhvr>
                                      <p:to>
                                        <p:strVal val="visible"/>
                                      </p:to>
                                    </p:set>
                                    <p:animEffect transition="in" filter="fade">
                                      <p:cBhvr>
                                        <p:cTn id="108" dur="500"/>
                                        <p:tgtEl>
                                          <p:spTgt spid="22"/>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3">
                                            <p:txEl>
                                              <p:pRg st="6" end="6"/>
                                            </p:txEl>
                                          </p:spTgt>
                                        </p:tgtEl>
                                        <p:attrNameLst>
                                          <p:attrName>style.visibility</p:attrName>
                                        </p:attrNameLst>
                                      </p:cBhvr>
                                      <p:to>
                                        <p:strVal val="visible"/>
                                      </p:to>
                                    </p:set>
                                    <p:animEffect transition="in" filter="fade">
                                      <p:cBhvr>
                                        <p:cTn id="113" dur="500"/>
                                        <p:tgtEl>
                                          <p:spTgt spid="3">
                                            <p:txEl>
                                              <p:pRg st="6" end="6"/>
                                            </p:txEl>
                                          </p:spTgt>
                                        </p:tgtEl>
                                      </p:cBhvr>
                                    </p:animEffect>
                                  </p:childTnLst>
                                </p:cTn>
                              </p:par>
                              <p:par>
                                <p:cTn id="114" presetID="10" presetClass="entr" presetSubtype="0" fill="hold" nodeType="withEffect">
                                  <p:stCondLst>
                                    <p:cond delay="0"/>
                                  </p:stCondLst>
                                  <p:childTnLst>
                                    <p:set>
                                      <p:cBhvr>
                                        <p:cTn id="115" dur="1" fill="hold">
                                          <p:stCondLst>
                                            <p:cond delay="0"/>
                                          </p:stCondLst>
                                        </p:cTn>
                                        <p:tgtEl>
                                          <p:spTgt spid="3">
                                            <p:txEl>
                                              <p:pRg st="7" end="7"/>
                                            </p:txEl>
                                          </p:spTgt>
                                        </p:tgtEl>
                                        <p:attrNameLst>
                                          <p:attrName>style.visibility</p:attrName>
                                        </p:attrNameLst>
                                      </p:cBhvr>
                                      <p:to>
                                        <p:strVal val="visible"/>
                                      </p:to>
                                    </p:set>
                                    <p:animEffect transition="in" filter="fade">
                                      <p:cBhvr>
                                        <p:cTn id="116" dur="500"/>
                                        <p:tgtEl>
                                          <p:spTgt spid="3">
                                            <p:txEl>
                                              <p:pRg st="7" end="7"/>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23"/>
                                        </p:tgtEl>
                                        <p:attrNameLst>
                                          <p:attrName>style.visibility</p:attrName>
                                        </p:attrNameLst>
                                      </p:cBhvr>
                                      <p:to>
                                        <p:strVal val="visible"/>
                                      </p:to>
                                    </p:set>
                                    <p:animEffect transition="in" filter="fade">
                                      <p:cBhvr>
                                        <p:cTn id="121" dur="500"/>
                                        <p:tgtEl>
                                          <p:spTgt spid="2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24"/>
                                        </p:tgtEl>
                                        <p:attrNameLst>
                                          <p:attrName>style.visibility</p:attrName>
                                        </p:attrNameLst>
                                      </p:cBhvr>
                                      <p:to>
                                        <p:strVal val="visible"/>
                                      </p:to>
                                    </p:set>
                                    <p:animEffect transition="in" filter="fade">
                                      <p:cBhvr>
                                        <p:cTn id="124" dur="500"/>
                                        <p:tgtEl>
                                          <p:spTgt spid="24"/>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3">
                                            <p:txEl>
                                              <p:pRg st="8" end="8"/>
                                            </p:txEl>
                                          </p:spTgt>
                                        </p:tgtEl>
                                        <p:attrNameLst>
                                          <p:attrName>style.visibility</p:attrName>
                                        </p:attrNameLst>
                                      </p:cBhvr>
                                      <p:to>
                                        <p:strVal val="visible"/>
                                      </p:to>
                                    </p:set>
                                    <p:animEffect transition="in" filter="fade">
                                      <p:cBhvr>
                                        <p:cTn id="12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18" grpId="0" animBg="1"/>
      <p:bldP spid="21" grpId="0" animBg="1"/>
      <p:bldP spid="22" grpId="0" animBg="1"/>
      <p:bldP spid="23" grpId="0" animBg="1"/>
      <p:bldP spid="2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Triple redundancy</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136675" y="2133600"/>
            <a:ext cx="4811650" cy="2514600"/>
          </a:xfrm>
        </p:spPr>
        <p:txBody>
          <a:bodyPr/>
          <a:lstStyle/>
          <a:p>
            <a:r>
              <a:rPr lang="en-US" sz="2400" dirty="0"/>
              <a:t>The main operation is simple – SA node oscillates ≈ 60 bpm</a:t>
            </a:r>
          </a:p>
          <a:p>
            <a:r>
              <a:rPr lang="en-US" sz="2400" dirty="0"/>
              <a:t>But what if the upstream rhythm breaks?</a:t>
            </a:r>
          </a:p>
          <a:p>
            <a:pPr lvl="1">
              <a:spcBef>
                <a:spcPts val="0"/>
              </a:spcBef>
            </a:pPr>
            <a:r>
              <a:rPr lang="en-US" sz="2000" dirty="0"/>
              <a:t>Quick review: how can it break?</a:t>
            </a:r>
            <a:endParaRPr lang="en-US" sz="1600" dirty="0"/>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a:t>EE 123 -- Bioelectricity</a:t>
            </a:r>
            <a:endParaRPr lang="en-US" dirty="0"/>
          </a:p>
        </p:txBody>
      </p:sp>
      <p:grpSp>
        <p:nvGrpSpPr>
          <p:cNvPr id="11" name="Group 10">
            <a:extLst>
              <a:ext uri="{FF2B5EF4-FFF2-40B4-BE49-F238E27FC236}">
                <a16:creationId xmlns:a16="http://schemas.microsoft.com/office/drawing/2014/main" id="{B3A17E64-48FD-49AE-8BA7-7C949A0A87E2}"/>
              </a:ext>
            </a:extLst>
          </p:cNvPr>
          <p:cNvGrpSpPr/>
          <p:nvPr/>
        </p:nvGrpSpPr>
        <p:grpSpPr>
          <a:xfrm>
            <a:off x="1219200" y="3505200"/>
            <a:ext cx="2157237" cy="1676400"/>
            <a:chOff x="1219200" y="3505200"/>
            <a:chExt cx="2157237" cy="1676400"/>
          </a:xfrm>
        </p:grpSpPr>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ln>
                    <a:solidFill>
                      <a:schemeClr val="tx1"/>
                    </a:solidFill>
                  </a:ln>
                  <a:solidFill>
                    <a:schemeClr val="tx1"/>
                  </a:solidFill>
                </a:rPr>
                <a:t>AV</a:t>
              </a:r>
            </a:p>
          </p:txBody>
        </p:sp>
        <p:sp>
          <p:nvSpPr>
            <p:cNvPr id="18" name="Arrow: Down 17">
              <a:extLst>
                <a:ext uri="{FF2B5EF4-FFF2-40B4-BE49-F238E27FC236}">
                  <a16:creationId xmlns:a16="http://schemas.microsoft.com/office/drawing/2014/main" id="{97EB7340-73F6-49FC-AF08-BEF778CFE017}"/>
                </a:ext>
              </a:extLst>
            </p:cNvPr>
            <p:cNvSpPr/>
            <p:nvPr/>
          </p:nvSpPr>
          <p:spPr>
            <a:xfrm rot="20480815">
              <a:off x="1827895" y="3856920"/>
              <a:ext cx="381000"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1" name="Arrow: Down 20">
              <a:extLst>
                <a:ext uri="{FF2B5EF4-FFF2-40B4-BE49-F238E27FC236}">
                  <a16:creationId xmlns:a16="http://schemas.microsoft.com/office/drawing/2014/main" id="{F51D4FFB-16D8-4F17-BE91-BEF015035A26}"/>
                </a:ext>
              </a:extLst>
            </p:cNvPr>
            <p:cNvSpPr/>
            <p:nvPr/>
          </p:nvSpPr>
          <p:spPr>
            <a:xfrm>
              <a:off x="1752600" y="4343400"/>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2" name="Arrow: Down 21">
              <a:extLst>
                <a:ext uri="{FF2B5EF4-FFF2-40B4-BE49-F238E27FC236}">
                  <a16:creationId xmlns:a16="http://schemas.microsoft.com/office/drawing/2014/main" id="{AE7E6EF8-6562-4E00-8DBB-E7778A3F9674}"/>
                </a:ext>
              </a:extLst>
            </p:cNvPr>
            <p:cNvSpPr/>
            <p:nvPr/>
          </p:nvSpPr>
          <p:spPr>
            <a:xfrm rot="17182029">
              <a:off x="2415924" y="4109927"/>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3" name="Arrow: Down 22">
              <a:extLst>
                <a:ext uri="{FF2B5EF4-FFF2-40B4-BE49-F238E27FC236}">
                  <a16:creationId xmlns:a16="http://schemas.microsoft.com/office/drawing/2014/main" id="{300E2AC0-3C29-4D1C-9675-56CB95B48F6B}"/>
                </a:ext>
              </a:extLst>
            </p:cNvPr>
            <p:cNvSpPr/>
            <p:nvPr/>
          </p:nvSpPr>
          <p:spPr>
            <a:xfrm rot="17182029">
              <a:off x="2446678" y="4178443"/>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4" name="Arrow: Down 23">
              <a:extLst>
                <a:ext uri="{FF2B5EF4-FFF2-40B4-BE49-F238E27FC236}">
                  <a16:creationId xmlns:a16="http://schemas.microsoft.com/office/drawing/2014/main" id="{A00D32A6-D6AF-4B95-BAD1-CB2B8DB82346}"/>
                </a:ext>
              </a:extLst>
            </p:cNvPr>
            <p:cNvSpPr/>
            <p:nvPr/>
          </p:nvSpPr>
          <p:spPr>
            <a:xfrm>
              <a:off x="1219200" y="4648200"/>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grpSp>
      <p:grpSp>
        <p:nvGrpSpPr>
          <p:cNvPr id="8" name="Group 7">
            <a:extLst>
              <a:ext uri="{FF2B5EF4-FFF2-40B4-BE49-F238E27FC236}">
                <a16:creationId xmlns:a16="http://schemas.microsoft.com/office/drawing/2014/main" id="{B637DCAD-B712-42BD-9494-52FFE41732D5}"/>
              </a:ext>
            </a:extLst>
          </p:cNvPr>
          <p:cNvGrpSpPr/>
          <p:nvPr/>
        </p:nvGrpSpPr>
        <p:grpSpPr>
          <a:xfrm>
            <a:off x="838200" y="3073399"/>
            <a:ext cx="998985" cy="812800"/>
            <a:chOff x="838200" y="3073399"/>
            <a:chExt cx="998985" cy="812800"/>
          </a:xfrm>
        </p:grpSpPr>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ln>
                    <a:solidFill>
                      <a:schemeClr val="tx1"/>
                    </a:solidFill>
                  </a:ln>
                  <a:solidFill>
                    <a:schemeClr val="tx1"/>
                  </a:solidFill>
                </a:rPr>
                <a:t>SA</a:t>
              </a:r>
            </a:p>
          </p:txBody>
        </p:sp>
        <p:cxnSp>
          <p:nvCxnSpPr>
            <p:cNvPr id="6" name="Straight Arrow Connector 5">
              <a:extLst>
                <a:ext uri="{FF2B5EF4-FFF2-40B4-BE49-F238E27FC236}">
                  <a16:creationId xmlns:a16="http://schemas.microsoft.com/office/drawing/2014/main" id="{667652D8-DDE3-40DE-B645-B6BE2F66322B}"/>
                </a:ext>
              </a:extLst>
            </p:cNvPr>
            <p:cNvCxnSpPr>
              <a:stCxn id="14" idx="6"/>
              <a:endCxn id="17" idx="1"/>
            </p:cNvCxnSpPr>
            <p:nvPr/>
          </p:nvCxnSpPr>
          <p:spPr>
            <a:xfrm>
              <a:off x="1219200" y="3263899"/>
              <a:ext cx="538394" cy="29709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Freeform: Shape 6">
              <a:extLst>
                <a:ext uri="{FF2B5EF4-FFF2-40B4-BE49-F238E27FC236}">
                  <a16:creationId xmlns:a16="http://schemas.microsoft.com/office/drawing/2014/main" id="{9C2DF04D-A83A-400A-AE10-C4852DC3214F}"/>
                </a:ext>
              </a:extLst>
            </p:cNvPr>
            <p:cNvSpPr/>
            <p:nvPr/>
          </p:nvSpPr>
          <p:spPr>
            <a:xfrm>
              <a:off x="1227438" y="3100915"/>
              <a:ext cx="609747" cy="400166"/>
            </a:xfrm>
            <a:custGeom>
              <a:avLst/>
              <a:gdLst>
                <a:gd name="connsiteX0" fmla="*/ 0 w 609747"/>
                <a:gd name="connsiteY0" fmla="*/ 70653 h 400166"/>
                <a:gd name="connsiteX1" fmla="*/ 255373 w 609747"/>
                <a:gd name="connsiteY1" fmla="*/ 4750 h 400166"/>
                <a:gd name="connsiteX2" fmla="*/ 551935 w 609747"/>
                <a:gd name="connsiteY2" fmla="*/ 185982 h 400166"/>
                <a:gd name="connsiteX3" fmla="*/ 609600 w 609747"/>
                <a:gd name="connsiteY3" fmla="*/ 400166 h 400166"/>
              </a:gdLst>
              <a:ahLst/>
              <a:cxnLst>
                <a:cxn ang="0">
                  <a:pos x="connsiteX0" y="connsiteY0"/>
                </a:cxn>
                <a:cxn ang="0">
                  <a:pos x="connsiteX1" y="connsiteY1"/>
                </a:cxn>
                <a:cxn ang="0">
                  <a:pos x="connsiteX2" y="connsiteY2"/>
                </a:cxn>
                <a:cxn ang="0">
                  <a:pos x="connsiteX3" y="connsiteY3"/>
                </a:cxn>
              </a:cxnLst>
              <a:rect l="l" t="t" r="r" b="b"/>
              <a:pathLst>
                <a:path w="609747" h="400166">
                  <a:moveTo>
                    <a:pt x="0" y="70653"/>
                  </a:moveTo>
                  <a:cubicBezTo>
                    <a:pt x="81692" y="28090"/>
                    <a:pt x="163384" y="-14472"/>
                    <a:pt x="255373" y="4750"/>
                  </a:cubicBezTo>
                  <a:cubicBezTo>
                    <a:pt x="347362" y="23971"/>
                    <a:pt x="492897" y="120079"/>
                    <a:pt x="551935" y="185982"/>
                  </a:cubicBezTo>
                  <a:cubicBezTo>
                    <a:pt x="610973" y="251885"/>
                    <a:pt x="610286" y="326025"/>
                    <a:pt x="609600" y="400166"/>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5F110-5A8D-425F-A4C1-9B7498BEEB3E}"/>
                </a:ext>
              </a:extLst>
            </p:cNvPr>
            <p:cNvSpPr/>
            <p:nvPr/>
          </p:nvSpPr>
          <p:spPr>
            <a:xfrm rot="14190823" flipH="1">
              <a:off x="1097010" y="3381243"/>
              <a:ext cx="609747" cy="400166"/>
            </a:xfrm>
            <a:custGeom>
              <a:avLst/>
              <a:gdLst>
                <a:gd name="connsiteX0" fmla="*/ 0 w 609747"/>
                <a:gd name="connsiteY0" fmla="*/ 70653 h 400166"/>
                <a:gd name="connsiteX1" fmla="*/ 255373 w 609747"/>
                <a:gd name="connsiteY1" fmla="*/ 4750 h 400166"/>
                <a:gd name="connsiteX2" fmla="*/ 551935 w 609747"/>
                <a:gd name="connsiteY2" fmla="*/ 185982 h 400166"/>
                <a:gd name="connsiteX3" fmla="*/ 609600 w 609747"/>
                <a:gd name="connsiteY3" fmla="*/ 400166 h 400166"/>
              </a:gdLst>
              <a:ahLst/>
              <a:cxnLst>
                <a:cxn ang="0">
                  <a:pos x="connsiteX0" y="connsiteY0"/>
                </a:cxn>
                <a:cxn ang="0">
                  <a:pos x="connsiteX1" y="connsiteY1"/>
                </a:cxn>
                <a:cxn ang="0">
                  <a:pos x="connsiteX2" y="connsiteY2"/>
                </a:cxn>
                <a:cxn ang="0">
                  <a:pos x="connsiteX3" y="connsiteY3"/>
                </a:cxn>
              </a:cxnLst>
              <a:rect l="l" t="t" r="r" b="b"/>
              <a:pathLst>
                <a:path w="609747" h="400166">
                  <a:moveTo>
                    <a:pt x="0" y="70653"/>
                  </a:moveTo>
                  <a:cubicBezTo>
                    <a:pt x="81692" y="28090"/>
                    <a:pt x="163384" y="-14472"/>
                    <a:pt x="255373" y="4750"/>
                  </a:cubicBezTo>
                  <a:cubicBezTo>
                    <a:pt x="347362" y="23971"/>
                    <a:pt x="492897" y="120079"/>
                    <a:pt x="551935" y="185982"/>
                  </a:cubicBezTo>
                  <a:cubicBezTo>
                    <a:pt x="610973" y="251885"/>
                    <a:pt x="610286" y="326025"/>
                    <a:pt x="609600" y="400166"/>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extBox 18">
            <a:extLst>
              <a:ext uri="{FF2B5EF4-FFF2-40B4-BE49-F238E27FC236}">
                <a16:creationId xmlns:a16="http://schemas.microsoft.com/office/drawing/2014/main" id="{14060A9E-825D-4C28-BECC-9C60BFD73F41}"/>
              </a:ext>
            </a:extLst>
          </p:cNvPr>
          <p:cNvSpPr txBox="1"/>
          <p:nvPr/>
        </p:nvSpPr>
        <p:spPr>
          <a:xfrm>
            <a:off x="1457182" y="2792936"/>
            <a:ext cx="945117" cy="461665"/>
          </a:xfrm>
          <a:prstGeom prst="rect">
            <a:avLst/>
          </a:prstGeom>
          <a:noFill/>
        </p:spPr>
        <p:txBody>
          <a:bodyPr wrap="square" rtlCol="0">
            <a:spAutoFit/>
          </a:bodyPr>
          <a:lstStyle/>
          <a:p>
            <a:r>
              <a:rPr lang="en-US" dirty="0"/>
              <a:t>atria</a:t>
            </a:r>
          </a:p>
        </p:txBody>
      </p:sp>
      <p:sp>
        <p:nvSpPr>
          <p:cNvPr id="20" name="TextBox 19">
            <a:extLst>
              <a:ext uri="{FF2B5EF4-FFF2-40B4-BE49-F238E27FC236}">
                <a16:creationId xmlns:a16="http://schemas.microsoft.com/office/drawing/2014/main" id="{5B06C54A-4C35-41E5-BBA3-BFEC62B9E482}"/>
              </a:ext>
            </a:extLst>
          </p:cNvPr>
          <p:cNvSpPr txBox="1"/>
          <p:nvPr/>
        </p:nvSpPr>
        <p:spPr>
          <a:xfrm>
            <a:off x="2082798" y="5014019"/>
            <a:ext cx="1584842" cy="461665"/>
          </a:xfrm>
          <a:prstGeom prst="rect">
            <a:avLst/>
          </a:prstGeom>
          <a:noFill/>
        </p:spPr>
        <p:txBody>
          <a:bodyPr wrap="square" rtlCol="0">
            <a:spAutoFit/>
          </a:bodyPr>
          <a:lstStyle/>
          <a:p>
            <a:r>
              <a:rPr lang="en-US" dirty="0"/>
              <a:t>ventricles</a:t>
            </a:r>
          </a:p>
        </p:txBody>
      </p:sp>
    </p:spTree>
    <p:extLst>
      <p:ext uri="{BB962C8B-B14F-4D97-AF65-F5344CB8AC3E}">
        <p14:creationId xmlns:p14="http://schemas.microsoft.com/office/powerpoint/2010/main" val="158825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1000" tmFilter="0, 0; .2, .5; .8, .5; 1, 0"/>
                                        <p:tgtEl>
                                          <p:spTgt spid="8"/>
                                        </p:tgtEl>
                                      </p:cBhvr>
                                    </p:animEffect>
                                    <p:animScale>
                                      <p:cBhvr>
                                        <p:cTn id="7" dur="500" autoRev="1" fill="hold"/>
                                        <p:tgtEl>
                                          <p:spTgt spid="8"/>
                                        </p:tgtEl>
                                      </p:cBhvr>
                                      <p:by x="105000" y="105000"/>
                                    </p:animScale>
                                  </p:childTnLst>
                                </p:cTn>
                              </p:par>
                            </p:childTnLst>
                          </p:cTn>
                        </p:par>
                        <p:par>
                          <p:cTn id="8" fill="hold">
                            <p:stCondLst>
                              <p:cond delay="1000"/>
                            </p:stCondLst>
                            <p:childTnLst>
                              <p:par>
                                <p:cTn id="9" presetID="26" presetClass="emph" presetSubtype="0" repeatCount="indefinite" fill="hold" nodeType="afterEffect">
                                  <p:stCondLst>
                                    <p:cond delay="500"/>
                                  </p:stCondLst>
                                  <p:childTnLst>
                                    <p:animEffect transition="out" filter="fade">
                                      <p:cBhvr>
                                        <p:cTn id="10" dur="1000" tmFilter="0, 0; .2, .5; .8, .5; 1, 0"/>
                                        <p:tgtEl>
                                          <p:spTgt spid="11"/>
                                        </p:tgtEl>
                                      </p:cBhvr>
                                    </p:animEffect>
                                    <p:animScale>
                                      <p:cBhvr>
                                        <p:cTn id="11" dur="500" autoRev="1" fill="hold"/>
                                        <p:tgtEl>
                                          <p:spTgt spid="11"/>
                                        </p:tgtEl>
                                      </p:cBhvr>
                                      <p:by x="105000" y="105000"/>
                                    </p:animScale>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Triple redundancy</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038600" y="1447800"/>
            <a:ext cx="4811650" cy="4724400"/>
          </a:xfrm>
        </p:spPr>
        <p:txBody>
          <a:bodyPr/>
          <a:lstStyle/>
          <a:p>
            <a:r>
              <a:rPr lang="en-US" sz="2400" dirty="0"/>
              <a:t>The main operation is simple – SA node oscillates ≈ 60 bpm</a:t>
            </a:r>
          </a:p>
          <a:p>
            <a:r>
              <a:rPr lang="en-US" sz="2400" dirty="0"/>
              <a:t>But what if the upstream rhythm breaks?</a:t>
            </a:r>
          </a:p>
          <a:p>
            <a:pPr lvl="1">
              <a:spcBef>
                <a:spcPts val="0"/>
              </a:spcBef>
            </a:pPr>
            <a:r>
              <a:rPr lang="en-US" sz="2000" dirty="0"/>
              <a:t>Quick review: how can it break?</a:t>
            </a:r>
          </a:p>
          <a:p>
            <a:r>
              <a:rPr lang="en-US" sz="2400" dirty="0"/>
              <a:t>The AV node can also oscillate!</a:t>
            </a:r>
          </a:p>
          <a:p>
            <a:pPr lvl="1">
              <a:spcBef>
                <a:spcPts val="0"/>
              </a:spcBef>
            </a:pPr>
            <a:r>
              <a:rPr lang="en-US" sz="2000" dirty="0"/>
              <a:t>Now we have a backup in case of atrial fib, AV blocks</a:t>
            </a:r>
          </a:p>
          <a:p>
            <a:pPr lvl="1">
              <a:spcBef>
                <a:spcPts val="0"/>
              </a:spcBef>
            </a:pPr>
            <a:r>
              <a:rPr lang="en-US" sz="2000" dirty="0"/>
              <a:t>AV-node cells have funny ion channels &amp; are pacemakers</a:t>
            </a:r>
          </a:p>
          <a:p>
            <a:r>
              <a:rPr lang="en-US" sz="2400" dirty="0"/>
              <a:t>But what if the bundle of HIS, or LBB &amp; RBB are both blocked?</a:t>
            </a:r>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a:t>EE 123 -- Bioelectricity</a:t>
            </a:r>
            <a:endParaRPr lang="en-US" dirty="0"/>
          </a:p>
        </p:txBody>
      </p:sp>
      <p:grpSp>
        <p:nvGrpSpPr>
          <p:cNvPr id="10" name="Group 9">
            <a:extLst>
              <a:ext uri="{FF2B5EF4-FFF2-40B4-BE49-F238E27FC236}">
                <a16:creationId xmlns:a16="http://schemas.microsoft.com/office/drawing/2014/main" id="{CDCFAD98-6F28-46E9-8A67-B203A8D03F42}"/>
              </a:ext>
            </a:extLst>
          </p:cNvPr>
          <p:cNvGrpSpPr/>
          <p:nvPr/>
        </p:nvGrpSpPr>
        <p:grpSpPr>
          <a:xfrm>
            <a:off x="1219200" y="3505200"/>
            <a:ext cx="2157237" cy="1676400"/>
            <a:chOff x="1219200" y="3505200"/>
            <a:chExt cx="2157237" cy="1676400"/>
          </a:xfrm>
        </p:grpSpPr>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ln>
                    <a:solidFill>
                      <a:schemeClr val="tx1"/>
                    </a:solidFill>
                  </a:ln>
                  <a:solidFill>
                    <a:schemeClr val="tx1"/>
                  </a:solidFill>
                </a:rPr>
                <a:t>AV</a:t>
              </a:r>
            </a:p>
          </p:txBody>
        </p:sp>
        <p:sp>
          <p:nvSpPr>
            <p:cNvPr id="18" name="Arrow: Down 17">
              <a:extLst>
                <a:ext uri="{FF2B5EF4-FFF2-40B4-BE49-F238E27FC236}">
                  <a16:creationId xmlns:a16="http://schemas.microsoft.com/office/drawing/2014/main" id="{97EB7340-73F6-49FC-AF08-BEF778CFE017}"/>
                </a:ext>
              </a:extLst>
            </p:cNvPr>
            <p:cNvSpPr/>
            <p:nvPr/>
          </p:nvSpPr>
          <p:spPr>
            <a:xfrm rot="20480815">
              <a:off x="1827895" y="3856920"/>
              <a:ext cx="381000"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1" name="Arrow: Down 20">
              <a:extLst>
                <a:ext uri="{FF2B5EF4-FFF2-40B4-BE49-F238E27FC236}">
                  <a16:creationId xmlns:a16="http://schemas.microsoft.com/office/drawing/2014/main" id="{F51D4FFB-16D8-4F17-BE91-BEF015035A26}"/>
                </a:ext>
              </a:extLst>
            </p:cNvPr>
            <p:cNvSpPr/>
            <p:nvPr/>
          </p:nvSpPr>
          <p:spPr>
            <a:xfrm>
              <a:off x="1752600" y="4343400"/>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2" name="Arrow: Down 21">
              <a:extLst>
                <a:ext uri="{FF2B5EF4-FFF2-40B4-BE49-F238E27FC236}">
                  <a16:creationId xmlns:a16="http://schemas.microsoft.com/office/drawing/2014/main" id="{AE7E6EF8-6562-4E00-8DBB-E7778A3F9674}"/>
                </a:ext>
              </a:extLst>
            </p:cNvPr>
            <p:cNvSpPr/>
            <p:nvPr/>
          </p:nvSpPr>
          <p:spPr>
            <a:xfrm rot="17182029">
              <a:off x="2415924" y="4109927"/>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3" name="Arrow: Down 22">
              <a:extLst>
                <a:ext uri="{FF2B5EF4-FFF2-40B4-BE49-F238E27FC236}">
                  <a16:creationId xmlns:a16="http://schemas.microsoft.com/office/drawing/2014/main" id="{300E2AC0-3C29-4D1C-9675-56CB95B48F6B}"/>
                </a:ext>
              </a:extLst>
            </p:cNvPr>
            <p:cNvSpPr/>
            <p:nvPr/>
          </p:nvSpPr>
          <p:spPr>
            <a:xfrm rot="17182029">
              <a:off x="2446678" y="4178443"/>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4" name="Arrow: Down 23">
              <a:extLst>
                <a:ext uri="{FF2B5EF4-FFF2-40B4-BE49-F238E27FC236}">
                  <a16:creationId xmlns:a16="http://schemas.microsoft.com/office/drawing/2014/main" id="{A00D32A6-D6AF-4B95-BAD1-CB2B8DB82346}"/>
                </a:ext>
              </a:extLst>
            </p:cNvPr>
            <p:cNvSpPr/>
            <p:nvPr/>
          </p:nvSpPr>
          <p:spPr>
            <a:xfrm>
              <a:off x="1219200" y="4648200"/>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gr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ln>
                  <a:solidFill>
                    <a:schemeClr val="tx1"/>
                  </a:solidFill>
                </a:ln>
                <a:solidFill>
                  <a:schemeClr val="tx1"/>
                </a:solidFill>
              </a:rPr>
              <a:t>SA</a:t>
            </a:r>
          </a:p>
        </p:txBody>
      </p:sp>
      <p:cxnSp>
        <p:nvCxnSpPr>
          <p:cNvPr id="6" name="Straight Arrow Connector 5">
            <a:extLst>
              <a:ext uri="{FF2B5EF4-FFF2-40B4-BE49-F238E27FC236}">
                <a16:creationId xmlns:a16="http://schemas.microsoft.com/office/drawing/2014/main" id="{667652D8-DDE3-40DE-B645-B6BE2F66322B}"/>
              </a:ext>
            </a:extLst>
          </p:cNvPr>
          <p:cNvCxnSpPr>
            <a:stCxn id="14" idx="6"/>
            <a:endCxn id="17" idx="1"/>
          </p:cNvCxnSpPr>
          <p:nvPr/>
        </p:nvCxnSpPr>
        <p:spPr>
          <a:xfrm>
            <a:off x="1219200" y="3263899"/>
            <a:ext cx="538394" cy="29709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Freeform: Shape 6">
            <a:extLst>
              <a:ext uri="{FF2B5EF4-FFF2-40B4-BE49-F238E27FC236}">
                <a16:creationId xmlns:a16="http://schemas.microsoft.com/office/drawing/2014/main" id="{9C2DF04D-A83A-400A-AE10-C4852DC3214F}"/>
              </a:ext>
            </a:extLst>
          </p:cNvPr>
          <p:cNvSpPr/>
          <p:nvPr/>
        </p:nvSpPr>
        <p:spPr>
          <a:xfrm>
            <a:off x="1227438" y="3100915"/>
            <a:ext cx="609747" cy="400166"/>
          </a:xfrm>
          <a:custGeom>
            <a:avLst/>
            <a:gdLst>
              <a:gd name="connsiteX0" fmla="*/ 0 w 609747"/>
              <a:gd name="connsiteY0" fmla="*/ 70653 h 400166"/>
              <a:gd name="connsiteX1" fmla="*/ 255373 w 609747"/>
              <a:gd name="connsiteY1" fmla="*/ 4750 h 400166"/>
              <a:gd name="connsiteX2" fmla="*/ 551935 w 609747"/>
              <a:gd name="connsiteY2" fmla="*/ 185982 h 400166"/>
              <a:gd name="connsiteX3" fmla="*/ 609600 w 609747"/>
              <a:gd name="connsiteY3" fmla="*/ 400166 h 400166"/>
            </a:gdLst>
            <a:ahLst/>
            <a:cxnLst>
              <a:cxn ang="0">
                <a:pos x="connsiteX0" y="connsiteY0"/>
              </a:cxn>
              <a:cxn ang="0">
                <a:pos x="connsiteX1" y="connsiteY1"/>
              </a:cxn>
              <a:cxn ang="0">
                <a:pos x="connsiteX2" y="connsiteY2"/>
              </a:cxn>
              <a:cxn ang="0">
                <a:pos x="connsiteX3" y="connsiteY3"/>
              </a:cxn>
            </a:cxnLst>
            <a:rect l="l" t="t" r="r" b="b"/>
            <a:pathLst>
              <a:path w="609747" h="400166">
                <a:moveTo>
                  <a:pt x="0" y="70653"/>
                </a:moveTo>
                <a:cubicBezTo>
                  <a:pt x="81692" y="28090"/>
                  <a:pt x="163384" y="-14472"/>
                  <a:pt x="255373" y="4750"/>
                </a:cubicBezTo>
                <a:cubicBezTo>
                  <a:pt x="347362" y="23971"/>
                  <a:pt x="492897" y="120079"/>
                  <a:pt x="551935" y="185982"/>
                </a:cubicBezTo>
                <a:cubicBezTo>
                  <a:pt x="610973" y="251885"/>
                  <a:pt x="610286" y="326025"/>
                  <a:pt x="609600" y="400166"/>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5F110-5A8D-425F-A4C1-9B7498BEEB3E}"/>
              </a:ext>
            </a:extLst>
          </p:cNvPr>
          <p:cNvSpPr/>
          <p:nvPr/>
        </p:nvSpPr>
        <p:spPr>
          <a:xfrm rot="14190823" flipH="1">
            <a:off x="1097010" y="3381243"/>
            <a:ext cx="609747" cy="400166"/>
          </a:xfrm>
          <a:custGeom>
            <a:avLst/>
            <a:gdLst>
              <a:gd name="connsiteX0" fmla="*/ 0 w 609747"/>
              <a:gd name="connsiteY0" fmla="*/ 70653 h 400166"/>
              <a:gd name="connsiteX1" fmla="*/ 255373 w 609747"/>
              <a:gd name="connsiteY1" fmla="*/ 4750 h 400166"/>
              <a:gd name="connsiteX2" fmla="*/ 551935 w 609747"/>
              <a:gd name="connsiteY2" fmla="*/ 185982 h 400166"/>
              <a:gd name="connsiteX3" fmla="*/ 609600 w 609747"/>
              <a:gd name="connsiteY3" fmla="*/ 400166 h 400166"/>
            </a:gdLst>
            <a:ahLst/>
            <a:cxnLst>
              <a:cxn ang="0">
                <a:pos x="connsiteX0" y="connsiteY0"/>
              </a:cxn>
              <a:cxn ang="0">
                <a:pos x="connsiteX1" y="connsiteY1"/>
              </a:cxn>
              <a:cxn ang="0">
                <a:pos x="connsiteX2" y="connsiteY2"/>
              </a:cxn>
              <a:cxn ang="0">
                <a:pos x="connsiteX3" y="connsiteY3"/>
              </a:cxn>
            </a:cxnLst>
            <a:rect l="l" t="t" r="r" b="b"/>
            <a:pathLst>
              <a:path w="609747" h="400166">
                <a:moveTo>
                  <a:pt x="0" y="70653"/>
                </a:moveTo>
                <a:cubicBezTo>
                  <a:pt x="81692" y="28090"/>
                  <a:pt x="163384" y="-14472"/>
                  <a:pt x="255373" y="4750"/>
                </a:cubicBezTo>
                <a:cubicBezTo>
                  <a:pt x="347362" y="23971"/>
                  <a:pt x="492897" y="120079"/>
                  <a:pt x="551935" y="185982"/>
                </a:cubicBezTo>
                <a:cubicBezTo>
                  <a:pt x="610973" y="251885"/>
                  <a:pt x="610286" y="326025"/>
                  <a:pt x="609600" y="400166"/>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ED2C89CD-95FE-436A-990B-DEA20E0D8574}"/>
              </a:ext>
            </a:extLst>
          </p:cNvPr>
          <p:cNvCxnSpPr/>
          <p:nvPr/>
        </p:nvCxnSpPr>
        <p:spPr>
          <a:xfrm flipH="1">
            <a:off x="838200" y="3216662"/>
            <a:ext cx="1244598" cy="34433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733C11F-6263-4BE4-B028-B3C7938D4FBC}"/>
              </a:ext>
            </a:extLst>
          </p:cNvPr>
          <p:cNvCxnSpPr>
            <a:cxnSpLocks/>
          </p:cNvCxnSpPr>
          <p:nvPr/>
        </p:nvCxnSpPr>
        <p:spPr>
          <a:xfrm flipH="1" flipV="1">
            <a:off x="812802" y="3160866"/>
            <a:ext cx="1244598" cy="34433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B45D02D-9BF5-492E-8C23-97F298F73208}"/>
              </a:ext>
            </a:extLst>
          </p:cNvPr>
          <p:cNvSpPr txBox="1"/>
          <p:nvPr/>
        </p:nvSpPr>
        <p:spPr>
          <a:xfrm>
            <a:off x="1457182" y="2792936"/>
            <a:ext cx="945117" cy="461665"/>
          </a:xfrm>
          <a:prstGeom prst="rect">
            <a:avLst/>
          </a:prstGeom>
          <a:noFill/>
        </p:spPr>
        <p:txBody>
          <a:bodyPr wrap="square" rtlCol="0">
            <a:spAutoFit/>
          </a:bodyPr>
          <a:lstStyle/>
          <a:p>
            <a:r>
              <a:rPr lang="en-US" dirty="0"/>
              <a:t>atria</a:t>
            </a:r>
          </a:p>
        </p:txBody>
      </p:sp>
      <p:sp>
        <p:nvSpPr>
          <p:cNvPr id="25" name="TextBox 24">
            <a:extLst>
              <a:ext uri="{FF2B5EF4-FFF2-40B4-BE49-F238E27FC236}">
                <a16:creationId xmlns:a16="http://schemas.microsoft.com/office/drawing/2014/main" id="{643174BE-D1A4-4C37-AEBC-2DC43F8F6256}"/>
              </a:ext>
            </a:extLst>
          </p:cNvPr>
          <p:cNvSpPr txBox="1"/>
          <p:nvPr/>
        </p:nvSpPr>
        <p:spPr>
          <a:xfrm>
            <a:off x="2082798" y="5014019"/>
            <a:ext cx="1584842" cy="461665"/>
          </a:xfrm>
          <a:prstGeom prst="rect">
            <a:avLst/>
          </a:prstGeom>
          <a:noFill/>
        </p:spPr>
        <p:txBody>
          <a:bodyPr wrap="square" rtlCol="0">
            <a:spAutoFit/>
          </a:bodyPr>
          <a:lstStyle/>
          <a:p>
            <a:r>
              <a:rPr lang="en-US" dirty="0"/>
              <a:t>ventricles</a:t>
            </a:r>
          </a:p>
        </p:txBody>
      </p:sp>
    </p:spTree>
    <p:extLst>
      <p:ext uri="{BB962C8B-B14F-4D97-AF65-F5344CB8AC3E}">
        <p14:creationId xmlns:p14="http://schemas.microsoft.com/office/powerpoint/2010/main" val="2919464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2000" tmFilter="0, 0; .2, .5; .8, .5; 1, 0"/>
                                        <p:tgtEl>
                                          <p:spTgt spid="10"/>
                                        </p:tgtEl>
                                      </p:cBhvr>
                                    </p:animEffect>
                                    <p:animScale>
                                      <p:cBhvr>
                                        <p:cTn id="7" dur="1000" autoRev="1" fill="hold"/>
                                        <p:tgtEl>
                                          <p:spTgt spid="10"/>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DF0-8721-43EB-9B8E-CAAE1447E95E}"/>
              </a:ext>
            </a:extLst>
          </p:cNvPr>
          <p:cNvSpPr>
            <a:spLocks noGrp="1"/>
          </p:cNvSpPr>
          <p:nvPr>
            <p:ph type="title"/>
          </p:nvPr>
        </p:nvSpPr>
        <p:spPr/>
        <p:txBody>
          <a:bodyPr/>
          <a:lstStyle/>
          <a:p>
            <a:r>
              <a:rPr lang="en-US" dirty="0"/>
              <a:t>Triple redundancy</a:t>
            </a:r>
          </a:p>
        </p:txBody>
      </p:sp>
      <p:sp>
        <p:nvSpPr>
          <p:cNvPr id="3" name="Content Placeholder 2">
            <a:extLst>
              <a:ext uri="{FF2B5EF4-FFF2-40B4-BE49-F238E27FC236}">
                <a16:creationId xmlns:a16="http://schemas.microsoft.com/office/drawing/2014/main" id="{CEDEEB66-AD5A-40DD-B2FE-DB39151D30FC}"/>
              </a:ext>
            </a:extLst>
          </p:cNvPr>
          <p:cNvSpPr>
            <a:spLocks noGrp="1"/>
          </p:cNvSpPr>
          <p:nvPr>
            <p:ph idx="1"/>
          </p:nvPr>
        </p:nvSpPr>
        <p:spPr>
          <a:xfrm>
            <a:off x="4038600" y="1447800"/>
            <a:ext cx="4811650" cy="4724400"/>
          </a:xfrm>
        </p:spPr>
        <p:txBody>
          <a:bodyPr/>
          <a:lstStyle/>
          <a:p>
            <a:r>
              <a:rPr lang="en-US" sz="2400" dirty="0"/>
              <a:t>The main operation is simple – SA node oscillates ≈ 60 bpm</a:t>
            </a:r>
          </a:p>
          <a:p>
            <a:r>
              <a:rPr lang="en-US" sz="2400" dirty="0"/>
              <a:t>But what if the upstream rhythm breaks?</a:t>
            </a:r>
          </a:p>
          <a:p>
            <a:pPr lvl="1">
              <a:spcBef>
                <a:spcPts val="0"/>
              </a:spcBef>
            </a:pPr>
            <a:r>
              <a:rPr lang="en-US" sz="2000" dirty="0"/>
              <a:t>Quick review: how can it break?</a:t>
            </a:r>
          </a:p>
          <a:p>
            <a:r>
              <a:rPr lang="en-US" sz="2400" dirty="0"/>
              <a:t>The AV node can also oscillate!</a:t>
            </a:r>
          </a:p>
          <a:p>
            <a:pPr lvl="1">
              <a:spcBef>
                <a:spcPts val="0"/>
              </a:spcBef>
            </a:pPr>
            <a:r>
              <a:rPr lang="en-US" sz="2000" dirty="0"/>
              <a:t>Now we have a backup in case of atrial fib, AV blocks</a:t>
            </a:r>
          </a:p>
          <a:p>
            <a:r>
              <a:rPr lang="en-US" sz="2400" dirty="0"/>
              <a:t>But what if the bundle of HIS, or LBB &amp; RBB are both blocked?</a:t>
            </a:r>
          </a:p>
          <a:p>
            <a:pPr lvl="1">
              <a:spcBef>
                <a:spcPts val="0"/>
              </a:spcBef>
            </a:pPr>
            <a:r>
              <a:rPr lang="en-US" sz="2000" dirty="0"/>
              <a:t>The Purkinje fibers can also oscillate!</a:t>
            </a:r>
          </a:p>
          <a:p>
            <a:endParaRPr lang="en-US" dirty="0"/>
          </a:p>
        </p:txBody>
      </p:sp>
      <p:sp>
        <p:nvSpPr>
          <p:cNvPr id="4" name="Footer Placeholder 3">
            <a:extLst>
              <a:ext uri="{FF2B5EF4-FFF2-40B4-BE49-F238E27FC236}">
                <a16:creationId xmlns:a16="http://schemas.microsoft.com/office/drawing/2014/main" id="{B58CDDA2-54E6-418F-A53F-FA502B7CA634}"/>
              </a:ext>
            </a:extLst>
          </p:cNvPr>
          <p:cNvSpPr>
            <a:spLocks noGrp="1"/>
          </p:cNvSpPr>
          <p:nvPr>
            <p:ph type="ftr" sz="quarter" idx="11"/>
          </p:nvPr>
        </p:nvSpPr>
        <p:spPr/>
        <p:txBody>
          <a:bodyPr/>
          <a:lstStyle/>
          <a:p>
            <a:pPr>
              <a:defRPr/>
            </a:pPr>
            <a:r>
              <a:rPr lang="en-US"/>
              <a:t>EE 123 -- Bioelectricity</a:t>
            </a:r>
            <a:endParaRPr lang="en-US" dirty="0"/>
          </a:p>
        </p:txBody>
      </p:sp>
      <p:sp>
        <p:nvSpPr>
          <p:cNvPr id="17" name="Oval 16">
            <a:extLst>
              <a:ext uri="{FF2B5EF4-FFF2-40B4-BE49-F238E27FC236}">
                <a16:creationId xmlns:a16="http://schemas.microsoft.com/office/drawing/2014/main" id="{3AABEAD9-C50D-424B-87AA-7780E6ED726E}"/>
              </a:ext>
            </a:extLst>
          </p:cNvPr>
          <p:cNvSpPr/>
          <p:nvPr/>
        </p:nvSpPr>
        <p:spPr>
          <a:xfrm>
            <a:off x="1701798" y="3505200"/>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ln>
                  <a:solidFill>
                    <a:schemeClr val="tx1"/>
                  </a:solidFill>
                </a:ln>
                <a:solidFill>
                  <a:schemeClr val="tx1"/>
                </a:solidFill>
              </a:rPr>
              <a:t>AV</a:t>
            </a:r>
          </a:p>
        </p:txBody>
      </p:sp>
      <p:sp>
        <p:nvSpPr>
          <p:cNvPr id="18" name="Arrow: Down 17">
            <a:extLst>
              <a:ext uri="{FF2B5EF4-FFF2-40B4-BE49-F238E27FC236}">
                <a16:creationId xmlns:a16="http://schemas.microsoft.com/office/drawing/2014/main" id="{97EB7340-73F6-49FC-AF08-BEF778CFE017}"/>
              </a:ext>
            </a:extLst>
          </p:cNvPr>
          <p:cNvSpPr/>
          <p:nvPr/>
        </p:nvSpPr>
        <p:spPr>
          <a:xfrm rot="20480815">
            <a:off x="1827895" y="3856920"/>
            <a:ext cx="381000"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1" name="Arrow: Down 20">
            <a:extLst>
              <a:ext uri="{FF2B5EF4-FFF2-40B4-BE49-F238E27FC236}">
                <a16:creationId xmlns:a16="http://schemas.microsoft.com/office/drawing/2014/main" id="{F51D4FFB-16D8-4F17-BE91-BEF015035A26}"/>
              </a:ext>
            </a:extLst>
          </p:cNvPr>
          <p:cNvSpPr/>
          <p:nvPr/>
        </p:nvSpPr>
        <p:spPr>
          <a:xfrm>
            <a:off x="1752600" y="4343400"/>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2" name="Arrow: Down 21">
            <a:extLst>
              <a:ext uri="{FF2B5EF4-FFF2-40B4-BE49-F238E27FC236}">
                <a16:creationId xmlns:a16="http://schemas.microsoft.com/office/drawing/2014/main" id="{AE7E6EF8-6562-4E00-8DBB-E7778A3F9674}"/>
              </a:ext>
            </a:extLst>
          </p:cNvPr>
          <p:cNvSpPr/>
          <p:nvPr/>
        </p:nvSpPr>
        <p:spPr>
          <a:xfrm rot="17182029">
            <a:off x="2415924" y="4109927"/>
            <a:ext cx="23027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grpSp>
        <p:nvGrpSpPr>
          <p:cNvPr id="5" name="Group 4">
            <a:extLst>
              <a:ext uri="{FF2B5EF4-FFF2-40B4-BE49-F238E27FC236}">
                <a16:creationId xmlns:a16="http://schemas.microsoft.com/office/drawing/2014/main" id="{959446C4-581D-465B-B14C-7FD1E262E123}"/>
              </a:ext>
            </a:extLst>
          </p:cNvPr>
          <p:cNvGrpSpPr/>
          <p:nvPr/>
        </p:nvGrpSpPr>
        <p:grpSpPr>
          <a:xfrm>
            <a:off x="1219200" y="3782084"/>
            <a:ext cx="2157237" cy="1399516"/>
            <a:chOff x="1219200" y="3782084"/>
            <a:chExt cx="2157237" cy="1399516"/>
          </a:xfrm>
        </p:grpSpPr>
        <p:sp>
          <p:nvSpPr>
            <p:cNvPr id="23" name="Arrow: Down 22">
              <a:extLst>
                <a:ext uri="{FF2B5EF4-FFF2-40B4-BE49-F238E27FC236}">
                  <a16:creationId xmlns:a16="http://schemas.microsoft.com/office/drawing/2014/main" id="{300E2AC0-3C29-4D1C-9675-56CB95B48F6B}"/>
                </a:ext>
              </a:extLst>
            </p:cNvPr>
            <p:cNvSpPr/>
            <p:nvPr/>
          </p:nvSpPr>
          <p:spPr>
            <a:xfrm rot="17182029">
              <a:off x="2446678" y="4178443"/>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4" name="Arrow: Down 23">
              <a:extLst>
                <a:ext uri="{FF2B5EF4-FFF2-40B4-BE49-F238E27FC236}">
                  <a16:creationId xmlns:a16="http://schemas.microsoft.com/office/drawing/2014/main" id="{A00D32A6-D6AF-4B95-BAD1-CB2B8DB82346}"/>
                </a:ext>
              </a:extLst>
            </p:cNvPr>
            <p:cNvSpPr/>
            <p:nvPr/>
          </p:nvSpPr>
          <p:spPr>
            <a:xfrm>
              <a:off x="1219200" y="4648200"/>
              <a:ext cx="1326117" cy="533400"/>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grpSp>
      <p:sp>
        <p:nvSpPr>
          <p:cNvPr id="14" name="Oval 13">
            <a:extLst>
              <a:ext uri="{FF2B5EF4-FFF2-40B4-BE49-F238E27FC236}">
                <a16:creationId xmlns:a16="http://schemas.microsoft.com/office/drawing/2014/main" id="{3D54424C-F585-4693-81E1-EEF8C97AA59E}"/>
              </a:ext>
            </a:extLst>
          </p:cNvPr>
          <p:cNvSpPr/>
          <p:nvPr/>
        </p:nvSpPr>
        <p:spPr>
          <a:xfrm>
            <a:off x="838200" y="3073399"/>
            <a:ext cx="381000" cy="381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600" b="1" dirty="0">
                <a:ln>
                  <a:solidFill>
                    <a:schemeClr val="tx1"/>
                  </a:solidFill>
                </a:ln>
                <a:solidFill>
                  <a:schemeClr val="tx1"/>
                </a:solidFill>
              </a:rPr>
              <a:t>SA</a:t>
            </a:r>
          </a:p>
        </p:txBody>
      </p:sp>
      <p:cxnSp>
        <p:nvCxnSpPr>
          <p:cNvPr id="6" name="Straight Arrow Connector 5">
            <a:extLst>
              <a:ext uri="{FF2B5EF4-FFF2-40B4-BE49-F238E27FC236}">
                <a16:creationId xmlns:a16="http://schemas.microsoft.com/office/drawing/2014/main" id="{667652D8-DDE3-40DE-B645-B6BE2F66322B}"/>
              </a:ext>
            </a:extLst>
          </p:cNvPr>
          <p:cNvCxnSpPr>
            <a:stCxn id="14" idx="6"/>
            <a:endCxn id="17" idx="1"/>
          </p:cNvCxnSpPr>
          <p:nvPr/>
        </p:nvCxnSpPr>
        <p:spPr>
          <a:xfrm>
            <a:off x="1219200" y="3263899"/>
            <a:ext cx="538394" cy="29709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Freeform: Shape 6">
            <a:extLst>
              <a:ext uri="{FF2B5EF4-FFF2-40B4-BE49-F238E27FC236}">
                <a16:creationId xmlns:a16="http://schemas.microsoft.com/office/drawing/2014/main" id="{9C2DF04D-A83A-400A-AE10-C4852DC3214F}"/>
              </a:ext>
            </a:extLst>
          </p:cNvPr>
          <p:cNvSpPr/>
          <p:nvPr/>
        </p:nvSpPr>
        <p:spPr>
          <a:xfrm>
            <a:off x="1227438" y="3100915"/>
            <a:ext cx="609747" cy="400166"/>
          </a:xfrm>
          <a:custGeom>
            <a:avLst/>
            <a:gdLst>
              <a:gd name="connsiteX0" fmla="*/ 0 w 609747"/>
              <a:gd name="connsiteY0" fmla="*/ 70653 h 400166"/>
              <a:gd name="connsiteX1" fmla="*/ 255373 w 609747"/>
              <a:gd name="connsiteY1" fmla="*/ 4750 h 400166"/>
              <a:gd name="connsiteX2" fmla="*/ 551935 w 609747"/>
              <a:gd name="connsiteY2" fmla="*/ 185982 h 400166"/>
              <a:gd name="connsiteX3" fmla="*/ 609600 w 609747"/>
              <a:gd name="connsiteY3" fmla="*/ 400166 h 400166"/>
            </a:gdLst>
            <a:ahLst/>
            <a:cxnLst>
              <a:cxn ang="0">
                <a:pos x="connsiteX0" y="connsiteY0"/>
              </a:cxn>
              <a:cxn ang="0">
                <a:pos x="connsiteX1" y="connsiteY1"/>
              </a:cxn>
              <a:cxn ang="0">
                <a:pos x="connsiteX2" y="connsiteY2"/>
              </a:cxn>
              <a:cxn ang="0">
                <a:pos x="connsiteX3" y="connsiteY3"/>
              </a:cxn>
            </a:cxnLst>
            <a:rect l="l" t="t" r="r" b="b"/>
            <a:pathLst>
              <a:path w="609747" h="400166">
                <a:moveTo>
                  <a:pt x="0" y="70653"/>
                </a:moveTo>
                <a:cubicBezTo>
                  <a:pt x="81692" y="28090"/>
                  <a:pt x="163384" y="-14472"/>
                  <a:pt x="255373" y="4750"/>
                </a:cubicBezTo>
                <a:cubicBezTo>
                  <a:pt x="347362" y="23971"/>
                  <a:pt x="492897" y="120079"/>
                  <a:pt x="551935" y="185982"/>
                </a:cubicBezTo>
                <a:cubicBezTo>
                  <a:pt x="610973" y="251885"/>
                  <a:pt x="610286" y="326025"/>
                  <a:pt x="609600" y="400166"/>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5F110-5A8D-425F-A4C1-9B7498BEEB3E}"/>
              </a:ext>
            </a:extLst>
          </p:cNvPr>
          <p:cNvSpPr/>
          <p:nvPr/>
        </p:nvSpPr>
        <p:spPr>
          <a:xfrm rot="14190823" flipH="1">
            <a:off x="1097010" y="3381243"/>
            <a:ext cx="609747" cy="400166"/>
          </a:xfrm>
          <a:custGeom>
            <a:avLst/>
            <a:gdLst>
              <a:gd name="connsiteX0" fmla="*/ 0 w 609747"/>
              <a:gd name="connsiteY0" fmla="*/ 70653 h 400166"/>
              <a:gd name="connsiteX1" fmla="*/ 255373 w 609747"/>
              <a:gd name="connsiteY1" fmla="*/ 4750 h 400166"/>
              <a:gd name="connsiteX2" fmla="*/ 551935 w 609747"/>
              <a:gd name="connsiteY2" fmla="*/ 185982 h 400166"/>
              <a:gd name="connsiteX3" fmla="*/ 609600 w 609747"/>
              <a:gd name="connsiteY3" fmla="*/ 400166 h 400166"/>
            </a:gdLst>
            <a:ahLst/>
            <a:cxnLst>
              <a:cxn ang="0">
                <a:pos x="connsiteX0" y="connsiteY0"/>
              </a:cxn>
              <a:cxn ang="0">
                <a:pos x="connsiteX1" y="connsiteY1"/>
              </a:cxn>
              <a:cxn ang="0">
                <a:pos x="connsiteX2" y="connsiteY2"/>
              </a:cxn>
              <a:cxn ang="0">
                <a:pos x="connsiteX3" y="connsiteY3"/>
              </a:cxn>
            </a:cxnLst>
            <a:rect l="l" t="t" r="r" b="b"/>
            <a:pathLst>
              <a:path w="609747" h="400166">
                <a:moveTo>
                  <a:pt x="0" y="70653"/>
                </a:moveTo>
                <a:cubicBezTo>
                  <a:pt x="81692" y="28090"/>
                  <a:pt x="163384" y="-14472"/>
                  <a:pt x="255373" y="4750"/>
                </a:cubicBezTo>
                <a:cubicBezTo>
                  <a:pt x="347362" y="23971"/>
                  <a:pt x="492897" y="120079"/>
                  <a:pt x="551935" y="185982"/>
                </a:cubicBezTo>
                <a:cubicBezTo>
                  <a:pt x="610973" y="251885"/>
                  <a:pt x="610286" y="326025"/>
                  <a:pt x="609600" y="400166"/>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ED2C89CD-95FE-436A-990B-DEA20E0D8574}"/>
              </a:ext>
            </a:extLst>
          </p:cNvPr>
          <p:cNvCxnSpPr/>
          <p:nvPr/>
        </p:nvCxnSpPr>
        <p:spPr>
          <a:xfrm flipH="1">
            <a:off x="838200" y="3216662"/>
            <a:ext cx="1244598" cy="34433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733C11F-6263-4BE4-B028-B3C7938D4FBC}"/>
              </a:ext>
            </a:extLst>
          </p:cNvPr>
          <p:cNvCxnSpPr>
            <a:cxnSpLocks/>
          </p:cNvCxnSpPr>
          <p:nvPr/>
        </p:nvCxnSpPr>
        <p:spPr>
          <a:xfrm flipH="1" flipV="1">
            <a:off x="812802" y="3160866"/>
            <a:ext cx="1244598" cy="34433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766FC9D-2E1E-4B64-9FC9-AD0761EB302B}"/>
              </a:ext>
            </a:extLst>
          </p:cNvPr>
          <p:cNvCxnSpPr/>
          <p:nvPr/>
        </p:nvCxnSpPr>
        <p:spPr>
          <a:xfrm flipH="1">
            <a:off x="1422402" y="4151466"/>
            <a:ext cx="1244598" cy="34433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DA4B50-C528-4837-92DD-466A1299C11D}"/>
              </a:ext>
            </a:extLst>
          </p:cNvPr>
          <p:cNvCxnSpPr>
            <a:cxnSpLocks/>
          </p:cNvCxnSpPr>
          <p:nvPr/>
        </p:nvCxnSpPr>
        <p:spPr>
          <a:xfrm flipH="1" flipV="1">
            <a:off x="1397004" y="4095670"/>
            <a:ext cx="1244598" cy="344334"/>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C1380CE-5DD8-4001-94C2-161769086D3B}"/>
              </a:ext>
            </a:extLst>
          </p:cNvPr>
          <p:cNvSpPr txBox="1"/>
          <p:nvPr/>
        </p:nvSpPr>
        <p:spPr>
          <a:xfrm>
            <a:off x="1457182" y="2792936"/>
            <a:ext cx="945117" cy="461665"/>
          </a:xfrm>
          <a:prstGeom prst="rect">
            <a:avLst/>
          </a:prstGeom>
          <a:noFill/>
        </p:spPr>
        <p:txBody>
          <a:bodyPr wrap="square" rtlCol="0">
            <a:spAutoFit/>
          </a:bodyPr>
          <a:lstStyle/>
          <a:p>
            <a:r>
              <a:rPr lang="en-US" dirty="0"/>
              <a:t>atria</a:t>
            </a:r>
          </a:p>
        </p:txBody>
      </p:sp>
      <p:sp>
        <p:nvSpPr>
          <p:cNvPr id="26" name="TextBox 25">
            <a:extLst>
              <a:ext uri="{FF2B5EF4-FFF2-40B4-BE49-F238E27FC236}">
                <a16:creationId xmlns:a16="http://schemas.microsoft.com/office/drawing/2014/main" id="{9022B17E-062F-42C7-9B7D-F8932E2419BD}"/>
              </a:ext>
            </a:extLst>
          </p:cNvPr>
          <p:cNvSpPr txBox="1"/>
          <p:nvPr/>
        </p:nvSpPr>
        <p:spPr>
          <a:xfrm>
            <a:off x="2082798" y="5014019"/>
            <a:ext cx="1584842" cy="461665"/>
          </a:xfrm>
          <a:prstGeom prst="rect">
            <a:avLst/>
          </a:prstGeom>
          <a:noFill/>
        </p:spPr>
        <p:txBody>
          <a:bodyPr wrap="square" rtlCol="0">
            <a:spAutoFit/>
          </a:bodyPr>
          <a:lstStyle/>
          <a:p>
            <a:r>
              <a:rPr lang="en-US" dirty="0"/>
              <a:t>ventricles</a:t>
            </a:r>
          </a:p>
        </p:txBody>
      </p:sp>
    </p:spTree>
    <p:extLst>
      <p:ext uri="{BB962C8B-B14F-4D97-AF65-F5344CB8AC3E}">
        <p14:creationId xmlns:p14="http://schemas.microsoft.com/office/powerpoint/2010/main" val="661178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childTnLst>
                                    <p:animEffect transition="out" filter="fade">
                                      <p:cBhvr>
                                        <p:cTn id="6" dur="3000" tmFilter="0, 0; .2, .5; .8, .5; 1, 0"/>
                                        <p:tgtEl>
                                          <p:spTgt spid="5"/>
                                        </p:tgtEl>
                                      </p:cBhvr>
                                    </p:animEffect>
                                    <p:animScale>
                                      <p:cBhvr>
                                        <p:cTn id="7" dur="150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27648-B5A0-4EAF-8B65-F70D354C1203}"/>
              </a:ext>
            </a:extLst>
          </p:cNvPr>
          <p:cNvSpPr>
            <a:spLocks noGrp="1"/>
          </p:cNvSpPr>
          <p:nvPr>
            <p:ph type="title"/>
          </p:nvPr>
        </p:nvSpPr>
        <p:spPr/>
        <p:txBody>
          <a:bodyPr/>
          <a:lstStyle/>
          <a:p>
            <a:r>
              <a:rPr lang="en-US" dirty="0"/>
              <a:t>System-level coordination</a:t>
            </a:r>
          </a:p>
        </p:txBody>
      </p:sp>
      <p:sp>
        <p:nvSpPr>
          <p:cNvPr id="3" name="Content Placeholder 2">
            <a:extLst>
              <a:ext uri="{FF2B5EF4-FFF2-40B4-BE49-F238E27FC236}">
                <a16:creationId xmlns:a16="http://schemas.microsoft.com/office/drawing/2014/main" id="{53FC07B2-9616-4FFA-AD72-5C8B6C11610E}"/>
              </a:ext>
            </a:extLst>
          </p:cNvPr>
          <p:cNvSpPr>
            <a:spLocks noGrp="1"/>
          </p:cNvSpPr>
          <p:nvPr>
            <p:ph idx="1"/>
          </p:nvPr>
        </p:nvSpPr>
        <p:spPr/>
        <p:txBody>
          <a:bodyPr/>
          <a:lstStyle/>
          <a:p>
            <a:r>
              <a:rPr lang="en-US" dirty="0"/>
              <a:t>Three oscillators; only one is needed</a:t>
            </a:r>
          </a:p>
          <a:p>
            <a:r>
              <a:rPr lang="en-US" dirty="0"/>
              <a:t>What happens if they all turn on at once?</a:t>
            </a:r>
          </a:p>
          <a:p>
            <a:pPr lvl="1"/>
            <a:r>
              <a:rPr lang="en-US" dirty="0"/>
              <a:t>chaos </a:t>
            </a:r>
            <a:r>
              <a:rPr lang="en-US" dirty="0">
                <a:sym typeface="Wingdings" panose="05000000000000000000" pitchFamily="2" charset="2"/>
              </a:rPr>
              <a:t></a:t>
            </a:r>
          </a:p>
          <a:p>
            <a:r>
              <a:rPr lang="en-US" dirty="0">
                <a:sym typeface="Wingdings" panose="05000000000000000000" pitchFamily="2" charset="2"/>
              </a:rPr>
              <a:t>Can you devise a fail-safe system to control this?</a:t>
            </a:r>
          </a:p>
          <a:p>
            <a:pPr lvl="1"/>
            <a:r>
              <a:rPr lang="en-US" dirty="0">
                <a:sym typeface="Wingdings" panose="05000000000000000000" pitchFamily="2" charset="2"/>
              </a:rPr>
              <a:t>Requirement: KISS principle (less is more)</a:t>
            </a:r>
          </a:p>
          <a:p>
            <a:pPr lvl="1"/>
            <a:r>
              <a:rPr lang="en-US" dirty="0">
                <a:sym typeface="Wingdings" panose="05000000000000000000" pitchFamily="2" charset="2"/>
              </a:rPr>
              <a:t>Hint: SA node ≈ 60 bpm; AV node ≈ 40 bpm; Purkinje ≈ 20 bpm</a:t>
            </a:r>
          </a:p>
        </p:txBody>
      </p:sp>
      <p:sp>
        <p:nvSpPr>
          <p:cNvPr id="4" name="Footer Placeholder 3">
            <a:extLst>
              <a:ext uri="{FF2B5EF4-FFF2-40B4-BE49-F238E27FC236}">
                <a16:creationId xmlns:a16="http://schemas.microsoft.com/office/drawing/2014/main" id="{C8ADCFE4-4280-47B9-86EE-F746AB52CC27}"/>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978869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0C18-9704-4A5C-BFF9-AFA63C88C9F6}"/>
              </a:ext>
            </a:extLst>
          </p:cNvPr>
          <p:cNvSpPr>
            <a:spLocks noGrp="1"/>
          </p:cNvSpPr>
          <p:nvPr>
            <p:ph type="title"/>
          </p:nvPr>
        </p:nvSpPr>
        <p:spPr/>
        <p:txBody>
          <a:bodyPr/>
          <a:lstStyle/>
          <a:p>
            <a:r>
              <a:rPr lang="en-US" dirty="0"/>
              <a:t>Normal operation</a:t>
            </a:r>
          </a:p>
        </p:txBody>
      </p:sp>
      <p:sp>
        <p:nvSpPr>
          <p:cNvPr id="4" name="Footer Placeholder 3">
            <a:extLst>
              <a:ext uri="{FF2B5EF4-FFF2-40B4-BE49-F238E27FC236}">
                <a16:creationId xmlns:a16="http://schemas.microsoft.com/office/drawing/2014/main" id="{7CB3B4BB-EB13-42D3-B428-B6CACF3E06A4}"/>
              </a:ext>
            </a:extLst>
          </p:cNvPr>
          <p:cNvSpPr>
            <a:spLocks noGrp="1"/>
          </p:cNvSpPr>
          <p:nvPr>
            <p:ph type="ftr" sz="quarter" idx="11"/>
          </p:nvPr>
        </p:nvSpPr>
        <p:spPr/>
        <p:txBody>
          <a:bodyPr/>
          <a:lstStyle/>
          <a:p>
            <a:pPr>
              <a:defRPr/>
            </a:pPr>
            <a:r>
              <a:rPr lang="en-US"/>
              <a:t>EE 123 -- Bioelectricity</a:t>
            </a:r>
            <a:endParaRPr lang="en-US" dirty="0"/>
          </a:p>
        </p:txBody>
      </p:sp>
      <p:sp>
        <p:nvSpPr>
          <p:cNvPr id="5" name="Freeform: Shape 4">
            <a:extLst>
              <a:ext uri="{FF2B5EF4-FFF2-40B4-BE49-F238E27FC236}">
                <a16:creationId xmlns:a16="http://schemas.microsoft.com/office/drawing/2014/main" id="{03647CEE-49F0-49C0-B959-09D660C0AC3A}"/>
              </a:ext>
            </a:extLst>
          </p:cNvPr>
          <p:cNvSpPr/>
          <p:nvPr/>
        </p:nvSpPr>
        <p:spPr>
          <a:xfrm>
            <a:off x="685800"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7891CF48-6F6C-40E6-8B61-AD1A5B0C0B71}"/>
              </a:ext>
            </a:extLst>
          </p:cNvPr>
          <p:cNvGrpSpPr/>
          <p:nvPr/>
        </p:nvGrpSpPr>
        <p:grpSpPr>
          <a:xfrm>
            <a:off x="965200" y="1705254"/>
            <a:ext cx="6756400" cy="1114146"/>
            <a:chOff x="965200" y="1705254"/>
            <a:chExt cx="6756400" cy="1114146"/>
          </a:xfrm>
        </p:grpSpPr>
        <p:sp>
          <p:nvSpPr>
            <p:cNvPr id="13" name="Freeform: Shape 12">
              <a:extLst>
                <a:ext uri="{FF2B5EF4-FFF2-40B4-BE49-F238E27FC236}">
                  <a16:creationId xmlns:a16="http://schemas.microsoft.com/office/drawing/2014/main" id="{8727D13E-2435-4643-A0B1-5E623DE57443}"/>
                </a:ext>
              </a:extLst>
            </p:cNvPr>
            <p:cNvSpPr/>
            <p:nvPr/>
          </p:nvSpPr>
          <p:spPr>
            <a:xfrm>
              <a:off x="9652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8007CE0-87DB-4638-B8AB-0BF3D8B52492}"/>
                </a:ext>
              </a:extLst>
            </p:cNvPr>
            <p:cNvSpPr/>
            <p:nvPr/>
          </p:nvSpPr>
          <p:spPr>
            <a:xfrm>
              <a:off x="26670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6712F6A-F56E-4E0C-A8B9-1D15AFCA65A4}"/>
                </a:ext>
              </a:extLst>
            </p:cNvPr>
            <p:cNvSpPr/>
            <p:nvPr/>
          </p:nvSpPr>
          <p:spPr>
            <a:xfrm>
              <a:off x="43434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EB6A35E-2F71-42FF-8306-1D2F1190D2FB}"/>
                </a:ext>
              </a:extLst>
            </p:cNvPr>
            <p:cNvSpPr/>
            <p:nvPr/>
          </p:nvSpPr>
          <p:spPr>
            <a:xfrm>
              <a:off x="60198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272106F-0CB3-42B8-BB86-0830C6484923}"/>
                </a:ext>
              </a:extLst>
            </p:cNvPr>
            <p:cNvSpPr txBox="1"/>
            <p:nvPr/>
          </p:nvSpPr>
          <p:spPr>
            <a:xfrm>
              <a:off x="1066800" y="2357735"/>
              <a:ext cx="3657600" cy="461665"/>
            </a:xfrm>
            <a:prstGeom prst="rect">
              <a:avLst/>
            </a:prstGeom>
            <a:noFill/>
          </p:spPr>
          <p:txBody>
            <a:bodyPr wrap="square" rtlCol="0">
              <a:spAutoFit/>
            </a:bodyPr>
            <a:lstStyle/>
            <a:p>
              <a:r>
                <a:rPr lang="en-US" dirty="0"/>
                <a:t>SA oscillator (60bpm)</a:t>
              </a:r>
            </a:p>
          </p:txBody>
        </p:sp>
      </p:grpSp>
      <p:cxnSp>
        <p:nvCxnSpPr>
          <p:cNvPr id="23" name="Straight Arrow Connector 22">
            <a:extLst>
              <a:ext uri="{FF2B5EF4-FFF2-40B4-BE49-F238E27FC236}">
                <a16:creationId xmlns:a16="http://schemas.microsoft.com/office/drawing/2014/main" id="{E2C2C723-076B-4273-B59E-22C80CAF935A}"/>
              </a:ext>
            </a:extLst>
          </p:cNvPr>
          <p:cNvCxnSpPr>
            <a:cxnSpLocks/>
            <a:endCxn id="3" idx="2"/>
          </p:cNvCxnSpPr>
          <p:nvPr/>
        </p:nvCxnSpPr>
        <p:spPr>
          <a:xfrm>
            <a:off x="1786467" y="2209580"/>
            <a:ext cx="499531" cy="1347496"/>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5967884-12FD-4954-A012-EAC2813ADF0B}"/>
              </a:ext>
            </a:extLst>
          </p:cNvPr>
          <p:cNvSpPr txBox="1"/>
          <p:nvPr/>
        </p:nvSpPr>
        <p:spPr>
          <a:xfrm>
            <a:off x="1066800" y="2819400"/>
            <a:ext cx="3657600" cy="461665"/>
          </a:xfrm>
          <a:prstGeom prst="rect">
            <a:avLst/>
          </a:prstGeom>
          <a:noFill/>
        </p:spPr>
        <p:txBody>
          <a:bodyPr wrap="square" rtlCol="0">
            <a:spAutoFit/>
          </a:bodyPr>
          <a:lstStyle/>
          <a:p>
            <a:r>
              <a:rPr lang="en-US" dirty="0"/>
              <a:t>Travels through AV node…</a:t>
            </a:r>
          </a:p>
        </p:txBody>
      </p:sp>
      <p:cxnSp>
        <p:nvCxnSpPr>
          <p:cNvPr id="8" name="Straight Connector 7">
            <a:extLst>
              <a:ext uri="{FF2B5EF4-FFF2-40B4-BE49-F238E27FC236}">
                <a16:creationId xmlns:a16="http://schemas.microsoft.com/office/drawing/2014/main" id="{B77727A7-1401-4F1E-801C-80A46ECC250A}"/>
              </a:ext>
            </a:extLst>
          </p:cNvPr>
          <p:cNvCxnSpPr>
            <a:cxnSpLocks/>
          </p:cNvCxnSpPr>
          <p:nvPr/>
        </p:nvCxnSpPr>
        <p:spPr>
          <a:xfrm flipV="1">
            <a:off x="1786467" y="4957295"/>
            <a:ext cx="499533" cy="19142"/>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44161E2-C1D0-4672-BF22-A6AB9BA7D549}"/>
              </a:ext>
            </a:extLst>
          </p:cNvPr>
          <p:cNvGrpSpPr/>
          <p:nvPr/>
        </p:nvGrpSpPr>
        <p:grpSpPr>
          <a:xfrm>
            <a:off x="2269064" y="3692967"/>
            <a:ext cx="1100667" cy="1283470"/>
            <a:chOff x="2269064" y="3692967"/>
            <a:chExt cx="1100667" cy="1283470"/>
          </a:xfrm>
        </p:grpSpPr>
        <p:sp>
          <p:nvSpPr>
            <p:cNvPr id="3" name="Freeform: Shape 2">
              <a:extLst>
                <a:ext uri="{FF2B5EF4-FFF2-40B4-BE49-F238E27FC236}">
                  <a16:creationId xmlns:a16="http://schemas.microsoft.com/office/drawing/2014/main" id="{2C5FD2AA-A18A-49DA-A127-A27CE2D0EA31}"/>
                </a:ext>
              </a:extLst>
            </p:cNvPr>
            <p:cNvSpPr/>
            <p:nvPr/>
          </p:nvSpPr>
          <p:spPr>
            <a:xfrm>
              <a:off x="2269064"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6C936121-B81F-4B35-A77C-FDDE937E96B4}"/>
                </a:ext>
              </a:extLst>
            </p:cNvPr>
            <p:cNvCxnSpPr>
              <a:cxnSpLocks/>
            </p:cNvCxnSpPr>
            <p:nvPr/>
          </p:nvCxnSpPr>
          <p:spPr>
            <a:xfrm flipV="1">
              <a:off x="2269066" y="4648200"/>
              <a:ext cx="0" cy="304801"/>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73D8245E-CFBA-4138-A4FA-CF527523ECC3}"/>
              </a:ext>
            </a:extLst>
          </p:cNvPr>
          <p:cNvSpPr txBox="1"/>
          <p:nvPr/>
        </p:nvSpPr>
        <p:spPr>
          <a:xfrm>
            <a:off x="501647" y="5445790"/>
            <a:ext cx="3534833" cy="461665"/>
          </a:xfrm>
          <a:prstGeom prst="rect">
            <a:avLst/>
          </a:prstGeom>
          <a:noFill/>
          <a:ln>
            <a:noFill/>
          </a:ln>
        </p:spPr>
        <p:txBody>
          <a:bodyPr wrap="square" rtlCol="0">
            <a:spAutoFit/>
          </a:bodyPr>
          <a:lstStyle/>
          <a:p>
            <a:r>
              <a:rPr lang="en-US" dirty="0"/>
              <a:t>AV-node action potentials</a:t>
            </a:r>
          </a:p>
        </p:txBody>
      </p:sp>
      <p:cxnSp>
        <p:nvCxnSpPr>
          <p:cNvPr id="27" name="Straight Arrow Connector 26">
            <a:extLst>
              <a:ext uri="{FF2B5EF4-FFF2-40B4-BE49-F238E27FC236}">
                <a16:creationId xmlns:a16="http://schemas.microsoft.com/office/drawing/2014/main" id="{9A4B08CA-6DDC-401D-ABA2-8EAE6B6531C8}"/>
              </a:ext>
            </a:extLst>
          </p:cNvPr>
          <p:cNvCxnSpPr>
            <a:cxnSpLocks/>
          </p:cNvCxnSpPr>
          <p:nvPr/>
        </p:nvCxnSpPr>
        <p:spPr>
          <a:xfrm flipV="1">
            <a:off x="1598731" y="5064568"/>
            <a:ext cx="1" cy="46166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273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0C18-9704-4A5C-BFF9-AFA63C88C9F6}"/>
              </a:ext>
            </a:extLst>
          </p:cNvPr>
          <p:cNvSpPr>
            <a:spLocks noGrp="1"/>
          </p:cNvSpPr>
          <p:nvPr>
            <p:ph type="title"/>
          </p:nvPr>
        </p:nvSpPr>
        <p:spPr/>
        <p:txBody>
          <a:bodyPr/>
          <a:lstStyle/>
          <a:p>
            <a:r>
              <a:rPr lang="en-US" dirty="0"/>
              <a:t>Normal operation</a:t>
            </a:r>
          </a:p>
        </p:txBody>
      </p:sp>
      <p:sp>
        <p:nvSpPr>
          <p:cNvPr id="4" name="Footer Placeholder 3">
            <a:extLst>
              <a:ext uri="{FF2B5EF4-FFF2-40B4-BE49-F238E27FC236}">
                <a16:creationId xmlns:a16="http://schemas.microsoft.com/office/drawing/2014/main" id="{7CB3B4BB-EB13-42D3-B428-B6CACF3E06A4}"/>
              </a:ext>
            </a:extLst>
          </p:cNvPr>
          <p:cNvSpPr>
            <a:spLocks noGrp="1"/>
          </p:cNvSpPr>
          <p:nvPr>
            <p:ph type="ftr" sz="quarter" idx="11"/>
          </p:nvPr>
        </p:nvSpPr>
        <p:spPr/>
        <p:txBody>
          <a:bodyPr/>
          <a:lstStyle/>
          <a:p>
            <a:pPr>
              <a:defRPr/>
            </a:pPr>
            <a:r>
              <a:rPr lang="en-US"/>
              <a:t>EE 123 -- Bioelectricity</a:t>
            </a:r>
            <a:endParaRPr lang="en-US" dirty="0"/>
          </a:p>
        </p:txBody>
      </p:sp>
      <p:sp>
        <p:nvSpPr>
          <p:cNvPr id="5" name="Freeform: Shape 4">
            <a:extLst>
              <a:ext uri="{FF2B5EF4-FFF2-40B4-BE49-F238E27FC236}">
                <a16:creationId xmlns:a16="http://schemas.microsoft.com/office/drawing/2014/main" id="{03647CEE-49F0-49C0-B959-09D660C0AC3A}"/>
              </a:ext>
            </a:extLst>
          </p:cNvPr>
          <p:cNvSpPr/>
          <p:nvPr/>
        </p:nvSpPr>
        <p:spPr>
          <a:xfrm>
            <a:off x="685800"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6C53DBAF-E904-4608-A0AA-535B6D613842}"/>
              </a:ext>
            </a:extLst>
          </p:cNvPr>
          <p:cNvSpPr/>
          <p:nvPr/>
        </p:nvSpPr>
        <p:spPr>
          <a:xfrm>
            <a:off x="2269064"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1BEEE9B8-110D-412E-82E7-D244BEA1479E}"/>
              </a:ext>
            </a:extLst>
          </p:cNvPr>
          <p:cNvSpPr/>
          <p:nvPr/>
        </p:nvSpPr>
        <p:spPr>
          <a:xfrm>
            <a:off x="5647265"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DBD3F2F-D34C-47C8-AA01-7CDF4DF1DFBF}"/>
              </a:ext>
            </a:extLst>
          </p:cNvPr>
          <p:cNvSpPr txBox="1"/>
          <p:nvPr/>
        </p:nvSpPr>
        <p:spPr>
          <a:xfrm>
            <a:off x="6002866" y="5152746"/>
            <a:ext cx="2895585" cy="830997"/>
          </a:xfrm>
          <a:prstGeom prst="rect">
            <a:avLst/>
          </a:prstGeom>
          <a:noFill/>
        </p:spPr>
        <p:txBody>
          <a:bodyPr wrap="square" rtlCol="0">
            <a:spAutoFit/>
          </a:bodyPr>
          <a:lstStyle/>
          <a:p>
            <a:r>
              <a:rPr lang="en-US" dirty="0"/>
              <a:t>Here’s the next fire </a:t>
            </a:r>
            <a:r>
              <a:rPr lang="en-US" i="1" dirty="0"/>
              <a:t>if input breaks </a:t>
            </a:r>
            <a:r>
              <a:rPr lang="en-US" dirty="0"/>
              <a:t>(40 bpm)</a:t>
            </a:r>
          </a:p>
        </p:txBody>
      </p:sp>
      <p:grpSp>
        <p:nvGrpSpPr>
          <p:cNvPr id="26" name="Group 25">
            <a:extLst>
              <a:ext uri="{FF2B5EF4-FFF2-40B4-BE49-F238E27FC236}">
                <a16:creationId xmlns:a16="http://schemas.microsoft.com/office/drawing/2014/main" id="{7891CF48-6F6C-40E6-8B61-AD1A5B0C0B71}"/>
              </a:ext>
            </a:extLst>
          </p:cNvPr>
          <p:cNvGrpSpPr/>
          <p:nvPr/>
        </p:nvGrpSpPr>
        <p:grpSpPr>
          <a:xfrm>
            <a:off x="965200" y="1705254"/>
            <a:ext cx="6756400" cy="1114146"/>
            <a:chOff x="965200" y="1705254"/>
            <a:chExt cx="6756400" cy="1114146"/>
          </a:xfrm>
        </p:grpSpPr>
        <p:sp>
          <p:nvSpPr>
            <p:cNvPr id="13" name="Freeform: Shape 12">
              <a:extLst>
                <a:ext uri="{FF2B5EF4-FFF2-40B4-BE49-F238E27FC236}">
                  <a16:creationId xmlns:a16="http://schemas.microsoft.com/office/drawing/2014/main" id="{8727D13E-2435-4643-A0B1-5E623DE57443}"/>
                </a:ext>
              </a:extLst>
            </p:cNvPr>
            <p:cNvSpPr/>
            <p:nvPr/>
          </p:nvSpPr>
          <p:spPr>
            <a:xfrm>
              <a:off x="9652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8007CE0-87DB-4638-B8AB-0BF3D8B52492}"/>
                </a:ext>
              </a:extLst>
            </p:cNvPr>
            <p:cNvSpPr/>
            <p:nvPr/>
          </p:nvSpPr>
          <p:spPr>
            <a:xfrm>
              <a:off x="26670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6712F6A-F56E-4E0C-A8B9-1D15AFCA65A4}"/>
                </a:ext>
              </a:extLst>
            </p:cNvPr>
            <p:cNvSpPr/>
            <p:nvPr/>
          </p:nvSpPr>
          <p:spPr>
            <a:xfrm>
              <a:off x="43434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EB6A35E-2F71-42FF-8306-1D2F1190D2FB}"/>
                </a:ext>
              </a:extLst>
            </p:cNvPr>
            <p:cNvSpPr/>
            <p:nvPr/>
          </p:nvSpPr>
          <p:spPr>
            <a:xfrm>
              <a:off x="60198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272106F-0CB3-42B8-BB86-0830C6484923}"/>
                </a:ext>
              </a:extLst>
            </p:cNvPr>
            <p:cNvSpPr txBox="1"/>
            <p:nvPr/>
          </p:nvSpPr>
          <p:spPr>
            <a:xfrm>
              <a:off x="1066800" y="2357735"/>
              <a:ext cx="3657600" cy="461665"/>
            </a:xfrm>
            <a:prstGeom prst="rect">
              <a:avLst/>
            </a:prstGeom>
            <a:noFill/>
          </p:spPr>
          <p:txBody>
            <a:bodyPr wrap="square" rtlCol="0">
              <a:spAutoFit/>
            </a:bodyPr>
            <a:lstStyle/>
            <a:p>
              <a:r>
                <a:rPr lang="en-US" dirty="0"/>
                <a:t>SA oscillator (60bpm)</a:t>
              </a:r>
            </a:p>
          </p:txBody>
        </p:sp>
      </p:grpSp>
      <p:cxnSp>
        <p:nvCxnSpPr>
          <p:cNvPr id="23" name="Straight Arrow Connector 22">
            <a:extLst>
              <a:ext uri="{FF2B5EF4-FFF2-40B4-BE49-F238E27FC236}">
                <a16:creationId xmlns:a16="http://schemas.microsoft.com/office/drawing/2014/main" id="{E2C2C723-076B-4273-B59E-22C80CAF935A}"/>
              </a:ext>
            </a:extLst>
          </p:cNvPr>
          <p:cNvCxnSpPr>
            <a:cxnSpLocks/>
          </p:cNvCxnSpPr>
          <p:nvPr/>
        </p:nvCxnSpPr>
        <p:spPr>
          <a:xfrm>
            <a:off x="1786467" y="2209577"/>
            <a:ext cx="465664" cy="136923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5967884-12FD-4954-A012-EAC2813ADF0B}"/>
              </a:ext>
            </a:extLst>
          </p:cNvPr>
          <p:cNvSpPr txBox="1"/>
          <p:nvPr/>
        </p:nvSpPr>
        <p:spPr>
          <a:xfrm>
            <a:off x="1066800" y="2819400"/>
            <a:ext cx="3657600" cy="461665"/>
          </a:xfrm>
          <a:prstGeom prst="rect">
            <a:avLst/>
          </a:prstGeom>
          <a:noFill/>
        </p:spPr>
        <p:txBody>
          <a:bodyPr wrap="square" rtlCol="0">
            <a:spAutoFit/>
          </a:bodyPr>
          <a:lstStyle/>
          <a:p>
            <a:r>
              <a:rPr lang="en-US" dirty="0"/>
              <a:t>Travels through AV node…</a:t>
            </a:r>
          </a:p>
        </p:txBody>
      </p:sp>
      <p:cxnSp>
        <p:nvCxnSpPr>
          <p:cNvPr id="8" name="Straight Connector 7">
            <a:extLst>
              <a:ext uri="{FF2B5EF4-FFF2-40B4-BE49-F238E27FC236}">
                <a16:creationId xmlns:a16="http://schemas.microsoft.com/office/drawing/2014/main" id="{B77727A7-1401-4F1E-801C-80A46ECC250A}"/>
              </a:ext>
            </a:extLst>
          </p:cNvPr>
          <p:cNvCxnSpPr>
            <a:cxnSpLocks/>
          </p:cNvCxnSpPr>
          <p:nvPr/>
        </p:nvCxnSpPr>
        <p:spPr>
          <a:xfrm flipV="1">
            <a:off x="1786467" y="4957295"/>
            <a:ext cx="499533" cy="19142"/>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5E6D15E-9E0E-43F7-BB9F-C6F056EF410A}"/>
              </a:ext>
            </a:extLst>
          </p:cNvPr>
          <p:cNvCxnSpPr>
            <a:cxnSpLocks/>
            <a:endCxn id="7" idx="0"/>
          </p:cNvCxnSpPr>
          <p:nvPr/>
        </p:nvCxnSpPr>
        <p:spPr>
          <a:xfrm flipV="1">
            <a:off x="3386664" y="4849437"/>
            <a:ext cx="2260601" cy="122706"/>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37652E6-E316-4637-B8DC-9765F6DC6DE0}"/>
              </a:ext>
            </a:extLst>
          </p:cNvPr>
          <p:cNvCxnSpPr>
            <a:cxnSpLocks/>
            <a:stCxn id="12" idx="1"/>
          </p:cNvCxnSpPr>
          <p:nvPr/>
        </p:nvCxnSpPr>
        <p:spPr>
          <a:xfrm flipH="1" flipV="1">
            <a:off x="5774272" y="4849437"/>
            <a:ext cx="228594" cy="71880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5286F54-A29C-43A9-8E65-361870E45ECC}"/>
              </a:ext>
            </a:extLst>
          </p:cNvPr>
          <p:cNvCxnSpPr>
            <a:cxnSpLocks/>
          </p:cNvCxnSpPr>
          <p:nvPr/>
        </p:nvCxnSpPr>
        <p:spPr>
          <a:xfrm>
            <a:off x="3420536" y="2209800"/>
            <a:ext cx="465664" cy="136923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E6CDC11-50F5-40C7-9B91-8DFCBB36A2BF}"/>
              </a:ext>
            </a:extLst>
          </p:cNvPr>
          <p:cNvCxnSpPr>
            <a:cxnSpLocks/>
          </p:cNvCxnSpPr>
          <p:nvPr/>
        </p:nvCxnSpPr>
        <p:spPr>
          <a:xfrm flipH="1">
            <a:off x="3386668" y="4953000"/>
            <a:ext cx="558798"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B0D1611-29AE-48F3-B039-4517AF27D306}"/>
              </a:ext>
            </a:extLst>
          </p:cNvPr>
          <p:cNvCxnSpPr>
            <a:cxnSpLocks/>
          </p:cNvCxnSpPr>
          <p:nvPr/>
        </p:nvCxnSpPr>
        <p:spPr>
          <a:xfrm flipV="1">
            <a:off x="3945466" y="4648200"/>
            <a:ext cx="0" cy="304801"/>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F599A5-B5B5-42C6-870F-25E5FFE36B9F}"/>
              </a:ext>
            </a:extLst>
          </p:cNvPr>
          <p:cNvCxnSpPr>
            <a:cxnSpLocks/>
          </p:cNvCxnSpPr>
          <p:nvPr/>
        </p:nvCxnSpPr>
        <p:spPr>
          <a:xfrm flipV="1">
            <a:off x="2269066" y="4648200"/>
            <a:ext cx="0" cy="304801"/>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1659951-79F9-4875-9E16-36250B47AC46}"/>
              </a:ext>
            </a:extLst>
          </p:cNvPr>
          <p:cNvSpPr txBox="1"/>
          <p:nvPr/>
        </p:nvSpPr>
        <p:spPr>
          <a:xfrm>
            <a:off x="5486400" y="2660264"/>
            <a:ext cx="3534833" cy="830997"/>
          </a:xfrm>
          <a:prstGeom prst="rect">
            <a:avLst/>
          </a:prstGeom>
          <a:noFill/>
          <a:ln>
            <a:solidFill>
              <a:schemeClr val="accent2"/>
            </a:solidFill>
          </a:ln>
        </p:spPr>
        <p:txBody>
          <a:bodyPr wrap="square" rtlCol="0">
            <a:spAutoFit/>
          </a:bodyPr>
          <a:lstStyle/>
          <a:p>
            <a:r>
              <a:rPr lang="en-US" dirty="0"/>
              <a:t>So the ventricular rhythm gets driven by the SA node</a:t>
            </a:r>
          </a:p>
        </p:txBody>
      </p:sp>
      <p:sp>
        <p:nvSpPr>
          <p:cNvPr id="31" name="TextBox 30">
            <a:extLst>
              <a:ext uri="{FF2B5EF4-FFF2-40B4-BE49-F238E27FC236}">
                <a16:creationId xmlns:a16="http://schemas.microsoft.com/office/drawing/2014/main" id="{6BBB0200-2E71-4C7F-A71B-1AB4E4826696}"/>
              </a:ext>
            </a:extLst>
          </p:cNvPr>
          <p:cNvSpPr txBox="1"/>
          <p:nvPr/>
        </p:nvSpPr>
        <p:spPr>
          <a:xfrm>
            <a:off x="501647" y="5445790"/>
            <a:ext cx="3534833" cy="461665"/>
          </a:xfrm>
          <a:prstGeom prst="rect">
            <a:avLst/>
          </a:prstGeom>
          <a:noFill/>
          <a:ln>
            <a:noFill/>
          </a:ln>
        </p:spPr>
        <p:txBody>
          <a:bodyPr wrap="square" rtlCol="0">
            <a:spAutoFit/>
          </a:bodyPr>
          <a:lstStyle/>
          <a:p>
            <a:r>
              <a:rPr lang="en-US" dirty="0"/>
              <a:t>AV-node action potentials</a:t>
            </a:r>
          </a:p>
        </p:txBody>
      </p:sp>
      <p:cxnSp>
        <p:nvCxnSpPr>
          <p:cNvPr id="32" name="Straight Arrow Connector 31">
            <a:extLst>
              <a:ext uri="{FF2B5EF4-FFF2-40B4-BE49-F238E27FC236}">
                <a16:creationId xmlns:a16="http://schemas.microsoft.com/office/drawing/2014/main" id="{77EF8B73-C4C6-410C-81CC-8731B99B7516}"/>
              </a:ext>
            </a:extLst>
          </p:cNvPr>
          <p:cNvCxnSpPr>
            <a:cxnSpLocks/>
          </p:cNvCxnSpPr>
          <p:nvPr/>
        </p:nvCxnSpPr>
        <p:spPr>
          <a:xfrm flipV="1">
            <a:off x="1598731" y="5064568"/>
            <a:ext cx="1" cy="46166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826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35" presetClass="path" presetSubtype="0" accel="50000" decel="50000" fill="hold" grpId="0" nodeType="clickEffect">
                                  <p:stCondLst>
                                    <p:cond delay="0"/>
                                  </p:stCondLst>
                                  <p:childTnLst>
                                    <p:animMotion origin="layout" path="M 2.22222E-6 -4.44444E-6 L -0.18611 -4.44444E-6 " pathEditMode="relative" rAng="0" ptsTypes="AA">
                                      <p:cBhvr>
                                        <p:cTn id="11" dur="2000" fill="hold"/>
                                        <p:tgtEl>
                                          <p:spTgt spid="7"/>
                                        </p:tgtEl>
                                        <p:attrNameLst>
                                          <p:attrName>ppt_x</p:attrName>
                                          <p:attrName>ppt_y</p:attrName>
                                        </p:attrNameLst>
                                      </p:cBhvr>
                                      <p:rCtr x="-9306" y="0"/>
                                    </p:animMotion>
                                  </p:childTnLst>
                                </p:cTn>
                              </p:par>
                              <p:par>
                                <p:cTn id="12" presetID="10" presetClass="exit" presetSubtype="0" fill="hold" nodeType="withEffect">
                                  <p:stCondLst>
                                    <p:cond delay="0"/>
                                  </p:stCondLst>
                                  <p:childTnLst>
                                    <p:animEffect transition="out" filter="fade">
                                      <p:cBhvr>
                                        <p:cTn id="13" dur="500"/>
                                        <p:tgtEl>
                                          <p:spTgt spid="21"/>
                                        </p:tgtEl>
                                      </p:cBhvr>
                                    </p:animEffect>
                                    <p:set>
                                      <p:cBhvr>
                                        <p:cTn id="14" dur="1" fill="hold">
                                          <p:stCondLst>
                                            <p:cond delay="499"/>
                                          </p:stCondLst>
                                        </p:cTn>
                                        <p:tgtEl>
                                          <p:spTgt spid="21"/>
                                        </p:tgtEl>
                                        <p:attrNameLst>
                                          <p:attrName>style.visibility</p:attrName>
                                        </p:attrNameLst>
                                      </p:cBhvr>
                                      <p:to>
                                        <p:strVal val="hidden"/>
                                      </p:to>
                                    </p:set>
                                  </p:childTnLst>
                                </p:cTn>
                              </p:par>
                            </p:childTnLst>
                          </p:cTn>
                        </p:par>
                        <p:par>
                          <p:cTn id="15" fill="hold">
                            <p:stCondLst>
                              <p:cond delay="2000"/>
                            </p:stCondLst>
                            <p:childTnLst>
                              <p:par>
                                <p:cTn id="16" presetID="10" presetClass="entr" presetSubtype="0" fill="hold" nodeType="after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500"/>
                                        <p:tgtEl>
                                          <p:spTgt spid="28"/>
                                        </p:tgtEl>
                                      </p:cBhvr>
                                    </p:animEffect>
                                  </p:childTnLst>
                                </p:cTn>
                              </p:par>
                              <p:par>
                                <p:cTn id="19" presetID="10"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500"/>
                                        <p:tgtEl>
                                          <p:spTgt spid="2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24"/>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p:bldP spid="3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3A978-A896-4896-BDDC-924C28EB0212}"/>
              </a:ext>
            </a:extLst>
          </p:cNvPr>
          <p:cNvSpPr>
            <a:spLocks noGrp="1"/>
          </p:cNvSpPr>
          <p:nvPr>
            <p:ph type="title"/>
          </p:nvPr>
        </p:nvSpPr>
        <p:spPr>
          <a:xfrm>
            <a:off x="3886200" y="304800"/>
            <a:ext cx="4572000" cy="1143000"/>
          </a:xfrm>
        </p:spPr>
        <p:txBody>
          <a:bodyPr/>
          <a:lstStyle/>
          <a:p>
            <a:endParaRPr lang="en-US" dirty="0"/>
          </a:p>
        </p:txBody>
      </p:sp>
      <p:sp>
        <p:nvSpPr>
          <p:cNvPr id="3" name="Content Placeholder 2">
            <a:extLst>
              <a:ext uri="{FF2B5EF4-FFF2-40B4-BE49-F238E27FC236}">
                <a16:creationId xmlns:a16="http://schemas.microsoft.com/office/drawing/2014/main" id="{083CAB59-545C-42F3-9190-A892F4297EFC}"/>
              </a:ext>
            </a:extLst>
          </p:cNvPr>
          <p:cNvSpPr>
            <a:spLocks noGrp="1"/>
          </p:cNvSpPr>
          <p:nvPr>
            <p:ph idx="1"/>
          </p:nvPr>
        </p:nvSpPr>
        <p:spPr>
          <a:xfrm>
            <a:off x="4419600" y="1295400"/>
            <a:ext cx="4343400" cy="4876800"/>
          </a:xfrm>
        </p:spPr>
        <p:txBody>
          <a:bodyPr/>
          <a:lstStyle/>
          <a:p>
            <a:r>
              <a:rPr lang="en-US" dirty="0"/>
              <a:t>Each downstream oscillator is slower than the upstream one</a:t>
            </a:r>
          </a:p>
          <a:p>
            <a:r>
              <a:rPr lang="en-US" dirty="0"/>
              <a:t>Downstream ones </a:t>
            </a:r>
            <a:r>
              <a:rPr lang="en-US" i="1" dirty="0"/>
              <a:t>never fire unless the upstream one is stopped</a:t>
            </a:r>
            <a:endParaRPr lang="en-US" dirty="0"/>
          </a:p>
          <a:p>
            <a:pPr lvl="1">
              <a:spcBef>
                <a:spcPts val="0"/>
              </a:spcBef>
            </a:pPr>
            <a:r>
              <a:rPr lang="en-US" dirty="0"/>
              <a:t>Upstream AP comes in before downstream funny channels would cause </a:t>
            </a:r>
            <a:r>
              <a:rPr lang="en-US" dirty="0" err="1"/>
              <a:t>refiring</a:t>
            </a:r>
            <a:endParaRPr lang="en-US" dirty="0"/>
          </a:p>
          <a:p>
            <a:pPr lvl="1">
              <a:spcBef>
                <a:spcPts val="0"/>
              </a:spcBef>
            </a:pPr>
            <a:r>
              <a:rPr lang="en-US" dirty="0"/>
              <a:t>Funny channels are mostly irrelevant – for now</a:t>
            </a:r>
          </a:p>
          <a:p>
            <a:pPr marL="457200" lvl="1" indent="0">
              <a:buNone/>
            </a:pPr>
            <a:endParaRPr lang="en-US" dirty="0"/>
          </a:p>
        </p:txBody>
      </p:sp>
      <p:sp>
        <p:nvSpPr>
          <p:cNvPr id="4" name="Footer Placeholder 3">
            <a:extLst>
              <a:ext uri="{FF2B5EF4-FFF2-40B4-BE49-F238E27FC236}">
                <a16:creationId xmlns:a16="http://schemas.microsoft.com/office/drawing/2014/main" id="{2E22D87E-2D56-4FF4-953C-283EC2FA3D08}"/>
              </a:ext>
            </a:extLst>
          </p:cNvPr>
          <p:cNvSpPr>
            <a:spLocks noGrp="1"/>
          </p:cNvSpPr>
          <p:nvPr>
            <p:ph type="ftr" sz="quarter" idx="11"/>
          </p:nvPr>
        </p:nvSpPr>
        <p:spPr>
          <a:xfrm>
            <a:off x="4191000" y="6400800"/>
            <a:ext cx="2895600" cy="304800"/>
          </a:xfrm>
        </p:spPr>
        <p:txBody>
          <a:bodyPr/>
          <a:lstStyle/>
          <a:p>
            <a:pPr>
              <a:defRPr/>
            </a:pPr>
            <a:r>
              <a:rPr lang="en-US" dirty="0"/>
              <a:t>EE 123 -- Bioelectricity</a:t>
            </a:r>
          </a:p>
        </p:txBody>
      </p:sp>
      <p:pic>
        <p:nvPicPr>
          <p:cNvPr id="5" name="Picture 4">
            <a:extLst>
              <a:ext uri="{FF2B5EF4-FFF2-40B4-BE49-F238E27FC236}">
                <a16:creationId xmlns:a16="http://schemas.microsoft.com/office/drawing/2014/main" id="{21742A12-2A1F-4537-B4BE-71A6886029F4}"/>
              </a:ext>
            </a:extLst>
          </p:cNvPr>
          <p:cNvPicPr>
            <a:picLocks noChangeAspect="1"/>
          </p:cNvPicPr>
          <p:nvPr/>
        </p:nvPicPr>
        <p:blipFill>
          <a:blip r:embed="rId2"/>
          <a:stretch>
            <a:fillRect/>
          </a:stretch>
        </p:blipFill>
        <p:spPr>
          <a:xfrm>
            <a:off x="152400" y="901651"/>
            <a:ext cx="3655979" cy="5880149"/>
          </a:xfrm>
          <a:prstGeom prst="rect">
            <a:avLst/>
          </a:prstGeom>
        </p:spPr>
      </p:pic>
      <p:sp>
        <p:nvSpPr>
          <p:cNvPr id="6" name="TextBox 5">
            <a:extLst>
              <a:ext uri="{FF2B5EF4-FFF2-40B4-BE49-F238E27FC236}">
                <a16:creationId xmlns:a16="http://schemas.microsoft.com/office/drawing/2014/main" id="{5AD19640-8F96-434B-A031-638CA0E134F3}"/>
              </a:ext>
            </a:extLst>
          </p:cNvPr>
          <p:cNvSpPr txBox="1"/>
          <p:nvPr/>
        </p:nvSpPr>
        <p:spPr>
          <a:xfrm>
            <a:off x="33866" y="414635"/>
            <a:ext cx="2937933" cy="461665"/>
          </a:xfrm>
          <a:prstGeom prst="rect">
            <a:avLst/>
          </a:prstGeom>
          <a:noFill/>
        </p:spPr>
        <p:txBody>
          <a:bodyPr wrap="square" rtlCol="0">
            <a:spAutoFit/>
          </a:bodyPr>
          <a:lstStyle/>
          <a:p>
            <a:r>
              <a:rPr lang="en-US" dirty="0"/>
              <a:t>Lippincott, Fig 16.12</a:t>
            </a:r>
          </a:p>
        </p:txBody>
      </p:sp>
      <p:sp>
        <p:nvSpPr>
          <p:cNvPr id="7" name="TextBox 6">
            <a:extLst>
              <a:ext uri="{FF2B5EF4-FFF2-40B4-BE49-F238E27FC236}">
                <a16:creationId xmlns:a16="http://schemas.microsoft.com/office/drawing/2014/main" id="{14FFF103-AACF-4710-9BD4-10B931917FE2}"/>
              </a:ext>
            </a:extLst>
          </p:cNvPr>
          <p:cNvSpPr txBox="1"/>
          <p:nvPr/>
        </p:nvSpPr>
        <p:spPr>
          <a:xfrm>
            <a:off x="1600200" y="1827133"/>
            <a:ext cx="2133600" cy="306467"/>
          </a:xfrm>
          <a:prstGeom prst="roundRect">
            <a:avLst/>
          </a:prstGeom>
          <a:solidFill>
            <a:schemeClr val="bg1"/>
          </a:solidFill>
          <a:ln cap="rnd">
            <a:solidFill>
              <a:schemeClr val="tx1"/>
            </a:solidFill>
          </a:ln>
          <a:effectLst/>
        </p:spPr>
        <p:txBody>
          <a:bodyPr wrap="square" tIns="0" bIns="0" rtlCol="0">
            <a:spAutoFit/>
          </a:bodyPr>
          <a:lstStyle/>
          <a:p>
            <a:r>
              <a:rPr lang="en-US" sz="1800" dirty="0"/>
              <a:t>SA node: 60+ BPM</a:t>
            </a:r>
          </a:p>
        </p:txBody>
      </p:sp>
    </p:spTree>
    <p:extLst>
      <p:ext uri="{BB962C8B-B14F-4D97-AF65-F5344CB8AC3E}">
        <p14:creationId xmlns:p14="http://schemas.microsoft.com/office/powerpoint/2010/main" val="62316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0C18-9704-4A5C-BFF9-AFA63C88C9F6}"/>
              </a:ext>
            </a:extLst>
          </p:cNvPr>
          <p:cNvSpPr>
            <a:spLocks noGrp="1"/>
          </p:cNvSpPr>
          <p:nvPr>
            <p:ph type="title"/>
          </p:nvPr>
        </p:nvSpPr>
        <p:spPr/>
        <p:txBody>
          <a:bodyPr/>
          <a:lstStyle/>
          <a:p>
            <a:r>
              <a:rPr lang="en-US" dirty="0"/>
              <a:t>What can go wrong?</a:t>
            </a:r>
          </a:p>
        </p:txBody>
      </p:sp>
      <p:sp>
        <p:nvSpPr>
          <p:cNvPr id="4" name="Footer Placeholder 3">
            <a:extLst>
              <a:ext uri="{FF2B5EF4-FFF2-40B4-BE49-F238E27FC236}">
                <a16:creationId xmlns:a16="http://schemas.microsoft.com/office/drawing/2014/main" id="{7CB3B4BB-EB13-42D3-B428-B6CACF3E06A4}"/>
              </a:ext>
            </a:extLst>
          </p:cNvPr>
          <p:cNvSpPr>
            <a:spLocks noGrp="1"/>
          </p:cNvSpPr>
          <p:nvPr>
            <p:ph type="ftr" sz="quarter" idx="11"/>
          </p:nvPr>
        </p:nvSpPr>
        <p:spPr/>
        <p:txBody>
          <a:bodyPr/>
          <a:lstStyle/>
          <a:p>
            <a:pPr>
              <a:defRPr/>
            </a:pPr>
            <a:r>
              <a:rPr lang="en-US"/>
              <a:t>EE 123 -- Bioelectricity</a:t>
            </a:r>
            <a:endParaRPr lang="en-US" dirty="0"/>
          </a:p>
        </p:txBody>
      </p:sp>
      <p:sp>
        <p:nvSpPr>
          <p:cNvPr id="5" name="Freeform: Shape 4">
            <a:extLst>
              <a:ext uri="{FF2B5EF4-FFF2-40B4-BE49-F238E27FC236}">
                <a16:creationId xmlns:a16="http://schemas.microsoft.com/office/drawing/2014/main" id="{03647CEE-49F0-49C0-B959-09D660C0AC3A}"/>
              </a:ext>
            </a:extLst>
          </p:cNvPr>
          <p:cNvSpPr/>
          <p:nvPr/>
        </p:nvSpPr>
        <p:spPr>
          <a:xfrm>
            <a:off x="228600"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6C53DBAF-E904-4608-A0AA-535B6D613842}"/>
              </a:ext>
            </a:extLst>
          </p:cNvPr>
          <p:cNvSpPr/>
          <p:nvPr/>
        </p:nvSpPr>
        <p:spPr>
          <a:xfrm>
            <a:off x="1811864"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1BEEE9B8-110D-412E-82E7-D244BEA1479E}"/>
              </a:ext>
            </a:extLst>
          </p:cNvPr>
          <p:cNvSpPr/>
          <p:nvPr/>
        </p:nvSpPr>
        <p:spPr>
          <a:xfrm>
            <a:off x="3488266"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8727D13E-2435-4643-A0B1-5E623DE57443}"/>
              </a:ext>
            </a:extLst>
          </p:cNvPr>
          <p:cNvSpPr/>
          <p:nvPr/>
        </p:nvSpPr>
        <p:spPr>
          <a:xfrm>
            <a:off x="5080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8007CE0-87DB-4638-B8AB-0BF3D8B52492}"/>
              </a:ext>
            </a:extLst>
          </p:cNvPr>
          <p:cNvSpPr/>
          <p:nvPr/>
        </p:nvSpPr>
        <p:spPr>
          <a:xfrm>
            <a:off x="22098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6712F6A-F56E-4E0C-A8B9-1D15AFCA65A4}"/>
              </a:ext>
            </a:extLst>
          </p:cNvPr>
          <p:cNvSpPr/>
          <p:nvPr/>
        </p:nvSpPr>
        <p:spPr>
          <a:xfrm>
            <a:off x="38862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EB6A35E-2F71-42FF-8306-1D2F1190D2FB}"/>
              </a:ext>
            </a:extLst>
          </p:cNvPr>
          <p:cNvSpPr/>
          <p:nvPr/>
        </p:nvSpPr>
        <p:spPr>
          <a:xfrm>
            <a:off x="55626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E2C2C723-076B-4273-B59E-22C80CAF935A}"/>
              </a:ext>
            </a:extLst>
          </p:cNvPr>
          <p:cNvCxnSpPr>
            <a:cxnSpLocks/>
          </p:cNvCxnSpPr>
          <p:nvPr/>
        </p:nvCxnSpPr>
        <p:spPr>
          <a:xfrm>
            <a:off x="1329267" y="2209577"/>
            <a:ext cx="465664" cy="136923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5967884-12FD-4954-A012-EAC2813ADF0B}"/>
              </a:ext>
            </a:extLst>
          </p:cNvPr>
          <p:cNvSpPr txBox="1"/>
          <p:nvPr/>
        </p:nvSpPr>
        <p:spPr>
          <a:xfrm>
            <a:off x="609600" y="2819400"/>
            <a:ext cx="3657600" cy="461665"/>
          </a:xfrm>
          <a:prstGeom prst="rect">
            <a:avLst/>
          </a:prstGeom>
          <a:noFill/>
        </p:spPr>
        <p:txBody>
          <a:bodyPr wrap="square" rtlCol="0">
            <a:spAutoFit/>
          </a:bodyPr>
          <a:lstStyle/>
          <a:p>
            <a:r>
              <a:rPr lang="en-US" dirty="0"/>
              <a:t>Travels through AV node…</a:t>
            </a:r>
          </a:p>
        </p:txBody>
      </p:sp>
      <p:cxnSp>
        <p:nvCxnSpPr>
          <p:cNvPr id="8" name="Straight Connector 7">
            <a:extLst>
              <a:ext uri="{FF2B5EF4-FFF2-40B4-BE49-F238E27FC236}">
                <a16:creationId xmlns:a16="http://schemas.microsoft.com/office/drawing/2014/main" id="{B77727A7-1401-4F1E-801C-80A46ECC250A}"/>
              </a:ext>
            </a:extLst>
          </p:cNvPr>
          <p:cNvCxnSpPr>
            <a:cxnSpLocks/>
          </p:cNvCxnSpPr>
          <p:nvPr/>
        </p:nvCxnSpPr>
        <p:spPr>
          <a:xfrm flipV="1">
            <a:off x="1329267" y="4957295"/>
            <a:ext cx="499533" cy="19142"/>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5286F54-A29C-43A9-8E65-361870E45ECC}"/>
              </a:ext>
            </a:extLst>
          </p:cNvPr>
          <p:cNvCxnSpPr>
            <a:cxnSpLocks/>
          </p:cNvCxnSpPr>
          <p:nvPr/>
        </p:nvCxnSpPr>
        <p:spPr>
          <a:xfrm>
            <a:off x="2963336" y="2209800"/>
            <a:ext cx="465664" cy="1369237"/>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E6CDC11-50F5-40C7-9B91-8DFCBB36A2BF}"/>
              </a:ext>
            </a:extLst>
          </p:cNvPr>
          <p:cNvCxnSpPr>
            <a:cxnSpLocks/>
          </p:cNvCxnSpPr>
          <p:nvPr/>
        </p:nvCxnSpPr>
        <p:spPr>
          <a:xfrm flipH="1">
            <a:off x="2929467" y="4953000"/>
            <a:ext cx="575733"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B0D1611-29AE-48F3-B039-4517AF27D306}"/>
              </a:ext>
            </a:extLst>
          </p:cNvPr>
          <p:cNvCxnSpPr>
            <a:cxnSpLocks/>
          </p:cNvCxnSpPr>
          <p:nvPr/>
        </p:nvCxnSpPr>
        <p:spPr>
          <a:xfrm flipV="1">
            <a:off x="3488266" y="4648200"/>
            <a:ext cx="0" cy="304801"/>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F599A5-B5B5-42C6-870F-25E5FFE36B9F}"/>
              </a:ext>
            </a:extLst>
          </p:cNvPr>
          <p:cNvCxnSpPr>
            <a:cxnSpLocks/>
          </p:cNvCxnSpPr>
          <p:nvPr/>
        </p:nvCxnSpPr>
        <p:spPr>
          <a:xfrm flipV="1">
            <a:off x="1811866" y="4648200"/>
            <a:ext cx="0" cy="304801"/>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1659951-79F9-4875-9E16-36250B47AC46}"/>
              </a:ext>
            </a:extLst>
          </p:cNvPr>
          <p:cNvSpPr txBox="1"/>
          <p:nvPr/>
        </p:nvSpPr>
        <p:spPr>
          <a:xfrm>
            <a:off x="5041900" y="2886507"/>
            <a:ext cx="3534833" cy="1569660"/>
          </a:xfrm>
          <a:prstGeom prst="rect">
            <a:avLst/>
          </a:prstGeom>
          <a:noFill/>
          <a:ln>
            <a:solidFill>
              <a:schemeClr val="accent2"/>
            </a:solidFill>
          </a:ln>
        </p:spPr>
        <p:txBody>
          <a:bodyPr wrap="square" rtlCol="0">
            <a:spAutoFit/>
          </a:bodyPr>
          <a:lstStyle/>
          <a:p>
            <a:r>
              <a:rPr lang="en-US" dirty="0"/>
              <a:t>What could occur to break this coupling and cause the ventricles to fire from their own pacemaker?</a:t>
            </a:r>
          </a:p>
        </p:txBody>
      </p:sp>
      <p:sp>
        <p:nvSpPr>
          <p:cNvPr id="21" name="TextBox 20">
            <a:extLst>
              <a:ext uri="{FF2B5EF4-FFF2-40B4-BE49-F238E27FC236}">
                <a16:creationId xmlns:a16="http://schemas.microsoft.com/office/drawing/2014/main" id="{5C542763-3F65-4FC9-BE0D-73AD757E0C6A}"/>
              </a:ext>
            </a:extLst>
          </p:cNvPr>
          <p:cNvSpPr txBox="1"/>
          <p:nvPr/>
        </p:nvSpPr>
        <p:spPr>
          <a:xfrm>
            <a:off x="152400" y="2357735"/>
            <a:ext cx="3657600" cy="461665"/>
          </a:xfrm>
          <a:prstGeom prst="rect">
            <a:avLst/>
          </a:prstGeom>
          <a:noFill/>
        </p:spPr>
        <p:txBody>
          <a:bodyPr wrap="square" rtlCol="0">
            <a:spAutoFit/>
          </a:bodyPr>
          <a:lstStyle/>
          <a:p>
            <a:r>
              <a:rPr lang="en-US" dirty="0"/>
              <a:t>SA oscillator (60bpm)</a:t>
            </a:r>
          </a:p>
        </p:txBody>
      </p:sp>
    </p:spTree>
    <p:extLst>
      <p:ext uri="{BB962C8B-B14F-4D97-AF65-F5344CB8AC3E}">
        <p14:creationId xmlns:p14="http://schemas.microsoft.com/office/powerpoint/2010/main" val="41091097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0C18-9704-4A5C-BFF9-AFA63C88C9F6}"/>
              </a:ext>
            </a:extLst>
          </p:cNvPr>
          <p:cNvSpPr>
            <a:spLocks noGrp="1"/>
          </p:cNvSpPr>
          <p:nvPr>
            <p:ph type="title"/>
          </p:nvPr>
        </p:nvSpPr>
        <p:spPr>
          <a:xfrm>
            <a:off x="685800" y="304800"/>
            <a:ext cx="7907868" cy="1143000"/>
          </a:xfrm>
        </p:spPr>
        <p:txBody>
          <a:bodyPr/>
          <a:lstStyle/>
          <a:p>
            <a:r>
              <a:rPr lang="en-US" dirty="0"/>
              <a:t>If the SA node slows down…</a:t>
            </a:r>
          </a:p>
        </p:txBody>
      </p:sp>
      <p:sp>
        <p:nvSpPr>
          <p:cNvPr id="4" name="Footer Placeholder 3">
            <a:extLst>
              <a:ext uri="{FF2B5EF4-FFF2-40B4-BE49-F238E27FC236}">
                <a16:creationId xmlns:a16="http://schemas.microsoft.com/office/drawing/2014/main" id="{7CB3B4BB-EB13-42D3-B428-B6CACF3E06A4}"/>
              </a:ext>
            </a:extLst>
          </p:cNvPr>
          <p:cNvSpPr>
            <a:spLocks noGrp="1"/>
          </p:cNvSpPr>
          <p:nvPr>
            <p:ph type="ftr" sz="quarter" idx="11"/>
          </p:nvPr>
        </p:nvSpPr>
        <p:spPr/>
        <p:txBody>
          <a:bodyPr/>
          <a:lstStyle/>
          <a:p>
            <a:pPr>
              <a:defRPr/>
            </a:pPr>
            <a:r>
              <a:rPr lang="en-US"/>
              <a:t>EE 123 -- Bioelectricity</a:t>
            </a:r>
            <a:endParaRPr lang="en-US" dirty="0"/>
          </a:p>
        </p:txBody>
      </p:sp>
      <p:sp>
        <p:nvSpPr>
          <p:cNvPr id="5" name="Freeform: Shape 4">
            <a:extLst>
              <a:ext uri="{FF2B5EF4-FFF2-40B4-BE49-F238E27FC236}">
                <a16:creationId xmlns:a16="http://schemas.microsoft.com/office/drawing/2014/main" id="{03647CEE-49F0-49C0-B959-09D660C0AC3A}"/>
              </a:ext>
            </a:extLst>
          </p:cNvPr>
          <p:cNvSpPr/>
          <p:nvPr/>
        </p:nvSpPr>
        <p:spPr>
          <a:xfrm>
            <a:off x="1185332"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6C53DBAF-E904-4608-A0AA-535B6D613842}"/>
              </a:ext>
            </a:extLst>
          </p:cNvPr>
          <p:cNvSpPr/>
          <p:nvPr/>
        </p:nvSpPr>
        <p:spPr>
          <a:xfrm>
            <a:off x="3928533"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1BEEE9B8-110D-412E-82E7-D244BEA1479E}"/>
              </a:ext>
            </a:extLst>
          </p:cNvPr>
          <p:cNvSpPr/>
          <p:nvPr/>
        </p:nvSpPr>
        <p:spPr>
          <a:xfrm>
            <a:off x="6477000"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30DB294-8F5E-4BBD-A593-35D32429539C}"/>
              </a:ext>
            </a:extLst>
          </p:cNvPr>
          <p:cNvCxnSpPr>
            <a:cxnSpLocks/>
            <a:endCxn id="6" idx="0"/>
          </p:cNvCxnSpPr>
          <p:nvPr/>
        </p:nvCxnSpPr>
        <p:spPr>
          <a:xfrm flipV="1">
            <a:off x="2285999" y="4849437"/>
            <a:ext cx="1642534" cy="1270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7D440FD-B7E6-420A-9946-E3819C4C5FBC}"/>
              </a:ext>
            </a:extLst>
          </p:cNvPr>
          <p:cNvCxnSpPr>
            <a:cxnSpLocks/>
            <a:stCxn id="6" idx="14"/>
          </p:cNvCxnSpPr>
          <p:nvPr/>
        </p:nvCxnSpPr>
        <p:spPr>
          <a:xfrm flipV="1">
            <a:off x="5029200" y="4873721"/>
            <a:ext cx="1447800" cy="102716"/>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65967884-12FD-4954-A012-EAC2813ADF0B}"/>
              </a:ext>
            </a:extLst>
          </p:cNvPr>
          <p:cNvSpPr txBox="1"/>
          <p:nvPr/>
        </p:nvSpPr>
        <p:spPr>
          <a:xfrm>
            <a:off x="939800" y="2819400"/>
            <a:ext cx="3657600" cy="461665"/>
          </a:xfrm>
          <a:prstGeom prst="rect">
            <a:avLst/>
          </a:prstGeom>
          <a:noFill/>
        </p:spPr>
        <p:txBody>
          <a:bodyPr wrap="square" rtlCol="0">
            <a:spAutoFit/>
          </a:bodyPr>
          <a:lstStyle/>
          <a:p>
            <a:r>
              <a:rPr lang="en-US" dirty="0"/>
              <a:t>Travels through AV node…</a:t>
            </a:r>
          </a:p>
        </p:txBody>
      </p:sp>
      <p:sp>
        <p:nvSpPr>
          <p:cNvPr id="27" name="Freeform: Shape 26">
            <a:extLst>
              <a:ext uri="{FF2B5EF4-FFF2-40B4-BE49-F238E27FC236}">
                <a16:creationId xmlns:a16="http://schemas.microsoft.com/office/drawing/2014/main" id="{F1640B7D-7F92-49BA-8EC2-D265B9E2816A}"/>
              </a:ext>
            </a:extLst>
          </p:cNvPr>
          <p:cNvSpPr/>
          <p:nvPr/>
        </p:nvSpPr>
        <p:spPr>
          <a:xfrm>
            <a:off x="5080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0D4868C-F4EB-4A31-9B8B-F597DC970AE6}"/>
              </a:ext>
            </a:extLst>
          </p:cNvPr>
          <p:cNvSpPr/>
          <p:nvPr/>
        </p:nvSpPr>
        <p:spPr>
          <a:xfrm>
            <a:off x="22098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9F435A5-74D4-467F-AEC4-B9D7D769B188}"/>
              </a:ext>
            </a:extLst>
          </p:cNvPr>
          <p:cNvSpPr/>
          <p:nvPr/>
        </p:nvSpPr>
        <p:spPr>
          <a:xfrm>
            <a:off x="38862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E041F3B3-E532-4192-ABF8-BCC7270E3479}"/>
              </a:ext>
            </a:extLst>
          </p:cNvPr>
          <p:cNvSpPr/>
          <p:nvPr/>
        </p:nvSpPr>
        <p:spPr>
          <a:xfrm>
            <a:off x="55626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D8FEBF4-1654-4A01-A4DC-0E9FB1DF5393}"/>
              </a:ext>
            </a:extLst>
          </p:cNvPr>
          <p:cNvSpPr txBox="1"/>
          <p:nvPr/>
        </p:nvSpPr>
        <p:spPr>
          <a:xfrm>
            <a:off x="152400" y="2357735"/>
            <a:ext cx="3657600" cy="461665"/>
          </a:xfrm>
          <a:prstGeom prst="rect">
            <a:avLst/>
          </a:prstGeom>
          <a:noFill/>
        </p:spPr>
        <p:txBody>
          <a:bodyPr wrap="square" rtlCol="0">
            <a:spAutoFit/>
          </a:bodyPr>
          <a:lstStyle/>
          <a:p>
            <a:r>
              <a:rPr lang="en-US" dirty="0"/>
              <a:t>SA oscillator (60bpm)</a:t>
            </a:r>
          </a:p>
        </p:txBody>
      </p:sp>
      <p:sp>
        <p:nvSpPr>
          <p:cNvPr id="36" name="TextBox 35">
            <a:extLst>
              <a:ext uri="{FF2B5EF4-FFF2-40B4-BE49-F238E27FC236}">
                <a16:creationId xmlns:a16="http://schemas.microsoft.com/office/drawing/2014/main" id="{18448ACB-D22A-4EE6-8D5E-25416E2BEAE3}"/>
              </a:ext>
            </a:extLst>
          </p:cNvPr>
          <p:cNvSpPr txBox="1"/>
          <p:nvPr/>
        </p:nvSpPr>
        <p:spPr>
          <a:xfrm>
            <a:off x="76200" y="4948535"/>
            <a:ext cx="4546600" cy="461665"/>
          </a:xfrm>
          <a:prstGeom prst="rect">
            <a:avLst/>
          </a:prstGeom>
          <a:noFill/>
        </p:spPr>
        <p:txBody>
          <a:bodyPr wrap="square" rtlCol="0">
            <a:spAutoFit/>
          </a:bodyPr>
          <a:lstStyle/>
          <a:p>
            <a:r>
              <a:rPr lang="en-US" dirty="0"/>
              <a:t>AV oscillator (40bpm) all by itself</a:t>
            </a:r>
          </a:p>
        </p:txBody>
      </p:sp>
    </p:spTree>
    <p:extLst>
      <p:ext uri="{BB962C8B-B14F-4D97-AF65-F5344CB8AC3E}">
        <p14:creationId xmlns:p14="http://schemas.microsoft.com/office/powerpoint/2010/main" val="24399887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0C18-9704-4A5C-BFF9-AFA63C88C9F6}"/>
              </a:ext>
            </a:extLst>
          </p:cNvPr>
          <p:cNvSpPr>
            <a:spLocks noGrp="1"/>
          </p:cNvSpPr>
          <p:nvPr>
            <p:ph type="title"/>
          </p:nvPr>
        </p:nvSpPr>
        <p:spPr>
          <a:xfrm>
            <a:off x="685800" y="304800"/>
            <a:ext cx="7907868" cy="1143000"/>
          </a:xfrm>
        </p:spPr>
        <p:txBody>
          <a:bodyPr/>
          <a:lstStyle/>
          <a:p>
            <a:r>
              <a:rPr lang="en-US" dirty="0"/>
              <a:t>If the SA node slows down…</a:t>
            </a:r>
          </a:p>
        </p:txBody>
      </p:sp>
      <p:sp>
        <p:nvSpPr>
          <p:cNvPr id="4" name="Footer Placeholder 3">
            <a:extLst>
              <a:ext uri="{FF2B5EF4-FFF2-40B4-BE49-F238E27FC236}">
                <a16:creationId xmlns:a16="http://schemas.microsoft.com/office/drawing/2014/main" id="{7CB3B4BB-EB13-42D3-B428-B6CACF3E06A4}"/>
              </a:ext>
            </a:extLst>
          </p:cNvPr>
          <p:cNvSpPr>
            <a:spLocks noGrp="1"/>
          </p:cNvSpPr>
          <p:nvPr>
            <p:ph type="ftr" sz="quarter" idx="11"/>
          </p:nvPr>
        </p:nvSpPr>
        <p:spPr/>
        <p:txBody>
          <a:bodyPr/>
          <a:lstStyle/>
          <a:p>
            <a:pPr>
              <a:defRPr/>
            </a:pPr>
            <a:r>
              <a:rPr lang="en-US"/>
              <a:t>EE 123 -- Bioelectricity</a:t>
            </a:r>
            <a:endParaRPr lang="en-US" dirty="0"/>
          </a:p>
        </p:txBody>
      </p:sp>
      <p:sp>
        <p:nvSpPr>
          <p:cNvPr id="12" name="TextBox 11">
            <a:extLst>
              <a:ext uri="{FF2B5EF4-FFF2-40B4-BE49-F238E27FC236}">
                <a16:creationId xmlns:a16="http://schemas.microsoft.com/office/drawing/2014/main" id="{6DBD3F2F-D34C-47C8-AA01-7CDF4DF1DFBF}"/>
              </a:ext>
            </a:extLst>
          </p:cNvPr>
          <p:cNvSpPr txBox="1"/>
          <p:nvPr/>
        </p:nvSpPr>
        <p:spPr>
          <a:xfrm>
            <a:off x="76200" y="4948535"/>
            <a:ext cx="4546600" cy="461665"/>
          </a:xfrm>
          <a:prstGeom prst="rect">
            <a:avLst/>
          </a:prstGeom>
          <a:noFill/>
        </p:spPr>
        <p:txBody>
          <a:bodyPr wrap="square" rtlCol="0">
            <a:spAutoFit/>
          </a:bodyPr>
          <a:lstStyle/>
          <a:p>
            <a:r>
              <a:rPr lang="en-US" dirty="0"/>
              <a:t>AV oscillator (40bpm) all by itself</a:t>
            </a:r>
          </a:p>
        </p:txBody>
      </p:sp>
      <p:sp>
        <p:nvSpPr>
          <p:cNvPr id="14" name="Freeform: Shape 13">
            <a:extLst>
              <a:ext uri="{FF2B5EF4-FFF2-40B4-BE49-F238E27FC236}">
                <a16:creationId xmlns:a16="http://schemas.microsoft.com/office/drawing/2014/main" id="{E8007CE0-87DB-4638-B8AB-0BF3D8B52492}"/>
              </a:ext>
            </a:extLst>
          </p:cNvPr>
          <p:cNvSpPr/>
          <p:nvPr/>
        </p:nvSpPr>
        <p:spPr>
          <a:xfrm>
            <a:off x="38862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6712F6A-F56E-4E0C-A8B9-1D15AFCA65A4}"/>
              </a:ext>
            </a:extLst>
          </p:cNvPr>
          <p:cNvSpPr/>
          <p:nvPr/>
        </p:nvSpPr>
        <p:spPr>
          <a:xfrm>
            <a:off x="72390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272106F-0CB3-42B8-BB86-0830C6484923}"/>
              </a:ext>
            </a:extLst>
          </p:cNvPr>
          <p:cNvSpPr txBox="1"/>
          <p:nvPr/>
        </p:nvSpPr>
        <p:spPr>
          <a:xfrm>
            <a:off x="152400" y="2357735"/>
            <a:ext cx="3657600" cy="461665"/>
          </a:xfrm>
          <a:prstGeom prst="rect">
            <a:avLst/>
          </a:prstGeom>
          <a:noFill/>
        </p:spPr>
        <p:txBody>
          <a:bodyPr wrap="square" rtlCol="0">
            <a:spAutoFit/>
          </a:bodyPr>
          <a:lstStyle/>
          <a:p>
            <a:r>
              <a:rPr lang="en-US" dirty="0"/>
              <a:t>SA oscillator (38bpm)</a:t>
            </a:r>
          </a:p>
        </p:txBody>
      </p:sp>
      <p:sp>
        <p:nvSpPr>
          <p:cNvPr id="25" name="TextBox 24">
            <a:extLst>
              <a:ext uri="{FF2B5EF4-FFF2-40B4-BE49-F238E27FC236}">
                <a16:creationId xmlns:a16="http://schemas.microsoft.com/office/drawing/2014/main" id="{65967884-12FD-4954-A012-EAC2813ADF0B}"/>
              </a:ext>
            </a:extLst>
          </p:cNvPr>
          <p:cNvSpPr txBox="1"/>
          <p:nvPr/>
        </p:nvSpPr>
        <p:spPr>
          <a:xfrm>
            <a:off x="5029200" y="5410200"/>
            <a:ext cx="2616200" cy="830997"/>
          </a:xfrm>
          <a:prstGeom prst="rect">
            <a:avLst/>
          </a:prstGeom>
          <a:noFill/>
          <a:ln>
            <a:solidFill>
              <a:schemeClr val="accent2"/>
            </a:solidFill>
          </a:ln>
        </p:spPr>
        <p:txBody>
          <a:bodyPr wrap="square" rtlCol="0">
            <a:spAutoFit/>
          </a:bodyPr>
          <a:lstStyle/>
          <a:p>
            <a:r>
              <a:rPr lang="en-US" dirty="0"/>
              <a:t>Ventricles fire from AV pacemaker</a:t>
            </a:r>
          </a:p>
        </p:txBody>
      </p:sp>
      <p:cxnSp>
        <p:nvCxnSpPr>
          <p:cNvPr id="8" name="Straight Connector 7">
            <a:extLst>
              <a:ext uri="{FF2B5EF4-FFF2-40B4-BE49-F238E27FC236}">
                <a16:creationId xmlns:a16="http://schemas.microsoft.com/office/drawing/2014/main" id="{9928A0B6-9FD6-4AA0-B46E-CFFE4D81AEE7}"/>
              </a:ext>
            </a:extLst>
          </p:cNvPr>
          <p:cNvCxnSpPr>
            <a:cxnSpLocks/>
            <a:stCxn id="20" idx="14"/>
          </p:cNvCxnSpPr>
          <p:nvPr/>
        </p:nvCxnSpPr>
        <p:spPr>
          <a:xfrm flipV="1">
            <a:off x="2235200" y="2286000"/>
            <a:ext cx="1905000" cy="37868"/>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5F9FB2-B3BC-4EC9-81ED-6AC2BBF33CAE}"/>
              </a:ext>
            </a:extLst>
          </p:cNvPr>
          <p:cNvCxnSpPr/>
          <p:nvPr/>
        </p:nvCxnSpPr>
        <p:spPr>
          <a:xfrm flipV="1">
            <a:off x="5588000" y="2286000"/>
            <a:ext cx="1600200" cy="37868"/>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39ECE1D-99E1-402E-9FE3-12D5A56BC996}"/>
              </a:ext>
            </a:extLst>
          </p:cNvPr>
          <p:cNvSpPr/>
          <p:nvPr/>
        </p:nvSpPr>
        <p:spPr>
          <a:xfrm>
            <a:off x="5334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72E6509E-CA07-4A09-8E96-20D293D87E03}"/>
              </a:ext>
            </a:extLst>
          </p:cNvPr>
          <p:cNvSpPr/>
          <p:nvPr/>
        </p:nvSpPr>
        <p:spPr>
          <a:xfrm>
            <a:off x="3911600" y="170525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B5B3A054-5261-47CB-8413-7F55715C3599}"/>
              </a:ext>
            </a:extLst>
          </p:cNvPr>
          <p:cNvSpPr/>
          <p:nvPr/>
        </p:nvSpPr>
        <p:spPr>
          <a:xfrm>
            <a:off x="1185332"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8A5FA778-E754-4283-9AA8-154D12EAA9B2}"/>
              </a:ext>
            </a:extLst>
          </p:cNvPr>
          <p:cNvSpPr/>
          <p:nvPr/>
        </p:nvSpPr>
        <p:spPr>
          <a:xfrm>
            <a:off x="3928533"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15ECBB8D-3A43-4734-8D34-99B8B233A82C}"/>
              </a:ext>
            </a:extLst>
          </p:cNvPr>
          <p:cNvSpPr/>
          <p:nvPr/>
        </p:nvSpPr>
        <p:spPr>
          <a:xfrm>
            <a:off x="6477000" y="369296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7D1DAAB7-E00B-4E7B-9BCE-49A81B64A57F}"/>
              </a:ext>
            </a:extLst>
          </p:cNvPr>
          <p:cNvCxnSpPr>
            <a:cxnSpLocks/>
            <a:endCxn id="32" idx="0"/>
          </p:cNvCxnSpPr>
          <p:nvPr/>
        </p:nvCxnSpPr>
        <p:spPr>
          <a:xfrm flipV="1">
            <a:off x="2285999" y="4849437"/>
            <a:ext cx="1642534" cy="1270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A5E1248-9FFE-48E3-AB6A-7896CEDB7EEC}"/>
              </a:ext>
            </a:extLst>
          </p:cNvPr>
          <p:cNvCxnSpPr>
            <a:cxnSpLocks/>
            <a:stCxn id="32" idx="14"/>
          </p:cNvCxnSpPr>
          <p:nvPr/>
        </p:nvCxnSpPr>
        <p:spPr>
          <a:xfrm flipV="1">
            <a:off x="5029200" y="4873721"/>
            <a:ext cx="1447800" cy="102716"/>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811F006-7288-4191-864D-23F8E5C15F25}"/>
              </a:ext>
            </a:extLst>
          </p:cNvPr>
          <p:cNvCxnSpPr>
            <a:cxnSpLocks/>
          </p:cNvCxnSpPr>
          <p:nvPr/>
        </p:nvCxnSpPr>
        <p:spPr>
          <a:xfrm flipH="1" flipV="1">
            <a:off x="4343400" y="4572000"/>
            <a:ext cx="685800" cy="8382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123123-A02F-400C-944A-1376A071032E}"/>
              </a:ext>
            </a:extLst>
          </p:cNvPr>
          <p:cNvSpPr txBox="1"/>
          <p:nvPr/>
        </p:nvSpPr>
        <p:spPr>
          <a:xfrm>
            <a:off x="6223000" y="2667000"/>
            <a:ext cx="2616200" cy="830997"/>
          </a:xfrm>
          <a:prstGeom prst="rect">
            <a:avLst/>
          </a:prstGeom>
          <a:noFill/>
          <a:ln>
            <a:solidFill>
              <a:schemeClr val="accent2"/>
            </a:solidFill>
          </a:ln>
        </p:spPr>
        <p:txBody>
          <a:bodyPr wrap="square" rtlCol="0">
            <a:spAutoFit/>
          </a:bodyPr>
          <a:lstStyle/>
          <a:p>
            <a:r>
              <a:rPr lang="en-US" dirty="0"/>
              <a:t>Why doesn’t this fire the ventricles?</a:t>
            </a:r>
          </a:p>
        </p:txBody>
      </p:sp>
      <p:cxnSp>
        <p:nvCxnSpPr>
          <p:cNvPr id="39" name="Straight Arrow Connector 38">
            <a:extLst>
              <a:ext uri="{FF2B5EF4-FFF2-40B4-BE49-F238E27FC236}">
                <a16:creationId xmlns:a16="http://schemas.microsoft.com/office/drawing/2014/main" id="{35825E66-3063-4BE8-A001-630F75F27B8D}"/>
              </a:ext>
            </a:extLst>
          </p:cNvPr>
          <p:cNvCxnSpPr>
            <a:cxnSpLocks/>
          </p:cNvCxnSpPr>
          <p:nvPr/>
        </p:nvCxnSpPr>
        <p:spPr>
          <a:xfrm flipH="1" flipV="1">
            <a:off x="4800600" y="2402810"/>
            <a:ext cx="1295400" cy="762223"/>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233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500"/>
                                        <p:tgtEl>
                                          <p:spTgt spid="38"/>
                                        </p:tgtEl>
                                      </p:cBhvr>
                                    </p:animEffect>
                                  </p:childTnLst>
                                </p:cTn>
                              </p:par>
                              <p:par>
                                <p:cTn id="16" presetID="10" presetClass="entr" presetSubtype="0" fill="hold" nodeType="with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10244-60A8-4DC7-8AA9-FBA686216063}"/>
              </a:ext>
            </a:extLst>
          </p:cNvPr>
          <p:cNvSpPr>
            <a:spLocks noGrp="1"/>
          </p:cNvSpPr>
          <p:nvPr>
            <p:ph type="title"/>
          </p:nvPr>
        </p:nvSpPr>
        <p:spPr/>
        <p:txBody>
          <a:bodyPr/>
          <a:lstStyle/>
          <a:p>
            <a:r>
              <a:rPr lang="en-US" dirty="0"/>
              <a:t>Design choices</a:t>
            </a:r>
          </a:p>
        </p:txBody>
      </p:sp>
      <p:sp>
        <p:nvSpPr>
          <p:cNvPr id="3" name="Content Placeholder 2">
            <a:extLst>
              <a:ext uri="{FF2B5EF4-FFF2-40B4-BE49-F238E27FC236}">
                <a16:creationId xmlns:a16="http://schemas.microsoft.com/office/drawing/2014/main" id="{9F55C721-787B-42DA-870E-0A6A38840CEE}"/>
              </a:ext>
            </a:extLst>
          </p:cNvPr>
          <p:cNvSpPr>
            <a:spLocks noGrp="1"/>
          </p:cNvSpPr>
          <p:nvPr>
            <p:ph idx="1"/>
          </p:nvPr>
        </p:nvSpPr>
        <p:spPr/>
        <p:txBody>
          <a:bodyPr/>
          <a:lstStyle/>
          <a:p>
            <a:r>
              <a:rPr lang="en-US" dirty="0">
                <a:sym typeface="Wingdings" panose="05000000000000000000" pitchFamily="2" charset="2"/>
              </a:rPr>
              <a:t>Frequencies:</a:t>
            </a:r>
          </a:p>
          <a:p>
            <a:pPr lvl="1">
              <a:spcBef>
                <a:spcPts val="0"/>
              </a:spcBef>
            </a:pPr>
            <a:r>
              <a:rPr lang="en-US" dirty="0">
                <a:sym typeface="Wingdings" panose="05000000000000000000" pitchFamily="2" charset="2"/>
              </a:rPr>
              <a:t>SA node ≈ 60+ bpm</a:t>
            </a:r>
          </a:p>
          <a:p>
            <a:pPr lvl="1">
              <a:spcBef>
                <a:spcPts val="0"/>
              </a:spcBef>
            </a:pPr>
            <a:r>
              <a:rPr lang="en-US" dirty="0">
                <a:sym typeface="Wingdings" panose="05000000000000000000" pitchFamily="2" charset="2"/>
              </a:rPr>
              <a:t>AV node ≈ 40 bpm</a:t>
            </a:r>
          </a:p>
          <a:p>
            <a:pPr lvl="1">
              <a:spcBef>
                <a:spcPts val="0"/>
              </a:spcBef>
            </a:pPr>
            <a:r>
              <a:rPr lang="en-US" dirty="0">
                <a:sym typeface="Wingdings" panose="05000000000000000000" pitchFamily="2" charset="2"/>
              </a:rPr>
              <a:t>Purkinje ≈ 20 bpm</a:t>
            </a:r>
          </a:p>
          <a:p>
            <a:r>
              <a:rPr lang="en-US" dirty="0">
                <a:sym typeface="Wingdings" panose="05000000000000000000" pitchFamily="2" charset="2"/>
              </a:rPr>
              <a:t>Why did we get designed the way we did?</a:t>
            </a:r>
          </a:p>
          <a:p>
            <a:r>
              <a:rPr lang="en-US" dirty="0">
                <a:sym typeface="Wingdings" panose="05000000000000000000" pitchFamily="2" charset="2"/>
              </a:rPr>
              <a:t>Pros/cons of</a:t>
            </a:r>
          </a:p>
          <a:p>
            <a:pPr lvl="1"/>
            <a:r>
              <a:rPr lang="en-US" dirty="0">
                <a:sym typeface="Wingdings" panose="05000000000000000000" pitchFamily="2" charset="2"/>
              </a:rPr>
              <a:t>AV node ≈ 45 bpm, Purkinje ≈ 25 bpm?</a:t>
            </a:r>
          </a:p>
          <a:p>
            <a:pPr lvl="1"/>
            <a:r>
              <a:rPr lang="en-US" dirty="0">
                <a:sym typeface="Wingdings" panose="05000000000000000000" pitchFamily="2" charset="2"/>
              </a:rPr>
              <a:t>AV node ≈ 35 bpm, Purkinje ≈ 15 bpm?</a:t>
            </a:r>
          </a:p>
          <a:p>
            <a:pPr lvl="1"/>
            <a:endParaRPr lang="en-US" dirty="0">
              <a:sym typeface="Wingdings" panose="05000000000000000000" pitchFamily="2" charset="2"/>
            </a:endParaRPr>
          </a:p>
          <a:p>
            <a:endParaRPr lang="en-US" dirty="0"/>
          </a:p>
        </p:txBody>
      </p:sp>
      <p:sp>
        <p:nvSpPr>
          <p:cNvPr id="4" name="Footer Placeholder 3">
            <a:extLst>
              <a:ext uri="{FF2B5EF4-FFF2-40B4-BE49-F238E27FC236}">
                <a16:creationId xmlns:a16="http://schemas.microsoft.com/office/drawing/2014/main" id="{7F508664-4987-4F4C-9A36-EBF912EBF25D}"/>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5745876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0C18-9704-4A5C-BFF9-AFA63C88C9F6}"/>
              </a:ext>
            </a:extLst>
          </p:cNvPr>
          <p:cNvSpPr>
            <a:spLocks noGrp="1"/>
          </p:cNvSpPr>
          <p:nvPr>
            <p:ph type="title"/>
          </p:nvPr>
        </p:nvSpPr>
        <p:spPr>
          <a:xfrm>
            <a:off x="685800" y="304800"/>
            <a:ext cx="7907868" cy="1143000"/>
          </a:xfrm>
        </p:spPr>
        <p:txBody>
          <a:bodyPr/>
          <a:lstStyle/>
          <a:p>
            <a:r>
              <a:rPr lang="en-US" dirty="0"/>
              <a:t>PVCs</a:t>
            </a:r>
          </a:p>
        </p:txBody>
      </p:sp>
      <p:sp>
        <p:nvSpPr>
          <p:cNvPr id="4" name="Footer Placeholder 3">
            <a:extLst>
              <a:ext uri="{FF2B5EF4-FFF2-40B4-BE49-F238E27FC236}">
                <a16:creationId xmlns:a16="http://schemas.microsoft.com/office/drawing/2014/main" id="{7CB3B4BB-EB13-42D3-B428-B6CACF3E06A4}"/>
              </a:ext>
            </a:extLst>
          </p:cNvPr>
          <p:cNvSpPr>
            <a:spLocks noGrp="1"/>
          </p:cNvSpPr>
          <p:nvPr>
            <p:ph type="ftr" sz="quarter" idx="11"/>
          </p:nvPr>
        </p:nvSpPr>
        <p:spPr/>
        <p:txBody>
          <a:bodyPr/>
          <a:lstStyle/>
          <a:p>
            <a:pPr>
              <a:defRPr/>
            </a:pPr>
            <a:r>
              <a:rPr lang="en-US"/>
              <a:t>EE 123 -- Bioelectricity</a:t>
            </a:r>
            <a:endParaRPr lang="en-US" dirty="0"/>
          </a:p>
        </p:txBody>
      </p:sp>
      <p:sp>
        <p:nvSpPr>
          <p:cNvPr id="5" name="Freeform: Shape 4">
            <a:extLst>
              <a:ext uri="{FF2B5EF4-FFF2-40B4-BE49-F238E27FC236}">
                <a16:creationId xmlns:a16="http://schemas.microsoft.com/office/drawing/2014/main" id="{03647CEE-49F0-49C0-B959-09D660C0AC3A}"/>
              </a:ext>
            </a:extLst>
          </p:cNvPr>
          <p:cNvSpPr/>
          <p:nvPr/>
        </p:nvSpPr>
        <p:spPr>
          <a:xfrm>
            <a:off x="1159932" y="2866746"/>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6C53DBAF-E904-4608-A0AA-535B6D613842}"/>
              </a:ext>
            </a:extLst>
          </p:cNvPr>
          <p:cNvSpPr/>
          <p:nvPr/>
        </p:nvSpPr>
        <p:spPr>
          <a:xfrm>
            <a:off x="2683932" y="2866746"/>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1BEEE9B8-110D-412E-82E7-D244BEA1479E}"/>
              </a:ext>
            </a:extLst>
          </p:cNvPr>
          <p:cNvSpPr/>
          <p:nvPr/>
        </p:nvSpPr>
        <p:spPr>
          <a:xfrm>
            <a:off x="6062133" y="2866746"/>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30DB294-8F5E-4BBD-A593-35D32429539C}"/>
              </a:ext>
            </a:extLst>
          </p:cNvPr>
          <p:cNvCxnSpPr>
            <a:cxnSpLocks/>
            <a:stCxn id="5" idx="14"/>
            <a:endCxn id="6" idx="0"/>
          </p:cNvCxnSpPr>
          <p:nvPr/>
        </p:nvCxnSpPr>
        <p:spPr>
          <a:xfrm flipV="1">
            <a:off x="2260599" y="4023216"/>
            <a:ext cx="423333" cy="1270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7D440FD-B7E6-420A-9946-E3819C4C5FBC}"/>
              </a:ext>
            </a:extLst>
          </p:cNvPr>
          <p:cNvCxnSpPr>
            <a:cxnSpLocks/>
          </p:cNvCxnSpPr>
          <p:nvPr/>
        </p:nvCxnSpPr>
        <p:spPr>
          <a:xfrm flipV="1">
            <a:off x="3750732" y="3995314"/>
            <a:ext cx="2328333" cy="12700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8727D13E-2435-4643-A0B1-5E623DE57443}"/>
              </a:ext>
            </a:extLst>
          </p:cNvPr>
          <p:cNvSpPr/>
          <p:nvPr/>
        </p:nvSpPr>
        <p:spPr>
          <a:xfrm>
            <a:off x="533400" y="1447800"/>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8007CE0-87DB-4638-B8AB-0BF3D8B52492}"/>
              </a:ext>
            </a:extLst>
          </p:cNvPr>
          <p:cNvSpPr/>
          <p:nvPr/>
        </p:nvSpPr>
        <p:spPr>
          <a:xfrm>
            <a:off x="2921000" y="1447800"/>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6712F6A-F56E-4E0C-A8B9-1D15AFCA65A4}"/>
              </a:ext>
            </a:extLst>
          </p:cNvPr>
          <p:cNvSpPr/>
          <p:nvPr/>
        </p:nvSpPr>
        <p:spPr>
          <a:xfrm>
            <a:off x="5283200" y="1447800"/>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272106F-0CB3-42B8-BB86-0830C6484923}"/>
              </a:ext>
            </a:extLst>
          </p:cNvPr>
          <p:cNvSpPr txBox="1"/>
          <p:nvPr/>
        </p:nvSpPr>
        <p:spPr>
          <a:xfrm>
            <a:off x="6172200" y="1434989"/>
            <a:ext cx="2971800" cy="461665"/>
          </a:xfrm>
          <a:prstGeom prst="rect">
            <a:avLst/>
          </a:prstGeom>
          <a:noFill/>
        </p:spPr>
        <p:txBody>
          <a:bodyPr wrap="square" rtlCol="0">
            <a:spAutoFit/>
          </a:bodyPr>
          <a:lstStyle/>
          <a:p>
            <a:r>
              <a:rPr lang="en-US" dirty="0"/>
              <a:t>SA oscillator (50bpm)</a:t>
            </a:r>
          </a:p>
        </p:txBody>
      </p:sp>
      <p:cxnSp>
        <p:nvCxnSpPr>
          <p:cNvPr id="8" name="Straight Connector 7">
            <a:extLst>
              <a:ext uri="{FF2B5EF4-FFF2-40B4-BE49-F238E27FC236}">
                <a16:creationId xmlns:a16="http://schemas.microsoft.com/office/drawing/2014/main" id="{9928A0B6-9FD6-4AA0-B46E-CFFE4D81AEE7}"/>
              </a:ext>
            </a:extLst>
          </p:cNvPr>
          <p:cNvCxnSpPr>
            <a:cxnSpLocks/>
            <a:stCxn id="13" idx="14"/>
            <a:endCxn id="14" idx="0"/>
          </p:cNvCxnSpPr>
          <p:nvPr/>
        </p:nvCxnSpPr>
        <p:spPr>
          <a:xfrm>
            <a:off x="2235200" y="2066414"/>
            <a:ext cx="6858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5F9FB2-B3BC-4EC9-81ED-6AC2BBF33CAE}"/>
              </a:ext>
            </a:extLst>
          </p:cNvPr>
          <p:cNvCxnSpPr>
            <a:cxnSpLocks/>
            <a:endCxn id="15" idx="0"/>
          </p:cNvCxnSpPr>
          <p:nvPr/>
        </p:nvCxnSpPr>
        <p:spPr>
          <a:xfrm>
            <a:off x="4622800" y="2066414"/>
            <a:ext cx="6604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0C74D64-E9EC-4A61-A045-9591F10AABF6}"/>
              </a:ext>
            </a:extLst>
          </p:cNvPr>
          <p:cNvSpPr txBox="1"/>
          <p:nvPr/>
        </p:nvSpPr>
        <p:spPr>
          <a:xfrm>
            <a:off x="6781800" y="3195935"/>
            <a:ext cx="2133600" cy="461665"/>
          </a:xfrm>
          <a:prstGeom prst="rect">
            <a:avLst/>
          </a:prstGeom>
          <a:noFill/>
        </p:spPr>
        <p:txBody>
          <a:bodyPr wrap="square" rtlCol="0">
            <a:spAutoFit/>
          </a:bodyPr>
          <a:lstStyle/>
          <a:p>
            <a:r>
              <a:rPr lang="en-US" dirty="0"/>
              <a:t>Ventricular AP</a:t>
            </a:r>
          </a:p>
        </p:txBody>
      </p:sp>
      <p:sp>
        <p:nvSpPr>
          <p:cNvPr id="22" name="TextBox 21">
            <a:extLst>
              <a:ext uri="{FF2B5EF4-FFF2-40B4-BE49-F238E27FC236}">
                <a16:creationId xmlns:a16="http://schemas.microsoft.com/office/drawing/2014/main" id="{AAEFD7D9-B142-4272-A005-3A2CE3B7AE26}"/>
              </a:ext>
            </a:extLst>
          </p:cNvPr>
          <p:cNvSpPr txBox="1"/>
          <p:nvPr/>
        </p:nvSpPr>
        <p:spPr>
          <a:xfrm>
            <a:off x="384666" y="4613517"/>
            <a:ext cx="2514600" cy="1200329"/>
          </a:xfrm>
          <a:prstGeom prst="rect">
            <a:avLst/>
          </a:prstGeom>
          <a:noFill/>
          <a:ln>
            <a:solidFill>
              <a:schemeClr val="accent2"/>
            </a:solidFill>
          </a:ln>
        </p:spPr>
        <p:txBody>
          <a:bodyPr wrap="square" rtlCol="0">
            <a:spAutoFit/>
          </a:bodyPr>
          <a:lstStyle/>
          <a:p>
            <a:r>
              <a:rPr lang="en-US" i="1" dirty="0"/>
              <a:t>Ectopic</a:t>
            </a:r>
            <a:r>
              <a:rPr lang="en-US" baseline="30000" dirty="0"/>
              <a:t>*</a:t>
            </a:r>
            <a:r>
              <a:rPr lang="en-US" i="1" dirty="0"/>
              <a:t> focus</a:t>
            </a:r>
          </a:p>
          <a:p>
            <a:r>
              <a:rPr lang="en-US" dirty="0"/>
              <a:t>A random firing in the ventricles</a:t>
            </a:r>
          </a:p>
        </p:txBody>
      </p:sp>
      <p:cxnSp>
        <p:nvCxnSpPr>
          <p:cNvPr id="23" name="Straight Arrow Connector 22">
            <a:extLst>
              <a:ext uri="{FF2B5EF4-FFF2-40B4-BE49-F238E27FC236}">
                <a16:creationId xmlns:a16="http://schemas.microsoft.com/office/drawing/2014/main" id="{DEA96D64-8F2E-4027-AEF7-D1E6CEDE108C}"/>
              </a:ext>
            </a:extLst>
          </p:cNvPr>
          <p:cNvCxnSpPr/>
          <p:nvPr/>
        </p:nvCxnSpPr>
        <p:spPr>
          <a:xfrm flipV="1">
            <a:off x="2133600" y="4160103"/>
            <a:ext cx="609600" cy="711503"/>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297C756-3238-439C-9AA2-062C39F2952F}"/>
              </a:ext>
            </a:extLst>
          </p:cNvPr>
          <p:cNvSpPr txBox="1"/>
          <p:nvPr/>
        </p:nvSpPr>
        <p:spPr>
          <a:xfrm>
            <a:off x="3124200" y="4650717"/>
            <a:ext cx="2328333" cy="1200329"/>
          </a:xfrm>
          <a:prstGeom prst="rect">
            <a:avLst/>
          </a:prstGeom>
          <a:noFill/>
          <a:ln>
            <a:solidFill>
              <a:schemeClr val="accent2"/>
            </a:solidFill>
          </a:ln>
        </p:spPr>
        <p:txBody>
          <a:bodyPr wrap="square" rtlCol="0">
            <a:spAutoFit/>
          </a:bodyPr>
          <a:lstStyle/>
          <a:p>
            <a:r>
              <a:rPr lang="en-US" dirty="0"/>
              <a:t>Ventricles not full; little blood pumped</a:t>
            </a:r>
          </a:p>
        </p:txBody>
      </p:sp>
      <p:cxnSp>
        <p:nvCxnSpPr>
          <p:cNvPr id="27" name="Straight Arrow Connector 26">
            <a:extLst>
              <a:ext uri="{FF2B5EF4-FFF2-40B4-BE49-F238E27FC236}">
                <a16:creationId xmlns:a16="http://schemas.microsoft.com/office/drawing/2014/main" id="{8A14EC16-4B89-4B45-8454-4BE7EC35CC01}"/>
              </a:ext>
            </a:extLst>
          </p:cNvPr>
          <p:cNvCxnSpPr>
            <a:cxnSpLocks/>
          </p:cNvCxnSpPr>
          <p:nvPr/>
        </p:nvCxnSpPr>
        <p:spPr>
          <a:xfrm flipV="1">
            <a:off x="3276600" y="4122315"/>
            <a:ext cx="0" cy="65949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497B3D0-2B5C-4981-AC25-44FB5235B21C}"/>
              </a:ext>
            </a:extLst>
          </p:cNvPr>
          <p:cNvSpPr txBox="1"/>
          <p:nvPr/>
        </p:nvSpPr>
        <p:spPr>
          <a:xfrm>
            <a:off x="228600" y="76200"/>
            <a:ext cx="3276600" cy="1200329"/>
          </a:xfrm>
          <a:prstGeom prst="rect">
            <a:avLst/>
          </a:prstGeom>
          <a:noFill/>
          <a:ln>
            <a:solidFill>
              <a:schemeClr val="accent2"/>
            </a:solidFill>
          </a:ln>
        </p:spPr>
        <p:txBody>
          <a:bodyPr wrap="square" lIns="0" tIns="0" rIns="0" bIns="0" rtlCol="0" anchor="ctr" anchorCtr="0">
            <a:noAutofit/>
          </a:bodyPr>
          <a:lstStyle/>
          <a:p>
            <a:r>
              <a:rPr lang="en-US" dirty="0"/>
              <a:t>Doesn’t go anywhere (ventricles still refractory)</a:t>
            </a:r>
          </a:p>
        </p:txBody>
      </p:sp>
      <p:cxnSp>
        <p:nvCxnSpPr>
          <p:cNvPr id="30" name="Straight Arrow Connector 29">
            <a:extLst>
              <a:ext uri="{FF2B5EF4-FFF2-40B4-BE49-F238E27FC236}">
                <a16:creationId xmlns:a16="http://schemas.microsoft.com/office/drawing/2014/main" id="{66E20D71-F88A-43EC-8AA8-913D3530D5D6}"/>
              </a:ext>
            </a:extLst>
          </p:cNvPr>
          <p:cNvCxnSpPr>
            <a:cxnSpLocks/>
            <a:endCxn id="14" idx="3"/>
          </p:cNvCxnSpPr>
          <p:nvPr/>
        </p:nvCxnSpPr>
        <p:spPr>
          <a:xfrm>
            <a:off x="2057400" y="1044154"/>
            <a:ext cx="1397000" cy="83599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B2AE548-C152-4CC2-89F3-7B7294EC8511}"/>
              </a:ext>
            </a:extLst>
          </p:cNvPr>
          <p:cNvSpPr txBox="1"/>
          <p:nvPr/>
        </p:nvSpPr>
        <p:spPr>
          <a:xfrm>
            <a:off x="5711158" y="4447491"/>
            <a:ext cx="3048166" cy="1569660"/>
          </a:xfrm>
          <a:prstGeom prst="rect">
            <a:avLst/>
          </a:prstGeom>
          <a:noFill/>
          <a:ln>
            <a:solidFill>
              <a:schemeClr val="accent2"/>
            </a:solidFill>
          </a:ln>
        </p:spPr>
        <p:txBody>
          <a:bodyPr wrap="square" rtlCol="0">
            <a:spAutoFit/>
          </a:bodyPr>
          <a:lstStyle/>
          <a:p>
            <a:r>
              <a:rPr lang="en-US" dirty="0">
                <a:solidFill>
                  <a:srgbClr val="FF0000"/>
                </a:solidFill>
              </a:rPr>
              <a:t>Premature Ventricular Contraction (PVC) sounds like a “skipped” pulse</a:t>
            </a:r>
          </a:p>
        </p:txBody>
      </p:sp>
      <p:sp>
        <p:nvSpPr>
          <p:cNvPr id="34" name="TextBox 33">
            <a:extLst>
              <a:ext uri="{FF2B5EF4-FFF2-40B4-BE49-F238E27FC236}">
                <a16:creationId xmlns:a16="http://schemas.microsoft.com/office/drawing/2014/main" id="{01A20513-C00A-4E6A-841C-49D69EF9E330}"/>
              </a:ext>
            </a:extLst>
          </p:cNvPr>
          <p:cNvSpPr txBox="1"/>
          <p:nvPr/>
        </p:nvSpPr>
        <p:spPr>
          <a:xfrm>
            <a:off x="250114" y="6381690"/>
            <a:ext cx="3204285" cy="400110"/>
          </a:xfrm>
          <a:prstGeom prst="rect">
            <a:avLst/>
          </a:prstGeom>
          <a:noFill/>
          <a:ln>
            <a:noFill/>
          </a:ln>
        </p:spPr>
        <p:txBody>
          <a:bodyPr wrap="square" rtlCol="0">
            <a:spAutoFit/>
          </a:bodyPr>
          <a:lstStyle/>
          <a:p>
            <a:r>
              <a:rPr lang="en-US" sz="2000" i="1" baseline="30000" dirty="0"/>
              <a:t>*</a:t>
            </a:r>
            <a:r>
              <a:rPr lang="en-US" sz="2000" i="1" dirty="0"/>
              <a:t>Ectopic=</a:t>
            </a:r>
            <a:r>
              <a:rPr lang="en-US" sz="2000" dirty="0"/>
              <a:t>in the wrong place</a:t>
            </a:r>
            <a:endParaRPr lang="en-US" sz="2000" baseline="30000" dirty="0"/>
          </a:p>
        </p:txBody>
      </p:sp>
      <p:sp>
        <p:nvSpPr>
          <p:cNvPr id="3" name="Freeform: Shape 2">
            <a:extLst>
              <a:ext uri="{FF2B5EF4-FFF2-40B4-BE49-F238E27FC236}">
                <a16:creationId xmlns:a16="http://schemas.microsoft.com/office/drawing/2014/main" id="{2FB95D50-6F9B-4A23-AFE0-F1734D7007B2}"/>
              </a:ext>
            </a:extLst>
          </p:cNvPr>
          <p:cNvSpPr/>
          <p:nvPr/>
        </p:nvSpPr>
        <p:spPr>
          <a:xfrm>
            <a:off x="3810000" y="2831330"/>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59CD96F0-6374-46DA-90E9-752AD4911389}"/>
              </a:ext>
            </a:extLst>
          </p:cNvPr>
          <p:cNvCxnSpPr>
            <a:cxnSpLocks/>
            <a:endCxn id="3" idx="0"/>
          </p:cNvCxnSpPr>
          <p:nvPr/>
        </p:nvCxnSpPr>
        <p:spPr>
          <a:xfrm flipV="1">
            <a:off x="2260599" y="3987800"/>
            <a:ext cx="1549401" cy="187816"/>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0044B50-20DA-4600-A672-CD548F73FE11}"/>
              </a:ext>
            </a:extLst>
          </p:cNvPr>
          <p:cNvCxnSpPr>
            <a:cxnSpLocks/>
          </p:cNvCxnSpPr>
          <p:nvPr/>
        </p:nvCxnSpPr>
        <p:spPr>
          <a:xfrm flipV="1">
            <a:off x="4910667" y="4008120"/>
            <a:ext cx="1118277" cy="114194"/>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9E3610-F415-F5EB-11A6-C9BFCD1BA856}"/>
              </a:ext>
            </a:extLst>
          </p:cNvPr>
          <p:cNvSpPr txBox="1"/>
          <p:nvPr/>
        </p:nvSpPr>
        <p:spPr>
          <a:xfrm>
            <a:off x="5638800" y="152400"/>
            <a:ext cx="3276601" cy="1200329"/>
          </a:xfrm>
          <a:prstGeom prst="rect">
            <a:avLst/>
          </a:prstGeom>
          <a:noFill/>
        </p:spPr>
        <p:txBody>
          <a:bodyPr wrap="square" rtlCol="0">
            <a:spAutoFit/>
          </a:bodyPr>
          <a:lstStyle/>
          <a:p>
            <a:r>
              <a:rPr lang="en-US" dirty="0"/>
              <a:t>just when you thought we were done with arrhythmias…</a:t>
            </a:r>
          </a:p>
        </p:txBody>
      </p:sp>
    </p:spTree>
    <p:extLst>
      <p:ext uri="{BB962C8B-B14F-4D97-AF65-F5344CB8AC3E}">
        <p14:creationId xmlns:p14="http://schemas.microsoft.com/office/powerpoint/2010/main" val="340871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0" nodeType="clickEffect">
                                  <p:stCondLst>
                                    <p:cond delay="0"/>
                                  </p:stCondLst>
                                  <p:childTnLst>
                                    <p:animEffect transition="out" filter="fade">
                                      <p:cBhvr>
                                        <p:cTn id="46" dur="500"/>
                                        <p:tgtEl>
                                          <p:spTgt spid="3"/>
                                        </p:tgtEl>
                                      </p:cBhvr>
                                    </p:animEffect>
                                    <p:set>
                                      <p:cBhvr>
                                        <p:cTn id="47" dur="1" fill="hold">
                                          <p:stCondLst>
                                            <p:cond delay="499"/>
                                          </p:stCondLst>
                                        </p:cTn>
                                        <p:tgtEl>
                                          <p:spTgt spid="3"/>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500"/>
                                        <p:tgtEl>
                                          <p:spTgt spid="28"/>
                                        </p:tgtEl>
                                      </p:cBhvr>
                                    </p:animEffect>
                                    <p:set>
                                      <p:cBhvr>
                                        <p:cTn id="50" dur="1" fill="hold">
                                          <p:stCondLst>
                                            <p:cond delay="499"/>
                                          </p:stCondLst>
                                        </p:cTn>
                                        <p:tgtEl>
                                          <p:spTgt spid="28"/>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500"/>
                                        <p:tgtEl>
                                          <p:spTgt spid="31"/>
                                        </p:tgtEl>
                                      </p:cBhvr>
                                    </p:animEffect>
                                    <p:set>
                                      <p:cBhvr>
                                        <p:cTn id="53" dur="1" fill="hold">
                                          <p:stCondLst>
                                            <p:cond delay="499"/>
                                          </p:stCondLst>
                                        </p:cTn>
                                        <p:tgtEl>
                                          <p:spTgt spid="31"/>
                                        </p:tgtEl>
                                        <p:attrNameLst>
                                          <p:attrName>style.visibility</p:attrName>
                                        </p:attrNameLst>
                                      </p:cBhvr>
                                      <p:to>
                                        <p:strVal val="hidden"/>
                                      </p:to>
                                    </p:set>
                                  </p:childTnLst>
                                </p:cTn>
                              </p:par>
                              <p:par>
                                <p:cTn id="54" presetID="10" presetClass="entr" presetSubtype="0" fill="hold"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2" grpId="0" animBg="1"/>
      <p:bldP spid="26" grpId="0" animBg="1"/>
      <p:bldP spid="29" grpId="0" animBg="1"/>
      <p:bldP spid="33" grpId="0" animBg="1"/>
      <p:bldP spid="34" grpId="0"/>
      <p:bldP spid="3" grpId="0" animBg="1"/>
      <p:bldP spid="1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FFD6C80-AC3F-4BB7-BDA3-B50052A24DCE}"/>
              </a:ext>
            </a:extLst>
          </p:cNvPr>
          <p:cNvSpPr/>
          <p:nvPr/>
        </p:nvSpPr>
        <p:spPr>
          <a:xfrm>
            <a:off x="2133600" y="2309304"/>
            <a:ext cx="685800" cy="31314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440C18-9704-4A5C-BFF9-AFA63C88C9F6}"/>
              </a:ext>
            </a:extLst>
          </p:cNvPr>
          <p:cNvSpPr>
            <a:spLocks noGrp="1"/>
          </p:cNvSpPr>
          <p:nvPr>
            <p:ph type="title"/>
          </p:nvPr>
        </p:nvSpPr>
        <p:spPr>
          <a:xfrm>
            <a:off x="685800" y="304800"/>
            <a:ext cx="7907868" cy="1143000"/>
          </a:xfrm>
        </p:spPr>
        <p:txBody>
          <a:bodyPr/>
          <a:lstStyle/>
          <a:p>
            <a:r>
              <a:rPr lang="en-US" dirty="0"/>
              <a:t>PVCs</a:t>
            </a:r>
          </a:p>
        </p:txBody>
      </p:sp>
      <p:sp>
        <p:nvSpPr>
          <p:cNvPr id="4" name="Footer Placeholder 3">
            <a:extLst>
              <a:ext uri="{FF2B5EF4-FFF2-40B4-BE49-F238E27FC236}">
                <a16:creationId xmlns:a16="http://schemas.microsoft.com/office/drawing/2014/main" id="{7CB3B4BB-EB13-42D3-B428-B6CACF3E06A4}"/>
              </a:ext>
            </a:extLst>
          </p:cNvPr>
          <p:cNvSpPr>
            <a:spLocks noGrp="1"/>
          </p:cNvSpPr>
          <p:nvPr>
            <p:ph type="ftr" sz="quarter" idx="11"/>
          </p:nvPr>
        </p:nvSpPr>
        <p:spPr/>
        <p:txBody>
          <a:bodyPr/>
          <a:lstStyle/>
          <a:p>
            <a:pPr>
              <a:defRPr/>
            </a:pPr>
            <a:r>
              <a:rPr lang="en-US"/>
              <a:t>EE 123 -- Bioelectricity</a:t>
            </a:r>
            <a:endParaRPr lang="en-US" dirty="0"/>
          </a:p>
        </p:txBody>
      </p:sp>
      <p:sp>
        <p:nvSpPr>
          <p:cNvPr id="13" name="Freeform: Shape 12">
            <a:extLst>
              <a:ext uri="{FF2B5EF4-FFF2-40B4-BE49-F238E27FC236}">
                <a16:creationId xmlns:a16="http://schemas.microsoft.com/office/drawing/2014/main" id="{8727D13E-2435-4643-A0B1-5E623DE57443}"/>
              </a:ext>
            </a:extLst>
          </p:cNvPr>
          <p:cNvSpPr/>
          <p:nvPr/>
        </p:nvSpPr>
        <p:spPr>
          <a:xfrm>
            <a:off x="533400" y="1860450"/>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8007CE0-87DB-4638-B8AB-0BF3D8B52492}"/>
              </a:ext>
            </a:extLst>
          </p:cNvPr>
          <p:cNvSpPr/>
          <p:nvPr/>
        </p:nvSpPr>
        <p:spPr>
          <a:xfrm>
            <a:off x="2641600" y="1860450"/>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6712F6A-F56E-4E0C-A8B9-1D15AFCA65A4}"/>
              </a:ext>
            </a:extLst>
          </p:cNvPr>
          <p:cNvSpPr/>
          <p:nvPr/>
        </p:nvSpPr>
        <p:spPr>
          <a:xfrm>
            <a:off x="4927600" y="1860450"/>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272106F-0CB3-42B8-BB86-0830C6484923}"/>
              </a:ext>
            </a:extLst>
          </p:cNvPr>
          <p:cNvSpPr txBox="1"/>
          <p:nvPr/>
        </p:nvSpPr>
        <p:spPr>
          <a:xfrm>
            <a:off x="6172200" y="1847639"/>
            <a:ext cx="2971800" cy="461665"/>
          </a:xfrm>
          <a:prstGeom prst="rect">
            <a:avLst/>
          </a:prstGeom>
          <a:noFill/>
        </p:spPr>
        <p:txBody>
          <a:bodyPr wrap="square" rtlCol="0">
            <a:spAutoFit/>
          </a:bodyPr>
          <a:lstStyle/>
          <a:p>
            <a:r>
              <a:rPr lang="en-US" dirty="0"/>
              <a:t>SA oscillator (80 bpm)</a:t>
            </a:r>
          </a:p>
        </p:txBody>
      </p:sp>
      <p:cxnSp>
        <p:nvCxnSpPr>
          <p:cNvPr id="8" name="Straight Connector 7">
            <a:extLst>
              <a:ext uri="{FF2B5EF4-FFF2-40B4-BE49-F238E27FC236}">
                <a16:creationId xmlns:a16="http://schemas.microsoft.com/office/drawing/2014/main" id="{9928A0B6-9FD6-4AA0-B46E-CFFE4D81AEE7}"/>
              </a:ext>
            </a:extLst>
          </p:cNvPr>
          <p:cNvCxnSpPr>
            <a:cxnSpLocks/>
            <a:stCxn id="13" idx="14"/>
            <a:endCxn id="14" idx="0"/>
          </p:cNvCxnSpPr>
          <p:nvPr/>
        </p:nvCxnSpPr>
        <p:spPr>
          <a:xfrm>
            <a:off x="2235200" y="2479064"/>
            <a:ext cx="4064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5F9FB2-B3BC-4EC9-81ED-6AC2BBF33CAE}"/>
              </a:ext>
            </a:extLst>
          </p:cNvPr>
          <p:cNvCxnSpPr>
            <a:cxnSpLocks/>
            <a:endCxn id="15" idx="0"/>
          </p:cNvCxnSpPr>
          <p:nvPr/>
        </p:nvCxnSpPr>
        <p:spPr>
          <a:xfrm>
            <a:off x="4267200" y="2479064"/>
            <a:ext cx="6604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AEFD7D9-B142-4272-A005-3A2CE3B7AE26}"/>
              </a:ext>
            </a:extLst>
          </p:cNvPr>
          <p:cNvSpPr txBox="1"/>
          <p:nvPr/>
        </p:nvSpPr>
        <p:spPr>
          <a:xfrm>
            <a:off x="497442" y="207571"/>
            <a:ext cx="2514600" cy="830997"/>
          </a:xfrm>
          <a:prstGeom prst="rect">
            <a:avLst/>
          </a:prstGeom>
          <a:noFill/>
          <a:ln>
            <a:solidFill>
              <a:schemeClr val="accent2"/>
            </a:solidFill>
          </a:ln>
        </p:spPr>
        <p:txBody>
          <a:bodyPr wrap="square" rtlCol="0">
            <a:spAutoFit/>
          </a:bodyPr>
          <a:lstStyle/>
          <a:p>
            <a:r>
              <a:rPr lang="en-US" i="1" dirty="0"/>
              <a:t>Ectopic</a:t>
            </a:r>
            <a:r>
              <a:rPr lang="en-US" baseline="30000" dirty="0"/>
              <a:t>*</a:t>
            </a:r>
            <a:r>
              <a:rPr lang="en-US" i="1" dirty="0"/>
              <a:t> focus</a:t>
            </a:r>
          </a:p>
          <a:p>
            <a:r>
              <a:rPr lang="en-US" dirty="0"/>
              <a:t>could happen</a:t>
            </a:r>
          </a:p>
        </p:txBody>
      </p:sp>
      <p:cxnSp>
        <p:nvCxnSpPr>
          <p:cNvPr id="23" name="Straight Arrow Connector 22">
            <a:extLst>
              <a:ext uri="{FF2B5EF4-FFF2-40B4-BE49-F238E27FC236}">
                <a16:creationId xmlns:a16="http://schemas.microsoft.com/office/drawing/2014/main" id="{DEA96D64-8F2E-4027-AEF7-D1E6CEDE108C}"/>
              </a:ext>
            </a:extLst>
          </p:cNvPr>
          <p:cNvCxnSpPr>
            <a:cxnSpLocks/>
          </p:cNvCxnSpPr>
          <p:nvPr/>
        </p:nvCxnSpPr>
        <p:spPr>
          <a:xfrm>
            <a:off x="2285999" y="873816"/>
            <a:ext cx="279401" cy="120465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BADE72AA-F66C-4177-8AEA-2DBB4ACC4B13}"/>
              </a:ext>
            </a:extLst>
          </p:cNvPr>
          <p:cNvGrpSpPr/>
          <p:nvPr/>
        </p:nvGrpSpPr>
        <p:grpSpPr>
          <a:xfrm>
            <a:off x="533400" y="2839294"/>
            <a:ext cx="8458200" cy="697556"/>
            <a:chOff x="533400" y="2426644"/>
            <a:chExt cx="8458200" cy="697556"/>
          </a:xfrm>
        </p:grpSpPr>
        <p:sp>
          <p:nvSpPr>
            <p:cNvPr id="24" name="Freeform: Shape 23">
              <a:extLst>
                <a:ext uri="{FF2B5EF4-FFF2-40B4-BE49-F238E27FC236}">
                  <a16:creationId xmlns:a16="http://schemas.microsoft.com/office/drawing/2014/main" id="{01C676AC-B5CA-43EB-BDE4-6E1741871293}"/>
                </a:ext>
              </a:extLst>
            </p:cNvPr>
            <p:cNvSpPr/>
            <p:nvPr/>
          </p:nvSpPr>
          <p:spPr>
            <a:xfrm>
              <a:off x="533400" y="242664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FAB3E18C-8C53-46CF-8DB7-553962185A61}"/>
                </a:ext>
              </a:extLst>
            </p:cNvPr>
            <p:cNvSpPr/>
            <p:nvPr/>
          </p:nvSpPr>
          <p:spPr>
            <a:xfrm>
              <a:off x="3886200" y="242664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F692B314-858A-42B4-9E59-9E926D8C8C49}"/>
                </a:ext>
              </a:extLst>
            </p:cNvPr>
            <p:cNvSpPr/>
            <p:nvPr/>
          </p:nvSpPr>
          <p:spPr>
            <a:xfrm>
              <a:off x="7289800" y="2426644"/>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031EB964-E4B3-4D2B-B9AF-B692E09FCD15}"/>
                </a:ext>
              </a:extLst>
            </p:cNvPr>
            <p:cNvCxnSpPr>
              <a:cxnSpLocks/>
              <a:stCxn id="24" idx="14"/>
              <a:endCxn id="25" idx="0"/>
            </p:cNvCxnSpPr>
            <p:nvPr/>
          </p:nvCxnSpPr>
          <p:spPr>
            <a:xfrm>
              <a:off x="2235200" y="3045258"/>
              <a:ext cx="1651000"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F2C55AF-A7FC-4418-BC05-D26F8095024D}"/>
                </a:ext>
              </a:extLst>
            </p:cNvPr>
            <p:cNvCxnSpPr>
              <a:cxnSpLocks/>
              <a:stCxn id="25" idx="13"/>
              <a:endCxn id="28" idx="0"/>
            </p:cNvCxnSpPr>
            <p:nvPr/>
          </p:nvCxnSpPr>
          <p:spPr>
            <a:xfrm>
              <a:off x="5520267" y="3045258"/>
              <a:ext cx="1769533" cy="0"/>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14F05DF8-41C6-455E-8A16-E6C7640ADC8D}"/>
              </a:ext>
            </a:extLst>
          </p:cNvPr>
          <p:cNvSpPr/>
          <p:nvPr/>
        </p:nvSpPr>
        <p:spPr>
          <a:xfrm>
            <a:off x="4419600" y="2309304"/>
            <a:ext cx="685800" cy="31314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BF34ADE-1428-4C09-940E-45A616BE09B8}"/>
              </a:ext>
            </a:extLst>
          </p:cNvPr>
          <p:cNvSpPr/>
          <p:nvPr/>
        </p:nvSpPr>
        <p:spPr>
          <a:xfrm>
            <a:off x="2285999" y="3308250"/>
            <a:ext cx="1650997" cy="31314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246E258-C7BA-4155-B107-396E0F4FD8E6}"/>
              </a:ext>
            </a:extLst>
          </p:cNvPr>
          <p:cNvSpPr/>
          <p:nvPr/>
        </p:nvSpPr>
        <p:spPr>
          <a:xfrm>
            <a:off x="5520266" y="3262682"/>
            <a:ext cx="2023533" cy="31314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EF01478-ECBF-4A29-A4A2-E6488D69F4E1}"/>
              </a:ext>
            </a:extLst>
          </p:cNvPr>
          <p:cNvSpPr txBox="1"/>
          <p:nvPr/>
        </p:nvSpPr>
        <p:spPr>
          <a:xfrm>
            <a:off x="5943600" y="3653135"/>
            <a:ext cx="2971800" cy="461665"/>
          </a:xfrm>
          <a:prstGeom prst="rect">
            <a:avLst/>
          </a:prstGeom>
          <a:noFill/>
        </p:spPr>
        <p:txBody>
          <a:bodyPr wrap="square" rtlCol="0">
            <a:spAutoFit/>
          </a:bodyPr>
          <a:lstStyle/>
          <a:p>
            <a:r>
              <a:rPr lang="en-US" dirty="0"/>
              <a:t>SA oscillator (50 bpm)</a:t>
            </a:r>
          </a:p>
        </p:txBody>
      </p:sp>
      <p:sp>
        <p:nvSpPr>
          <p:cNvPr id="40" name="Content Placeholder 2">
            <a:extLst>
              <a:ext uri="{FF2B5EF4-FFF2-40B4-BE49-F238E27FC236}">
                <a16:creationId xmlns:a16="http://schemas.microsoft.com/office/drawing/2014/main" id="{D3C3A92C-FC96-46B8-9977-CF3FA997FD2F}"/>
              </a:ext>
            </a:extLst>
          </p:cNvPr>
          <p:cNvSpPr>
            <a:spLocks noGrp="1"/>
          </p:cNvSpPr>
          <p:nvPr>
            <p:ph idx="1"/>
          </p:nvPr>
        </p:nvSpPr>
        <p:spPr>
          <a:xfrm>
            <a:off x="533400" y="4222653"/>
            <a:ext cx="8382000" cy="2093601"/>
          </a:xfrm>
        </p:spPr>
        <p:txBody>
          <a:bodyPr/>
          <a:lstStyle/>
          <a:p>
            <a:r>
              <a:rPr lang="en-US" dirty="0"/>
              <a:t>Why are PVCs more likely with lots of endurance exercise and little sleep?</a:t>
            </a:r>
          </a:p>
          <a:p>
            <a:pPr lvl="1">
              <a:spcBef>
                <a:spcPts val="0"/>
              </a:spcBef>
            </a:pPr>
            <a:r>
              <a:rPr lang="en-US" dirty="0"/>
              <a:t>lots of exercise </a:t>
            </a:r>
            <a:r>
              <a:rPr lang="en-US" dirty="0">
                <a:latin typeface="Times New Roman" panose="02020603050405020304" pitchFamily="18" charset="0"/>
                <a:cs typeface="Times New Roman" panose="02020603050405020304" pitchFamily="18" charset="0"/>
              </a:rPr>
              <a:t>→ HR lowers (well known)</a:t>
            </a:r>
          </a:p>
          <a:p>
            <a:pPr lvl="1">
              <a:spcBef>
                <a:spcPts val="0"/>
              </a:spcBef>
            </a:pPr>
            <a:r>
              <a:rPr lang="en-US" dirty="0">
                <a:latin typeface="Times New Roman" panose="02020603050405020304" pitchFamily="18" charset="0"/>
                <a:cs typeface="Times New Roman" panose="02020603050405020304" pitchFamily="18" charset="0"/>
              </a:rPr>
              <a:t>lots of stress → more ectopic foci (hypothesized)</a:t>
            </a:r>
          </a:p>
          <a:p>
            <a:pPr lvl="1">
              <a:spcBef>
                <a:spcPts val="0"/>
              </a:spcBef>
            </a:pPr>
            <a:r>
              <a:rPr lang="en-US" dirty="0">
                <a:latin typeface="Times New Roman" panose="02020603050405020304" pitchFamily="18" charset="0"/>
                <a:cs typeface="Times New Roman" panose="02020603050405020304" pitchFamily="18" charset="0"/>
              </a:rPr>
              <a:t>benign </a:t>
            </a:r>
            <a:r>
              <a:rPr lang="en-US" i="1" dirty="0">
                <a:latin typeface="Times New Roman" panose="02020603050405020304" pitchFamily="18" charset="0"/>
                <a:cs typeface="Times New Roman" panose="02020603050405020304" pitchFamily="18" charset="0"/>
              </a:rPr>
              <a:t>except if you overdo it for a long time</a:t>
            </a:r>
            <a:endParaRPr lang="en-US" dirty="0"/>
          </a:p>
        </p:txBody>
      </p:sp>
    </p:spTree>
    <p:extLst>
      <p:ext uri="{BB962C8B-B14F-4D97-AF65-F5344CB8AC3E}">
        <p14:creationId xmlns:p14="http://schemas.microsoft.com/office/powerpoint/2010/main" val="92237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2" grpId="0" animBg="1"/>
      <p:bldP spid="35" grpId="0" animBg="1"/>
      <p:bldP spid="36" grpId="0" animBg="1"/>
      <p:bldP spid="37" grpId="0" animBg="1"/>
      <p:bldP spid="1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B6EBA-F4B5-423F-BCBE-FEE569F7FCE0}"/>
              </a:ext>
            </a:extLst>
          </p:cNvPr>
          <p:cNvSpPr>
            <a:spLocks noGrp="1"/>
          </p:cNvSpPr>
          <p:nvPr>
            <p:ph type="title"/>
          </p:nvPr>
        </p:nvSpPr>
        <p:spPr/>
        <p:txBody>
          <a:bodyPr/>
          <a:lstStyle/>
          <a:p>
            <a:r>
              <a:rPr lang="en-US" dirty="0"/>
              <a:t>PVCs</a:t>
            </a:r>
          </a:p>
        </p:txBody>
      </p:sp>
      <p:sp>
        <p:nvSpPr>
          <p:cNvPr id="3" name="Content Placeholder 2">
            <a:extLst>
              <a:ext uri="{FF2B5EF4-FFF2-40B4-BE49-F238E27FC236}">
                <a16:creationId xmlns:a16="http://schemas.microsoft.com/office/drawing/2014/main" id="{5CBD1578-CCD7-4893-BCDF-6755E23FE552}"/>
              </a:ext>
            </a:extLst>
          </p:cNvPr>
          <p:cNvSpPr>
            <a:spLocks noGrp="1"/>
          </p:cNvSpPr>
          <p:nvPr>
            <p:ph idx="1"/>
          </p:nvPr>
        </p:nvSpPr>
        <p:spPr/>
        <p:txBody>
          <a:bodyPr/>
          <a:lstStyle/>
          <a:p>
            <a:r>
              <a:rPr lang="en-US" dirty="0"/>
              <a:t>Backup circuits are great – what if they break?</a:t>
            </a:r>
          </a:p>
          <a:p>
            <a:pPr lvl="1">
              <a:spcBef>
                <a:spcPts val="0"/>
              </a:spcBef>
            </a:pPr>
            <a:r>
              <a:rPr lang="en-US" dirty="0"/>
              <a:t>Yes, you have no backup. Or...</a:t>
            </a:r>
          </a:p>
          <a:p>
            <a:r>
              <a:rPr lang="en-US" dirty="0"/>
              <a:t>Backup circuit launches when it shouldn’t</a:t>
            </a:r>
          </a:p>
          <a:p>
            <a:pPr lvl="1">
              <a:spcBef>
                <a:spcPts val="0"/>
              </a:spcBef>
            </a:pPr>
            <a:r>
              <a:rPr lang="en-US" dirty="0"/>
              <a:t>one way to make an ectopic focus</a:t>
            </a:r>
          </a:p>
          <a:p>
            <a:r>
              <a:rPr lang="en-US" dirty="0"/>
              <a:t>Too much exercise = more PVCs?</a:t>
            </a:r>
          </a:p>
          <a:p>
            <a:r>
              <a:rPr lang="en-US" dirty="0"/>
              <a:t>More info:</a:t>
            </a:r>
          </a:p>
          <a:p>
            <a:pPr lvl="1">
              <a:spcBef>
                <a:spcPts val="0"/>
              </a:spcBef>
            </a:pPr>
            <a:r>
              <a:rPr lang="en-US" dirty="0">
                <a:hlinkClick r:id="rId2"/>
              </a:rPr>
              <a:t>https://www.drjohnm.org/2013/06/benign-pvcs-a-heart-rhythm-doctors-approach/</a:t>
            </a:r>
            <a:endParaRPr lang="en-US" dirty="0"/>
          </a:p>
          <a:p>
            <a:pPr lvl="1">
              <a:spcBef>
                <a:spcPts val="0"/>
              </a:spcBef>
            </a:pPr>
            <a:r>
              <a:rPr lang="en-US" dirty="0">
                <a:hlinkClick r:id="rId3"/>
              </a:rPr>
              <a:t>https://www.drjohnm.org/2015/08/on-pvcs-think-anew-but-think-slowly/</a:t>
            </a:r>
            <a:endParaRPr lang="en-US" dirty="0"/>
          </a:p>
          <a:p>
            <a:endParaRPr lang="en-US" dirty="0"/>
          </a:p>
          <a:p>
            <a:pPr marL="0" indent="0">
              <a:buNone/>
            </a:pPr>
            <a:br>
              <a:rPr lang="en-US" dirty="0"/>
            </a:br>
            <a:endParaRPr lang="en-US" dirty="0"/>
          </a:p>
        </p:txBody>
      </p:sp>
      <p:sp>
        <p:nvSpPr>
          <p:cNvPr id="4" name="Footer Placeholder 3">
            <a:extLst>
              <a:ext uri="{FF2B5EF4-FFF2-40B4-BE49-F238E27FC236}">
                <a16:creationId xmlns:a16="http://schemas.microsoft.com/office/drawing/2014/main" id="{1F9C8EAC-6FB9-4822-8ACF-91F336FD8C65}"/>
              </a:ext>
            </a:extLst>
          </p:cNvPr>
          <p:cNvSpPr>
            <a:spLocks noGrp="1"/>
          </p:cNvSpPr>
          <p:nvPr>
            <p:ph type="ftr" sz="quarter" idx="11"/>
          </p:nvPr>
        </p:nvSpPr>
        <p:spPr/>
        <p:txBody>
          <a:bodyPr/>
          <a:lstStyle/>
          <a:p>
            <a:pPr>
              <a:defRPr/>
            </a:pPr>
            <a:r>
              <a:rPr lang="en-US" dirty="0"/>
              <a:t>EE 123 -- Bioelectricity</a:t>
            </a:r>
          </a:p>
        </p:txBody>
      </p:sp>
    </p:spTree>
    <p:extLst>
      <p:ext uri="{BB962C8B-B14F-4D97-AF65-F5344CB8AC3E}">
        <p14:creationId xmlns:p14="http://schemas.microsoft.com/office/powerpoint/2010/main" val="26253264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6BF67-5228-41C1-8970-732A8933F2FA}"/>
              </a:ext>
            </a:extLst>
          </p:cNvPr>
          <p:cNvSpPr>
            <a:spLocks noGrp="1"/>
          </p:cNvSpPr>
          <p:nvPr>
            <p:ph type="title"/>
          </p:nvPr>
        </p:nvSpPr>
        <p:spPr/>
        <p:txBody>
          <a:bodyPr/>
          <a:lstStyle/>
          <a:p>
            <a:r>
              <a:rPr lang="en-US" dirty="0"/>
              <a:t>Can you find the PVC?</a:t>
            </a:r>
          </a:p>
        </p:txBody>
      </p:sp>
      <p:sp>
        <p:nvSpPr>
          <p:cNvPr id="3" name="Content Placeholder 2">
            <a:extLst>
              <a:ext uri="{FF2B5EF4-FFF2-40B4-BE49-F238E27FC236}">
                <a16:creationId xmlns:a16="http://schemas.microsoft.com/office/drawing/2014/main" id="{F5557B6F-F4B8-48FF-8E6E-9253754CFE28}"/>
              </a:ext>
            </a:extLst>
          </p:cNvPr>
          <p:cNvSpPr>
            <a:spLocks noGrp="1"/>
          </p:cNvSpPr>
          <p:nvPr>
            <p:ph idx="1"/>
          </p:nvPr>
        </p:nvSpPr>
        <p:spPr>
          <a:xfrm>
            <a:off x="6858000" y="5410200"/>
            <a:ext cx="1600200" cy="685800"/>
          </a:xfrm>
        </p:spPr>
        <p:txBody>
          <a:bodyPr/>
          <a:lstStyle/>
          <a:p>
            <a:endParaRPr lang="en-US" dirty="0"/>
          </a:p>
        </p:txBody>
      </p:sp>
      <p:sp>
        <p:nvSpPr>
          <p:cNvPr id="4" name="Footer Placeholder 3">
            <a:extLst>
              <a:ext uri="{FF2B5EF4-FFF2-40B4-BE49-F238E27FC236}">
                <a16:creationId xmlns:a16="http://schemas.microsoft.com/office/drawing/2014/main" id="{9A4553B3-5F41-4C23-AF29-277562DE2ACA}"/>
              </a:ext>
            </a:extLst>
          </p:cNvPr>
          <p:cNvSpPr>
            <a:spLocks noGrp="1"/>
          </p:cNvSpPr>
          <p:nvPr>
            <p:ph type="ftr" sz="quarter" idx="11"/>
          </p:nvPr>
        </p:nvSpPr>
        <p:spPr/>
        <p:txBody>
          <a:bodyPr/>
          <a:lstStyle/>
          <a:p>
            <a:pPr>
              <a:defRPr/>
            </a:pPr>
            <a:r>
              <a:rPr lang="en-US"/>
              <a:t>EE 123 -- Bioelectricity</a:t>
            </a:r>
            <a:endParaRPr lang="en-US" dirty="0"/>
          </a:p>
        </p:txBody>
      </p:sp>
      <p:pic>
        <p:nvPicPr>
          <p:cNvPr id="5" name="Picture 4">
            <a:extLst>
              <a:ext uri="{FF2B5EF4-FFF2-40B4-BE49-F238E27FC236}">
                <a16:creationId xmlns:a16="http://schemas.microsoft.com/office/drawing/2014/main" id="{143015E4-EA80-4DE0-B9CC-81CEB4854995}"/>
              </a:ext>
            </a:extLst>
          </p:cNvPr>
          <p:cNvPicPr>
            <a:picLocks noChangeAspect="1"/>
          </p:cNvPicPr>
          <p:nvPr/>
        </p:nvPicPr>
        <p:blipFill>
          <a:blip r:embed="rId2"/>
          <a:stretch>
            <a:fillRect/>
          </a:stretch>
        </p:blipFill>
        <p:spPr>
          <a:xfrm>
            <a:off x="76200" y="1295400"/>
            <a:ext cx="8991600" cy="1654689"/>
          </a:xfrm>
          <a:prstGeom prst="rect">
            <a:avLst/>
          </a:prstGeom>
        </p:spPr>
      </p:pic>
    </p:spTree>
    <p:extLst>
      <p:ext uri="{BB962C8B-B14F-4D97-AF65-F5344CB8AC3E}">
        <p14:creationId xmlns:p14="http://schemas.microsoft.com/office/powerpoint/2010/main" val="39597137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457B6-177D-4F3D-A832-E65BB0A62F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48FAA3-85B3-4FF5-A481-8CD5BD95601D}"/>
              </a:ext>
            </a:extLst>
          </p:cNvPr>
          <p:cNvSpPr>
            <a:spLocks noGrp="1"/>
          </p:cNvSpPr>
          <p:nvPr>
            <p:ph idx="1"/>
          </p:nvPr>
        </p:nvSpPr>
        <p:spPr/>
        <p:txBody>
          <a:bodyPr/>
          <a:lstStyle/>
          <a:p>
            <a:r>
              <a:rPr lang="en-US" dirty="0"/>
              <a:t>Do you think that PVCs would get more or less frequent as HR rises?</a:t>
            </a:r>
          </a:p>
          <a:p>
            <a:pPr lvl="1"/>
            <a:r>
              <a:rPr lang="en-US" dirty="0"/>
              <a:t>More while you’re exercising?</a:t>
            </a:r>
          </a:p>
          <a:p>
            <a:pPr lvl="1"/>
            <a:r>
              <a:rPr lang="en-US" dirty="0"/>
              <a:t>Or while sleeping?</a:t>
            </a:r>
          </a:p>
        </p:txBody>
      </p:sp>
      <p:sp>
        <p:nvSpPr>
          <p:cNvPr id="4" name="Footer Placeholder 3">
            <a:extLst>
              <a:ext uri="{FF2B5EF4-FFF2-40B4-BE49-F238E27FC236}">
                <a16:creationId xmlns:a16="http://schemas.microsoft.com/office/drawing/2014/main" id="{F675DE8C-FAB5-4CB2-8E71-01FD6A4E1035}"/>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31187845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89E6E0-1908-4C46-8509-A4131A72B365}"/>
              </a:ext>
            </a:extLst>
          </p:cNvPr>
          <p:cNvSpPr>
            <a:spLocks noGrp="1"/>
          </p:cNvSpPr>
          <p:nvPr>
            <p:ph idx="1"/>
          </p:nvPr>
        </p:nvSpPr>
        <p:spPr>
          <a:xfrm>
            <a:off x="5943600" y="152400"/>
            <a:ext cx="2514600" cy="5943600"/>
          </a:xfrm>
        </p:spPr>
        <p:txBody>
          <a:bodyPr/>
          <a:lstStyle/>
          <a:p>
            <a:r>
              <a:rPr lang="en-US" dirty="0"/>
              <a:t>Just look at PVC single (ignore bigeminy</a:t>
            </a:r>
            <a:r>
              <a:rPr lang="en-US"/>
              <a:t>, trigeminy)</a:t>
            </a:r>
            <a:endParaRPr lang="en-US" dirty="0"/>
          </a:p>
          <a:p>
            <a:r>
              <a:rPr lang="en-US" dirty="0"/>
              <a:t>Conclusions?</a:t>
            </a:r>
          </a:p>
        </p:txBody>
      </p:sp>
      <p:sp>
        <p:nvSpPr>
          <p:cNvPr id="4" name="Footer Placeholder 3">
            <a:extLst>
              <a:ext uri="{FF2B5EF4-FFF2-40B4-BE49-F238E27FC236}">
                <a16:creationId xmlns:a16="http://schemas.microsoft.com/office/drawing/2014/main" id="{1EB54642-278A-4112-AC6A-3A7884BAD313}"/>
              </a:ext>
            </a:extLst>
          </p:cNvPr>
          <p:cNvSpPr>
            <a:spLocks noGrp="1"/>
          </p:cNvSpPr>
          <p:nvPr>
            <p:ph type="ftr" sz="quarter" idx="11"/>
          </p:nvPr>
        </p:nvSpPr>
        <p:spPr>
          <a:xfrm>
            <a:off x="5943600" y="6400800"/>
            <a:ext cx="2895600" cy="304800"/>
          </a:xfrm>
        </p:spPr>
        <p:txBody>
          <a:bodyPr/>
          <a:lstStyle/>
          <a:p>
            <a:pPr>
              <a:defRPr/>
            </a:pPr>
            <a:r>
              <a:rPr lang="en-US" dirty="0"/>
              <a:t>EE 123 -- Bioelectricity</a:t>
            </a:r>
          </a:p>
        </p:txBody>
      </p:sp>
      <p:pic>
        <p:nvPicPr>
          <p:cNvPr id="6" name="Picture 5">
            <a:extLst>
              <a:ext uri="{FF2B5EF4-FFF2-40B4-BE49-F238E27FC236}">
                <a16:creationId xmlns:a16="http://schemas.microsoft.com/office/drawing/2014/main" id="{028D6242-5A6F-4E97-A926-912CF2E2FF78}"/>
              </a:ext>
            </a:extLst>
          </p:cNvPr>
          <p:cNvPicPr>
            <a:picLocks noChangeAspect="1"/>
          </p:cNvPicPr>
          <p:nvPr/>
        </p:nvPicPr>
        <p:blipFill>
          <a:blip r:embed="rId3"/>
          <a:stretch>
            <a:fillRect/>
          </a:stretch>
        </p:blipFill>
        <p:spPr>
          <a:xfrm>
            <a:off x="76200" y="99235"/>
            <a:ext cx="5791200" cy="6670472"/>
          </a:xfrm>
          <a:prstGeom prst="rect">
            <a:avLst/>
          </a:prstGeom>
        </p:spPr>
      </p:pic>
    </p:spTree>
    <p:extLst>
      <p:ext uri="{BB962C8B-B14F-4D97-AF65-F5344CB8AC3E}">
        <p14:creationId xmlns:p14="http://schemas.microsoft.com/office/powerpoint/2010/main" val="8465884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5274-5DFD-B01E-51A7-FEBE700B03C9}"/>
              </a:ext>
            </a:extLst>
          </p:cNvPr>
          <p:cNvSpPr>
            <a:spLocks noGrp="1"/>
          </p:cNvSpPr>
          <p:nvPr>
            <p:ph type="title"/>
          </p:nvPr>
        </p:nvSpPr>
        <p:spPr/>
        <p:txBody>
          <a:bodyPr/>
          <a:lstStyle/>
          <a:p>
            <a:r>
              <a:rPr lang="en-US" dirty="0"/>
              <a:t>One more backup system</a:t>
            </a:r>
          </a:p>
        </p:txBody>
      </p:sp>
      <p:sp>
        <p:nvSpPr>
          <p:cNvPr id="3" name="Content Placeholder 2">
            <a:extLst>
              <a:ext uri="{FF2B5EF4-FFF2-40B4-BE49-F238E27FC236}">
                <a16:creationId xmlns:a16="http://schemas.microsoft.com/office/drawing/2014/main" id="{385071CC-DC47-D37C-6210-EE823B1FFA7D}"/>
              </a:ext>
            </a:extLst>
          </p:cNvPr>
          <p:cNvSpPr>
            <a:spLocks noGrp="1"/>
          </p:cNvSpPr>
          <p:nvPr>
            <p:ph idx="1"/>
          </p:nvPr>
        </p:nvSpPr>
        <p:spPr/>
        <p:txBody>
          <a:bodyPr/>
          <a:lstStyle/>
          <a:p>
            <a:r>
              <a:rPr lang="en-US" dirty="0"/>
              <a:t>This one is human designed – pacemakers</a:t>
            </a:r>
          </a:p>
          <a:p>
            <a:pPr lvl="1">
              <a:spcBef>
                <a:spcPts val="0"/>
              </a:spcBef>
            </a:pPr>
            <a:r>
              <a:rPr lang="en-US" dirty="0">
                <a:latin typeface="Times New Roman" panose="02020603050405020304" pitchFamily="18" charset="0"/>
                <a:cs typeface="Times New Roman" panose="02020603050405020304" pitchFamily="18" charset="0"/>
              </a:rPr>
              <a:t>≈400K/year implanted in the US (including ICD)</a:t>
            </a:r>
          </a:p>
          <a:p>
            <a:pPr lvl="1">
              <a:spcBef>
                <a:spcPts val="0"/>
              </a:spcBef>
            </a:pPr>
            <a:r>
              <a:rPr lang="en-US" dirty="0">
                <a:latin typeface="Times New Roman" panose="02020603050405020304" pitchFamily="18" charset="0"/>
                <a:cs typeface="Times New Roman" panose="02020603050405020304" pitchFamily="18" charset="0"/>
              </a:rPr>
              <a:t>≈3M people living with a pacemaker</a:t>
            </a:r>
          </a:p>
          <a:p>
            <a:r>
              <a:rPr lang="en-US" dirty="0">
                <a:latin typeface="Times New Roman" panose="02020603050405020304" pitchFamily="18" charset="0"/>
                <a:cs typeface="Times New Roman" panose="02020603050405020304" pitchFamily="18" charset="0"/>
              </a:rPr>
              <a:t>What does it do?</a:t>
            </a:r>
          </a:p>
          <a:p>
            <a:pPr lvl="1">
              <a:spcBef>
                <a:spcPts val="0"/>
              </a:spcBef>
            </a:pPr>
            <a:r>
              <a:rPr lang="en-US" dirty="0">
                <a:latin typeface="Times New Roman" panose="02020603050405020304" pitchFamily="18" charset="0"/>
                <a:cs typeface="Times New Roman" panose="02020603050405020304" pitchFamily="18" charset="0"/>
              </a:rPr>
              <a:t>Electrodes in an atrium, ventricle</a:t>
            </a:r>
          </a:p>
          <a:p>
            <a:pPr lvl="1">
              <a:spcBef>
                <a:spcPts val="0"/>
              </a:spcBef>
            </a:pPr>
            <a:r>
              <a:rPr lang="en-US" dirty="0">
                <a:latin typeface="Times New Roman" panose="02020603050405020304" pitchFamily="18" charset="0"/>
                <a:cs typeface="Times New Roman" panose="02020603050405020304" pitchFamily="18" charset="0"/>
              </a:rPr>
              <a:t>Each electrode does nothing unless it senses no HB; then it drives</a:t>
            </a:r>
          </a:p>
          <a:p>
            <a:r>
              <a:rPr lang="en-US" dirty="0"/>
              <a:t>Battery lasts about 10 years</a:t>
            </a:r>
          </a:p>
          <a:p>
            <a:endParaRPr lang="en-US" dirty="0"/>
          </a:p>
        </p:txBody>
      </p:sp>
      <p:sp>
        <p:nvSpPr>
          <p:cNvPr id="4" name="Footer Placeholder 3">
            <a:extLst>
              <a:ext uri="{FF2B5EF4-FFF2-40B4-BE49-F238E27FC236}">
                <a16:creationId xmlns:a16="http://schemas.microsoft.com/office/drawing/2014/main" id="{3E5E9D51-4395-DAAA-A3DB-C97C7593B24E}"/>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20652020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73FE2-36A1-1008-710F-B9C80F04DDB0}"/>
              </a:ext>
            </a:extLst>
          </p:cNvPr>
          <p:cNvSpPr>
            <a:spLocks noGrp="1"/>
          </p:cNvSpPr>
          <p:nvPr>
            <p:ph type="title"/>
          </p:nvPr>
        </p:nvSpPr>
        <p:spPr/>
        <p:txBody>
          <a:bodyPr/>
          <a:lstStyle/>
          <a:p>
            <a:r>
              <a:rPr lang="en-US" dirty="0"/>
              <a:t>Pacemakers hookup</a:t>
            </a:r>
          </a:p>
        </p:txBody>
      </p:sp>
      <p:sp>
        <p:nvSpPr>
          <p:cNvPr id="3" name="Content Placeholder 2">
            <a:extLst>
              <a:ext uri="{FF2B5EF4-FFF2-40B4-BE49-F238E27FC236}">
                <a16:creationId xmlns:a16="http://schemas.microsoft.com/office/drawing/2014/main" id="{A7977517-C585-2CBC-B0A3-7F991B4CE7A3}"/>
              </a:ext>
            </a:extLst>
          </p:cNvPr>
          <p:cNvSpPr>
            <a:spLocks noGrp="1"/>
          </p:cNvSpPr>
          <p:nvPr>
            <p:ph idx="1"/>
          </p:nvPr>
        </p:nvSpPr>
        <p:spPr>
          <a:xfrm>
            <a:off x="3962400" y="1676400"/>
            <a:ext cx="4800600" cy="4876800"/>
          </a:xfrm>
        </p:spPr>
        <p:txBody>
          <a:bodyPr/>
          <a:lstStyle/>
          <a:p>
            <a:r>
              <a:rPr lang="en-US" dirty="0"/>
              <a:t>Electrodes enter via vein</a:t>
            </a:r>
          </a:p>
          <a:p>
            <a:pPr lvl="1">
              <a:spcBef>
                <a:spcPts val="0"/>
              </a:spcBef>
            </a:pPr>
            <a:r>
              <a:rPr lang="en-US" dirty="0"/>
              <a:t>which chamber do they enter?</a:t>
            </a:r>
          </a:p>
          <a:p>
            <a:pPr lvl="1">
              <a:spcBef>
                <a:spcPts val="0"/>
              </a:spcBef>
            </a:pPr>
            <a:r>
              <a:rPr lang="en-US" dirty="0"/>
              <a:t>One electrode inserted </a:t>
            </a:r>
            <a:r>
              <a:rPr lang="en-US" dirty="0">
                <a:latin typeface="Times New Roman" panose="02020603050405020304" pitchFamily="18" charset="0"/>
                <a:cs typeface="Times New Roman" panose="02020603050405020304" pitchFamily="18" charset="0"/>
              </a:rPr>
              <a:t>→ RA</a:t>
            </a:r>
          </a:p>
          <a:p>
            <a:r>
              <a:rPr lang="en-US" dirty="0">
                <a:latin typeface="Times New Roman" panose="02020603050405020304" pitchFamily="18" charset="0"/>
                <a:cs typeface="Times New Roman" panose="02020603050405020304" pitchFamily="18" charset="0"/>
              </a:rPr>
              <a:t>Second electrode goes through valve, inserted into inter-ventricular septum</a:t>
            </a:r>
            <a:endParaRPr lang="en-US" dirty="0"/>
          </a:p>
        </p:txBody>
      </p:sp>
      <p:sp>
        <p:nvSpPr>
          <p:cNvPr id="4" name="Footer Placeholder 3">
            <a:extLst>
              <a:ext uri="{FF2B5EF4-FFF2-40B4-BE49-F238E27FC236}">
                <a16:creationId xmlns:a16="http://schemas.microsoft.com/office/drawing/2014/main" id="{935BFA2F-1CEE-9E4F-CF94-8128D7562240}"/>
              </a:ext>
            </a:extLst>
          </p:cNvPr>
          <p:cNvSpPr>
            <a:spLocks noGrp="1"/>
          </p:cNvSpPr>
          <p:nvPr>
            <p:ph type="ftr" sz="quarter" idx="11"/>
          </p:nvPr>
        </p:nvSpPr>
        <p:spPr/>
        <p:txBody>
          <a:bodyPr/>
          <a:lstStyle/>
          <a:p>
            <a:pPr>
              <a:defRPr/>
            </a:pPr>
            <a:r>
              <a:rPr lang="en-US"/>
              <a:t>EE 123 -- Bioelectricity</a:t>
            </a:r>
            <a:endParaRPr lang="en-US" dirty="0"/>
          </a:p>
        </p:txBody>
      </p:sp>
      <p:pic>
        <p:nvPicPr>
          <p:cNvPr id="6" name="Picture 5" descr="A diagram of a heart&#10;&#10;AI-generated content may be incorrect.">
            <a:extLst>
              <a:ext uri="{FF2B5EF4-FFF2-40B4-BE49-F238E27FC236}">
                <a16:creationId xmlns:a16="http://schemas.microsoft.com/office/drawing/2014/main" id="{E6B6F99F-63A4-C04B-80C9-E67802C222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7" name="Oval 6">
            <a:extLst>
              <a:ext uri="{FF2B5EF4-FFF2-40B4-BE49-F238E27FC236}">
                <a16:creationId xmlns:a16="http://schemas.microsoft.com/office/drawing/2014/main" id="{81C45C21-A151-FBC0-1199-1D20DBBDFFA5}"/>
              </a:ext>
            </a:extLst>
          </p:cNvPr>
          <p:cNvSpPr/>
          <p:nvPr/>
        </p:nvSpPr>
        <p:spPr>
          <a:xfrm>
            <a:off x="1417320" y="3398520"/>
            <a:ext cx="182880" cy="18288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905F373-D979-8C4D-B8CD-DFAD4807996A}"/>
              </a:ext>
            </a:extLst>
          </p:cNvPr>
          <p:cNvSpPr/>
          <p:nvPr/>
        </p:nvSpPr>
        <p:spPr>
          <a:xfrm>
            <a:off x="2712720" y="5227320"/>
            <a:ext cx="182880" cy="18288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556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P spid="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87646-ED26-BA79-CD27-F36DAEC9E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D1120-DDBE-B9DD-725B-46E72008B184}"/>
              </a:ext>
            </a:extLst>
          </p:cNvPr>
          <p:cNvSpPr>
            <a:spLocks noGrp="1"/>
          </p:cNvSpPr>
          <p:nvPr>
            <p:ph type="title"/>
          </p:nvPr>
        </p:nvSpPr>
        <p:spPr/>
        <p:txBody>
          <a:bodyPr/>
          <a:lstStyle/>
          <a:p>
            <a:r>
              <a:rPr lang="en-US" dirty="0"/>
              <a:t>Pacemakers have many uses</a:t>
            </a:r>
          </a:p>
        </p:txBody>
      </p:sp>
      <p:sp>
        <p:nvSpPr>
          <p:cNvPr id="3" name="Content Placeholder 2">
            <a:extLst>
              <a:ext uri="{FF2B5EF4-FFF2-40B4-BE49-F238E27FC236}">
                <a16:creationId xmlns:a16="http://schemas.microsoft.com/office/drawing/2014/main" id="{ACD53A54-F9EF-5CCB-440F-0534BDD1D85D}"/>
              </a:ext>
            </a:extLst>
          </p:cNvPr>
          <p:cNvSpPr>
            <a:spLocks noGrp="1"/>
          </p:cNvSpPr>
          <p:nvPr>
            <p:ph idx="1"/>
          </p:nvPr>
        </p:nvSpPr>
        <p:spPr>
          <a:xfrm>
            <a:off x="3886200" y="1676400"/>
            <a:ext cx="4572000" cy="4267200"/>
          </a:xfrm>
        </p:spPr>
        <p:txBody>
          <a:bodyPr/>
          <a:lstStyle/>
          <a:p>
            <a:r>
              <a:rPr lang="en-US" dirty="0"/>
              <a:t>Sick sinus syndrome (slow HB, occasional pauses)</a:t>
            </a:r>
          </a:p>
          <a:p>
            <a:r>
              <a:rPr lang="en-US" dirty="0"/>
              <a:t>Paroxysmal AV block</a:t>
            </a:r>
          </a:p>
          <a:p>
            <a:r>
              <a:rPr lang="en-US" dirty="0"/>
              <a:t>Complete AV block</a:t>
            </a:r>
          </a:p>
          <a:p>
            <a:r>
              <a:rPr lang="en-US" dirty="0"/>
              <a:t>For each of these:</a:t>
            </a:r>
          </a:p>
          <a:p>
            <a:pPr lvl="1">
              <a:spcBef>
                <a:spcPts val="0"/>
              </a:spcBef>
            </a:pPr>
            <a:r>
              <a:rPr lang="en-US" dirty="0"/>
              <a:t>Where would you sense? Drive?</a:t>
            </a:r>
          </a:p>
          <a:p>
            <a:pPr lvl="1">
              <a:spcBef>
                <a:spcPts val="0"/>
              </a:spcBef>
            </a:pPr>
            <a:r>
              <a:rPr lang="en-US" dirty="0"/>
              <a:t>How well do you think it would work when you exercise?</a:t>
            </a:r>
          </a:p>
        </p:txBody>
      </p:sp>
      <p:sp>
        <p:nvSpPr>
          <p:cNvPr id="4" name="Footer Placeholder 3">
            <a:extLst>
              <a:ext uri="{FF2B5EF4-FFF2-40B4-BE49-F238E27FC236}">
                <a16:creationId xmlns:a16="http://schemas.microsoft.com/office/drawing/2014/main" id="{4B8EA986-D2B4-FDDF-A31A-9E0CDFED76FC}"/>
              </a:ext>
            </a:extLst>
          </p:cNvPr>
          <p:cNvSpPr>
            <a:spLocks noGrp="1"/>
          </p:cNvSpPr>
          <p:nvPr>
            <p:ph type="ftr" sz="quarter" idx="11"/>
          </p:nvPr>
        </p:nvSpPr>
        <p:spPr/>
        <p:txBody>
          <a:bodyPr/>
          <a:lstStyle/>
          <a:p>
            <a:pPr>
              <a:defRPr/>
            </a:pPr>
            <a:r>
              <a:rPr lang="en-US"/>
              <a:t>EE 123 -- Bioelectricity</a:t>
            </a:r>
            <a:endParaRPr lang="en-US" dirty="0"/>
          </a:p>
        </p:txBody>
      </p:sp>
      <p:pic>
        <p:nvPicPr>
          <p:cNvPr id="6" name="Picture 5" descr="A diagram of a heart&#10;&#10;AI-generated content may be incorrect.">
            <a:extLst>
              <a:ext uri="{FF2B5EF4-FFF2-40B4-BE49-F238E27FC236}">
                <a16:creationId xmlns:a16="http://schemas.microsoft.com/office/drawing/2014/main" id="{4D1579D8-F886-629C-80C3-F42AFEA7DE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744" y="1219200"/>
            <a:ext cx="3791611" cy="4842183"/>
          </a:xfrm>
          <a:prstGeom prst="rect">
            <a:avLst/>
          </a:prstGeom>
        </p:spPr>
      </p:pic>
      <p:sp>
        <p:nvSpPr>
          <p:cNvPr id="5" name="Oval 4">
            <a:extLst>
              <a:ext uri="{FF2B5EF4-FFF2-40B4-BE49-F238E27FC236}">
                <a16:creationId xmlns:a16="http://schemas.microsoft.com/office/drawing/2014/main" id="{85A5C515-5A33-605B-9142-845DF87EEE49}"/>
              </a:ext>
            </a:extLst>
          </p:cNvPr>
          <p:cNvSpPr/>
          <p:nvPr/>
        </p:nvSpPr>
        <p:spPr>
          <a:xfrm>
            <a:off x="1417320" y="3398520"/>
            <a:ext cx="182880" cy="18288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DB9C145-0D7E-4703-617A-09AE6894A734}"/>
              </a:ext>
            </a:extLst>
          </p:cNvPr>
          <p:cNvSpPr/>
          <p:nvPr/>
        </p:nvSpPr>
        <p:spPr>
          <a:xfrm>
            <a:off x="2712720" y="5227320"/>
            <a:ext cx="182880" cy="182880"/>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26298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7161F-3D3E-4692-990E-356F2439F90B}"/>
              </a:ext>
            </a:extLst>
          </p:cNvPr>
          <p:cNvSpPr>
            <a:spLocks noGrp="1"/>
          </p:cNvSpPr>
          <p:nvPr>
            <p:ph type="title"/>
          </p:nvPr>
        </p:nvSpPr>
        <p:spPr/>
        <p:txBody>
          <a:bodyPr/>
          <a:lstStyle/>
          <a:p>
            <a:r>
              <a:rPr lang="en-US" dirty="0"/>
              <a:t>Electrical control of HR, BP</a:t>
            </a:r>
          </a:p>
        </p:txBody>
      </p:sp>
      <p:sp>
        <p:nvSpPr>
          <p:cNvPr id="3" name="Content Placeholder 2">
            <a:extLst>
              <a:ext uri="{FF2B5EF4-FFF2-40B4-BE49-F238E27FC236}">
                <a16:creationId xmlns:a16="http://schemas.microsoft.com/office/drawing/2014/main" id="{7A3A7742-0068-48B2-A0C8-06AACE845587}"/>
              </a:ext>
            </a:extLst>
          </p:cNvPr>
          <p:cNvSpPr>
            <a:spLocks noGrp="1"/>
          </p:cNvSpPr>
          <p:nvPr>
            <p:ph idx="1"/>
          </p:nvPr>
        </p:nvSpPr>
        <p:spPr>
          <a:xfrm>
            <a:off x="685800" y="1295400"/>
            <a:ext cx="7772400" cy="5105400"/>
          </a:xfrm>
        </p:spPr>
        <p:txBody>
          <a:bodyPr/>
          <a:lstStyle/>
          <a:p>
            <a:r>
              <a:rPr lang="en-US" sz="2400" i="1" dirty="0"/>
              <a:t>Sympathetic</a:t>
            </a:r>
            <a:r>
              <a:rPr lang="en-US" sz="2400" dirty="0"/>
              <a:t> nervous system increases heart rate:</a:t>
            </a:r>
          </a:p>
          <a:p>
            <a:pPr lvl="1">
              <a:spcBef>
                <a:spcPts val="0"/>
              </a:spcBef>
            </a:pPr>
            <a:r>
              <a:rPr lang="en-US" sz="2000" dirty="0"/>
              <a:t>releases norepinephrine, which helps to open HCN channels and thus speed up phase 4</a:t>
            </a:r>
          </a:p>
          <a:p>
            <a:pPr lvl="1">
              <a:spcBef>
                <a:spcPts val="0"/>
              </a:spcBef>
            </a:pPr>
            <a:r>
              <a:rPr lang="en-US" sz="2000" dirty="0"/>
              <a:t>it also makes the AP triggering voltage more negative</a:t>
            </a:r>
          </a:p>
          <a:p>
            <a:r>
              <a:rPr lang="en-US" sz="2400" i="1" dirty="0"/>
              <a:t>Parasympathetic</a:t>
            </a:r>
            <a:r>
              <a:rPr lang="en-US" sz="2400" dirty="0"/>
              <a:t> nervous system slows HR:</a:t>
            </a:r>
          </a:p>
          <a:p>
            <a:pPr lvl="1">
              <a:spcBef>
                <a:spcPts val="0"/>
              </a:spcBef>
            </a:pPr>
            <a:r>
              <a:rPr lang="en-US" sz="2000" dirty="0"/>
              <a:t>releases acetylcholine, which decreases [cAMP]</a:t>
            </a:r>
          </a:p>
          <a:p>
            <a:pPr lvl="1">
              <a:spcBef>
                <a:spcPts val="0"/>
              </a:spcBef>
            </a:pPr>
            <a:r>
              <a:rPr lang="en-US" sz="2000" dirty="0"/>
              <a:t>does the opposite of the above</a:t>
            </a:r>
          </a:p>
          <a:p>
            <a:r>
              <a:rPr lang="en-US" sz="2400" i="1" dirty="0"/>
              <a:t>Baroreceptors: </a:t>
            </a:r>
            <a:r>
              <a:rPr lang="en-US" sz="2400" dirty="0"/>
              <a:t>arterial stretch receptors</a:t>
            </a:r>
          </a:p>
          <a:p>
            <a:pPr lvl="1">
              <a:spcBef>
                <a:spcPts val="0"/>
              </a:spcBef>
            </a:pPr>
            <a:r>
              <a:rPr lang="en-US" sz="2000" dirty="0"/>
              <a:t>detect changes in arterial pressure and communicate this to the medulla oblongata in the brainstem</a:t>
            </a:r>
          </a:p>
          <a:p>
            <a:pPr lvl="1">
              <a:spcBef>
                <a:spcPts val="0"/>
              </a:spcBef>
            </a:pPr>
            <a:r>
              <a:rPr lang="en-US" sz="2000" dirty="0"/>
              <a:t>… which then controls heart rate as described above, as well as changing circulatory  muscle tone</a:t>
            </a:r>
          </a:p>
          <a:p>
            <a:pPr lvl="1">
              <a:spcBef>
                <a:spcPts val="0"/>
              </a:spcBef>
            </a:pPr>
            <a:r>
              <a:rPr lang="en-US" sz="2000" dirty="0"/>
              <a:t>End goal: feedback loop controlling blood pressure</a:t>
            </a:r>
          </a:p>
          <a:p>
            <a:pPr lvl="1">
              <a:spcBef>
                <a:spcPts val="0"/>
              </a:spcBef>
            </a:pPr>
            <a:r>
              <a:rPr lang="en-US" sz="2000" dirty="0"/>
              <a:t>Salt seems to affect it; nobody knows why</a:t>
            </a:r>
          </a:p>
          <a:p>
            <a:pPr lvl="1">
              <a:spcBef>
                <a:spcPts val="0"/>
              </a:spcBef>
            </a:pPr>
            <a:r>
              <a:rPr lang="en-US" sz="2000" dirty="0"/>
              <a:t>Your brain is the mysterious box controlling it all</a:t>
            </a:r>
          </a:p>
          <a:p>
            <a:pPr marL="457200" lvl="1" indent="0">
              <a:spcBef>
                <a:spcPts val="0"/>
              </a:spcBef>
              <a:buNone/>
            </a:pPr>
            <a:endParaRPr lang="en-US" sz="2000" dirty="0"/>
          </a:p>
        </p:txBody>
      </p:sp>
      <p:sp>
        <p:nvSpPr>
          <p:cNvPr id="4" name="Footer Placeholder 3">
            <a:extLst>
              <a:ext uri="{FF2B5EF4-FFF2-40B4-BE49-F238E27FC236}">
                <a16:creationId xmlns:a16="http://schemas.microsoft.com/office/drawing/2014/main" id="{E0C00EAF-C718-4403-821F-74E921692CE6}"/>
              </a:ext>
            </a:extLst>
          </p:cNvPr>
          <p:cNvSpPr>
            <a:spLocks noGrp="1"/>
          </p:cNvSpPr>
          <p:nvPr>
            <p:ph type="ftr" sz="quarter" idx="11"/>
          </p:nvPr>
        </p:nvSpPr>
        <p:spPr/>
        <p:txBody>
          <a:bodyPr/>
          <a:lstStyle/>
          <a:p>
            <a:pPr>
              <a:defRPr/>
            </a:pPr>
            <a:r>
              <a:rPr lang="en-US" dirty="0"/>
              <a:t>EE 123 -- Bioelectricity</a:t>
            </a:r>
          </a:p>
        </p:txBody>
      </p:sp>
    </p:spTree>
    <p:extLst>
      <p:ext uri="{BB962C8B-B14F-4D97-AF65-F5344CB8AC3E}">
        <p14:creationId xmlns:p14="http://schemas.microsoft.com/office/powerpoint/2010/main" val="210312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Effect transition="in" filter="fade">
                                      <p:cBhvr>
                                        <p:cTn id="29" dur="500"/>
                                        <p:tgtEl>
                                          <p:spTgt spid="3">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Effect transition="in" filter="fade">
                                      <p:cBhvr>
                                        <p:cTn id="35"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93D7E-3850-42B6-9B23-3067FFF37D25}"/>
              </a:ext>
            </a:extLst>
          </p:cNvPr>
          <p:cNvSpPr>
            <a:spLocks noGrp="1"/>
          </p:cNvSpPr>
          <p:nvPr>
            <p:ph type="title"/>
          </p:nvPr>
        </p:nvSpPr>
        <p:spPr/>
        <p:txBody>
          <a:bodyPr/>
          <a:lstStyle/>
          <a:p>
            <a:r>
              <a:rPr lang="en-US" dirty="0" err="1"/>
              <a:t>CVRx</a:t>
            </a:r>
            <a:endParaRPr lang="en-US" dirty="0"/>
          </a:p>
        </p:txBody>
      </p:sp>
      <p:sp>
        <p:nvSpPr>
          <p:cNvPr id="3" name="Content Placeholder 2">
            <a:extLst>
              <a:ext uri="{FF2B5EF4-FFF2-40B4-BE49-F238E27FC236}">
                <a16:creationId xmlns:a16="http://schemas.microsoft.com/office/drawing/2014/main" id="{971FA3EF-C5A8-4740-B264-BE8BB61F8B2D}"/>
              </a:ext>
            </a:extLst>
          </p:cNvPr>
          <p:cNvSpPr>
            <a:spLocks noGrp="1"/>
          </p:cNvSpPr>
          <p:nvPr>
            <p:ph idx="1"/>
          </p:nvPr>
        </p:nvSpPr>
        <p:spPr>
          <a:xfrm>
            <a:off x="685800" y="1447800"/>
            <a:ext cx="7772400" cy="4648200"/>
          </a:xfrm>
        </p:spPr>
        <p:txBody>
          <a:bodyPr/>
          <a:lstStyle/>
          <a:p>
            <a:r>
              <a:rPr lang="en-US" sz="2400" dirty="0" err="1"/>
              <a:t>Barostim</a:t>
            </a:r>
            <a:r>
              <a:rPr lang="en-US" sz="2400" dirty="0"/>
              <a:t>-NEO device</a:t>
            </a:r>
          </a:p>
          <a:p>
            <a:pPr lvl="1">
              <a:spcBef>
                <a:spcPts val="0"/>
              </a:spcBef>
            </a:pPr>
            <a:r>
              <a:rPr lang="en-US" sz="2000" dirty="0"/>
              <a:t>one in three high-blood-pressure patients is resistant to drugs</a:t>
            </a:r>
          </a:p>
          <a:p>
            <a:pPr lvl="1">
              <a:spcBef>
                <a:spcPts val="0"/>
              </a:spcBef>
            </a:pPr>
            <a:r>
              <a:rPr lang="en-US" sz="2000" dirty="0"/>
              <a:t>they are the target audience</a:t>
            </a:r>
          </a:p>
          <a:p>
            <a:r>
              <a:rPr lang="en-US" sz="2400" dirty="0"/>
              <a:t>Mechanism:</a:t>
            </a:r>
          </a:p>
          <a:p>
            <a:pPr lvl="1">
              <a:spcBef>
                <a:spcPts val="0"/>
              </a:spcBef>
            </a:pPr>
            <a:r>
              <a:rPr lang="en-US" sz="2000" dirty="0"/>
              <a:t>activate baroreflex; reduces sympathetic activity and increases parasympathetic activity</a:t>
            </a:r>
          </a:p>
          <a:p>
            <a:r>
              <a:rPr lang="en-US" sz="2400" dirty="0"/>
              <a:t>Results:</a:t>
            </a:r>
          </a:p>
          <a:p>
            <a:pPr lvl="1">
              <a:spcBef>
                <a:spcPts val="0"/>
              </a:spcBef>
            </a:pPr>
            <a:r>
              <a:rPr lang="en-US" sz="2000" dirty="0">
                <a:hlinkClick r:id="rId2"/>
              </a:rPr>
              <a:t>http://www.barostimtherapy.com/en-gb/node/86</a:t>
            </a:r>
            <a:endParaRPr lang="en-US" sz="2000" dirty="0"/>
          </a:p>
          <a:p>
            <a:pPr lvl="1">
              <a:spcBef>
                <a:spcPts val="0"/>
              </a:spcBef>
            </a:pPr>
            <a:r>
              <a:rPr lang="en-US" sz="2000" dirty="0"/>
              <a:t>FDA approval Aug 2019 (implantable device)</a:t>
            </a:r>
          </a:p>
          <a:p>
            <a:pPr lvl="1">
              <a:spcBef>
                <a:spcPts val="0"/>
              </a:spcBef>
            </a:pPr>
            <a:r>
              <a:rPr lang="en-US" sz="2000" dirty="0"/>
              <a:t>Medicare/Medicaid approval 2020</a:t>
            </a:r>
          </a:p>
          <a:p>
            <a:r>
              <a:rPr lang="en-US" sz="2400" dirty="0"/>
              <a:t>Also used for heart-failure patients</a:t>
            </a:r>
          </a:p>
          <a:p>
            <a:pPr lvl="1">
              <a:spcBef>
                <a:spcPts val="0"/>
              </a:spcBef>
            </a:pPr>
            <a:r>
              <a:rPr lang="en-US" sz="2000" dirty="0"/>
              <a:t>Often, too much sympathetic (too little para) activity causes pathological myocardial remodeling that worsens the condition</a:t>
            </a:r>
          </a:p>
        </p:txBody>
      </p:sp>
      <p:sp>
        <p:nvSpPr>
          <p:cNvPr id="4" name="Footer Placeholder 3">
            <a:extLst>
              <a:ext uri="{FF2B5EF4-FFF2-40B4-BE49-F238E27FC236}">
                <a16:creationId xmlns:a16="http://schemas.microsoft.com/office/drawing/2014/main" id="{0130C130-898A-411F-A864-E830BD035900}"/>
              </a:ext>
            </a:extLst>
          </p:cNvPr>
          <p:cNvSpPr>
            <a:spLocks noGrp="1"/>
          </p:cNvSpPr>
          <p:nvPr>
            <p:ph type="ftr" sz="quarter" idx="11"/>
          </p:nvPr>
        </p:nvSpPr>
        <p:spPr/>
        <p:txBody>
          <a:bodyPr/>
          <a:lstStyle/>
          <a:p>
            <a:pPr>
              <a:defRPr/>
            </a:pPr>
            <a:r>
              <a:rPr lang="en-US" dirty="0"/>
              <a:t>EE 123 -- Bioelectricity</a:t>
            </a:r>
          </a:p>
        </p:txBody>
      </p:sp>
    </p:spTree>
    <p:extLst>
      <p:ext uri="{BB962C8B-B14F-4D97-AF65-F5344CB8AC3E}">
        <p14:creationId xmlns:p14="http://schemas.microsoft.com/office/powerpoint/2010/main" val="37064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Effect transition="in" filter="fade">
                                      <p:cBhvr>
                                        <p:cTn id="29" dur="500"/>
                                        <p:tgtEl>
                                          <p:spTgt spid="3">
                                            <p:txEl>
                                              <p:pRg st="9" end="9"/>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20CB4-A1CD-45BD-99B4-0318DC41F844}"/>
              </a:ext>
            </a:extLst>
          </p:cNvPr>
          <p:cNvSpPr>
            <a:spLocks noGrp="1"/>
          </p:cNvSpPr>
          <p:nvPr>
            <p:ph type="title"/>
          </p:nvPr>
        </p:nvSpPr>
        <p:spPr/>
        <p:txBody>
          <a:bodyPr/>
          <a:lstStyle/>
          <a:p>
            <a:r>
              <a:rPr lang="en-US" dirty="0"/>
              <a:t>Mini quiz</a:t>
            </a:r>
          </a:p>
        </p:txBody>
      </p:sp>
      <p:sp>
        <p:nvSpPr>
          <p:cNvPr id="3" name="Content Placeholder 2">
            <a:extLst>
              <a:ext uri="{FF2B5EF4-FFF2-40B4-BE49-F238E27FC236}">
                <a16:creationId xmlns:a16="http://schemas.microsoft.com/office/drawing/2014/main" id="{C4471B6D-C857-4982-AE2F-54B5F3EF3B85}"/>
              </a:ext>
            </a:extLst>
          </p:cNvPr>
          <p:cNvSpPr>
            <a:spLocks noGrp="1"/>
          </p:cNvSpPr>
          <p:nvPr>
            <p:ph idx="1"/>
          </p:nvPr>
        </p:nvSpPr>
        <p:spPr/>
        <p:txBody>
          <a:bodyPr/>
          <a:lstStyle/>
          <a:p>
            <a:pPr marL="742950" lvl="1" indent="-285750" rtl="0" fontAlgn="base">
              <a:spcBef>
                <a:spcPts val="0"/>
              </a:spcBef>
              <a:spcAft>
                <a:spcPts val="0"/>
              </a:spcAft>
              <a:buFont typeface="Arial" panose="020B0604020202020204" pitchFamily="34" charset="0"/>
              <a:buChar char="•"/>
            </a:pPr>
            <a:r>
              <a:rPr lang="en-US" sz="2800" b="0" i="0" u="none" strike="noStrike" dirty="0">
                <a:solidFill>
                  <a:srgbClr val="000000"/>
                </a:solidFill>
                <a:effectLst/>
              </a:rPr>
              <a:t>Why is QRS tall and skinny?</a:t>
            </a:r>
          </a:p>
          <a:p>
            <a:pPr marL="742950" lvl="1" indent="-285750" rtl="0" fontAlgn="base">
              <a:spcBef>
                <a:spcPts val="600"/>
              </a:spcBef>
              <a:spcAft>
                <a:spcPts val="0"/>
              </a:spcAft>
              <a:buFont typeface="Arial" panose="020B0604020202020204" pitchFamily="34" charset="0"/>
              <a:buChar char="•"/>
            </a:pPr>
            <a:r>
              <a:rPr lang="en-US" sz="2800" b="0" i="0" u="none" strike="noStrike" dirty="0">
                <a:solidFill>
                  <a:srgbClr val="000000"/>
                </a:solidFill>
                <a:effectLst/>
              </a:rPr>
              <a:t>What is </a:t>
            </a:r>
            <a:r>
              <a:rPr lang="en-US" sz="2800" b="0" i="0" u="none" strike="noStrike" dirty="0" err="1">
                <a:solidFill>
                  <a:srgbClr val="000000"/>
                </a:solidFill>
                <a:effectLst/>
              </a:rPr>
              <a:t>AFib</a:t>
            </a:r>
            <a:r>
              <a:rPr lang="en-US" sz="2800" b="0" i="0" u="none" strike="noStrike" dirty="0">
                <a:solidFill>
                  <a:srgbClr val="000000"/>
                </a:solidFill>
                <a:effectLst/>
              </a:rPr>
              <a:t>?</a:t>
            </a:r>
          </a:p>
          <a:p>
            <a:pPr marL="742950" lvl="1" indent="-285750" rtl="0" fontAlgn="base">
              <a:spcBef>
                <a:spcPts val="600"/>
              </a:spcBef>
              <a:spcAft>
                <a:spcPts val="0"/>
              </a:spcAft>
              <a:buFont typeface="Arial" panose="020B0604020202020204" pitchFamily="34" charset="0"/>
              <a:buChar char="•"/>
            </a:pPr>
            <a:r>
              <a:rPr lang="en-US" sz="2800" b="0" i="0" u="none" strike="noStrike" dirty="0">
                <a:solidFill>
                  <a:srgbClr val="000000"/>
                </a:solidFill>
                <a:effectLst/>
              </a:rPr>
              <a:t>Describe the redundancy system</a:t>
            </a:r>
          </a:p>
          <a:p>
            <a:endParaRPr lang="en-US" dirty="0"/>
          </a:p>
        </p:txBody>
      </p:sp>
      <p:sp>
        <p:nvSpPr>
          <p:cNvPr id="4" name="Footer Placeholder 3">
            <a:extLst>
              <a:ext uri="{FF2B5EF4-FFF2-40B4-BE49-F238E27FC236}">
                <a16:creationId xmlns:a16="http://schemas.microsoft.com/office/drawing/2014/main" id="{C5F9780E-8B0B-48BD-B15D-B580DC295FCC}"/>
              </a:ext>
            </a:extLst>
          </p:cNvPr>
          <p:cNvSpPr>
            <a:spLocks noGrp="1"/>
          </p:cNvSpPr>
          <p:nvPr>
            <p:ph type="ftr" sz="quarter" idx="11"/>
          </p:nvPr>
        </p:nvSpPr>
        <p:spPr/>
        <p:txBody>
          <a:bodyPr/>
          <a:lstStyle/>
          <a:p>
            <a:pPr>
              <a:defRPr/>
            </a:pPr>
            <a:r>
              <a:rPr lang="en-US"/>
              <a:t>EE 123 -- Bioelectricity</a:t>
            </a:r>
            <a:endParaRPr lang="en-US" dirty="0"/>
          </a:p>
        </p:txBody>
      </p:sp>
    </p:spTree>
    <p:extLst>
      <p:ext uri="{BB962C8B-B14F-4D97-AF65-F5344CB8AC3E}">
        <p14:creationId xmlns:p14="http://schemas.microsoft.com/office/powerpoint/2010/main" val="41162074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2C8DA-3CD8-4D1A-873D-1ABF400AFD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553627-9119-401A-B676-87FC16AE8331}"/>
              </a:ext>
            </a:extLst>
          </p:cNvPr>
          <p:cNvSpPr>
            <a:spLocks noGrp="1"/>
          </p:cNvSpPr>
          <p:nvPr>
            <p:ph idx="1"/>
          </p:nvPr>
        </p:nvSpPr>
        <p:spPr>
          <a:xfrm>
            <a:off x="6019800" y="5105400"/>
            <a:ext cx="2438400" cy="990600"/>
          </a:xfrm>
        </p:spPr>
        <p:txBody>
          <a:bodyPr/>
          <a:lstStyle/>
          <a:p>
            <a:r>
              <a:rPr lang="en-US" dirty="0"/>
              <a:t>a</a:t>
            </a:r>
          </a:p>
        </p:txBody>
      </p:sp>
      <p:sp>
        <p:nvSpPr>
          <p:cNvPr id="4" name="Footer Placeholder 3">
            <a:extLst>
              <a:ext uri="{FF2B5EF4-FFF2-40B4-BE49-F238E27FC236}">
                <a16:creationId xmlns:a16="http://schemas.microsoft.com/office/drawing/2014/main" id="{8EE5D9BA-EFEA-4891-AD9A-ADE120BC0945}"/>
              </a:ext>
            </a:extLst>
          </p:cNvPr>
          <p:cNvSpPr>
            <a:spLocks noGrp="1"/>
          </p:cNvSpPr>
          <p:nvPr>
            <p:ph type="ftr" sz="quarter" idx="11"/>
          </p:nvPr>
        </p:nvSpPr>
        <p:spPr/>
        <p:txBody>
          <a:bodyPr/>
          <a:lstStyle/>
          <a:p>
            <a:pPr>
              <a:defRPr/>
            </a:pPr>
            <a:r>
              <a:rPr lang="en-US"/>
              <a:t>EE 123 -- Bioelectricity</a:t>
            </a:r>
            <a:endParaRPr lang="en-US" dirty="0"/>
          </a:p>
        </p:txBody>
      </p:sp>
      <p:pic>
        <p:nvPicPr>
          <p:cNvPr id="6" name="Picture 5" descr="A close up of a map&#10;&#10;Description automatically generated">
            <a:extLst>
              <a:ext uri="{FF2B5EF4-FFF2-40B4-BE49-F238E27FC236}">
                <a16:creationId xmlns:a16="http://schemas.microsoft.com/office/drawing/2014/main" id="{8D1D5408-82FC-411E-B11A-34CBE2B95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6350" y="476250"/>
            <a:ext cx="5372100" cy="5772150"/>
          </a:xfrm>
          <a:prstGeom prst="rect">
            <a:avLst/>
          </a:prstGeom>
        </p:spPr>
      </p:pic>
      <p:sp>
        <p:nvSpPr>
          <p:cNvPr id="9" name="Freeform: Shape 8">
            <a:extLst>
              <a:ext uri="{FF2B5EF4-FFF2-40B4-BE49-F238E27FC236}">
                <a16:creationId xmlns:a16="http://schemas.microsoft.com/office/drawing/2014/main" id="{8C1ECF60-A411-4C8A-9DF1-A9C8F0FCDB44}"/>
              </a:ext>
            </a:extLst>
          </p:cNvPr>
          <p:cNvSpPr/>
          <p:nvPr/>
        </p:nvSpPr>
        <p:spPr>
          <a:xfrm>
            <a:off x="304800" y="1328719"/>
            <a:ext cx="1701800" cy="697556"/>
          </a:xfrm>
          <a:custGeom>
            <a:avLst/>
            <a:gdLst>
              <a:gd name="connsiteX0" fmla="*/ 0 w 1701800"/>
              <a:gd name="connsiteY0" fmla="*/ 618614 h 697556"/>
              <a:gd name="connsiteX1" fmla="*/ 440267 w 1701800"/>
              <a:gd name="connsiteY1" fmla="*/ 567814 h 697556"/>
              <a:gd name="connsiteX2" fmla="*/ 541867 w 1701800"/>
              <a:gd name="connsiteY2" fmla="*/ 542414 h 697556"/>
              <a:gd name="connsiteX3" fmla="*/ 533400 w 1701800"/>
              <a:gd name="connsiteY3" fmla="*/ 432348 h 697556"/>
              <a:gd name="connsiteX4" fmla="*/ 584200 w 1701800"/>
              <a:gd name="connsiteY4" fmla="*/ 237614 h 697556"/>
              <a:gd name="connsiteX5" fmla="*/ 626533 w 1701800"/>
              <a:gd name="connsiteY5" fmla="*/ 51348 h 697556"/>
              <a:gd name="connsiteX6" fmla="*/ 677333 w 1701800"/>
              <a:gd name="connsiteY6" fmla="*/ 17481 h 697556"/>
              <a:gd name="connsiteX7" fmla="*/ 728133 w 1701800"/>
              <a:gd name="connsiteY7" fmla="*/ 9014 h 697556"/>
              <a:gd name="connsiteX8" fmla="*/ 787400 w 1701800"/>
              <a:gd name="connsiteY8" fmla="*/ 59814 h 697556"/>
              <a:gd name="connsiteX9" fmla="*/ 1168400 w 1701800"/>
              <a:gd name="connsiteY9" fmla="*/ 601681 h 697556"/>
              <a:gd name="connsiteX10" fmla="*/ 1253067 w 1701800"/>
              <a:gd name="connsiteY10" fmla="*/ 686348 h 697556"/>
              <a:gd name="connsiteX11" fmla="*/ 1354667 w 1701800"/>
              <a:gd name="connsiteY11" fmla="*/ 694814 h 697556"/>
              <a:gd name="connsiteX12" fmla="*/ 1413933 w 1701800"/>
              <a:gd name="connsiteY12" fmla="*/ 669414 h 697556"/>
              <a:gd name="connsiteX13" fmla="*/ 1634067 w 1701800"/>
              <a:gd name="connsiteY13" fmla="*/ 618614 h 697556"/>
              <a:gd name="connsiteX14" fmla="*/ 1701800 w 1701800"/>
              <a:gd name="connsiteY14" fmla="*/ 618614 h 697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1800" h="697556">
                <a:moveTo>
                  <a:pt x="0" y="618614"/>
                </a:moveTo>
                <a:lnTo>
                  <a:pt x="440267" y="567814"/>
                </a:lnTo>
                <a:cubicBezTo>
                  <a:pt x="530578" y="555114"/>
                  <a:pt x="526345" y="564992"/>
                  <a:pt x="541867" y="542414"/>
                </a:cubicBezTo>
                <a:cubicBezTo>
                  <a:pt x="557389" y="519836"/>
                  <a:pt x="526345" y="483148"/>
                  <a:pt x="533400" y="432348"/>
                </a:cubicBezTo>
                <a:cubicBezTo>
                  <a:pt x="540456" y="381548"/>
                  <a:pt x="568678" y="301114"/>
                  <a:pt x="584200" y="237614"/>
                </a:cubicBezTo>
                <a:cubicBezTo>
                  <a:pt x="599722" y="174114"/>
                  <a:pt x="611011" y="88037"/>
                  <a:pt x="626533" y="51348"/>
                </a:cubicBezTo>
                <a:cubicBezTo>
                  <a:pt x="642055" y="14659"/>
                  <a:pt x="660400" y="24537"/>
                  <a:pt x="677333" y="17481"/>
                </a:cubicBezTo>
                <a:cubicBezTo>
                  <a:pt x="694266" y="10425"/>
                  <a:pt x="709789" y="1958"/>
                  <a:pt x="728133" y="9014"/>
                </a:cubicBezTo>
                <a:cubicBezTo>
                  <a:pt x="746478" y="16069"/>
                  <a:pt x="714022" y="-38964"/>
                  <a:pt x="787400" y="59814"/>
                </a:cubicBezTo>
                <a:cubicBezTo>
                  <a:pt x="860778" y="158592"/>
                  <a:pt x="1090789" y="497259"/>
                  <a:pt x="1168400" y="601681"/>
                </a:cubicBezTo>
                <a:cubicBezTo>
                  <a:pt x="1246011" y="706103"/>
                  <a:pt x="1222023" y="670826"/>
                  <a:pt x="1253067" y="686348"/>
                </a:cubicBezTo>
                <a:cubicBezTo>
                  <a:pt x="1284111" y="701870"/>
                  <a:pt x="1327856" y="697636"/>
                  <a:pt x="1354667" y="694814"/>
                </a:cubicBezTo>
                <a:cubicBezTo>
                  <a:pt x="1381478" y="691992"/>
                  <a:pt x="1367366" y="682114"/>
                  <a:pt x="1413933" y="669414"/>
                </a:cubicBezTo>
                <a:cubicBezTo>
                  <a:pt x="1460500" y="656714"/>
                  <a:pt x="1586089" y="627081"/>
                  <a:pt x="1634067" y="618614"/>
                </a:cubicBezTo>
                <a:cubicBezTo>
                  <a:pt x="1682045" y="610147"/>
                  <a:pt x="1691922" y="614380"/>
                  <a:pt x="1701800" y="618614"/>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B6DE598-E387-4EE5-9063-F14731779129}"/>
              </a:ext>
            </a:extLst>
          </p:cNvPr>
          <p:cNvSpPr/>
          <p:nvPr/>
        </p:nvSpPr>
        <p:spPr>
          <a:xfrm>
            <a:off x="533400" y="2857224"/>
            <a:ext cx="1364172" cy="1147509"/>
          </a:xfrm>
          <a:custGeom>
            <a:avLst/>
            <a:gdLst>
              <a:gd name="connsiteX0" fmla="*/ 17972 w 1364172"/>
              <a:gd name="connsiteY0" fmla="*/ 1147509 h 1147509"/>
              <a:gd name="connsiteX1" fmla="*/ 9506 w 1364172"/>
              <a:gd name="connsiteY1" fmla="*/ 123043 h 1147509"/>
              <a:gd name="connsiteX2" fmla="*/ 1039 w 1364172"/>
              <a:gd name="connsiteY2" fmla="*/ 12976 h 1147509"/>
              <a:gd name="connsiteX3" fmla="*/ 34906 w 1364172"/>
              <a:gd name="connsiteY3" fmla="*/ 72243 h 1147509"/>
              <a:gd name="connsiteX4" fmla="*/ 119572 w 1364172"/>
              <a:gd name="connsiteY4" fmla="*/ 139976 h 1147509"/>
              <a:gd name="connsiteX5" fmla="*/ 322772 w 1364172"/>
              <a:gd name="connsiteY5" fmla="*/ 182309 h 1147509"/>
              <a:gd name="connsiteX6" fmla="*/ 441306 w 1364172"/>
              <a:gd name="connsiteY6" fmla="*/ 233109 h 1147509"/>
              <a:gd name="connsiteX7" fmla="*/ 576772 w 1364172"/>
              <a:gd name="connsiteY7" fmla="*/ 317776 h 1147509"/>
              <a:gd name="connsiteX8" fmla="*/ 720706 w 1364172"/>
              <a:gd name="connsiteY8" fmla="*/ 512509 h 1147509"/>
              <a:gd name="connsiteX9" fmla="*/ 796906 w 1364172"/>
              <a:gd name="connsiteY9" fmla="*/ 774976 h 1147509"/>
              <a:gd name="connsiteX10" fmla="*/ 847706 w 1364172"/>
              <a:gd name="connsiteY10" fmla="*/ 961243 h 1147509"/>
              <a:gd name="connsiteX11" fmla="*/ 898506 w 1364172"/>
              <a:gd name="connsiteY11" fmla="*/ 1071309 h 1147509"/>
              <a:gd name="connsiteX12" fmla="*/ 949306 w 1364172"/>
              <a:gd name="connsiteY12" fmla="*/ 1130576 h 1147509"/>
              <a:gd name="connsiteX13" fmla="*/ 983172 w 1364172"/>
              <a:gd name="connsiteY13" fmla="*/ 1130576 h 1147509"/>
              <a:gd name="connsiteX14" fmla="*/ 1186372 w 1364172"/>
              <a:gd name="connsiteY14" fmla="*/ 1122109 h 1147509"/>
              <a:gd name="connsiteX15" fmla="*/ 1364172 w 1364172"/>
              <a:gd name="connsiteY15" fmla="*/ 1122109 h 114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64172" h="1147509">
                <a:moveTo>
                  <a:pt x="17972" y="1147509"/>
                </a:moveTo>
                <a:cubicBezTo>
                  <a:pt x="15150" y="729820"/>
                  <a:pt x="12328" y="312132"/>
                  <a:pt x="9506" y="123043"/>
                </a:cubicBezTo>
                <a:cubicBezTo>
                  <a:pt x="6684" y="-66046"/>
                  <a:pt x="-3194" y="21443"/>
                  <a:pt x="1039" y="12976"/>
                </a:cubicBezTo>
                <a:cubicBezTo>
                  <a:pt x="5272" y="4509"/>
                  <a:pt x="15151" y="51076"/>
                  <a:pt x="34906" y="72243"/>
                </a:cubicBezTo>
                <a:cubicBezTo>
                  <a:pt x="54661" y="93410"/>
                  <a:pt x="71594" y="121632"/>
                  <a:pt x="119572" y="139976"/>
                </a:cubicBezTo>
                <a:cubicBezTo>
                  <a:pt x="167550" y="158320"/>
                  <a:pt x="269150" y="166787"/>
                  <a:pt x="322772" y="182309"/>
                </a:cubicBezTo>
                <a:cubicBezTo>
                  <a:pt x="376394" y="197831"/>
                  <a:pt x="398973" y="210531"/>
                  <a:pt x="441306" y="233109"/>
                </a:cubicBezTo>
                <a:cubicBezTo>
                  <a:pt x="483639" y="255687"/>
                  <a:pt x="530205" y="271209"/>
                  <a:pt x="576772" y="317776"/>
                </a:cubicBezTo>
                <a:cubicBezTo>
                  <a:pt x="623339" y="364343"/>
                  <a:pt x="684017" y="436309"/>
                  <a:pt x="720706" y="512509"/>
                </a:cubicBezTo>
                <a:cubicBezTo>
                  <a:pt x="757395" y="588709"/>
                  <a:pt x="775739" y="700187"/>
                  <a:pt x="796906" y="774976"/>
                </a:cubicBezTo>
                <a:cubicBezTo>
                  <a:pt x="818073" y="849765"/>
                  <a:pt x="830773" y="911854"/>
                  <a:pt x="847706" y="961243"/>
                </a:cubicBezTo>
                <a:cubicBezTo>
                  <a:pt x="864639" y="1010632"/>
                  <a:pt x="881573" y="1043087"/>
                  <a:pt x="898506" y="1071309"/>
                </a:cubicBezTo>
                <a:cubicBezTo>
                  <a:pt x="915439" y="1099531"/>
                  <a:pt x="949306" y="1130576"/>
                  <a:pt x="949306" y="1130576"/>
                </a:cubicBezTo>
                <a:cubicBezTo>
                  <a:pt x="963417" y="1140454"/>
                  <a:pt x="983172" y="1130576"/>
                  <a:pt x="983172" y="1130576"/>
                </a:cubicBezTo>
                <a:lnTo>
                  <a:pt x="1186372" y="1122109"/>
                </a:lnTo>
                <a:cubicBezTo>
                  <a:pt x="1249872" y="1120698"/>
                  <a:pt x="1307022" y="1121403"/>
                  <a:pt x="1364172" y="1122109"/>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253F4C05-9015-4CB3-AE2D-43064FFE37FA}"/>
              </a:ext>
            </a:extLst>
          </p:cNvPr>
          <p:cNvSpPr/>
          <p:nvPr/>
        </p:nvSpPr>
        <p:spPr>
          <a:xfrm>
            <a:off x="702733" y="3830397"/>
            <a:ext cx="1100667" cy="1283470"/>
          </a:xfrm>
          <a:custGeom>
            <a:avLst/>
            <a:gdLst>
              <a:gd name="connsiteX0" fmla="*/ 0 w 1100667"/>
              <a:gd name="connsiteY0" fmla="*/ 1156470 h 1283470"/>
              <a:gd name="connsiteX1" fmla="*/ 25400 w 1100667"/>
              <a:gd name="connsiteY1" fmla="*/ 123536 h 1283470"/>
              <a:gd name="connsiteX2" fmla="*/ 16934 w 1100667"/>
              <a:gd name="connsiteY2" fmla="*/ 13470 h 1283470"/>
              <a:gd name="connsiteX3" fmla="*/ 33867 w 1100667"/>
              <a:gd name="connsiteY3" fmla="*/ 72736 h 1283470"/>
              <a:gd name="connsiteX4" fmla="*/ 33867 w 1100667"/>
              <a:gd name="connsiteY4" fmla="*/ 123536 h 1283470"/>
              <a:gd name="connsiteX5" fmla="*/ 177800 w 1100667"/>
              <a:gd name="connsiteY5" fmla="*/ 174336 h 1283470"/>
              <a:gd name="connsiteX6" fmla="*/ 321734 w 1100667"/>
              <a:gd name="connsiteY6" fmla="*/ 208203 h 1283470"/>
              <a:gd name="connsiteX7" fmla="*/ 431800 w 1100667"/>
              <a:gd name="connsiteY7" fmla="*/ 284403 h 1283470"/>
              <a:gd name="connsiteX8" fmla="*/ 558800 w 1100667"/>
              <a:gd name="connsiteY8" fmla="*/ 309803 h 1283470"/>
              <a:gd name="connsiteX9" fmla="*/ 702734 w 1100667"/>
              <a:gd name="connsiteY9" fmla="*/ 504536 h 1283470"/>
              <a:gd name="connsiteX10" fmla="*/ 762000 w 1100667"/>
              <a:gd name="connsiteY10" fmla="*/ 640003 h 1283470"/>
              <a:gd name="connsiteX11" fmla="*/ 804334 w 1100667"/>
              <a:gd name="connsiteY11" fmla="*/ 868603 h 1283470"/>
              <a:gd name="connsiteX12" fmla="*/ 872067 w 1100667"/>
              <a:gd name="connsiteY12" fmla="*/ 1029470 h 1283470"/>
              <a:gd name="connsiteX13" fmla="*/ 922867 w 1100667"/>
              <a:gd name="connsiteY13" fmla="*/ 1122603 h 1283470"/>
              <a:gd name="connsiteX14" fmla="*/ 1100667 w 1100667"/>
              <a:gd name="connsiteY14" fmla="*/ 1283470 h 128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667" h="1283470">
                <a:moveTo>
                  <a:pt x="0" y="1156470"/>
                </a:moveTo>
                <a:cubicBezTo>
                  <a:pt x="11289" y="735253"/>
                  <a:pt x="22578" y="314036"/>
                  <a:pt x="25400" y="123536"/>
                </a:cubicBezTo>
                <a:cubicBezTo>
                  <a:pt x="28222" y="-66964"/>
                  <a:pt x="15523" y="21937"/>
                  <a:pt x="16934" y="13470"/>
                </a:cubicBezTo>
                <a:cubicBezTo>
                  <a:pt x="18345" y="5003"/>
                  <a:pt x="31045" y="54392"/>
                  <a:pt x="33867" y="72736"/>
                </a:cubicBezTo>
                <a:cubicBezTo>
                  <a:pt x="36689" y="91080"/>
                  <a:pt x="9878" y="106603"/>
                  <a:pt x="33867" y="123536"/>
                </a:cubicBezTo>
                <a:cubicBezTo>
                  <a:pt x="57856" y="140469"/>
                  <a:pt x="129822" y="160225"/>
                  <a:pt x="177800" y="174336"/>
                </a:cubicBezTo>
                <a:cubicBezTo>
                  <a:pt x="225778" y="188447"/>
                  <a:pt x="279401" y="189859"/>
                  <a:pt x="321734" y="208203"/>
                </a:cubicBezTo>
                <a:cubicBezTo>
                  <a:pt x="364067" y="226547"/>
                  <a:pt x="392289" y="267470"/>
                  <a:pt x="431800" y="284403"/>
                </a:cubicBezTo>
                <a:cubicBezTo>
                  <a:pt x="471311" y="301336"/>
                  <a:pt x="513644" y="273114"/>
                  <a:pt x="558800" y="309803"/>
                </a:cubicBezTo>
                <a:cubicBezTo>
                  <a:pt x="603956" y="346492"/>
                  <a:pt x="668867" y="449503"/>
                  <a:pt x="702734" y="504536"/>
                </a:cubicBezTo>
                <a:cubicBezTo>
                  <a:pt x="736601" y="559569"/>
                  <a:pt x="745067" y="579325"/>
                  <a:pt x="762000" y="640003"/>
                </a:cubicBezTo>
                <a:cubicBezTo>
                  <a:pt x="778933" y="700681"/>
                  <a:pt x="785990" y="803692"/>
                  <a:pt x="804334" y="868603"/>
                </a:cubicBezTo>
                <a:cubicBezTo>
                  <a:pt x="822679" y="933514"/>
                  <a:pt x="852312" y="987137"/>
                  <a:pt x="872067" y="1029470"/>
                </a:cubicBezTo>
                <a:cubicBezTo>
                  <a:pt x="891823" y="1071803"/>
                  <a:pt x="884767" y="1080270"/>
                  <a:pt x="922867" y="1122603"/>
                </a:cubicBezTo>
                <a:cubicBezTo>
                  <a:pt x="960967" y="1164936"/>
                  <a:pt x="1030817" y="1224203"/>
                  <a:pt x="1100667" y="1283470"/>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0676730"/>
      </p:ext>
    </p:extLst>
  </p:cSld>
  <p:clrMapOvr>
    <a:masterClrMapping/>
  </p:clrMapOvr>
</p:sld>
</file>

<file path=ppt/theme/theme1.xml><?xml version="1.0" encoding="utf-8"?>
<a:theme xmlns:a="http://schemas.openxmlformats.org/drawingml/2006/main" name="Default Design">
  <a:themeElements>
    <a:clrScheme name="Custom 4">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7030A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28575">
          <a:solidFill>
            <a:srgbClr val="FFFF00"/>
          </a:solidFill>
          <a:headEnd type="none" w="med" len="med"/>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54267</TotalTime>
  <Words>6148</Words>
  <Application>Microsoft Office PowerPoint</Application>
  <PresentationFormat>On-screen Show (4:3)</PresentationFormat>
  <Paragraphs>902</Paragraphs>
  <Slides>82</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82</vt:i4>
      </vt:variant>
    </vt:vector>
  </HeadingPairs>
  <TitlesOfParts>
    <vt:vector size="87" baseType="lpstr">
      <vt:lpstr>Arial</vt:lpstr>
      <vt:lpstr>Symbol</vt:lpstr>
      <vt:lpstr>Times New Roman</vt:lpstr>
      <vt:lpstr>Wingdings</vt:lpstr>
      <vt:lpstr>Default Design</vt:lpstr>
      <vt:lpstr>EE 123 Bioelectricity</vt:lpstr>
      <vt:lpstr>Big picture of the course</vt:lpstr>
      <vt:lpstr>The heart in the news</vt:lpstr>
      <vt:lpstr>Table of contents</vt:lpstr>
      <vt:lpstr>Deaths/year in U.S.</vt:lpstr>
      <vt:lpstr>PowerPoint Presentation</vt:lpstr>
      <vt:lpstr>A miracle of engineering</vt:lpstr>
      <vt:lpstr>PowerPoint Presentation</vt:lpstr>
      <vt:lpstr>Table of contents – this unit</vt:lpstr>
      <vt:lpstr>Plumbing – the big picture</vt:lpstr>
      <vt:lpstr>What does electricity do?</vt:lpstr>
      <vt:lpstr>The pumps in operation</vt:lpstr>
      <vt:lpstr>Atrial conduction</vt:lpstr>
      <vt:lpstr>Conduction on the highways</vt:lpstr>
      <vt:lpstr>Conduction on the highways</vt:lpstr>
      <vt:lpstr>Building an oscillator</vt:lpstr>
      <vt:lpstr>Gap junctions</vt:lpstr>
      <vt:lpstr>AP propagation</vt:lpstr>
      <vt:lpstr>How many cells in the SA node?</vt:lpstr>
      <vt:lpstr>Entrainment</vt:lpstr>
      <vt:lpstr>Different cardiac APs</vt:lpstr>
      <vt:lpstr>Mini-quiz</vt:lpstr>
      <vt:lpstr>Table of contents</vt:lpstr>
      <vt:lpstr>What is an ECG?</vt:lpstr>
      <vt:lpstr>Vector math review</vt:lpstr>
      <vt:lpstr>Atrial conduction</vt:lpstr>
      <vt:lpstr>P-wave vectors</vt:lpstr>
      <vt:lpstr>Vectors</vt:lpstr>
      <vt:lpstr>Atrial conduction</vt:lpstr>
      <vt:lpstr>Vectors</vt:lpstr>
      <vt:lpstr>Vectors</vt:lpstr>
      <vt:lpstr>Vectors</vt:lpstr>
      <vt:lpstr>QRS complex</vt:lpstr>
      <vt:lpstr>Vectors 1, 2, 3</vt:lpstr>
      <vt:lpstr>T wave</vt:lpstr>
      <vt:lpstr>Three basic leads</vt:lpstr>
      <vt:lpstr>Three basic leads</vt:lpstr>
      <vt:lpstr>Wilson’s central terminal</vt:lpstr>
      <vt:lpstr>What do clinicians use?</vt:lpstr>
      <vt:lpstr>Electrocardiogram</vt:lpstr>
      <vt:lpstr>What is the R axis?</vt:lpstr>
      <vt:lpstr>Determining the R axis</vt:lpstr>
      <vt:lpstr>Table of contents – this unit</vt:lpstr>
      <vt:lpstr>AV node blocks</vt:lpstr>
      <vt:lpstr>AV-block ECG</vt:lpstr>
      <vt:lpstr>Atrial conduction – review</vt:lpstr>
      <vt:lpstr>Your heart, on AFib</vt:lpstr>
      <vt:lpstr>Your heart, on AFib</vt:lpstr>
      <vt:lpstr>Atrial fibrillation</vt:lpstr>
      <vt:lpstr>PowerPoint Presentation</vt:lpstr>
      <vt:lpstr>Atrial fib causes</vt:lpstr>
      <vt:lpstr>Ablation</vt:lpstr>
      <vt:lpstr>Ablation</vt:lpstr>
      <vt:lpstr>Ablation</vt:lpstr>
      <vt:lpstr>Structural damage ECG changes</vt:lpstr>
      <vt:lpstr>Table of contents – this unit</vt:lpstr>
      <vt:lpstr>Why have fail-safe circuits?</vt:lpstr>
      <vt:lpstr>Electrical system – review</vt:lpstr>
      <vt:lpstr>Triple redundancy</vt:lpstr>
      <vt:lpstr>Triple redundancy</vt:lpstr>
      <vt:lpstr>Triple redundancy</vt:lpstr>
      <vt:lpstr>System-level coordination</vt:lpstr>
      <vt:lpstr>Normal operation</vt:lpstr>
      <vt:lpstr>Normal operation</vt:lpstr>
      <vt:lpstr>PowerPoint Presentation</vt:lpstr>
      <vt:lpstr>What can go wrong?</vt:lpstr>
      <vt:lpstr>If the SA node slows down…</vt:lpstr>
      <vt:lpstr>If the SA node slows down…</vt:lpstr>
      <vt:lpstr>Design choices</vt:lpstr>
      <vt:lpstr>PVCs</vt:lpstr>
      <vt:lpstr>PVCs</vt:lpstr>
      <vt:lpstr>PVCs</vt:lpstr>
      <vt:lpstr>Can you find the PVC?</vt:lpstr>
      <vt:lpstr>PowerPoint Presentation</vt:lpstr>
      <vt:lpstr>PowerPoint Presentation</vt:lpstr>
      <vt:lpstr>One more backup system</vt:lpstr>
      <vt:lpstr>Pacemakers hookup</vt:lpstr>
      <vt:lpstr>Pacemakers have many uses</vt:lpstr>
      <vt:lpstr>Electrical control of HR, BP</vt:lpstr>
      <vt:lpstr>CVRx</vt:lpstr>
      <vt:lpstr>Mini quiz</vt:lpstr>
      <vt:lpstr>PowerPoint Presentation</vt:lpstr>
    </vt:vector>
  </TitlesOfParts>
  <Company>Drexel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Bioelectricity</dc:title>
  <dc:creator>Joel G</dc:creator>
  <cp:lastModifiedBy>Grodstein, Joel</cp:lastModifiedBy>
  <cp:revision>1422</cp:revision>
  <cp:lastPrinted>2005-02-07T17:53:54Z</cp:lastPrinted>
  <dcterms:created xsi:type="dcterms:W3CDTF">2002-09-07T18:50:54Z</dcterms:created>
  <dcterms:modified xsi:type="dcterms:W3CDTF">2025-11-17T01:38:35Z</dcterms:modified>
</cp:coreProperties>
</file>