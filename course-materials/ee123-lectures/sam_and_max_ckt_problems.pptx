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E_A9A49E6.xml" ContentType="application/vnd.ms-powerpoint.comments+xml"/>
  <Override PartName="/ppt/comments/modernComment_10B_F2E0270F.xml" ContentType="application/vnd.ms-powerpoint.comments+xml"/>
  <Override PartName="/ppt/comments/modernComment_106_FA7EE075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6" r:id="rId5"/>
    <p:sldId id="263" r:id="rId6"/>
    <p:sldId id="281" r:id="rId7"/>
    <p:sldId id="271" r:id="rId8"/>
    <p:sldId id="268" r:id="rId9"/>
    <p:sldId id="260" r:id="rId10"/>
    <p:sldId id="270" r:id="rId11"/>
    <p:sldId id="282" r:id="rId12"/>
    <p:sldId id="272" r:id="rId13"/>
    <p:sldId id="267" r:id="rId14"/>
    <p:sldId id="274" r:id="rId15"/>
    <p:sldId id="273" r:id="rId16"/>
    <p:sldId id="262" r:id="rId17"/>
    <p:sldId id="278" r:id="rId18"/>
    <p:sldId id="280" r:id="rId19"/>
    <p:sldId id="276" r:id="rId20"/>
    <p:sldId id="269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2DE616-34DF-9079-ECBC-1994A8B0E077}" name="Ko, Samantha" initials="SK" userId="S::sko06@tufts.edu::7fe0ef17-b10d-4990-a94a-8482bd0ca20b" providerId="AD"/>
  <p188:author id="{F42197DD-748F-18B6-B804-4102AE6F9570}" name="Nakatsuji, Maxwell J" initials="MN" userId="S::mnakat02@tufts.edu::f5bc3b58-91af-47b5-b7be-d5e2f24a85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C8D3AD-54AB-443E-A129-82F8FB7FE6A4}" v="605" dt="2025-09-02T17:53:01.880"/>
    <p1510:client id="{8C4BB459-F6C5-41A5-A7BA-769D8FCB4A39}" v="533" dt="2025-09-01T21:40:39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omments/modernComment_10B_F2E0270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469455-037D-494B-B369-22CA06388CB1}" authorId="{E32DE616-34DF-9079-ECBC-1994A8B0E077}" status="resolved" created="2025-07-19T16:45:32.126" complete="100000">
    <pc:sldMkLst xmlns:pc="http://schemas.microsoft.com/office/powerpoint/2013/main/command">
      <pc:docMk/>
      <pc:sldMk cId="4074776335" sldId="267"/>
    </pc:sldMkLst>
    <p188:txBody>
      <a:bodyPr/>
      <a:lstStyle/>
      <a:p>
        <a:r>
          <a:rPr lang="en-US"/>
          <a:t>Finish writing the solution
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7-22T15:00:26.882" authorId="{E32DE616-34DF-9079-ECBC-1994A8B0E077}"/>
          </p223:rxn>
        </p223:reactions>
      </p:ext>
    </p188:extLst>
  </p188:cm>
</p188:cmLst>
</file>

<file path=ppt/comments/modernComment_10E_A9A49E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9FC462C-B7E6-4E04-BA50-92CA72B01001}" authorId="{E32DE616-34DF-9079-ECBC-1994A8B0E077}" status="resolved" created="2025-07-19T16:46:00.600" complete="100000">
    <pc:sldMkLst xmlns:pc="http://schemas.microsoft.com/office/powerpoint/2013/main/command">
      <pc:docMk/>
      <pc:sldMk cId="177883622" sldId="270"/>
    </pc:sldMkLst>
    <p188:txBody>
      <a:bodyPr/>
      <a:lstStyle/>
      <a:p>
        <a:r>
          <a:rPr lang="en-US"/>
          <a:t>Finish writing solution</a:t>
        </a:r>
      </a:p>
    </p188:txBody>
  </p188:cm>
</p188:cmLst>
</file>

<file path=ppt/comments/modernComment_106_FA7EE0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B39404-3105-4B66-A875-1160C8B7FE8B}" authorId="{E32DE616-34DF-9079-ECBC-1994A8B0E077}" status="resolved" created="2025-07-19T16:45:44.048" complete="100000">
    <pc:sldMkLst xmlns:pc="http://schemas.microsoft.com/office/powerpoint/2013/main/command">
      <pc:docMk/>
      <pc:sldMk cId="4202618997" sldId="262"/>
    </pc:sldMkLst>
    <p188:txBody>
      <a:bodyPr/>
      <a:lstStyle/>
      <a:p>
        <a:r>
          <a:rPr lang="en-US"/>
          <a:t>Finish writing solution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80EE1-4868-49D6-992E-AF876DC3EEE7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F7C05-6EDB-49BE-A876-0459EC33F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29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0F7C05-6EDB-49BE-A876-0459EC33F7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93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770A-D1D3-1F6B-BE5E-7623FAC4E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B52C6-FA26-CAD6-AE22-521D77701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51CEE-F932-F734-59AB-5F60C9B5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7E0B-3FC9-9B55-1D15-FBA96B82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B69F9-2794-AE7A-FC0B-1DEFDCB9C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43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D5564-9DA4-FB0C-D6D3-D724A0862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DF898-41BE-EA46-5505-BA8D7AE4C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85145-4E2A-07B6-CBCB-B8A19D48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FBE08-B6A2-9D61-88E0-D745D787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D51A3-792F-2C43-E2F5-6D372162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3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35DB-1B99-FC9D-9184-E7192E300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7040A-6E80-D0F1-42C6-D935D372B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E20B2-B79C-3150-C7AB-17B316C0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53677-7F90-CA82-A140-3674D6FC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88B15-E9E4-F033-79AF-F5E41753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1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61C1-3582-B6FC-DB9C-423D8CF7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D886E-7DAC-1CA0-74F1-E7C4D430D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29B48-22EC-2246-0B90-6AA535F66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D8B3A-286E-F08B-574E-8F836656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ABB35-DEEE-830D-44DC-B0C4611B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BA884-DAB8-AFEB-125F-56F486BA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7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0155-70C8-2DF1-CFBE-7AF574B9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7D701-A381-0F57-16BB-D1C62AC56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BF5DD-D14E-52EB-24C2-A323864EE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E7C29-D323-8190-07A3-2013694CF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3675C-F2CE-5BD2-ED88-D37E9E7C8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72C667-E242-A5DF-C686-4F376B15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05D9A4-4C87-DBA7-E673-43E5ED790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71B58-0FB8-D2A3-5381-1924758B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3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62A05-0D96-2D82-A28B-E7D082FBB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744F79-F513-3CDC-26F9-8FF71D45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428E94-5B80-9E6A-8565-0896A3FA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74F41-AE79-43B8-F443-05419246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35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848749-0511-D26E-BE22-3E3B580D3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D2891-B6B0-DA7E-7FA9-2A7F77C13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27EF2-13B7-CC13-29EF-C5B81CC2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3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5015-EB75-AE96-10D3-AAA405B4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3BC18-D326-678A-02D3-17A2E54B1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8B976-44CA-EB73-221E-9BC802ABB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C5442-D4ED-EB60-D181-C549DBE2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5BFB5-6F1F-EE12-B566-ADBCB72EC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7CED3-A411-FA09-0566-002E8164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5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CB57-A1DB-D246-56C6-9DEF4303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F2748-4AA9-758B-CCF2-CC3FAC29B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BB92B-C8CF-6ACC-2E01-A1D09CFD1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9BA78-7C1E-199E-64F7-EFCBE7B9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265C4-8D6E-78BB-A4FE-441E93F4D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F2883-A344-0463-9759-152E0FB47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DFBB-33D0-C84D-32F5-F70DCF2A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1DA40-0593-D6FF-0D18-DFE1D91BD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C7C72-E1E1-1457-CB6B-8435D0B7D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489B4-BBF1-5C4C-89F6-1BBFF27B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16341-1BB9-9EB0-A837-D4A53893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1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912CE-104A-19B8-A2A6-F2D356BBC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F3FDA-BE39-198F-0F13-1145631D2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83779-6376-31C0-1284-796F5083B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2C4B8-A52B-7165-8FF9-0C4F87B05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A985A-9BCA-81BF-B7B0-A27CBD07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4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5F8FB-EFBD-8299-9264-061922B01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89BE1-2700-B6B7-159D-810DCDEE4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E83F0-76C4-FA58-D3F4-67B4ED883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0BC47-0459-4799-B8BD-AB91A7708A6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C51D0-B2F5-7A17-DC6C-0530E5BEA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BAF62-E897-1AE2-9367-AEB3848EF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11F07-D28B-430C-BF62-770156BA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8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0E_A9A49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0B_F2E0270F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06_FA7EE07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7E5C-ABD2-5F9F-E71E-295A8A89D1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Circuits Mini Quizzes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2BA42-2897-6BF8-CE88-026D6A470B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These won’t count towards anyone’s final grade! They are just meant to refresh and test your understanding of basic circuit concepts</a:t>
            </a:r>
          </a:p>
        </p:txBody>
      </p:sp>
    </p:spTree>
    <p:extLst>
      <p:ext uri="{BB962C8B-B14F-4D97-AF65-F5344CB8AC3E}">
        <p14:creationId xmlns:p14="http://schemas.microsoft.com/office/powerpoint/2010/main" val="1308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5414-8162-74CD-6EAD-F9D0872E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50099-4EC6-CD9F-E79E-6B8BA987651E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Basic Circuit Diagram</a:t>
            </a:r>
          </a:p>
          <a:p>
            <a:endParaRPr lang="en-US" sz="2400"/>
          </a:p>
          <a:p>
            <a:r>
              <a:rPr lang="en-US" sz="2400"/>
              <a:t>Find the current flowing through the resistor.</a:t>
            </a:r>
          </a:p>
        </p:txBody>
      </p:sp>
      <p:pic>
        <p:nvPicPr>
          <p:cNvPr id="4" name="Picture 3" descr="A rectangular rectangle with black lines&#10;&#10;AI-generated content may be incorrect.">
            <a:extLst>
              <a:ext uri="{FF2B5EF4-FFF2-40B4-BE49-F238E27FC236}">
                <a16:creationId xmlns:a16="http://schemas.microsoft.com/office/drawing/2014/main" id="{CC024D3D-6657-FA37-8780-3943B3CE0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38" y="2469539"/>
            <a:ext cx="6185408" cy="2886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84C7C1-373F-B47E-417C-6C45F1EA2123}"/>
              </a:ext>
            </a:extLst>
          </p:cNvPr>
          <p:cNvSpPr txBox="1"/>
          <p:nvPr/>
        </p:nvSpPr>
        <p:spPr>
          <a:xfrm>
            <a:off x="3371088" y="3198167"/>
            <a:ext cx="310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4595D-6E53-7CDB-FFEF-4270CEC6AA92}"/>
              </a:ext>
            </a:extLst>
          </p:cNvPr>
          <p:cNvSpPr txBox="1"/>
          <p:nvPr/>
        </p:nvSpPr>
        <p:spPr>
          <a:xfrm>
            <a:off x="3371088" y="4203145"/>
            <a:ext cx="310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46757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55049-B02E-072C-BD09-54C3D0366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F11138-8E19-7FF1-5CB3-79E285378661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Basic Circuit Diagram</a:t>
            </a:r>
          </a:p>
          <a:p>
            <a:endParaRPr lang="en-US" sz="2400"/>
          </a:p>
          <a:p>
            <a:r>
              <a:rPr lang="en-US" sz="2400"/>
              <a:t>Find the current flowing through the resistor.</a:t>
            </a:r>
          </a:p>
        </p:txBody>
      </p:sp>
      <p:pic>
        <p:nvPicPr>
          <p:cNvPr id="4" name="Picture 3" descr="A rectangular rectangle with black lines&#10;&#10;AI-generated content may be incorrect.">
            <a:extLst>
              <a:ext uri="{FF2B5EF4-FFF2-40B4-BE49-F238E27FC236}">
                <a16:creationId xmlns:a16="http://schemas.microsoft.com/office/drawing/2014/main" id="{C43EA581-15EE-4069-1672-921ED3D33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538" y="2469539"/>
            <a:ext cx="6185408" cy="2886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068441-C9D9-DA23-0CF7-95342D400DCA}"/>
              </a:ext>
            </a:extLst>
          </p:cNvPr>
          <p:cNvSpPr txBox="1"/>
          <p:nvPr/>
        </p:nvSpPr>
        <p:spPr>
          <a:xfrm>
            <a:off x="3371088" y="3198167"/>
            <a:ext cx="310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E9870-F353-35B5-3AA0-38BE419F9D09}"/>
              </a:ext>
            </a:extLst>
          </p:cNvPr>
          <p:cNvSpPr txBox="1"/>
          <p:nvPr/>
        </p:nvSpPr>
        <p:spPr>
          <a:xfrm>
            <a:off x="3371088" y="4203145"/>
            <a:ext cx="310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BB576A-FFA7-4BA7-CA00-F37C6E7EAE1C}"/>
                  </a:ext>
                </a:extLst>
              </p:cNvPr>
              <p:cNvSpPr txBox="1"/>
              <p:nvPr/>
            </p:nvSpPr>
            <p:spPr>
              <a:xfrm>
                <a:off x="8325291" y="1831440"/>
                <a:ext cx="3776083" cy="4025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>
                    <a:solidFill>
                      <a:srgbClr val="FF0000"/>
                    </a:solidFill>
                  </a:rPr>
                  <a:t>Rearrange equation to find I </a:t>
                </a:r>
                <a:endParaRPr lang="en-US" sz="220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200" i="1">
                  <a:solidFill>
                    <a:srgbClr val="FF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900</m:t>
                          </m:r>
                          <m:r>
                            <m:rPr>
                              <m:sty m:val="p"/>
                            </m:rPr>
                            <a:rPr lang="el-GR" sz="2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0.01 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 = 10 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endParaRPr lang="en-US" sz="2200">
                  <a:solidFill>
                    <a:srgbClr val="FF0000"/>
                  </a:solidFill>
                </a:endParaRPr>
              </a:p>
              <a:p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BB576A-FFA7-4BA7-CA00-F37C6E7EA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291" y="1831440"/>
                <a:ext cx="3776083" cy="4025204"/>
              </a:xfrm>
              <a:prstGeom prst="rect">
                <a:avLst/>
              </a:prstGeom>
              <a:blipFill>
                <a:blip r:embed="rId3"/>
                <a:stretch>
                  <a:fillRect l="-2100" t="-908" r="-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7E43D7-A804-262B-CAF2-A8473C9E5F19}"/>
                  </a:ext>
                </a:extLst>
              </p:cNvPr>
              <p:cNvSpPr txBox="1"/>
              <p:nvPr/>
            </p:nvSpPr>
            <p:spPr>
              <a:xfrm>
                <a:off x="513804" y="2030100"/>
                <a:ext cx="2415509" cy="2539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>
                    <a:solidFill>
                      <a:srgbClr val="FF0000"/>
                    </a:solidFill>
                  </a:rPr>
                  <a:t>Solution:</a:t>
                </a:r>
              </a:p>
              <a:p>
                <a:endParaRPr lang="en-US" sz="500">
                  <a:solidFill>
                    <a:srgbClr val="FF0000"/>
                  </a:solidFill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</a:rPr>
                  <a:t>Givens: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=+9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200" b="0">
                  <a:solidFill>
                    <a:srgbClr val="FF0000"/>
                  </a:solidFill>
                </a:endParaRPr>
              </a:p>
              <a:p>
                <a:r>
                  <a:rPr lang="en-US" sz="2200" b="0">
                    <a:solidFill>
                      <a:srgbClr val="FF0000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=900</m:t>
                    </m:r>
                    <m:r>
                      <m:rPr>
                        <m:sty m:val="p"/>
                      </m:rPr>
                      <a:rPr lang="el-GR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en-US" sz="2200" b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US" sz="2200">
                  <a:solidFill>
                    <a:srgbClr val="FF0000"/>
                  </a:solidFill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</a:rPr>
                  <a:t>Use Ohm’s Law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𝐼𝑅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7E43D7-A804-262B-CAF2-A8473C9E5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04" y="2030100"/>
                <a:ext cx="2415509" cy="2539157"/>
              </a:xfrm>
              <a:prstGeom prst="rect">
                <a:avLst/>
              </a:prstGeom>
              <a:blipFill>
                <a:blip r:embed="rId4"/>
                <a:stretch>
                  <a:fillRect l="-3275" t="-1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2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1F0BE-2344-5959-D813-8B5A63E6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7F5A14-2BA5-96EF-0493-698592EC0808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Equivalent resistances – Resistors in Series</a:t>
            </a:r>
          </a:p>
          <a:p>
            <a:endParaRPr lang="en-US" sz="2400"/>
          </a:p>
          <a:p>
            <a:r>
              <a:rPr lang="en-US" sz="2400"/>
              <a:t>What is the net resistance as seen by the voltage source?</a:t>
            </a: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B92FDF98-AD07-A1FF-A554-7CC4DB499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0" t="7428" r="8654" b="15393"/>
          <a:stretch>
            <a:fillRect/>
          </a:stretch>
        </p:blipFill>
        <p:spPr>
          <a:xfrm>
            <a:off x="3415368" y="2676037"/>
            <a:ext cx="5068656" cy="246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6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5673B-5261-278E-CAB8-46ED0482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2E2A26-9072-B15D-2AD3-AD83137D177C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Equivalent resistances – Resistors in Series</a:t>
            </a:r>
          </a:p>
          <a:p>
            <a:endParaRPr lang="en-US" sz="2400"/>
          </a:p>
          <a:p>
            <a:r>
              <a:rPr lang="en-US" sz="2400"/>
              <a:t>What is the net resistance as seen by the voltage source?</a:t>
            </a: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621664B7-4CDA-6AE1-E1CF-6D9C9DE3F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0" t="7428" r="8654" b="15393"/>
          <a:stretch>
            <a:fillRect/>
          </a:stretch>
        </p:blipFill>
        <p:spPr>
          <a:xfrm>
            <a:off x="7483008" y="1791385"/>
            <a:ext cx="4260936" cy="2069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62D975-203F-73FC-BCF5-B5D683A8BDC0}"/>
                  </a:ext>
                </a:extLst>
              </p:cNvPr>
              <p:cNvSpPr txBox="1"/>
              <p:nvPr/>
            </p:nvSpPr>
            <p:spPr>
              <a:xfrm>
                <a:off x="448056" y="3977801"/>
                <a:ext cx="10756392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To find the total resistance of resistors in series, simply add them all together!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200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100</m:t>
                      </m:r>
                      <m:r>
                        <m:rPr>
                          <m:sty m:val="p"/>
                        </m:rPr>
                        <a:rPr lang="el-GR" sz="2200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200</m:t>
                      </m:r>
                      <m:r>
                        <m:rPr>
                          <m:sty m:val="p"/>
                        </m:rPr>
                        <a:rPr lang="el-GR" sz="2200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3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00</m:t>
                      </m:r>
                      <m:r>
                        <m:rPr>
                          <m:sty m:val="p"/>
                        </m:rPr>
                        <a:rPr lang="el-GR" sz="2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62D975-203F-73FC-BCF5-B5D683A8B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3977801"/>
                <a:ext cx="10756392" cy="2462213"/>
              </a:xfrm>
              <a:prstGeom prst="rect">
                <a:avLst/>
              </a:prstGeom>
              <a:blipFill>
                <a:blip r:embed="rId4"/>
                <a:stretch>
                  <a:fillRect l="-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773523A-9AFD-202F-9CAA-AF19A15CB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3591" y="4709235"/>
            <a:ext cx="2460857" cy="11312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86C25F-49E4-9596-789F-800794D5BF9B}"/>
                  </a:ext>
                </a:extLst>
              </p:cNvPr>
              <p:cNvSpPr txBox="1"/>
              <p:nvPr/>
            </p:nvSpPr>
            <p:spPr>
              <a:xfrm>
                <a:off x="448056" y="1895284"/>
                <a:ext cx="1773936" cy="186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>
                    <a:solidFill>
                      <a:srgbClr val="FF0000"/>
                    </a:solidFill>
                  </a:rPr>
                  <a:t>Solution:</a:t>
                </a:r>
              </a:p>
              <a:p>
                <a:endParaRPr lang="en-US" sz="500">
                  <a:solidFill>
                    <a:srgbClr val="FF0000"/>
                  </a:solidFill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</a:rPr>
                  <a:t>Givens: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200" b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r>
                        <m:rPr>
                          <m:sty m:val="p"/>
                        </m:rPr>
                        <a:rPr lang="el-G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l-GR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86C25F-49E4-9596-789F-800794D5B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1895284"/>
                <a:ext cx="1773936" cy="1862048"/>
              </a:xfrm>
              <a:prstGeom prst="rect">
                <a:avLst/>
              </a:prstGeom>
              <a:blipFill>
                <a:blip r:embed="rId6"/>
                <a:stretch>
                  <a:fillRect l="-4467" t="-2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57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E2CA2-4C58-0B66-C669-28B6BCE9882C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Voltage Divider</a:t>
            </a:r>
          </a:p>
          <a:p>
            <a:endParaRPr lang="en-US" sz="2400"/>
          </a:p>
          <a:p>
            <a:r>
              <a:rPr lang="en-US" sz="2400"/>
              <a:t>Find the voltage across each resistor </a:t>
            </a:r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ACB75B3E-BAB4-95E1-64FD-A1FB59848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96" y="2246376"/>
            <a:ext cx="7120890" cy="379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5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0246E-F823-6C23-BA92-E809B55F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6248E-703C-7D0E-EEAC-D6B613522655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Voltage Divider</a:t>
            </a:r>
          </a:p>
          <a:p>
            <a:endParaRPr lang="en-US" sz="2400"/>
          </a:p>
          <a:p>
            <a:r>
              <a:rPr lang="en-US" sz="2400"/>
              <a:t>Find the voltage across each resistor </a:t>
            </a:r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91494BC6-44C2-2FCB-AEEB-542D53F99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8" t="9470" r="8593" b="13965"/>
          <a:stretch>
            <a:fillRect/>
          </a:stretch>
        </p:blipFill>
        <p:spPr>
          <a:xfrm>
            <a:off x="6565392" y="333736"/>
            <a:ext cx="5394960" cy="26192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D03362-28A6-7E7B-0820-8CB9E50121AE}"/>
                  </a:ext>
                </a:extLst>
              </p:cNvPr>
              <p:cNvSpPr txBox="1"/>
              <p:nvPr/>
            </p:nvSpPr>
            <p:spPr>
              <a:xfrm>
                <a:off x="448056" y="3581799"/>
                <a:ext cx="5394960" cy="2187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This is a voltage divider, use the equation below to solve for the voltage across R1</a:t>
                </a:r>
                <a:endParaRPr lang="en-US" sz="2200" b="1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∗(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den>
                        </m:f>
                      </m:e>
                    </m:d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b="0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D03362-28A6-7E7B-0820-8CB9E5012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3581799"/>
                <a:ext cx="5394960" cy="2187265"/>
              </a:xfrm>
              <a:prstGeom prst="rect">
                <a:avLst/>
              </a:prstGeom>
              <a:blipFill>
                <a:blip r:embed="rId4"/>
                <a:stretch>
                  <a:fillRect l="-1469" t="-1955" r="-1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50C0FD-10C5-AB00-7F61-3C341E97A612}"/>
                  </a:ext>
                </a:extLst>
              </p:cNvPr>
              <p:cNvSpPr txBox="1"/>
              <p:nvPr/>
            </p:nvSpPr>
            <p:spPr>
              <a:xfrm>
                <a:off x="6280497" y="3581799"/>
                <a:ext cx="5394960" cy="2187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This is a voltage divider, use the equation below to solve for the voltage across R2</a:t>
                </a:r>
                <a:endParaRPr lang="en-US" sz="2200" b="1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∗(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200</m:t>
                            </m:r>
                          </m:den>
                        </m:f>
                      </m:e>
                    </m:d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200" b="0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50C0FD-10C5-AB00-7F61-3C341E97A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97" y="3581799"/>
                <a:ext cx="5394960" cy="2187265"/>
              </a:xfrm>
              <a:prstGeom prst="rect">
                <a:avLst/>
              </a:prstGeom>
              <a:blipFill>
                <a:blip r:embed="rId5"/>
                <a:stretch>
                  <a:fillRect l="-1469" t="-1955" r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CA6A4CD-73B9-3C50-FCB3-115C1F53AD4A}"/>
              </a:ext>
            </a:extLst>
          </p:cNvPr>
          <p:cNvSpPr txBox="1"/>
          <p:nvPr/>
        </p:nvSpPr>
        <p:spPr>
          <a:xfrm>
            <a:off x="448056" y="6048232"/>
            <a:ext cx="108565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>
                <a:solidFill>
                  <a:srgbClr val="FF0000"/>
                </a:solidFill>
              </a:rPr>
              <a:t>You can also use Kirchhoff’s Voltage Law to double check these values! 9V – 3V – 6V = 0V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22CE2-3232-3253-74E1-8F4080EB7A06}"/>
                  </a:ext>
                </a:extLst>
              </p:cNvPr>
              <p:cNvSpPr txBox="1"/>
              <p:nvPr/>
            </p:nvSpPr>
            <p:spPr>
              <a:xfrm>
                <a:off x="448056" y="1643352"/>
                <a:ext cx="2962656" cy="186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>
                    <a:solidFill>
                      <a:srgbClr val="FF0000"/>
                    </a:solidFill>
                  </a:rPr>
                  <a:t>Solution Part 1:</a:t>
                </a:r>
              </a:p>
              <a:p>
                <a:endParaRPr lang="en-US" sz="500">
                  <a:solidFill>
                    <a:srgbClr val="FF0000"/>
                  </a:solidFill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</a:rPr>
                  <a:t>Givens: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200" b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r>
                        <m:rPr>
                          <m:sty m:val="p"/>
                        </m:rPr>
                        <a:rPr lang="el-G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l-GR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22CE2-3232-3253-74E1-8F4080EB7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1643352"/>
                <a:ext cx="2962656" cy="1862048"/>
              </a:xfrm>
              <a:prstGeom prst="rect">
                <a:avLst/>
              </a:prstGeom>
              <a:blipFill>
                <a:blip r:embed="rId6"/>
                <a:stretch>
                  <a:fillRect l="-2675" t="-2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836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05FE6-EE8A-6F62-1C49-FA5C1B6A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7BCC6-6A04-7366-5999-C210C1A109AE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Voltage Divider</a:t>
            </a:r>
          </a:p>
          <a:p>
            <a:endParaRPr lang="en-US" sz="2400"/>
          </a:p>
          <a:p>
            <a:r>
              <a:rPr lang="en-US" sz="2400"/>
              <a:t>Find the voltage across each resistor </a:t>
            </a:r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D22E4A4D-C3E2-392B-B42F-0A0969A5A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8" t="9470" r="8593" b="13965"/>
          <a:stretch>
            <a:fillRect/>
          </a:stretch>
        </p:blipFill>
        <p:spPr>
          <a:xfrm>
            <a:off x="6698717" y="141712"/>
            <a:ext cx="5394960" cy="26192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3FB961-9244-3167-4329-4A24C3C9C4BF}"/>
              </a:ext>
            </a:extLst>
          </p:cNvPr>
          <p:cNvSpPr txBox="1"/>
          <p:nvPr/>
        </p:nvSpPr>
        <p:spPr>
          <a:xfrm>
            <a:off x="448056" y="1643352"/>
            <a:ext cx="24414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>
                <a:solidFill>
                  <a:srgbClr val="FF0000"/>
                </a:solidFill>
              </a:rPr>
              <a:t>Solution Part 2:</a:t>
            </a:r>
          </a:p>
          <a:p>
            <a:endParaRPr lang="en-US" sz="5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EB0E83-2A17-0E84-7F61-5E6A88E6CB5C}"/>
                  </a:ext>
                </a:extLst>
              </p:cNvPr>
              <p:cNvSpPr txBox="1"/>
              <p:nvPr/>
            </p:nvSpPr>
            <p:spPr>
              <a:xfrm>
                <a:off x="448056" y="2126094"/>
                <a:ext cx="6601968" cy="4517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>
                    <a:solidFill>
                      <a:srgbClr val="FF0000"/>
                    </a:solidFill>
                  </a:rPr>
                  <a:t>You can also use Ohm’s Law and KCL to determine the voltage across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200" b="1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2200" b="1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  <m:r>
                        <m:rPr>
                          <m:sty m:val="p"/>
                        </m:rPr>
                        <a:rPr lang="el-GR" sz="2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200</m:t>
                      </m:r>
                      <m:r>
                        <m:rPr>
                          <m:sty m:val="p"/>
                        </m:rPr>
                        <a:rPr lang="el-GR" sz="2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sz="22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n-US" sz="2200" b="0" i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3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  <m:r>
                        <m:rPr>
                          <m:sty m:val="p"/>
                        </m:rPr>
                        <a:rPr lang="el-GR" sz="2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2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300</m:t>
                          </m:r>
                          <m:r>
                            <m:rPr>
                              <m:sty m:val="p"/>
                            </m:rPr>
                            <a:rPr lang="el-GR" sz="2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=0.03 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2200">
                  <a:solidFill>
                    <a:srgbClr val="FF0000"/>
                  </a:solidFill>
                </a:endParaRPr>
              </a:p>
              <a:p>
                <a:r>
                  <a:rPr lang="en-US" sz="2200">
                    <a:solidFill>
                      <a:srgbClr val="FF0000"/>
                    </a:solidFill>
                  </a:rPr>
                  <a:t>KCL guarantees that in a circuit like this, the current through all components is equal.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EB0E83-2A17-0E84-7F61-5E6A88E6C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2126094"/>
                <a:ext cx="6601968" cy="4517775"/>
              </a:xfrm>
              <a:prstGeom prst="rect">
                <a:avLst/>
              </a:prstGeom>
              <a:blipFill>
                <a:blip r:embed="rId3"/>
                <a:stretch>
                  <a:fillRect l="-1200" t="-945" r="-831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A0E53-EE6B-C130-A090-3E5203D2B92E}"/>
                  </a:ext>
                </a:extLst>
              </p:cNvPr>
              <p:cNvSpPr txBox="1"/>
              <p:nvPr/>
            </p:nvSpPr>
            <p:spPr>
              <a:xfrm>
                <a:off x="7123177" y="3138654"/>
                <a:ext cx="3931920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rgbClr val="FF0000"/>
                    </a:solidFill>
                  </a:rPr>
                  <a:t>Plug into Ohm’s Law to solve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0.03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∗100</m:t>
                      </m:r>
                      <m:r>
                        <m:rPr>
                          <m:sty m:val="p"/>
                        </m:rPr>
                        <a:rPr lang="el-GR" sz="2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sz="22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0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200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endParaRPr lang="en-US" sz="2200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0.03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∗200</m:t>
                      </m:r>
                      <m:r>
                        <m:rPr>
                          <m:sty m:val="p"/>
                        </m:rPr>
                        <a:rPr lang="el-GR" sz="2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sz="22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0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sz="2200" b="0" i="0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200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endParaRPr lang="en-US" sz="2200" dirty="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endParaRPr lang="en-US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A0E53-EE6B-C130-A090-3E5203D2B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177" y="3138654"/>
                <a:ext cx="3931920" cy="2800767"/>
              </a:xfrm>
              <a:prstGeom prst="rect">
                <a:avLst/>
              </a:prstGeom>
              <a:blipFill>
                <a:blip r:embed="rId4"/>
                <a:stretch>
                  <a:fillRect l="-2016" t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65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5D04-524D-368F-FF1D-FADF60A7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E44F58-B09A-2316-9996-93D11BD36E1F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Equivalent resistances – Resistors in Parallel</a:t>
            </a:r>
          </a:p>
          <a:p>
            <a:endParaRPr lang="en-US" sz="2400"/>
          </a:p>
          <a:p>
            <a:r>
              <a:rPr lang="en-US" sz="2400"/>
              <a:t>What is the net resistance as seen by the voltage source?</a:t>
            </a: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DD2B820B-2F06-FA33-B4E3-0CFF910E5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 t="16097" r="6234" b="15166"/>
          <a:stretch>
            <a:fillRect/>
          </a:stretch>
        </p:blipFill>
        <p:spPr>
          <a:xfrm>
            <a:off x="2177007" y="2535786"/>
            <a:ext cx="6784848" cy="23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8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82A5D-58E7-6C30-1A3E-0DA72560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A7806-1F20-03EE-1C5F-3049C7DDD019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Equivalent resistances – Resistors in Parallel</a:t>
            </a:r>
          </a:p>
          <a:p>
            <a:endParaRPr lang="en-US" sz="2400"/>
          </a:p>
          <a:p>
            <a:r>
              <a:rPr lang="en-US" sz="2400"/>
              <a:t>What is the net resistance as seen by the voltage source?</a:t>
            </a: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03D8B3F2-82AD-7278-AF1F-057D8D533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 t="16097" r="6234" b="15166"/>
          <a:stretch>
            <a:fillRect/>
          </a:stretch>
        </p:blipFill>
        <p:spPr>
          <a:xfrm>
            <a:off x="2703576" y="1679706"/>
            <a:ext cx="6784848" cy="2359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C6AD63-2366-519D-3D36-67CAFC60C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002" y="3702402"/>
            <a:ext cx="2596998" cy="9997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22285A-763E-8824-C7D5-DBEBC18E243E}"/>
                  </a:ext>
                </a:extLst>
              </p:cNvPr>
              <p:cNvSpPr txBox="1"/>
              <p:nvPr/>
            </p:nvSpPr>
            <p:spPr>
              <a:xfrm>
                <a:off x="448056" y="1758981"/>
                <a:ext cx="1773936" cy="2200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>
                    <a:solidFill>
                      <a:srgbClr val="FF0000"/>
                    </a:solidFill>
                  </a:rPr>
                  <a:t>Solution:</a:t>
                </a:r>
              </a:p>
              <a:p>
                <a:endParaRPr lang="en-US" sz="500">
                  <a:solidFill>
                    <a:srgbClr val="FF0000"/>
                  </a:solidFill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</a:rPr>
                  <a:t>Givens: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200" b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r>
                        <m:rPr>
                          <m:sty m:val="p"/>
                        </m:rPr>
                        <a:rPr lang="el-G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l-GR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  <m:r>
                        <m:rPr>
                          <m:sty m:val="p"/>
                        </m:rPr>
                        <a:rPr lang="el-GR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22285A-763E-8824-C7D5-DBEBC18E2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1758981"/>
                <a:ext cx="1773936" cy="2200602"/>
              </a:xfrm>
              <a:prstGeom prst="rect">
                <a:avLst/>
              </a:prstGeom>
              <a:blipFill>
                <a:blip r:embed="rId5"/>
                <a:stretch>
                  <a:fillRect l="-4467" t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456872-4F42-4306-1289-EACFFEA10F16}"/>
                  </a:ext>
                </a:extLst>
              </p:cNvPr>
              <p:cNvSpPr txBox="1"/>
              <p:nvPr/>
            </p:nvSpPr>
            <p:spPr>
              <a:xfrm>
                <a:off x="448056" y="3866620"/>
                <a:ext cx="9665207" cy="2543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Follow this equation to find the total resistance of resistors in parallel: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)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20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)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300</m:t>
                        </m:r>
                      </m:num>
                      <m:den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22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m:rPr>
                        <m:nor/>
                      </m:rPr>
                      <a:rPr lang="en-US" sz="2200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200" b="0" i="0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30</m:t>
                    </m:r>
                    <m:r>
                      <m:rPr>
                        <m:sty m:val="p"/>
                      </m:rPr>
                      <a:rPr lang="el-GR" sz="2200" b="0" i="1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m:rPr>
                        <m:nor/>
                      </m:rPr>
                      <a:rPr lang="en-US" sz="2200" dirty="0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  <a:highlight>
                      <a:srgbClr val="FFFF00"/>
                    </a:highlight>
                    <a:ea typeface="Cambria Math" panose="02040503050406030204" pitchFamily="18" charset="0"/>
                  </a:rPr>
                  <a:t> </a:t>
                </a:r>
                <a:endParaRPr lang="en-US" sz="2200">
                  <a:solidFill>
                    <a:srgbClr val="FF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456872-4F42-4306-1289-EACFFEA10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3866620"/>
                <a:ext cx="9665207" cy="2543260"/>
              </a:xfrm>
              <a:prstGeom prst="rect">
                <a:avLst/>
              </a:prstGeom>
              <a:blipFill>
                <a:blip r:embed="rId6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47763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FD9A2-0DEE-C7FB-909E-DAB6779FA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E62F32-971E-C4E5-C9F3-EB3063F9AB60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Current Divider</a:t>
            </a:r>
          </a:p>
          <a:p>
            <a:endParaRPr lang="en-US" sz="2400"/>
          </a:p>
          <a:p>
            <a:r>
              <a:rPr lang="en-US" sz="2400"/>
              <a:t>Find the current across each resistor </a:t>
            </a:r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16B95EDE-B0A0-6690-5BFF-543B459C5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 t="16097" r="6234" b="15166"/>
          <a:stretch>
            <a:fillRect/>
          </a:stretch>
        </p:blipFill>
        <p:spPr>
          <a:xfrm>
            <a:off x="2472759" y="2059893"/>
            <a:ext cx="6784848" cy="23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25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ED09-96B6-FBC0-2B57-DF6ACC6A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F6C208-FD28-D312-3CCC-8C6FA4F74DDE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Current Divider</a:t>
            </a:r>
          </a:p>
          <a:p>
            <a:endParaRPr lang="en-US" sz="2400"/>
          </a:p>
          <a:p>
            <a:r>
              <a:rPr lang="en-US" sz="2400"/>
              <a:t>Find the current across each resistor </a:t>
            </a:r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C98B1A20-3B8F-85B4-D12C-AC232A482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 t="16097" r="6234" b="15166"/>
          <a:stretch>
            <a:fillRect/>
          </a:stretch>
        </p:blipFill>
        <p:spPr>
          <a:xfrm>
            <a:off x="6116201" y="263390"/>
            <a:ext cx="5627743" cy="19568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970386-F661-E83D-8B7C-19DBE985DC05}"/>
                  </a:ext>
                </a:extLst>
              </p:cNvPr>
              <p:cNvSpPr txBox="1"/>
              <p:nvPr/>
            </p:nvSpPr>
            <p:spPr>
              <a:xfrm>
                <a:off x="448056" y="1986357"/>
                <a:ext cx="1773936" cy="2200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>
                    <a:solidFill>
                      <a:srgbClr val="FF0000"/>
                    </a:solidFill>
                  </a:rPr>
                  <a:t>Solution:</a:t>
                </a:r>
              </a:p>
              <a:p>
                <a:endParaRPr lang="en-US" sz="500">
                  <a:solidFill>
                    <a:srgbClr val="FF0000"/>
                  </a:solidFill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</a:rPr>
                  <a:t>Givens: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200" b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r>
                        <m:rPr>
                          <m:sty m:val="p"/>
                        </m:rPr>
                        <a:rPr lang="el-G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l-GR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  <m:r>
                        <m:rPr>
                          <m:sty m:val="p"/>
                        </m:rPr>
                        <a:rPr lang="el-GR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970386-F661-E83D-8B7C-19DBE985D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1986357"/>
                <a:ext cx="1773936" cy="2200602"/>
              </a:xfrm>
              <a:prstGeom prst="rect">
                <a:avLst/>
              </a:prstGeom>
              <a:blipFill>
                <a:blip r:embed="rId3"/>
                <a:stretch>
                  <a:fillRect l="-4467" t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51B6CE-3416-1462-F096-973F05697DF5}"/>
                  </a:ext>
                </a:extLst>
              </p:cNvPr>
              <p:cNvSpPr txBox="1"/>
              <p:nvPr/>
            </p:nvSpPr>
            <p:spPr>
              <a:xfrm>
                <a:off x="2526793" y="2319653"/>
                <a:ext cx="9665207" cy="4078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Follow this equation to find the total resistance of resistors in parallel: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)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20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)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300</m:t>
                        </m:r>
                      </m:num>
                      <m:den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22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m:rPr>
                        <m:nor/>
                      </m:rPr>
                      <a:rPr lang="en-US" sz="2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2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30</m:t>
                    </m:r>
                    <m:r>
                      <m:rPr>
                        <m:sty m:val="p"/>
                      </m:rPr>
                      <a:rPr lang="el-GR" sz="22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m:rPr>
                        <m:nor/>
                      </m:rPr>
                      <a:rPr lang="en-US" sz="2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:endParaRPr lang="en-US" sz="220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200">
                  <a:solidFill>
                    <a:srgbClr val="FF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Use Ohm’s Law,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𝑰𝑹</m:t>
                    </m:r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to find the total current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</m:t>
                          </m:r>
                          <m:r>
                            <m:rPr>
                              <m:sty m:val="p"/>
                            </m:rPr>
                            <a:rPr lang="el-GR" sz="22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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𝐼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𝑡𝑜𝑡𝑎𝑙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=</m:t>
                      </m:r>
                      <m:f>
                        <m:f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5</m:t>
                          </m:r>
                        </m:num>
                        <m:den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30</m:t>
                          </m:r>
                        </m:den>
                      </m:f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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 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𝐼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𝑡𝑜𝑡𝑎𝑙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51B6CE-3416-1462-F096-973F05697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793" y="2319653"/>
                <a:ext cx="9665207" cy="4078104"/>
              </a:xfrm>
              <a:prstGeom prst="rect">
                <a:avLst/>
              </a:prstGeom>
              <a:blipFill>
                <a:blip r:embed="rId4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266086B-FA52-5E49-2339-465D75A29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9826" y="2929122"/>
            <a:ext cx="2596998" cy="99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86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4CF7-1A55-0287-6E86-4C7F68D3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0841B-1E8B-F698-4E19-8C29837B6A8E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Circuit Divider</a:t>
            </a:r>
          </a:p>
          <a:p>
            <a:endParaRPr lang="en-US" sz="2400"/>
          </a:p>
          <a:p>
            <a:r>
              <a:rPr lang="en-US" sz="2400"/>
              <a:t>Find the current across each resistor </a:t>
            </a:r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C00FD83A-A019-5FC6-F278-F281A91D0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 t="16097" r="6234" b="15166"/>
          <a:stretch>
            <a:fillRect/>
          </a:stretch>
        </p:blipFill>
        <p:spPr>
          <a:xfrm>
            <a:off x="6576291" y="519422"/>
            <a:ext cx="5509835" cy="19158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5C0C90-76F3-D53B-8F42-6B30F4CD5526}"/>
                  </a:ext>
                </a:extLst>
              </p:cNvPr>
              <p:cNvSpPr txBox="1"/>
              <p:nvPr/>
            </p:nvSpPr>
            <p:spPr>
              <a:xfrm>
                <a:off x="448056" y="1719751"/>
                <a:ext cx="6765544" cy="5051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>
                    <a:solidFill>
                      <a:srgbClr val="FF0000"/>
                    </a:solidFill>
                  </a:rPr>
                  <a:t>Solution, continued:</a:t>
                </a:r>
                <a:endParaRPr lang="en-US" sz="22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US" sz="10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Follow this equation to find the current across R1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3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𝐼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𝑡𝑜𝑡𝑎𝑙</m:t>
                          </m:r>
                        </m:sub>
                      </m:sSub>
                      <m:r>
                        <a:rPr lang="en-US" sz="23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en-US" sz="23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3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3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3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3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3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5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3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3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3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3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</m:t>
                    </m:r>
                    <m:d>
                      <m:dPr>
                        <m:ctrlP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</m:num>
                          <m:den>
                            <m:r>
                              <a:rPr lang="en-US" sz="23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30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US" sz="23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3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300" b="0" i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endParaRPr lang="en-US" sz="230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 smtClean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3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300" b="0" i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 </m:t>
                      </m:r>
                      <m:r>
                        <m:rPr>
                          <m:sty m:val="p"/>
                        </m:rPr>
                        <a:rPr lang="en-US" sz="2300" b="0" i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sz="2300" b="0" i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lang="en-US" sz="2300" b="0" i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en-US" sz="2300" b="0">
                  <a:solidFill>
                    <a:srgbClr val="FF0000"/>
                  </a:solidFill>
                  <a:highlight>
                    <a:srgbClr val="FFFF00"/>
                  </a:highlight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Repeat to find the current across R2 and R3</a:t>
                </a:r>
                <a:r>
                  <a:rPr lang="en-US" sz="2300" b="1">
                    <a:solidFill>
                      <a:srgbClr val="FF0000"/>
                    </a:solidFill>
                    <a:highlight>
                      <a:srgbClr val="FFFF00"/>
                    </a:highlight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</m:t>
                      </m:r>
                      <m:r>
                        <a:rPr lang="en-US" sz="2300" b="0" i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sz="2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</m:t>
                      </m:r>
                      <m:r>
                        <m:rPr>
                          <m:sty m:val="p"/>
                        </m:rPr>
                        <a:rPr lang="en-US" sz="2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en-US" sz="2300">
                  <a:solidFill>
                    <a:srgbClr val="FF0000"/>
                  </a:solidFill>
                  <a:highlight>
                    <a:srgbClr val="FFFF00"/>
                  </a:highlight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</m:t>
                      </m:r>
                      <m:r>
                        <a:rPr lang="en-US" sz="2300" b="0" i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167</m:t>
                      </m:r>
                      <m:r>
                        <a:rPr lang="en-US" sz="2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sz="2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=16.7</m:t>
                      </m:r>
                      <m:r>
                        <m:rPr>
                          <m:sty m:val="p"/>
                        </m:rPr>
                        <a:rPr lang="en-US" sz="2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5C0C90-76F3-D53B-8F42-6B30F4CD5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1719751"/>
                <a:ext cx="6765544" cy="5051319"/>
              </a:xfrm>
              <a:prstGeom prst="rect">
                <a:avLst/>
              </a:prstGeom>
              <a:blipFill>
                <a:blip r:embed="rId4"/>
                <a:stretch>
                  <a:fillRect l="-1353" t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96E7DD-AF33-04DE-3CCD-023952F6978E}"/>
                  </a:ext>
                </a:extLst>
              </p:cNvPr>
              <p:cNvSpPr txBox="1"/>
              <p:nvPr/>
            </p:nvSpPr>
            <p:spPr>
              <a:xfrm>
                <a:off x="6892413" y="2704112"/>
                <a:ext cx="4877590" cy="3881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>
                    <a:solidFill>
                      <a:srgbClr val="FF0000"/>
                    </a:solidFill>
                  </a:rPr>
                  <a:t>You can also use Ohm’s law to solve for each current individually.</a:t>
                </a:r>
              </a:p>
              <a:p>
                <a:endParaRPr lang="en-US" sz="2200" b="0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𝐼𝑅</m:t>
                      </m:r>
                    </m:oMath>
                  </m:oMathPara>
                </a14:m>
                <a:endParaRPr lang="en-US" sz="2200" b="0">
                  <a:solidFill>
                    <a:srgbClr val="FF0000"/>
                  </a:solidFill>
                </a:endParaRPr>
              </a:p>
              <a:p>
                <a:endParaRPr lang="en-US" sz="2200" b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m:rPr>
                              <m:sty m:val="p"/>
                            </m:rPr>
                            <a:rPr lang="el-G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m:rPr>
                              <m:nor/>
                            </m:rP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</m:den>
                      </m:f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m:rPr>
                              <m:sty m:val="p"/>
                            </m:rPr>
                            <a:rPr lang="el-G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m:rPr>
                              <m:nor/>
                            </m:rP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</m:den>
                      </m:f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300</m:t>
                          </m:r>
                          <m:r>
                            <m:rPr>
                              <m:sty m:val="p"/>
                            </m:rPr>
                            <a:rPr lang="el-G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m:rPr>
                              <m:nor/>
                            </m:rPr>
                            <a:rPr lang="en-US" sz="2200" dirty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</m:den>
                      </m:f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0.167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96E7DD-AF33-04DE-3CCD-023952F69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13" y="2704112"/>
                <a:ext cx="4877590" cy="3881640"/>
              </a:xfrm>
              <a:prstGeom prst="rect">
                <a:avLst/>
              </a:prstGeom>
              <a:blipFill>
                <a:blip r:embed="rId5"/>
                <a:stretch>
                  <a:fillRect l="-1625" t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26189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C54B-8353-99FE-5896-C87631637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B611CE-C4FD-20CD-68F9-A96B1B8016BF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Basic Capacitor Diagram</a:t>
            </a:r>
          </a:p>
          <a:p>
            <a:endParaRPr lang="en-US" sz="2400"/>
          </a:p>
          <a:p>
            <a:r>
              <a:rPr lang="en-US" sz="2400"/>
              <a:t>Find the charge, Q, on the capacitor</a:t>
            </a:r>
          </a:p>
        </p:txBody>
      </p:sp>
      <p:pic>
        <p:nvPicPr>
          <p:cNvPr id="5" name="Picture 4" descr="A rectangular rectangle with black lines&#10;&#10;AI-generated content may be incorrect.">
            <a:extLst>
              <a:ext uri="{FF2B5EF4-FFF2-40B4-BE49-F238E27FC236}">
                <a16:creationId xmlns:a16="http://schemas.microsoft.com/office/drawing/2014/main" id="{0F51A64B-48A7-E220-2F95-EAF36EAE5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" t="7354" r="5266" b="6269"/>
          <a:stretch>
            <a:fillRect/>
          </a:stretch>
        </p:blipFill>
        <p:spPr>
          <a:xfrm>
            <a:off x="3814618" y="2521527"/>
            <a:ext cx="4091709" cy="183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8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212EE-3934-B637-D4FB-D7B2A12C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86CDBB-14F7-421A-4CA7-BBC305544D9B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Basic Capacitor Diagram</a:t>
            </a:r>
          </a:p>
          <a:p>
            <a:endParaRPr lang="en-US" sz="2400"/>
          </a:p>
          <a:p>
            <a:r>
              <a:rPr lang="en-US" sz="2400"/>
              <a:t>Find the charge, Q, on the capacitor</a:t>
            </a:r>
          </a:p>
        </p:txBody>
      </p:sp>
      <p:pic>
        <p:nvPicPr>
          <p:cNvPr id="5" name="Picture 4" descr="A rectangular rectangle with black lines&#10;&#10;AI-generated content may be incorrect.">
            <a:extLst>
              <a:ext uri="{FF2B5EF4-FFF2-40B4-BE49-F238E27FC236}">
                <a16:creationId xmlns:a16="http://schemas.microsoft.com/office/drawing/2014/main" id="{C60A760A-59BE-0F90-8181-8D27EB4FE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" t="7354" r="5266" b="6269"/>
          <a:stretch>
            <a:fillRect/>
          </a:stretch>
        </p:blipFill>
        <p:spPr>
          <a:xfrm>
            <a:off x="3814618" y="2521527"/>
            <a:ext cx="4091709" cy="1838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E49024-CBC1-DE94-63B5-86AE3544F5A1}"/>
                  </a:ext>
                </a:extLst>
              </p:cNvPr>
              <p:cNvSpPr txBox="1"/>
              <p:nvPr/>
            </p:nvSpPr>
            <p:spPr>
              <a:xfrm>
                <a:off x="453925" y="2157742"/>
                <a:ext cx="3218780" cy="3513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>
                    <a:solidFill>
                      <a:srgbClr val="FF0000"/>
                    </a:solidFill>
                  </a:rPr>
                  <a:t>Solution:</a:t>
                </a:r>
              </a:p>
              <a:p>
                <a:endParaRPr lang="en-US" sz="500" b="1">
                  <a:solidFill>
                    <a:srgbClr val="FF0000"/>
                  </a:solidFill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</a:rPr>
                  <a:t>Givens: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200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 i="1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200">
                  <a:solidFill>
                    <a:srgbClr val="FF0000"/>
                  </a:solidFill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</a:rPr>
                  <a:t>Use general equation for Capacitance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E49024-CBC1-DE94-63B5-86AE3544F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25" y="2157742"/>
                <a:ext cx="3218780" cy="3513719"/>
              </a:xfrm>
              <a:prstGeom prst="rect">
                <a:avLst/>
              </a:prstGeom>
              <a:blipFill>
                <a:blip r:embed="rId3"/>
                <a:stretch>
                  <a:fillRect l="-2462" t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5CFC3D-05A3-D9DF-2D01-6CAE2FE9F557}"/>
                  </a:ext>
                </a:extLst>
              </p:cNvPr>
              <p:cNvSpPr txBox="1"/>
              <p:nvPr/>
            </p:nvSpPr>
            <p:spPr>
              <a:xfrm>
                <a:off x="8190154" y="2390318"/>
                <a:ext cx="3846219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>
                    <a:solidFill>
                      <a:srgbClr val="FF0000"/>
                    </a:solidFill>
                  </a:rPr>
                  <a:t>Rearrange equation to find Q </a:t>
                </a:r>
                <a:endParaRPr lang="en-US" sz="220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𝐶𝑉</m:t>
                      </m:r>
                    </m:oMath>
                  </m:oMathPara>
                </a14:m>
                <a:endParaRPr lang="en-US" sz="2200" i="1">
                  <a:solidFill>
                    <a:srgbClr val="FF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∗100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500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  <a:p>
                <a:endParaRPr lang="en-US" sz="2200">
                  <a:solidFill>
                    <a:srgbClr val="FF0000"/>
                  </a:solidFill>
                </a:endParaRPr>
              </a:p>
              <a:p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5CFC3D-05A3-D9DF-2D01-6CAE2FE9F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154" y="2390318"/>
                <a:ext cx="3846219" cy="2631490"/>
              </a:xfrm>
              <a:prstGeom prst="rect">
                <a:avLst/>
              </a:prstGeom>
              <a:blipFill>
                <a:blip r:embed="rId4"/>
                <a:stretch>
                  <a:fillRect l="-2063" t="-1620" r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022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EEC6B-DAC7-935D-F158-02869879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263ED7-7E59-63F3-34F7-8B86AB1E46D5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Capacitors in Parallel</a:t>
            </a:r>
          </a:p>
          <a:p>
            <a:endParaRPr lang="en-US" sz="2400"/>
          </a:p>
          <a:p>
            <a:r>
              <a:rPr lang="en-US" sz="2400"/>
              <a:t>Find the total capacitance across the circuit </a:t>
            </a: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75DEBD76-A100-A08F-515A-28A04D104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" t="8552" r="5186" b="4704"/>
          <a:stretch>
            <a:fillRect/>
          </a:stretch>
        </p:blipFill>
        <p:spPr>
          <a:xfrm>
            <a:off x="4174547" y="2401454"/>
            <a:ext cx="3713307" cy="273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25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FA96-985A-9B4C-3037-4944105B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AB846D-6C8B-BA07-6677-50C7F75F1C2B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Capacitors in Parallel</a:t>
            </a:r>
          </a:p>
          <a:p>
            <a:endParaRPr lang="en-US" sz="2400"/>
          </a:p>
          <a:p>
            <a:r>
              <a:rPr lang="en-US" sz="2400"/>
              <a:t>Find the total capacitance across the circuit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D6C0E5-FA99-90D3-3B43-D66388FD0224}"/>
                  </a:ext>
                </a:extLst>
              </p:cNvPr>
              <p:cNvSpPr txBox="1"/>
              <p:nvPr/>
            </p:nvSpPr>
            <p:spPr>
              <a:xfrm>
                <a:off x="577365" y="1992442"/>
                <a:ext cx="1824090" cy="186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>
                    <a:solidFill>
                      <a:srgbClr val="FF0000"/>
                    </a:solidFill>
                  </a:rPr>
                  <a:t>Solution:</a:t>
                </a:r>
              </a:p>
              <a:p>
                <a:endParaRPr lang="en-US" sz="500" b="1">
                  <a:solidFill>
                    <a:srgbClr val="FF0000"/>
                  </a:solidFill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</a:rPr>
                  <a:t>Givens: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 b="0" i="1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D6C0E5-FA99-90D3-3B43-D66388FD0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65" y="1992442"/>
                <a:ext cx="1824090" cy="1862048"/>
              </a:xfrm>
              <a:prstGeom prst="rect">
                <a:avLst/>
              </a:prstGeom>
              <a:blipFill>
                <a:blip r:embed="rId2"/>
                <a:stretch>
                  <a:fillRect l="-4348" t="-2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2B9F0CB-7138-64E1-A8C3-D8AA95B3A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067" y="4336712"/>
            <a:ext cx="1925568" cy="877941"/>
          </a:xfrm>
          <a:prstGeom prst="rect">
            <a:avLst/>
          </a:prstGeom>
        </p:spPr>
      </p:pic>
      <p:pic>
        <p:nvPicPr>
          <p:cNvPr id="11" name="Picture 10" descr="A diagram of a circuit&#10;&#10;AI-generated content may be incorrect.">
            <a:extLst>
              <a:ext uri="{FF2B5EF4-FFF2-40B4-BE49-F238E27FC236}">
                <a16:creationId xmlns:a16="http://schemas.microsoft.com/office/drawing/2014/main" id="{69C27610-638E-5520-ECED-A6D039B6D5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" t="8552" r="5186" b="4704"/>
          <a:stretch>
            <a:fillRect/>
          </a:stretch>
        </p:blipFill>
        <p:spPr>
          <a:xfrm>
            <a:off x="6938544" y="624044"/>
            <a:ext cx="3713307" cy="2736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4A3781-C6F5-A087-F2A8-E86F138A8947}"/>
                  </a:ext>
                </a:extLst>
              </p:cNvPr>
              <p:cNvSpPr txBox="1"/>
              <p:nvPr/>
            </p:nvSpPr>
            <p:spPr>
              <a:xfrm>
                <a:off x="577365" y="3713854"/>
                <a:ext cx="10312308" cy="2631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To find the total capacitance of capacitors in parallel, simply add them all together! (Same as resistors in series)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100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200" i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</m:t>
                      </m:r>
                      <m:r>
                        <a:rPr lang="en-US" sz="2200" i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4A3781-C6F5-A087-F2A8-E86F138A8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65" y="3713854"/>
                <a:ext cx="10312308" cy="2631490"/>
              </a:xfrm>
              <a:prstGeom prst="rect">
                <a:avLst/>
              </a:prstGeom>
              <a:blipFill>
                <a:blip r:embed="rId5"/>
                <a:stretch>
                  <a:fillRect l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811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741B4-7650-CCD1-5C35-22919F6E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453808-5EAF-5DD7-B4C8-2C2B89D856DC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Capacitors in Series</a:t>
            </a:r>
          </a:p>
          <a:p>
            <a:endParaRPr lang="en-US" sz="2400"/>
          </a:p>
          <a:p>
            <a:r>
              <a:rPr lang="en-US" sz="2400"/>
              <a:t>Find the total capacitance across the circuit</a:t>
            </a:r>
          </a:p>
        </p:txBody>
      </p:sp>
      <p:pic>
        <p:nvPicPr>
          <p:cNvPr id="5" name="Picture 4" descr="A black lines with text&#10;&#10;AI-generated content may be incorrect.">
            <a:extLst>
              <a:ext uri="{FF2B5EF4-FFF2-40B4-BE49-F238E27FC236}">
                <a16:creationId xmlns:a16="http://schemas.microsoft.com/office/drawing/2014/main" id="{8089F3E7-2923-347B-6DCF-8ECDDC0A8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689" y="2783320"/>
            <a:ext cx="4390621" cy="129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61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15AB-BBF0-3619-D99E-AC8952458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FCF29-D858-D5A1-C3FE-43D0A7596183}"/>
              </a:ext>
            </a:extLst>
          </p:cNvPr>
          <p:cNvSpPr txBox="1"/>
          <p:nvPr/>
        </p:nvSpPr>
        <p:spPr>
          <a:xfrm>
            <a:off x="448056" y="519422"/>
            <a:ext cx="9665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Capacitors in Series</a:t>
            </a:r>
          </a:p>
          <a:p>
            <a:endParaRPr lang="en-US" sz="2400"/>
          </a:p>
          <a:p>
            <a:r>
              <a:rPr lang="en-US" sz="2400"/>
              <a:t>Find the total capacitance across the circuit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E09469-8CA1-2837-4DE1-4E01DB928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774" y="3429000"/>
            <a:ext cx="2422626" cy="886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2298A0-C0A0-9019-5CB4-F78A99FA5629}"/>
                  </a:ext>
                </a:extLst>
              </p:cNvPr>
              <p:cNvSpPr txBox="1"/>
              <p:nvPr/>
            </p:nvSpPr>
            <p:spPr>
              <a:xfrm>
                <a:off x="448056" y="1760578"/>
                <a:ext cx="1824090" cy="186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u="sng">
                    <a:solidFill>
                      <a:srgbClr val="FF0000"/>
                    </a:solidFill>
                  </a:rPr>
                  <a:t>Solution:</a:t>
                </a:r>
              </a:p>
              <a:p>
                <a:endParaRPr lang="en-US" sz="500" b="1">
                  <a:solidFill>
                    <a:srgbClr val="FF0000"/>
                  </a:solidFill>
                </a:endParaRPr>
              </a:p>
              <a:p>
                <a:r>
                  <a:rPr lang="en-US" sz="2200" b="1">
                    <a:solidFill>
                      <a:srgbClr val="FF0000"/>
                    </a:solidFill>
                  </a:rPr>
                  <a:t>Givens: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 b="0" i="1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2298A0-C0A0-9019-5CB4-F78A99FA5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1760578"/>
                <a:ext cx="1824090" cy="1862048"/>
              </a:xfrm>
              <a:prstGeom prst="rect">
                <a:avLst/>
              </a:prstGeom>
              <a:blipFill>
                <a:blip r:embed="rId3"/>
                <a:stretch>
                  <a:fillRect l="-4348" t="-2295" b="-2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64CFF5-C221-56C8-2FD4-81CC19716196}"/>
                  </a:ext>
                </a:extLst>
              </p:cNvPr>
              <p:cNvSpPr txBox="1"/>
              <p:nvPr/>
            </p:nvSpPr>
            <p:spPr>
              <a:xfrm>
                <a:off x="448056" y="3590230"/>
                <a:ext cx="9665207" cy="3096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Follow this equation to find the total capacitance of capacitors in series: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b="1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(Same as resistors in parallel)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)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20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+ 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)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00</m:t>
                        </m:r>
                      </m:num>
                      <m:den>
                        <m:r>
                          <a:rPr lang="en-US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220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FF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2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200" b="0" i="0" dirty="0" smtClean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60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200">
                  <a:solidFill>
                    <a:srgbClr val="FF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64CFF5-C221-56C8-2FD4-81CC19716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" y="3590230"/>
                <a:ext cx="9665207" cy="3096040"/>
              </a:xfrm>
              <a:prstGeom prst="rect">
                <a:avLst/>
              </a:prstGeom>
              <a:blipFill>
                <a:blip r:embed="rId4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black lines with text&#10;&#10;AI-generated content may be incorrect.">
            <a:extLst>
              <a:ext uri="{FF2B5EF4-FFF2-40B4-BE49-F238E27FC236}">
                <a16:creationId xmlns:a16="http://schemas.microsoft.com/office/drawing/2014/main" id="{9D3BFE86-CE7F-14A2-1C63-D97EB71724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713" y="1976411"/>
            <a:ext cx="4390621" cy="129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1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ADAC64F44CFC419530C486447E5DA2" ma:contentTypeVersion="11" ma:contentTypeDescription="Create a new document." ma:contentTypeScope="" ma:versionID="3a058a832e7e751feba46c9f410a5419">
  <xsd:schema xmlns:xsd="http://www.w3.org/2001/XMLSchema" xmlns:xs="http://www.w3.org/2001/XMLSchema" xmlns:p="http://schemas.microsoft.com/office/2006/metadata/properties" xmlns:ns3="c1d204f4-81df-4848-8d36-0bdcf8512889" xmlns:ns4="05d25763-4ade-46c1-9767-4a5cd5d576f6" targetNamespace="http://schemas.microsoft.com/office/2006/metadata/properties" ma:root="true" ma:fieldsID="66a02e837dc450fd5b2758c964b8f81d" ns3:_="" ns4:_="">
    <xsd:import namespace="c1d204f4-81df-4848-8d36-0bdcf8512889"/>
    <xsd:import namespace="05d25763-4ade-46c1-9767-4a5cd5d576f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_activity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d204f4-81df-4848-8d36-0bdcf851288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d25763-4ade-46c1-9767-4a5cd5d576f6" elementFormDefault="qualified">
    <xsd:import namespace="http://schemas.microsoft.com/office/2006/documentManagement/types"/>
    <xsd:import namespace="http://schemas.microsoft.com/office/infopath/2007/PartnerControls"/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5d25763-4ade-46c1-9767-4a5cd5d576f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948ECD-6194-4ED3-9BCA-33ABAF365F26}">
  <ds:schemaRefs>
    <ds:schemaRef ds:uri="05d25763-4ade-46c1-9767-4a5cd5d576f6"/>
    <ds:schemaRef ds:uri="c1d204f4-81df-4848-8d36-0bdcf85128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4FE0102-B868-45A3-BA09-B1F39278F6C9}">
  <ds:schemaRefs>
    <ds:schemaRef ds:uri="http://schemas.microsoft.com/office/2006/metadata/properties"/>
    <ds:schemaRef ds:uri="05d25763-4ade-46c1-9767-4a5cd5d576f6"/>
    <ds:schemaRef ds:uri="http://schemas.microsoft.com/office/2006/documentManagement/types"/>
    <ds:schemaRef ds:uri="http://purl.org/dc/terms/"/>
    <ds:schemaRef ds:uri="c1d204f4-81df-4848-8d36-0bdcf8512889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74D0E33-61F4-4EF1-AD43-CDA508AEC7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</Words>
  <Application>Microsoft Office PowerPoint</Application>
  <PresentationFormat>Widescreen</PresentationFormat>
  <Paragraphs>184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Circuits Mini Quizzes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Ko, Samantha</dc:creator>
  <cp:lastModifiedBy>Ko, Samantha</cp:lastModifiedBy>
  <cp:revision>2</cp:revision>
  <dcterms:created xsi:type="dcterms:W3CDTF">2025-07-19T14:42:23Z</dcterms:created>
  <dcterms:modified xsi:type="dcterms:W3CDTF">2025-09-03T00:14:05Z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0x01010083ADAC64F44CFC419530C486447E5DA2</vt:lpwstr>
  </property>
</Properties>
</file>