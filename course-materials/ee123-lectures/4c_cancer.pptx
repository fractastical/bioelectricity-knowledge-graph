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28" r:id="rId2"/>
    <p:sldId id="832" r:id="rId3"/>
    <p:sldId id="847" r:id="rId4"/>
    <p:sldId id="833" r:id="rId5"/>
    <p:sldId id="845" r:id="rId6"/>
    <p:sldId id="834" r:id="rId7"/>
    <p:sldId id="852" r:id="rId8"/>
    <p:sldId id="835" r:id="rId9"/>
    <p:sldId id="836" r:id="rId10"/>
    <p:sldId id="848" r:id="rId11"/>
    <p:sldId id="853" r:id="rId12"/>
    <p:sldId id="854" r:id="rId13"/>
    <p:sldId id="837" r:id="rId14"/>
    <p:sldId id="855" r:id="rId15"/>
    <p:sldId id="839" r:id="rId16"/>
    <p:sldId id="856" r:id="rId17"/>
    <p:sldId id="857" r:id="rId18"/>
    <p:sldId id="843" r:id="rId19"/>
  </p:sldIdLst>
  <p:sldSz cx="9144000" cy="6858000" type="screen4x3"/>
  <p:notesSz cx="9388475" cy="7102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32"/>
            <p14:sldId id="847"/>
            <p14:sldId id="833"/>
            <p14:sldId id="845"/>
            <p14:sldId id="834"/>
            <p14:sldId id="852"/>
            <p14:sldId id="835"/>
            <p14:sldId id="836"/>
            <p14:sldId id="848"/>
            <p14:sldId id="853"/>
            <p14:sldId id="854"/>
            <p14:sldId id="837"/>
            <p14:sldId id="855"/>
            <p14:sldId id="839"/>
            <p14:sldId id="856"/>
            <p14:sldId id="857"/>
            <p14:sldId id="8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8000"/>
    <a:srgbClr val="0066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80756" autoAdjust="0"/>
  </p:normalViewPr>
  <p:slideViewPr>
    <p:cSldViewPr snapToGrid="0">
      <p:cViewPr varScale="1">
        <p:scale>
          <a:sx n="126" d="100"/>
          <a:sy n="126" d="100"/>
        </p:scale>
        <p:origin x="171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3869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68747" cy="35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70" tIns="47088" rIns="94170" bIns="47088" numCol="1" anchor="t" anchorCtr="0" compatLnSpc="1">
            <a:prstTxWarp prst="textNoShape">
              <a:avLst/>
            </a:prstTxWarp>
          </a:bodyPr>
          <a:lstStyle>
            <a:lvl1pPr defTabSz="942478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19730" y="0"/>
            <a:ext cx="4068746" cy="35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70" tIns="47088" rIns="94170" bIns="47088" numCol="1" anchor="t" anchorCtr="0" compatLnSpc="1">
            <a:prstTxWarp prst="textNoShape">
              <a:avLst/>
            </a:prstTxWarp>
          </a:bodyPr>
          <a:lstStyle>
            <a:lvl1pPr algn="r" defTabSz="942478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8996"/>
            <a:ext cx="4068747" cy="353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70" tIns="47088" rIns="94170" bIns="47088" numCol="1" anchor="b" anchorCtr="0" compatLnSpc="1">
            <a:prstTxWarp prst="textNoShape">
              <a:avLst/>
            </a:prstTxWarp>
          </a:bodyPr>
          <a:lstStyle>
            <a:lvl1pPr defTabSz="942478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319730" y="6748996"/>
            <a:ext cx="4068746" cy="353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170" tIns="47088" rIns="94170" bIns="47088" numCol="1" anchor="b" anchorCtr="0" compatLnSpc="1">
            <a:prstTxWarp prst="textNoShape">
              <a:avLst/>
            </a:prstTxWarp>
          </a:bodyPr>
          <a:lstStyle>
            <a:lvl1pPr algn="r" defTabSz="942425" eaLnBrk="1" hangingPunct="1">
              <a:defRPr sz="14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68747" cy="35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t" anchorCtr="0" compatLnSpc="1">
            <a:prstTxWarp prst="textNoShape">
              <a:avLst/>
            </a:prstTxWarp>
          </a:bodyPr>
          <a:lstStyle>
            <a:lvl1pPr defTabSz="932776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7692" y="0"/>
            <a:ext cx="4068747" cy="35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t" anchorCtr="0" compatLnSpc="1">
            <a:prstTxWarp prst="textNoShape">
              <a:avLst/>
            </a:prstTxWarp>
          </a:bodyPr>
          <a:lstStyle>
            <a:lvl1pPr algn="r" defTabSz="932776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17825" y="533400"/>
            <a:ext cx="3554413" cy="26654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257" y="3373911"/>
            <a:ext cx="7509965" cy="3195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5472"/>
            <a:ext cx="4068747" cy="355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b" anchorCtr="0" compatLnSpc="1">
            <a:prstTxWarp prst="textNoShape">
              <a:avLst/>
            </a:prstTxWarp>
          </a:bodyPr>
          <a:lstStyle>
            <a:lvl1pPr defTabSz="932776"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317692" y="6745472"/>
            <a:ext cx="4068747" cy="355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14" tIns="46608" rIns="93214" bIns="46608" numCol="1" anchor="b" anchorCtr="0" compatLnSpc="1">
            <a:prstTxWarp prst="textNoShape">
              <a:avLst/>
            </a:prstTxWarp>
          </a:bodyPr>
          <a:lstStyle>
            <a:lvl1pPr algn="r" defTabSz="931592" eaLnBrk="1" hangingPunct="1">
              <a:defRPr sz="14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don’t.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89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155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lethal, in general, describes a pathway that works fine when either of two genes are present; but fails when both are removed.</a:t>
            </a:r>
          </a:p>
          <a:p>
            <a:r>
              <a:rPr lang="en-US" dirty="0"/>
              <a:t>For cancer, we hope that the tumor has a mutation in some gene A that is synthetic lethal with another gene B. Then we introduce a drug that knocks out B, and will thus be lethal only in tumor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419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“Fight back” means send messages back saying everything’s fine and even telling your neighbor cells to join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705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EE 123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el.grodstein@tuft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ytimes.com/2025/01/29/well/cancer-causes-risk-factors-treatments.htm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lucelldx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0773" y="595748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EE 123</a:t>
            </a:r>
            <a:br>
              <a:rPr lang="en-US" altLang="en-US" dirty="0"/>
            </a:br>
            <a:r>
              <a:rPr lang="en-US" altLang="en-US" dirty="0"/>
              <a:t>Bioelectricity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750733"/>
          </a:xfrm>
        </p:spPr>
        <p:txBody>
          <a:bodyPr/>
          <a:lstStyle/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</a:t>
            </a:r>
            <a:r>
              <a:rPr lang="en-US" altLang="en-US" dirty="0" err="1"/>
              <a:t>Grodstein</a:t>
            </a:r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2"/>
              </a:rPr>
              <a:t>joel.grodstein@tufts.edu</a:t>
            </a:r>
            <a:endParaRPr lang="en-US" altLang="en-US" dirty="0">
              <a:solidFill>
                <a:schemeClr val="accent2"/>
              </a:solidFill>
            </a:endParaRP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it-IT" altLang="en-US" dirty="0"/>
              <a:t>Lecture 4c: cancer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does bioelectricity come from?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Morphogenesis</a:t>
            </a:r>
          </a:p>
          <a:p>
            <a:r>
              <a:rPr lang="en-US" dirty="0"/>
              <a:t>Cancer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3746824"/>
            <a:ext cx="1863005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6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27E5-9167-BC7B-EEFD-85D8D9E8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74FCC-E107-75A3-5F01-182A62001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cancer? V1: the classical version</a:t>
            </a:r>
          </a:p>
          <a:p>
            <a:r>
              <a:rPr lang="en-US" dirty="0"/>
              <a:t>What is cancer? V2: the bioelectrical version</a:t>
            </a:r>
          </a:p>
          <a:p>
            <a:r>
              <a:rPr lang="en-US" dirty="0"/>
              <a:t>Cancer and GJs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F9C76-720E-1BE0-2179-3CEFF391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3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52CE-8B82-629E-5FD0-667221AE7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What is cancer, anyway?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5FC90-E312-CD1D-2979-8F040D758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Anyone have a definition of what cancer is, what causes it?</a:t>
            </a:r>
          </a:p>
          <a:p>
            <a:r>
              <a:rPr lang="en-US" sz="2400" dirty="0"/>
              <a:t>Let’s start with the standard view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7FF74F-DFD7-36C2-74D9-F62EA292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85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5099-AC34-CB93-7583-D2FBB214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Circle of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1CCA6-E52D-E5F2-AC09-377C3C947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You are born… egg and sperm, etc.</a:t>
            </a:r>
          </a:p>
          <a:p>
            <a:pPr lvl="1">
              <a:spcBef>
                <a:spcPts val="0"/>
              </a:spcBef>
            </a:pPr>
            <a:r>
              <a:rPr lang="en-US" dirty="0"/>
              <a:t>9 months later: 37T cells, “all” with the same DNA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the DNA is what tells the cells what to do</a:t>
            </a:r>
          </a:p>
          <a:p>
            <a:r>
              <a:rPr lang="en-US" sz="2800" dirty="0"/>
              <a:t>The circle of life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The good</a:t>
            </a:r>
            <a:r>
              <a:rPr lang="en-US" dirty="0"/>
              <a:t>: most cells replicate (mitosis) frequently, and there’s more of you and you’re still alive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The bad</a:t>
            </a:r>
            <a:r>
              <a:rPr lang="en-US" dirty="0"/>
              <a:t>: all cells die; most cells die long before you do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The amazing</a:t>
            </a:r>
            <a:r>
              <a:rPr lang="en-US" dirty="0"/>
              <a:t>: it all balances out (homeostasis)</a:t>
            </a:r>
          </a:p>
          <a:p>
            <a:pPr lvl="1">
              <a:spcBef>
                <a:spcPts val="0"/>
              </a:spcBef>
            </a:pPr>
            <a:r>
              <a:rPr lang="en-US" i="1" dirty="0"/>
              <a:t>The ugly</a:t>
            </a:r>
            <a:r>
              <a:rPr lang="en-US" dirty="0"/>
              <a:t>: DNA mutation(s) can happen in replication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36311-F99A-5A88-FF53-0190ED56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32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DBB3-34F1-9FCE-93F4-50F6F08B3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Cancer = homeostasis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1E1BD-2F44-E7ED-350B-2E5A5714F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Again: cell replication &amp; death are tightly matched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more homeostasis machinery that no one understands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comparison: self-repair from sprained knee or a cold</a:t>
            </a:r>
          </a:p>
          <a:p>
            <a:r>
              <a:rPr lang="en-US" sz="2400" dirty="0"/>
              <a:t>Cancer is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an unlucky set of mutations breaks the homeostasis machine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cause a cell(s) to replicate uncontrollably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it’s now a tumor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Odd thought question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we said planaria live practically forever, and you can join body segments from different individuals without issues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do you think they would get cancer?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C5F9D-4BC2-48A6-CCC6-DA45D392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6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1F9C-9DCC-BB52-45C6-CFEB3B09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mutations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C2CE8-7A73-A5D1-CAF7-C0CC564B7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Cancer requires breaking the pathways for</a:t>
            </a:r>
          </a:p>
          <a:p>
            <a:pPr lvl="1"/>
            <a:r>
              <a:rPr lang="en-US" dirty="0"/>
              <a:t>Control of mitosis &amp; differentiation</a:t>
            </a:r>
          </a:p>
          <a:p>
            <a:pPr lvl="1"/>
            <a:r>
              <a:rPr lang="en-US" dirty="0"/>
              <a:t>Control of apoptosis &amp; senescence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DC298-131D-5DAD-AFA6-1D81A9027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844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B21B7-4002-1DD1-9858-28F133B3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metastasis?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D0E38-E769-85B4-3226-8E39193CD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10640"/>
            <a:ext cx="7772400" cy="5017424"/>
          </a:xfrm>
        </p:spPr>
        <p:txBody>
          <a:bodyPr/>
          <a:lstStyle/>
          <a:p>
            <a:r>
              <a:rPr lang="en-US" dirty="0"/>
              <a:t>Metastasis is</a:t>
            </a:r>
          </a:p>
          <a:p>
            <a:pPr lvl="1">
              <a:spcBef>
                <a:spcPts val="0"/>
              </a:spcBef>
            </a:pPr>
            <a:r>
              <a:rPr lang="en-US" dirty="0"/>
              <a:t>tumor invades (e.g.,) nearby blood vessel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when the tumor detaches &amp; travels through your body</a:t>
            </a:r>
          </a:p>
          <a:p>
            <a:pPr lvl="1">
              <a:spcBef>
                <a:spcPts val="0"/>
              </a:spcBef>
            </a:pPr>
            <a:r>
              <a:rPr lang="en-US" dirty="0"/>
              <a:t>Now you’re playing whack-a-mole</a:t>
            </a:r>
          </a:p>
          <a:p>
            <a:r>
              <a:rPr lang="en-US" dirty="0"/>
              <a:t>Options at this stage: not good</a:t>
            </a:r>
          </a:p>
          <a:p>
            <a:pPr lvl="1">
              <a:spcBef>
                <a:spcPts val="0"/>
              </a:spcBef>
            </a:pPr>
            <a:r>
              <a:rPr lang="en-US" dirty="0"/>
              <a:t>A new surgery every other week isn’t really feasible</a:t>
            </a:r>
          </a:p>
          <a:p>
            <a:pPr lvl="1">
              <a:spcBef>
                <a:spcPts val="0"/>
              </a:spcBef>
            </a:pPr>
            <a:r>
              <a:rPr lang="en-US" dirty="0"/>
              <a:t>And many whack-a-mole locations aren’t operable</a:t>
            </a:r>
          </a:p>
          <a:p>
            <a:r>
              <a:rPr lang="en-US" dirty="0"/>
              <a:t>1 in 10,000 cells that leave the primary tumor will metastasize successfully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That’s still a lot of cells!</a:t>
            </a:r>
          </a:p>
          <a:p>
            <a:r>
              <a:rPr lang="en-US" dirty="0"/>
              <a:t>We don’t know how tumors decide to metastasize</a:t>
            </a:r>
          </a:p>
          <a:p>
            <a:pPr lvl="1">
              <a:spcBef>
                <a:spcPts val="0"/>
              </a:spcBef>
            </a:pPr>
            <a:r>
              <a:rPr lang="en-US" dirty="0"/>
              <a:t>No driver genes for migration have been identified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B1E991-5B2C-E3E6-BAF8-468C7499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36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E249-D59B-5B1F-5BA7-9DC2884B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Cancer treatments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E17C0-46C2-EEF3-A1FF-334A37892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8" y="1676400"/>
            <a:ext cx="8310418" cy="4419600"/>
          </a:xfrm>
        </p:spPr>
        <p:txBody>
          <a:bodyPr/>
          <a:lstStyle/>
          <a:p>
            <a:r>
              <a:rPr lang="en-US" dirty="0"/>
              <a:t>Local treatments: surgery, radiation</a:t>
            </a:r>
          </a:p>
          <a:p>
            <a:r>
              <a:rPr lang="en-US" dirty="0"/>
              <a:t>Systemic treatments: chemo</a:t>
            </a:r>
          </a:p>
          <a:p>
            <a:r>
              <a:rPr lang="en-US" dirty="0"/>
              <a:t>Next-gen treatment goal: be less of a blunt instrument!</a:t>
            </a:r>
          </a:p>
          <a:p>
            <a:pPr lvl="1">
              <a:spcBef>
                <a:spcPts val="0"/>
              </a:spcBef>
            </a:pPr>
            <a:r>
              <a:rPr lang="en-US" dirty="0"/>
              <a:t>CAR-T cells</a:t>
            </a:r>
          </a:p>
          <a:p>
            <a:pPr lvl="1">
              <a:spcBef>
                <a:spcPts val="0"/>
              </a:spcBef>
            </a:pPr>
            <a:r>
              <a:rPr lang="en-US" dirty="0"/>
              <a:t>synthetic-lethal pairs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more we understand how cancer works, the better we can target it precisely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C0905B-B0AC-AA6B-908A-FF3343CC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48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F27E5-9167-BC7B-EEFD-85D8D9E8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74FCC-E107-75A3-5F01-182A62001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cancer? V1: the classical version</a:t>
            </a:r>
          </a:p>
          <a:p>
            <a:r>
              <a:rPr lang="en-US" dirty="0"/>
              <a:t>What is cancer? V2: the bioelectrical version</a:t>
            </a:r>
          </a:p>
          <a:p>
            <a:r>
              <a:rPr lang="en-US" dirty="0"/>
              <a:t>Cancer and GJs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F9C76-720E-1BE0-2179-3CEFF391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CD2BBC-D7B2-8680-FB77-B0184888051D}"/>
              </a:ext>
            </a:extLst>
          </p:cNvPr>
          <p:cNvSpPr/>
          <p:nvPr/>
        </p:nvSpPr>
        <p:spPr>
          <a:xfrm>
            <a:off x="1040524" y="2228193"/>
            <a:ext cx="6600497" cy="430924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09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04CFB-5188-D0C4-3CE6-063518BA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the classical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716BE-71A6-B0EF-3010-6DE0C1225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We can induce cancer in animal models without mutation</a:t>
            </a:r>
          </a:p>
          <a:p>
            <a:r>
              <a:rPr lang="en-US" sz="2400" dirty="0"/>
              <a:t>“Carcinogenic” mutations sometimes don’t cause cancer</a:t>
            </a:r>
          </a:p>
          <a:p>
            <a:r>
              <a:rPr lang="en-US" sz="2400" dirty="0"/>
              <a:t>NY Times: “Mutations are very important — but they’re not the entire explanation for a tumor”</a:t>
            </a:r>
          </a:p>
          <a:p>
            <a:pPr lvl="1"/>
            <a:r>
              <a:rPr lang="en-US" sz="2000" dirty="0">
                <a:hlinkClick r:id="rId2"/>
              </a:rPr>
              <a:t>https://www.nytimes.com/2025/01/29/well/cancer-causes-risk-factors-treatments.html</a:t>
            </a:r>
            <a:r>
              <a:rPr lang="en-US" sz="2000" dirty="0"/>
              <a:t> </a:t>
            </a:r>
          </a:p>
          <a:p>
            <a:r>
              <a:rPr lang="en-US" sz="2400" dirty="0"/>
              <a:t>Thorough reviews</a:t>
            </a:r>
          </a:p>
          <a:p>
            <a:pPr lvl="1">
              <a:spcBef>
                <a:spcPts val="0"/>
              </a:spcBef>
            </a:pPr>
            <a:r>
              <a:rPr lang="en-US" sz="2000" i="1" dirty="0"/>
              <a:t>The end of the genetic paradigm of cancer</a:t>
            </a:r>
            <a:r>
              <a:rPr lang="en-US" sz="2000" dirty="0"/>
              <a:t>, 2025</a:t>
            </a:r>
          </a:p>
          <a:p>
            <a:pPr lvl="1">
              <a:spcBef>
                <a:spcPts val="0"/>
              </a:spcBef>
            </a:pPr>
            <a:r>
              <a:rPr lang="en-US" sz="2000" i="1"/>
              <a:t>Cancer </a:t>
            </a:r>
            <a:r>
              <a:rPr lang="en-US" sz="2000" i="1" dirty="0"/>
              <a:t>as a disorder of patterning information: computational and biophysical perspectives on the cancer problem</a:t>
            </a:r>
            <a:r>
              <a:rPr lang="en-US" sz="2000" dirty="0"/>
              <a:t>, 2017</a:t>
            </a:r>
          </a:p>
          <a:p>
            <a:pPr lvl="1"/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BFF2E-578F-D09F-DC97-40510A56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E90F-D08B-7045-78B9-C48A9118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Caveats for any new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5D4ED-1851-B02E-5D9F-C55E8E5FE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/>
              <a:t>In fact, </a:t>
            </a:r>
            <a:r>
              <a:rPr lang="en-US" dirty="0"/>
              <a:t>that’s a general principle in physics theories: no matter what a guy thinks of, it’s almost always false.”</a:t>
            </a:r>
          </a:p>
          <a:p>
            <a:pPr lvl="1">
              <a:spcBef>
                <a:spcPts val="0"/>
              </a:spcBef>
            </a:pPr>
            <a:r>
              <a:rPr lang="en-US" dirty="0"/>
              <a:t>Richard Feynmann</a:t>
            </a:r>
          </a:p>
          <a:p>
            <a:r>
              <a:rPr lang="en-US" dirty="0"/>
              <a:t>“Science is the belief in the ignorance of experts”</a:t>
            </a:r>
          </a:p>
          <a:p>
            <a:pPr lvl="1">
              <a:spcBef>
                <a:spcPts val="0"/>
              </a:spcBef>
            </a:pPr>
            <a:r>
              <a:rPr lang="en-US" dirty="0"/>
              <a:t>Richard Feynmann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D512E-9A3A-8E47-B91B-6819C9D42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06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B33B-AFCA-4078-CCFE-1E4FA132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Bioelectricity and cancer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57DFF-960D-CDCF-496E-2491B201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our Cancer 101 so far, how much have we mentioned bioelectricity? Not at all!</a:t>
            </a:r>
          </a:p>
          <a:p>
            <a:r>
              <a:rPr lang="en-US" dirty="0"/>
              <a:t>It’s a new field. But 10 years ago, nobody expected FDA approvals for electroceuticals</a:t>
            </a:r>
          </a:p>
          <a:p>
            <a:r>
              <a:rPr lang="en-US" dirty="0"/>
              <a:t>What does bioelectricity have to do with cancer?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91D2B-549A-29ED-44F4-100679477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02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709E-9FFF-9AFC-0D1D-3B210DE0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Cancer = homeostasis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B756-162F-BD60-520C-8F1A47E6E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argued that shape formation relies on…</a:t>
            </a:r>
          </a:p>
          <a:p>
            <a:pPr lvl="1">
              <a:spcBef>
                <a:spcPts val="0"/>
              </a:spcBef>
            </a:pP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patterns</a:t>
            </a:r>
          </a:p>
          <a:p>
            <a:pPr lvl="1">
              <a:spcBef>
                <a:spcPts val="0"/>
              </a:spcBef>
            </a:pPr>
            <a:r>
              <a:rPr lang="en-US" dirty="0"/>
              <a:t>electrically-controlled GJ communication between cells</a:t>
            </a:r>
          </a:p>
          <a:p>
            <a:r>
              <a:rPr lang="en-US" dirty="0"/>
              <a:t>I.e., bioelectricity is highly involved in forming / maintaining proper body shape</a:t>
            </a:r>
          </a:p>
          <a:p>
            <a:r>
              <a:rPr lang="en-US" dirty="0"/>
              <a:t>The goal, again: understanding how body shape &amp; proportion are maintained may help us understand what has gone wrong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449FA-90EC-3FB9-C798-ACEDF6D5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48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728A6-5543-D224-E4E9-7796BA5D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the “facts”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A35E9-DC4E-51DD-693E-9090A8F3C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36067"/>
            <a:ext cx="7772400" cy="4994567"/>
          </a:xfrm>
        </p:spPr>
        <p:txBody>
          <a:bodyPr/>
          <a:lstStyle/>
          <a:p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endParaRPr lang="en-US" sz="2400" i="1" dirty="0"/>
          </a:p>
          <a:p>
            <a:pPr lvl="1">
              <a:spcBef>
                <a:spcPts val="0"/>
              </a:spcBef>
            </a:pPr>
            <a:r>
              <a:rPr lang="en-US" sz="2000" dirty="0"/>
              <a:t>Stem cells tend to be depolarized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Transit amplifying cells slowly hyperpolarize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Terminally differentiated cells tend to be hyperpolarized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Proliferating tumor cells are depolarized (is this cause or effect?)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Invading/metastasizing tumor cells can go either way</a:t>
            </a:r>
          </a:p>
          <a:p>
            <a:r>
              <a:rPr lang="en-US" sz="2400" dirty="0"/>
              <a:t>GJs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Tumors have fewer GJs than normal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But metastases have more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GJ communication has been tied to metastasis</a:t>
            </a:r>
          </a:p>
          <a:p>
            <a:r>
              <a:rPr lang="en-US" sz="2400" dirty="0"/>
              <a:t>Interesting data, but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does it tie into our idea of cancer driven by electrical/ communication breakdown?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how can it affect clinical practice?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Any ideas?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D1D06-9DBB-3F7F-F1C3-C9B4C0CDF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01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4E11-C346-0AD3-0AF8-0C6FA4177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Tumor strategy: proliferation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BC5E8-7390-CA18-43E1-3003EF373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you’re a little tumor but getting bigger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body will notice you soon enough (you’re a shape discrepancy)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body will send signals telling you to stop</a:t>
            </a:r>
          </a:p>
          <a:p>
            <a:r>
              <a:rPr lang="en-US" dirty="0"/>
              <a:t>Your best strategy?</a:t>
            </a:r>
          </a:p>
          <a:p>
            <a:pPr lvl="1">
              <a:spcBef>
                <a:spcPts val="0"/>
              </a:spcBef>
            </a:pPr>
            <a:r>
              <a:rPr lang="en-US" dirty="0"/>
              <a:t>Fight back?</a:t>
            </a:r>
          </a:p>
          <a:p>
            <a:pPr lvl="1">
              <a:spcBef>
                <a:spcPts val="0"/>
              </a:spcBef>
            </a:pPr>
            <a:r>
              <a:rPr lang="en-US" dirty="0"/>
              <a:t>Ignore the messages until you’re bigger</a:t>
            </a:r>
          </a:p>
          <a:p>
            <a:r>
              <a:rPr lang="en-US" dirty="0"/>
              <a:t>How do we ignore the messages?</a:t>
            </a:r>
          </a:p>
          <a:p>
            <a:pPr lvl="1">
              <a:spcBef>
                <a:spcPts val="0"/>
              </a:spcBef>
            </a:pPr>
            <a:r>
              <a:rPr lang="en-US" dirty="0"/>
              <a:t>Fewer GJs</a:t>
            </a:r>
          </a:p>
          <a:p>
            <a:pPr lvl="1">
              <a:spcBef>
                <a:spcPts val="0"/>
              </a:spcBef>
            </a:pPr>
            <a:r>
              <a:rPr lang="en-US" dirty="0"/>
              <a:t>Change our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to shut off the remaining GJs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9289C-B92E-6619-3A74-0B89FEF3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30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301D-0EE2-C814-33E4-677D4C124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Tumor strategy: invasion/</a:t>
            </a:r>
            <a:r>
              <a:rPr lang="en-US" dirty="0" err="1"/>
              <a:t>metas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E62D-60AF-CA43-5FD1-D1E13AEE2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Tumor is big, now. Time to invade</a:t>
            </a:r>
          </a:p>
          <a:p>
            <a:r>
              <a:rPr lang="en-US" dirty="0"/>
              <a:t>Old strategy: ignore the message telling me to normalize</a:t>
            </a:r>
          </a:p>
          <a:p>
            <a:r>
              <a:rPr lang="en-US" dirty="0"/>
              <a:t>New strategy: browbeat my healthy neighbors until they take the shape that I want them to</a:t>
            </a:r>
          </a:p>
          <a:p>
            <a:pPr lvl="1">
              <a:spcBef>
                <a:spcPts val="0"/>
              </a:spcBef>
            </a:pPr>
            <a:r>
              <a:rPr lang="en-US" dirty="0"/>
              <a:t>So they let me move through them</a:t>
            </a:r>
          </a:p>
          <a:p>
            <a:pPr lvl="1">
              <a:spcBef>
                <a:spcPts val="0"/>
              </a:spcBef>
            </a:pPr>
            <a:r>
              <a:rPr lang="en-US" dirty="0"/>
              <a:t>Even better, convert them to my team</a:t>
            </a:r>
          </a:p>
          <a:p>
            <a:r>
              <a:rPr lang="en-US" i="1" dirty="0"/>
              <a:t>Increase</a:t>
            </a:r>
            <a:r>
              <a:rPr lang="en-US" dirty="0"/>
              <a:t> communication</a:t>
            </a:r>
          </a:p>
          <a:p>
            <a:pPr lvl="1">
              <a:spcBef>
                <a:spcPts val="0"/>
              </a:spcBef>
            </a:pPr>
            <a:r>
              <a:rPr lang="en-US" dirty="0"/>
              <a:t>More GJs</a:t>
            </a:r>
          </a:p>
          <a:p>
            <a:pPr lvl="1">
              <a:spcBef>
                <a:spcPts val="0"/>
              </a:spcBef>
            </a:pPr>
            <a:r>
              <a:rPr lang="en-US" dirty="0"/>
              <a:t>Change our </a:t>
            </a:r>
            <a:r>
              <a:rPr lang="en-US" i="1" dirty="0" err="1"/>
              <a:t>V</a:t>
            </a:r>
            <a:r>
              <a:rPr lang="en-US" baseline="-25000" dirty="0" err="1"/>
              <a:t>mem</a:t>
            </a:r>
            <a:r>
              <a:rPr lang="en-US" dirty="0"/>
              <a:t> to be sure they’re fully conductive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18830-FDCE-C7F1-5DB6-21061FDA3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8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6120-1068-29D9-773F-DDDBCD34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A0D70-F138-D3E9-20F9-EAF8E40E7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If we can easily measure the depolarized </a:t>
            </a:r>
            <a:r>
              <a:rPr lang="en-US" sz="2400" i="1" dirty="0" err="1"/>
              <a:t>V</a:t>
            </a:r>
            <a:r>
              <a:rPr lang="en-US" sz="2400" baseline="-25000" dirty="0" err="1"/>
              <a:t>mem</a:t>
            </a:r>
            <a:r>
              <a:rPr lang="en-US" sz="2400" dirty="0"/>
              <a:t>, it might give us a non-invasive detection of pre-cancer, or of finding tumor margins during surgery (see </a:t>
            </a:r>
            <a:r>
              <a:rPr lang="en-US" sz="2400" b="0" i="0" u="sng" strike="noStrike" dirty="0">
                <a:solidFill>
                  <a:srgbClr val="1155CC"/>
                </a:solidFill>
                <a:effectLst/>
                <a:hlinkClick r:id="rId2"/>
              </a:rPr>
              <a:t>lucelldx.com</a:t>
            </a:r>
            <a:r>
              <a:rPr lang="en-US" sz="2400" u="sng" dirty="0">
                <a:solidFill>
                  <a:srgbClr val="1155CC"/>
                </a:solidFill>
              </a:rPr>
              <a:t> )</a:t>
            </a:r>
            <a:endParaRPr lang="en-US" sz="2400" dirty="0"/>
          </a:p>
          <a:p>
            <a:r>
              <a:rPr lang="en-US" sz="2400" dirty="0"/>
              <a:t>Skin TEP is a very early sign of breast cancer</a:t>
            </a:r>
          </a:p>
          <a:p>
            <a:r>
              <a:rPr lang="en-US" sz="2400" dirty="0"/>
              <a:t>Many FDA-approved drugs target ion channels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2</a:t>
            </a:r>
            <a:r>
              <a:rPr lang="en-US" sz="2000" baseline="30000" dirty="0"/>
              <a:t>nd</a:t>
            </a:r>
            <a:r>
              <a:rPr lang="en-US" sz="2000" dirty="0"/>
              <a:t> largest class of drugs in US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10 years to approve a </a:t>
            </a:r>
            <a:r>
              <a:rPr lang="en-US" sz="2000" i="1" dirty="0"/>
              <a:t>new</a:t>
            </a:r>
            <a:r>
              <a:rPr lang="en-US" sz="2000" dirty="0"/>
              <a:t> drug</a:t>
            </a:r>
          </a:p>
          <a:p>
            <a:r>
              <a:rPr lang="en-US" sz="2400" dirty="0"/>
              <a:t>Let’s test them in cancer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Ion-channel drugs to hyperpolarize cells can slow down glioblastoma tumor growth in vitro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Or, drugs to depolarize cells can slow down breast cancer(!)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40A8D-988C-E3DD-4270-D202436D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EE 123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89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52103</TotalTime>
  <Words>1162</Words>
  <Application>Microsoft Office PowerPoint</Application>
  <PresentationFormat>On-screen Show (4:3)</PresentationFormat>
  <Paragraphs>158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Times New Roman</vt:lpstr>
      <vt:lpstr>Default Design</vt:lpstr>
      <vt:lpstr>EE 123 Bioelectricity</vt:lpstr>
      <vt:lpstr>Big picture of the course</vt:lpstr>
      <vt:lpstr>Today’s lecture</vt:lpstr>
      <vt:lpstr>What is cancer, anyway?</vt:lpstr>
      <vt:lpstr>Circle of life</vt:lpstr>
      <vt:lpstr>Cancer = homeostasis failure</vt:lpstr>
      <vt:lpstr>Which mutations matter?</vt:lpstr>
      <vt:lpstr>What is metastasis?</vt:lpstr>
      <vt:lpstr>Cancer treatments</vt:lpstr>
      <vt:lpstr>Today’s lecture</vt:lpstr>
      <vt:lpstr>Issues with the classical theory</vt:lpstr>
      <vt:lpstr>Caveats for any new theory</vt:lpstr>
      <vt:lpstr>Bioelectricity and cancer</vt:lpstr>
      <vt:lpstr>Cancer = homeostasis failure</vt:lpstr>
      <vt:lpstr>Just the “facts”</vt:lpstr>
      <vt:lpstr>Tumor strategy: proliferation</vt:lpstr>
      <vt:lpstr>Tumor strategy: invasion/metas</vt:lpstr>
      <vt:lpstr>Clinical steps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joelg@hlgn.eecs.tufts.edu</cp:lastModifiedBy>
  <cp:revision>1584</cp:revision>
  <cp:lastPrinted>2019-03-29T18:22:05Z</cp:lastPrinted>
  <dcterms:created xsi:type="dcterms:W3CDTF">2002-09-07T18:50:54Z</dcterms:created>
  <dcterms:modified xsi:type="dcterms:W3CDTF">2025-12-03T15:17:13Z</dcterms:modified>
</cp:coreProperties>
</file>